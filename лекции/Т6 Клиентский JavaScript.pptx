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42" r:id="rId1"/>
  </p:sldMasterIdLst>
  <p:notesMasterIdLst>
    <p:notesMasterId r:id="rId10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1" r:id="rId86"/>
    <p:sldId id="340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7BCA8-9609-48FB-A57C-8E4114581D3F}" type="datetimeFigureOut">
              <a:rPr lang="ru-RU" smtClean="0"/>
              <a:t>01.11.2021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3FD08-5A85-4EC1-9946-EF0EC000D9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21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98354-2AEC-407C-892D-4CC4E97FF2F9}" type="datetime1">
              <a:rPr lang="ru-RU" smtClean="0"/>
              <a:t>01.11.2021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085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EBA85-E22D-4185-966F-897334710B0B}" type="datetime1">
              <a:rPr lang="ru-RU" smtClean="0"/>
              <a:t>01.11.2021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415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8926-D772-474E-A9C2-09038EBAF6E6}" type="datetime1">
              <a:rPr lang="ru-RU" smtClean="0"/>
              <a:t>01.11.2021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171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F255-A88D-4F36-A012-2562321C7166}" type="datetime1">
              <a:rPr lang="ru-RU" smtClean="0"/>
              <a:t>01.11.2021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365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01B-A206-4541-BE7E-3C62D08E63F7}" type="datetime1">
              <a:rPr lang="ru-RU" smtClean="0"/>
              <a:t>01.11.2021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100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5D306-E1D0-45BB-8675-D1C6E29D8416}" type="datetime1">
              <a:rPr lang="ru-RU" smtClean="0"/>
              <a:t>01.11.2021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979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C369-94CB-471C-98AD-11B8FD1EF56F}" type="datetime1">
              <a:rPr lang="ru-RU" smtClean="0"/>
              <a:t>01.11.2021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87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52CB-2BFD-42E6-946B-FC9BB9688A05}" type="datetime1">
              <a:rPr lang="ru-RU" smtClean="0"/>
              <a:t>01.11.2021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6527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B6E6-77FC-4419-81B9-B1F57FA0389E}" type="datetime1">
              <a:rPr lang="ru-RU" smtClean="0"/>
              <a:t>01.11.2021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219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06DA-CB2E-4815-94B7-3E256E026906}" type="datetime1">
              <a:rPr lang="ru-RU" smtClean="0"/>
              <a:t>01.11.2021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0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B45-4AE3-4BCA-91EA-B3A8E720DE60}" type="datetime1">
              <a:rPr lang="ru-RU" smtClean="0"/>
              <a:t>01.11.2021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AA82E-8907-4CCF-BB04-ADAC7456905B}" type="datetime1">
              <a:rPr lang="ru-RU" smtClean="0"/>
              <a:t>01.11.2021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10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.spec.whatwg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67014" y="766915"/>
            <a:ext cx="10100754" cy="2625213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Тема </a:t>
            </a:r>
            <a:r>
              <a:rPr lang="ru-RU" b="1" dirty="0" smtClean="0"/>
              <a:t>6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b="1" dirty="0" smtClean="0"/>
              <a:t>Клиентский </a:t>
            </a:r>
            <a:r>
              <a:rPr lang="ru-RU" b="1" dirty="0" err="1"/>
              <a:t>JavaScript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1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Вопросы: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</a:t>
            </a:fld>
            <a:endParaRPr lang="ru-RU" sz="24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728577"/>
            <a:ext cx="9207910" cy="3716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120000"/>
              </a:lnSpc>
              <a:buFont typeface="+mj-lt"/>
              <a:buAutoNum type="arabicPeriod"/>
            </a:pPr>
            <a:r>
              <a:rPr lang="ru-RU" dirty="0" smtClean="0"/>
              <a:t>Окружение</a:t>
            </a:r>
            <a:r>
              <a:rPr lang="ru-RU" dirty="0"/>
              <a:t>: DOM, BOM. 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ru-RU" dirty="0"/>
              <a:t>Дерево DOM. 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ru-RU" dirty="0"/>
              <a:t>Навигация по DOM-элементам. 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ru-RU" dirty="0"/>
              <a:t>Методы поиска DOM-элементов. 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ru-RU" dirty="0"/>
              <a:t>Свойства узлов: тип, тег и содержимое. 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ru-RU" dirty="0"/>
              <a:t>Атрибуты и DOM-свойства. 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ru-RU" dirty="0"/>
              <a:t>Добавление и удаление узлов. 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ru-RU" dirty="0"/>
              <a:t>Стили. 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ru-RU" dirty="0"/>
              <a:t>Размеры и прокрутка элементов. 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ru-RU" dirty="0"/>
              <a:t>Размеры и прокрутка страницы. 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ru-RU" dirty="0" smtClean="0"/>
              <a:t>Координаты</a:t>
            </a:r>
            <a:r>
              <a:rPr lang="en-US" dirty="0"/>
              <a:t>.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1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Окружение</a:t>
            </a:r>
            <a:r>
              <a:rPr lang="ru-RU" dirty="0"/>
              <a:t>: </a:t>
            </a:r>
            <a:r>
              <a:rPr lang="en-US" dirty="0"/>
              <a:t>DOM, BOM.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1</a:t>
            </a:r>
            <a:endParaRPr lang="ru-RU" sz="3600" b="1" dirty="0"/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1118086" y="1266677"/>
            <a:ext cx="6167617" cy="5309655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1118086" y="735635"/>
            <a:ext cx="72843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Объекты доступные для </a:t>
            </a:r>
            <a:r>
              <a:rPr lang="ru-RU" dirty="0" err="1"/>
              <a:t>JavaScript</a:t>
            </a:r>
            <a:r>
              <a:rPr lang="ru-RU" dirty="0"/>
              <a:t> в </a:t>
            </a:r>
            <a:r>
              <a:rPr lang="ru-RU" dirty="0" err="1"/>
              <a:t>браузерном</a:t>
            </a:r>
            <a:r>
              <a:rPr lang="ru-RU" dirty="0"/>
              <a:t> </a:t>
            </a:r>
            <a:r>
              <a:rPr lang="ru-RU" dirty="0" smtClean="0"/>
              <a:t>окружении: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80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Окружение</a:t>
            </a:r>
            <a:r>
              <a:rPr lang="ru-RU" dirty="0"/>
              <a:t>: </a:t>
            </a:r>
            <a:r>
              <a:rPr lang="en-US" dirty="0"/>
              <a:t>DOM, BOM.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1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4004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Document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 </a:t>
            </a:r>
            <a:r>
              <a:rPr lang="ru-RU" dirty="0" err="1" smtClean="0"/>
              <a:t>Model</a:t>
            </a:r>
            <a:r>
              <a:rPr lang="ru-RU" dirty="0" smtClean="0"/>
              <a:t> (DOM) </a:t>
            </a:r>
            <a:r>
              <a:rPr lang="ru-RU" dirty="0"/>
              <a:t>– объектная модель документа, которая представляет все содержимое страницы в виде объектов, которые можно менять.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37" y="1712032"/>
            <a:ext cx="8795337" cy="95742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55736" y="2932843"/>
            <a:ext cx="103627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Возможности по </a:t>
            </a:r>
            <a:r>
              <a:rPr lang="ru-RU" dirty="0"/>
              <a:t>управлению </a:t>
            </a:r>
            <a:r>
              <a:rPr lang="ru-RU" dirty="0" smtClean="0"/>
              <a:t>страницей</a:t>
            </a:r>
            <a:r>
              <a:rPr lang="en-US" dirty="0" smtClean="0"/>
              <a:t> --</a:t>
            </a:r>
            <a:r>
              <a:rPr lang="ru-RU" dirty="0" smtClean="0"/>
              <a:t> различные </a:t>
            </a:r>
            <a:r>
              <a:rPr lang="ru-RU" dirty="0"/>
              <a:t>свойства и </a:t>
            </a:r>
            <a:r>
              <a:rPr lang="ru-RU" dirty="0" smtClean="0"/>
              <a:t>методы</a:t>
            </a:r>
            <a:r>
              <a:rPr lang="en-US" dirty="0" smtClean="0"/>
              <a:t> --</a:t>
            </a:r>
            <a:r>
              <a:rPr lang="ru-RU" dirty="0" smtClean="0"/>
              <a:t> </a:t>
            </a:r>
            <a:r>
              <a:rPr lang="ru-RU" dirty="0"/>
              <a:t>описаны в спецификации</a:t>
            </a:r>
            <a:r>
              <a:rPr lang="ru-RU" dirty="0" smtClean="0"/>
              <a:t>: </a:t>
            </a:r>
            <a:r>
              <a:rPr lang="ru-RU" b="1" dirty="0" smtClean="0"/>
              <a:t>DOM </a:t>
            </a:r>
            <a:r>
              <a:rPr lang="ru-RU" b="1" dirty="0" err="1"/>
              <a:t>Living</a:t>
            </a:r>
            <a:r>
              <a:rPr lang="ru-RU" b="1" dirty="0"/>
              <a:t> </a:t>
            </a:r>
            <a:r>
              <a:rPr lang="ru-RU" b="1" dirty="0" err="1"/>
              <a:t>Standard</a:t>
            </a:r>
            <a:r>
              <a:rPr lang="ru-RU" b="1" dirty="0"/>
              <a:t> </a:t>
            </a:r>
            <a:r>
              <a:rPr lang="ru-RU" dirty="0"/>
              <a:t>на https://dom.spec.whatwg.org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155736" y="4126402"/>
            <a:ext cx="103627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Для правил стилей </a:t>
            </a:r>
            <a:r>
              <a:rPr lang="ru-RU" dirty="0"/>
              <a:t>CSS</a:t>
            </a:r>
            <a:r>
              <a:rPr lang="ru-RU" dirty="0" smtClean="0"/>
              <a:t> </a:t>
            </a:r>
            <a:r>
              <a:rPr lang="ru-RU" dirty="0"/>
              <a:t>есть отдельная </a:t>
            </a:r>
            <a:r>
              <a:rPr lang="ru-RU" dirty="0" smtClean="0"/>
              <a:t>спецификация:  </a:t>
            </a:r>
            <a:r>
              <a:rPr lang="en-US" b="1" dirty="0" smtClean="0"/>
              <a:t>CSS </a:t>
            </a:r>
            <a:r>
              <a:rPr lang="en-US" b="1" dirty="0"/>
              <a:t>Object Model </a:t>
            </a:r>
            <a:r>
              <a:rPr lang="en-US" dirty="0"/>
              <a:t>(CSSOM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r>
              <a:rPr lang="en-US" dirty="0"/>
              <a:t>https://www.w3.org/TR/cssom-1/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4483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Окружение</a:t>
            </a:r>
            <a:r>
              <a:rPr lang="ru-RU" dirty="0"/>
              <a:t>: </a:t>
            </a:r>
            <a:r>
              <a:rPr lang="en-US" dirty="0"/>
              <a:t>DOM, BOM.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1</a:t>
            </a:r>
            <a:endParaRPr lang="ru-RU" sz="3600" b="1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118086" y="920301"/>
            <a:ext cx="10164425" cy="1057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Объектная модель браузера (</a:t>
            </a:r>
            <a:r>
              <a:rPr lang="ru-RU" b="1" dirty="0" err="1"/>
              <a:t>Browser</a:t>
            </a:r>
            <a:r>
              <a:rPr lang="ru-RU" b="1" dirty="0"/>
              <a:t> </a:t>
            </a:r>
            <a:r>
              <a:rPr lang="ru-RU" b="1" dirty="0" err="1"/>
              <a:t>Object</a:t>
            </a:r>
            <a:r>
              <a:rPr lang="ru-RU" b="1" dirty="0"/>
              <a:t> </a:t>
            </a:r>
            <a:r>
              <a:rPr lang="ru-RU" b="1" dirty="0" err="1"/>
              <a:t>Model</a:t>
            </a:r>
            <a:r>
              <a:rPr lang="ru-RU" b="1" dirty="0"/>
              <a:t>, BOM</a:t>
            </a:r>
            <a:r>
              <a:rPr lang="ru-RU" dirty="0"/>
              <a:t>) – это дополнительные объекты, предоставляемые браузером (окружением), чтобы работать со всем, кроме документа.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118086" y="2079445"/>
            <a:ext cx="9898959" cy="1390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 smtClean="0"/>
              <a:t>Объект </a:t>
            </a:r>
            <a:r>
              <a:rPr lang="ru-RU" b="1" dirty="0" err="1"/>
              <a:t>navigator</a:t>
            </a:r>
            <a:r>
              <a:rPr lang="ru-RU" dirty="0"/>
              <a:t> </a:t>
            </a:r>
            <a:r>
              <a:rPr lang="ru-RU" dirty="0" smtClean="0"/>
              <a:t>предоставляет информацию </a:t>
            </a:r>
            <a:r>
              <a:rPr lang="ru-RU" dirty="0"/>
              <a:t>о самом браузере и операционной системе. </a:t>
            </a:r>
            <a:endParaRPr lang="ru-RU" dirty="0" smtClean="0"/>
          </a:p>
          <a:p>
            <a:pPr>
              <a:lnSpc>
                <a:spcPct val="120000"/>
              </a:lnSpc>
            </a:pPr>
            <a:r>
              <a:rPr lang="ru-RU" dirty="0" smtClean="0"/>
              <a:t>Объект </a:t>
            </a:r>
            <a:r>
              <a:rPr lang="ru-RU" b="1" dirty="0" err="1"/>
              <a:t>location</a:t>
            </a:r>
            <a:r>
              <a:rPr lang="ru-RU" dirty="0"/>
              <a:t> позволяет получить текущий URL и перенаправить браузер по новому адресу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3639262"/>
            <a:ext cx="6052311" cy="1478427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118086" y="5515585"/>
            <a:ext cx="9406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BOM является частью общей спецификации </a:t>
            </a:r>
            <a:r>
              <a:rPr lang="ru-RU" dirty="0" smtClean="0"/>
              <a:t>HTML </a:t>
            </a:r>
            <a:r>
              <a:rPr lang="ru-RU" dirty="0">
                <a:hlinkClick r:id="rId3"/>
              </a:rPr>
              <a:t>https://html.spec.whatwg.org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2644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Дерево </a:t>
            </a:r>
            <a:r>
              <a:rPr lang="en-US" dirty="0"/>
              <a:t>DOM. 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49584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document.body</a:t>
            </a:r>
            <a:r>
              <a:rPr lang="ru-RU" dirty="0"/>
              <a:t> – объект для тега &lt;</a:t>
            </a:r>
            <a:r>
              <a:rPr lang="ru-RU" dirty="0" err="1"/>
              <a:t>body</a:t>
            </a:r>
            <a:r>
              <a:rPr lang="ru-RU" dirty="0"/>
              <a:t>&gt;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4"/>
            <a:ext cx="8217643" cy="89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5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Дерево </a:t>
            </a:r>
            <a:r>
              <a:rPr lang="en-US" dirty="0"/>
              <a:t>DOM. 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796" y="1423829"/>
            <a:ext cx="5828831" cy="443127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053" y="1423830"/>
            <a:ext cx="4461876" cy="2587268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2053" y="847796"/>
            <a:ext cx="92118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DOM – это представление HTML-документа в виде дерева тегов. </a:t>
            </a:r>
          </a:p>
        </p:txBody>
      </p:sp>
    </p:spTree>
    <p:extLst>
      <p:ext uri="{BB962C8B-B14F-4D97-AF65-F5344CB8AC3E}">
        <p14:creationId xmlns:p14="http://schemas.microsoft.com/office/powerpoint/2010/main" val="148997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Дерево </a:t>
            </a:r>
            <a:r>
              <a:rPr lang="en-US" dirty="0"/>
              <a:t>DOM. 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802317"/>
            <a:ext cx="10267669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Пробелы и переводы строки </a:t>
            </a:r>
            <a:r>
              <a:rPr lang="ru-RU" dirty="0" smtClean="0"/>
              <a:t>образуют </a:t>
            </a:r>
            <a:r>
              <a:rPr lang="ru-RU" dirty="0"/>
              <a:t>текстовые </a:t>
            </a:r>
            <a:r>
              <a:rPr lang="ru-RU" dirty="0" smtClean="0"/>
              <a:t>узлы</a:t>
            </a:r>
            <a:r>
              <a:rPr lang="en-US" dirty="0"/>
              <a:t>.</a:t>
            </a:r>
            <a:r>
              <a:rPr lang="ru-RU" dirty="0" smtClean="0"/>
              <a:t> Исключения: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 smtClean="0"/>
              <a:t>1.</a:t>
            </a:r>
            <a:r>
              <a:rPr lang="en-US" dirty="0" smtClean="0"/>
              <a:t> </a:t>
            </a:r>
            <a:r>
              <a:rPr lang="ru-RU" dirty="0" smtClean="0"/>
              <a:t>Пробелы </a:t>
            </a:r>
            <a:r>
              <a:rPr lang="ru-RU" dirty="0"/>
              <a:t>и перевод строки перед тегом &lt;</a:t>
            </a:r>
            <a:r>
              <a:rPr lang="ru-RU" dirty="0" err="1"/>
              <a:t>head</a:t>
            </a:r>
            <a:r>
              <a:rPr lang="ru-RU" dirty="0"/>
              <a:t>&gt; игнорируются</a:t>
            </a:r>
          </a:p>
          <a:p>
            <a:pPr>
              <a:lnSpc>
                <a:spcPct val="120000"/>
              </a:lnSpc>
            </a:pPr>
            <a:r>
              <a:rPr lang="ru-RU" dirty="0"/>
              <a:t>2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 smtClean="0"/>
              <a:t>Запись после </a:t>
            </a:r>
            <a:r>
              <a:rPr lang="ru-RU" dirty="0"/>
              <a:t>закрывающего тега &lt;/</a:t>
            </a:r>
            <a:r>
              <a:rPr lang="ru-RU" dirty="0" err="1"/>
              <a:t>body</a:t>
            </a:r>
            <a:r>
              <a:rPr lang="ru-RU" dirty="0"/>
              <a:t>&gt;, браузер автоматически перемещает </a:t>
            </a:r>
            <a:r>
              <a:rPr lang="ru-RU" dirty="0" smtClean="0"/>
              <a:t>в </a:t>
            </a:r>
            <a:r>
              <a:rPr lang="ru-RU" dirty="0"/>
              <a:t>конец </a:t>
            </a:r>
            <a:r>
              <a:rPr lang="ru-RU" dirty="0" err="1"/>
              <a:t>body</a:t>
            </a:r>
            <a:r>
              <a:rPr lang="ru-RU" dirty="0"/>
              <a:t>, </a:t>
            </a:r>
            <a:r>
              <a:rPr lang="ru-RU" dirty="0" smtClean="0"/>
              <a:t>т.к. этого требует </a:t>
            </a:r>
            <a:r>
              <a:rPr lang="ru-RU" dirty="0"/>
              <a:t>спецификация </a:t>
            </a:r>
            <a:r>
              <a:rPr lang="ru-RU" dirty="0" smtClean="0"/>
              <a:t>HTML. 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66" y="2694101"/>
            <a:ext cx="11372716" cy="68327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4" y="3569414"/>
            <a:ext cx="5745945" cy="3080657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18084" y="2251661"/>
            <a:ext cx="3932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Пробельных текстовых </a:t>
            </a:r>
            <a:r>
              <a:rPr lang="ru-RU" dirty="0"/>
              <a:t>узлов нет:</a:t>
            </a:r>
          </a:p>
        </p:txBody>
      </p:sp>
    </p:spTree>
    <p:extLst>
      <p:ext uri="{BB962C8B-B14F-4D97-AF65-F5344CB8AC3E}">
        <p14:creationId xmlns:p14="http://schemas.microsoft.com/office/powerpoint/2010/main" val="3622375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Дерево </a:t>
            </a:r>
            <a:r>
              <a:rPr lang="en-US" dirty="0"/>
              <a:t>DOM. 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1118085" y="1824043"/>
            <a:ext cx="5857901" cy="236449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004636" y="1128861"/>
            <a:ext cx="10897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генерации DOM браузер самостоятельно обрабатывает ошибки в документе, закрывает теги и так далее.</a:t>
            </a:r>
          </a:p>
        </p:txBody>
      </p:sp>
    </p:spTree>
    <p:extLst>
      <p:ext uri="{BB962C8B-B14F-4D97-AF65-F5344CB8AC3E}">
        <p14:creationId xmlns:p14="http://schemas.microsoft.com/office/powerpoint/2010/main" val="3174727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Дерево </a:t>
            </a:r>
            <a:r>
              <a:rPr lang="en-US" dirty="0"/>
              <a:t>DOM. 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41" y="1110155"/>
            <a:ext cx="2274043" cy="1381918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>
          <a:blip r:embed="rId3"/>
          <a:stretch>
            <a:fillRect/>
          </a:stretch>
        </p:blipFill>
        <p:spPr>
          <a:xfrm>
            <a:off x="3757615" y="1091124"/>
            <a:ext cx="5696101" cy="509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Дерево </a:t>
            </a:r>
            <a:r>
              <a:rPr lang="en-US" dirty="0"/>
              <a:t>DOM. 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4331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Таблицы всегда содержат &lt;</a:t>
            </a:r>
            <a:r>
              <a:rPr lang="en-US" dirty="0" err="1"/>
              <a:t>tbody</a:t>
            </a:r>
            <a:r>
              <a:rPr lang="en-US" dirty="0" smtClean="0"/>
              <a:t>&gt;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7263210" cy="423264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3"/>
          <a:stretch>
            <a:fillRect/>
          </a:stretch>
        </p:blipFill>
        <p:spPr>
          <a:xfrm>
            <a:off x="1118086" y="2111169"/>
            <a:ext cx="5821142" cy="280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03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Дерево </a:t>
            </a:r>
            <a:r>
              <a:rPr lang="en-US" dirty="0"/>
              <a:t>DOM. 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12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33666" y="1056853"/>
            <a:ext cx="48402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Существуют </a:t>
            </a:r>
            <a:r>
              <a:rPr lang="ru-RU" dirty="0"/>
              <a:t>и </a:t>
            </a:r>
            <a:r>
              <a:rPr lang="ru-RU" dirty="0" smtClean="0"/>
              <a:t>другие </a:t>
            </a:r>
            <a:r>
              <a:rPr lang="ru-RU" dirty="0"/>
              <a:t>типы узлов, кроме элементов и текстовых </a:t>
            </a:r>
            <a:r>
              <a:rPr lang="ru-RU" dirty="0" smtClean="0"/>
              <a:t>узлов. Например</a:t>
            </a:r>
            <a:r>
              <a:rPr lang="ru-RU" dirty="0"/>
              <a:t>, узел-комментарий: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66" y="2262135"/>
            <a:ext cx="5430200" cy="3062029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563" y="159164"/>
            <a:ext cx="5220927" cy="645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278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Дерево </a:t>
            </a:r>
            <a:r>
              <a:rPr lang="en-US" dirty="0"/>
              <a:t>DOM. 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13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9795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Все, что есть в HTML, </a:t>
            </a:r>
            <a:r>
              <a:rPr lang="ru-RU" dirty="0" smtClean="0"/>
              <a:t>в том числе </a:t>
            </a:r>
            <a:r>
              <a:rPr lang="ru-RU" dirty="0"/>
              <a:t>комментарии, является частью DOM.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118085" y="1435033"/>
            <a:ext cx="10798611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Существует 12 типов узлов. </a:t>
            </a:r>
            <a:r>
              <a:rPr lang="ru-RU" dirty="0" smtClean="0"/>
              <a:t>На </a:t>
            </a:r>
            <a:r>
              <a:rPr lang="ru-RU" dirty="0"/>
              <a:t>практике мы в основном работаем с 4 из них: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1. </a:t>
            </a:r>
            <a:r>
              <a:rPr lang="ru-RU" dirty="0" err="1" smtClean="0"/>
              <a:t>document</a:t>
            </a:r>
            <a:r>
              <a:rPr lang="ru-RU" dirty="0" smtClean="0"/>
              <a:t> </a:t>
            </a:r>
            <a:r>
              <a:rPr lang="ru-RU" dirty="0"/>
              <a:t>– «входная точка» в DOM.</a:t>
            </a:r>
          </a:p>
          <a:p>
            <a:pPr>
              <a:lnSpc>
                <a:spcPct val="120000"/>
              </a:lnSpc>
            </a:pPr>
            <a:r>
              <a:rPr lang="ru-RU" dirty="0"/>
              <a:t>2</a:t>
            </a:r>
            <a:r>
              <a:rPr lang="ru-RU" dirty="0" smtClean="0"/>
              <a:t>. узлы-элементы </a:t>
            </a:r>
            <a:r>
              <a:rPr lang="ru-RU" dirty="0"/>
              <a:t>– HTML-теги, основные строительные блоки.</a:t>
            </a:r>
          </a:p>
          <a:p>
            <a:pPr>
              <a:lnSpc>
                <a:spcPct val="120000"/>
              </a:lnSpc>
            </a:pPr>
            <a:r>
              <a:rPr lang="ru-RU" dirty="0"/>
              <a:t>3</a:t>
            </a:r>
            <a:r>
              <a:rPr lang="ru-RU" dirty="0" smtClean="0"/>
              <a:t>. текстовые </a:t>
            </a:r>
            <a:r>
              <a:rPr lang="ru-RU" dirty="0"/>
              <a:t>узлы – содержат текст.</a:t>
            </a:r>
          </a:p>
          <a:p>
            <a:pPr>
              <a:lnSpc>
                <a:spcPct val="120000"/>
              </a:lnSpc>
            </a:pPr>
            <a:r>
              <a:rPr lang="ru-RU" dirty="0"/>
              <a:t>4</a:t>
            </a:r>
            <a:r>
              <a:rPr lang="ru-RU" dirty="0" smtClean="0"/>
              <a:t>. комментарии </a:t>
            </a:r>
            <a:r>
              <a:rPr lang="ru-RU" dirty="0"/>
              <a:t>– </a:t>
            </a:r>
            <a:r>
              <a:rPr lang="ru-RU" dirty="0" smtClean="0"/>
              <a:t>содержит информацию</a:t>
            </a:r>
            <a:r>
              <a:rPr lang="ru-RU" dirty="0"/>
              <a:t>, которая не будет показана, но доступна в DOM для чтения JS.</a:t>
            </a:r>
          </a:p>
        </p:txBody>
      </p:sp>
    </p:spTree>
    <p:extLst>
      <p:ext uri="{BB962C8B-B14F-4D97-AF65-F5344CB8AC3E}">
        <p14:creationId xmlns:p14="http://schemas.microsoft.com/office/powerpoint/2010/main" val="402213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Навигация </a:t>
            </a:r>
            <a:r>
              <a:rPr lang="ru-RU" dirty="0"/>
              <a:t>по </a:t>
            </a:r>
            <a:r>
              <a:rPr lang="en-US" dirty="0"/>
              <a:t>DOM-</a:t>
            </a:r>
            <a:r>
              <a:rPr lang="ru-RU" dirty="0" smtClean="0"/>
              <a:t>элементам.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14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890226" y="920301"/>
            <a:ext cx="25983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Основные ссылки</a:t>
            </a:r>
            <a:r>
              <a:rPr lang="ru-RU" dirty="0"/>
              <a:t>, по которым можно переходить между узлами DOM:</a:t>
            </a:r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3596684" y="774900"/>
            <a:ext cx="7066399" cy="584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78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Навигация </a:t>
            </a:r>
            <a:r>
              <a:rPr lang="ru-RU" dirty="0"/>
              <a:t>по </a:t>
            </a:r>
            <a:r>
              <a:rPr lang="en-US" dirty="0"/>
              <a:t>DOM-</a:t>
            </a:r>
            <a:r>
              <a:rPr lang="ru-RU" dirty="0" smtClean="0"/>
              <a:t>элементам.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15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249644" cy="374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Самые верхние элементы дерева доступны как свойства объекта </a:t>
            </a:r>
            <a:r>
              <a:rPr lang="en-US" dirty="0"/>
              <a:t>document</a:t>
            </a:r>
            <a:r>
              <a:rPr lang="en-US" dirty="0" smtClean="0"/>
              <a:t>:</a:t>
            </a:r>
            <a:endParaRPr lang="ru-RU" dirty="0" smtClean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/>
              <a:t>&lt;html&gt; = </a:t>
            </a:r>
            <a:r>
              <a:rPr lang="en-US" b="1" dirty="0" err="1"/>
              <a:t>document.documentElement</a:t>
            </a:r>
            <a:endParaRPr lang="en-US" b="1" dirty="0"/>
          </a:p>
          <a:p>
            <a:pPr>
              <a:lnSpc>
                <a:spcPct val="120000"/>
              </a:lnSpc>
            </a:pPr>
            <a:r>
              <a:rPr lang="ru-RU" dirty="0"/>
              <a:t>Самый верхний узел документа: </a:t>
            </a:r>
            <a:r>
              <a:rPr lang="en-US" dirty="0" err="1"/>
              <a:t>document.documentElement</a:t>
            </a:r>
            <a:r>
              <a:rPr lang="en-US" dirty="0"/>
              <a:t>. </a:t>
            </a:r>
            <a:r>
              <a:rPr lang="ru-RU" dirty="0"/>
              <a:t>В </a:t>
            </a:r>
            <a:r>
              <a:rPr lang="en-US" dirty="0"/>
              <a:t>DOM </a:t>
            </a:r>
            <a:r>
              <a:rPr lang="ru-RU" dirty="0"/>
              <a:t>он соответствует тегу &lt;</a:t>
            </a:r>
            <a:r>
              <a:rPr lang="en-US" dirty="0"/>
              <a:t>html</a:t>
            </a:r>
            <a:r>
              <a:rPr lang="en-US" dirty="0" smtClean="0"/>
              <a:t>&gt;.</a:t>
            </a:r>
            <a:endParaRPr lang="ru-RU" dirty="0" smtClean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/>
              <a:t>&lt;body&gt; = </a:t>
            </a:r>
            <a:r>
              <a:rPr lang="en-US" b="1" dirty="0" err="1"/>
              <a:t>document.body</a:t>
            </a:r>
            <a:endParaRPr lang="en-US" b="1" dirty="0"/>
          </a:p>
          <a:p>
            <a:pPr>
              <a:lnSpc>
                <a:spcPct val="120000"/>
              </a:lnSpc>
            </a:pPr>
            <a:r>
              <a:rPr lang="ru-RU" dirty="0"/>
              <a:t>Другой часто используемый </a:t>
            </a:r>
            <a:r>
              <a:rPr lang="en-US" dirty="0"/>
              <a:t>DOM-</a:t>
            </a:r>
            <a:r>
              <a:rPr lang="ru-RU" dirty="0"/>
              <a:t>узел – узел тега &lt;</a:t>
            </a:r>
            <a:r>
              <a:rPr lang="en-US" dirty="0"/>
              <a:t>body&gt;: </a:t>
            </a:r>
            <a:r>
              <a:rPr lang="en-US" dirty="0" err="1"/>
              <a:t>document.body</a:t>
            </a:r>
            <a:r>
              <a:rPr lang="en-US" dirty="0" smtClean="0"/>
              <a:t>.</a:t>
            </a:r>
            <a:endParaRPr lang="ru-RU" dirty="0" smtClean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/>
              <a:t>&lt;head&gt; = </a:t>
            </a:r>
            <a:r>
              <a:rPr lang="en-US" b="1" dirty="0" err="1"/>
              <a:t>document.head</a:t>
            </a:r>
            <a:endParaRPr lang="en-US" b="1" dirty="0"/>
          </a:p>
          <a:p>
            <a:pPr>
              <a:lnSpc>
                <a:spcPct val="120000"/>
              </a:lnSpc>
            </a:pPr>
            <a:r>
              <a:rPr lang="ru-RU" dirty="0"/>
              <a:t>Тег &lt;</a:t>
            </a:r>
            <a:r>
              <a:rPr lang="en-US" dirty="0"/>
              <a:t>head&gt; </a:t>
            </a:r>
            <a:r>
              <a:rPr lang="ru-RU" dirty="0"/>
              <a:t>доступен как </a:t>
            </a:r>
            <a:r>
              <a:rPr lang="en-US" dirty="0" err="1"/>
              <a:t>document.head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367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Навигация </a:t>
            </a:r>
            <a:r>
              <a:rPr lang="ru-RU" dirty="0"/>
              <a:t>по </a:t>
            </a:r>
            <a:r>
              <a:rPr lang="en-US" dirty="0"/>
              <a:t>DOM-</a:t>
            </a:r>
            <a:r>
              <a:rPr lang="ru-RU" dirty="0" smtClean="0"/>
              <a:t>элементам.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16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743325"/>
            <a:ext cx="47452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document.body</a:t>
            </a:r>
            <a:r>
              <a:rPr lang="ru-RU" dirty="0"/>
              <a:t> может быть равен </a:t>
            </a:r>
            <a:r>
              <a:rPr lang="ru-RU" dirty="0" err="1" smtClean="0"/>
              <a:t>null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1182785"/>
            <a:ext cx="100021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Например, </a:t>
            </a:r>
            <a:r>
              <a:rPr lang="ru-RU" dirty="0"/>
              <a:t>если скрипт находится в &lt;</a:t>
            </a:r>
            <a:r>
              <a:rPr lang="ru-RU" dirty="0" err="1"/>
              <a:t>head</a:t>
            </a:r>
            <a:r>
              <a:rPr lang="ru-RU" dirty="0"/>
              <a:t>&gt;, </a:t>
            </a:r>
            <a:r>
              <a:rPr lang="ru-RU" dirty="0" err="1"/>
              <a:t>document.body</a:t>
            </a:r>
            <a:r>
              <a:rPr lang="ru-RU" dirty="0"/>
              <a:t> в нём недоступен, потому что браузер его еще не прочитал.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961854"/>
            <a:ext cx="5695669" cy="471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410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Навигация </a:t>
            </a:r>
            <a:r>
              <a:rPr lang="ru-RU" dirty="0"/>
              <a:t>по </a:t>
            </a:r>
            <a:r>
              <a:rPr lang="en-US" dirty="0"/>
              <a:t>DOM-</a:t>
            </a:r>
            <a:r>
              <a:rPr lang="ru-RU" dirty="0" smtClean="0"/>
              <a:t>элементам.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17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004635" y="920301"/>
            <a:ext cx="107498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Дочерние </a:t>
            </a:r>
            <a:r>
              <a:rPr lang="ru-RU" b="1" dirty="0"/>
              <a:t>узлы </a:t>
            </a:r>
            <a:r>
              <a:rPr lang="ru-RU" b="1" dirty="0" smtClean="0"/>
              <a:t>(дети</a:t>
            </a:r>
            <a:r>
              <a:rPr lang="ru-RU" b="1" dirty="0"/>
              <a:t>) </a:t>
            </a:r>
            <a:r>
              <a:rPr lang="ru-RU" dirty="0"/>
              <a:t>– элементы, </a:t>
            </a:r>
            <a:r>
              <a:rPr lang="ru-RU" dirty="0" smtClean="0"/>
              <a:t>которые </a:t>
            </a:r>
            <a:r>
              <a:rPr lang="ru-RU" dirty="0"/>
              <a:t>лежат непосредственно внутри </a:t>
            </a:r>
            <a:r>
              <a:rPr lang="ru-RU" dirty="0" smtClean="0"/>
              <a:t>данного узла.</a:t>
            </a:r>
          </a:p>
          <a:p>
            <a:endParaRPr lang="ru-RU" dirty="0"/>
          </a:p>
          <a:p>
            <a:r>
              <a:rPr lang="ru-RU" b="1" dirty="0" smtClean="0"/>
              <a:t>Потомки</a:t>
            </a:r>
            <a:r>
              <a:rPr lang="ru-RU" dirty="0" smtClean="0"/>
              <a:t> </a:t>
            </a:r>
            <a:r>
              <a:rPr lang="ru-RU" dirty="0"/>
              <a:t>– все элементы, которые лежат внутри данного, включая детей, их детей и т.д.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936600"/>
            <a:ext cx="3778379" cy="314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946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Навигация </a:t>
            </a:r>
            <a:r>
              <a:rPr lang="ru-RU" dirty="0"/>
              <a:t>по </a:t>
            </a:r>
            <a:r>
              <a:rPr lang="en-US" dirty="0"/>
              <a:t>DOM-</a:t>
            </a:r>
            <a:r>
              <a:rPr lang="ru-RU" dirty="0" smtClean="0"/>
              <a:t>элементам.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18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944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Коллекция </a:t>
            </a:r>
            <a:r>
              <a:rPr lang="ru-RU" b="1" dirty="0" err="1"/>
              <a:t>childNodes</a:t>
            </a:r>
            <a:r>
              <a:rPr lang="ru-RU" dirty="0"/>
              <a:t> содержит список всех детей, включая текстовые узлы.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407" y="1435033"/>
            <a:ext cx="8878366" cy="536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49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Навигация </a:t>
            </a:r>
            <a:r>
              <a:rPr lang="ru-RU" dirty="0"/>
              <a:t>по </a:t>
            </a:r>
            <a:r>
              <a:rPr lang="en-US" dirty="0"/>
              <a:t>DOM-</a:t>
            </a:r>
            <a:r>
              <a:rPr lang="ru-RU" dirty="0" smtClean="0"/>
              <a:t>элементам.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19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774901"/>
            <a:ext cx="106806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Свойства </a:t>
            </a:r>
            <a:r>
              <a:rPr lang="ru-RU" b="1" dirty="0" err="1"/>
              <a:t>firstChild</a:t>
            </a:r>
            <a:r>
              <a:rPr lang="ru-RU" dirty="0"/>
              <a:t> и </a:t>
            </a:r>
            <a:r>
              <a:rPr lang="ru-RU" b="1" dirty="0" err="1"/>
              <a:t>lastChild</a:t>
            </a:r>
            <a:r>
              <a:rPr lang="ru-RU" dirty="0"/>
              <a:t> обеспечивают </a:t>
            </a:r>
            <a:r>
              <a:rPr lang="ru-RU" dirty="0" smtClean="0"/>
              <a:t>доступ </a:t>
            </a:r>
            <a:r>
              <a:rPr lang="ru-RU" dirty="0"/>
              <a:t>к первому и последнему дочернему элементу.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650684"/>
            <a:ext cx="9639799" cy="709057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8085" y="2781370"/>
            <a:ext cx="10164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Соседи</a:t>
            </a:r>
            <a:r>
              <a:rPr lang="ru-RU" dirty="0"/>
              <a:t> – это узлы, у которых один и тот же родитель.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4" y="3292344"/>
            <a:ext cx="5598177" cy="91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61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Навигация </a:t>
            </a:r>
            <a:r>
              <a:rPr lang="ru-RU" dirty="0"/>
              <a:t>по </a:t>
            </a:r>
            <a:r>
              <a:rPr lang="en-US" dirty="0"/>
              <a:t>DOM-</a:t>
            </a:r>
            <a:r>
              <a:rPr lang="ru-RU" dirty="0" smtClean="0"/>
              <a:t>элементам.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20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6953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Доступ к следующему соседу относительно текущего осуществляется через свойство </a:t>
            </a:r>
            <a:r>
              <a:rPr lang="ru-RU" b="1" dirty="0" err="1" smtClean="0"/>
              <a:t>nextSibling</a:t>
            </a:r>
            <a:r>
              <a:rPr lang="ru-RU" dirty="0" smtClean="0"/>
              <a:t> текущего узла, </a:t>
            </a:r>
            <a:r>
              <a:rPr lang="ru-RU" dirty="0"/>
              <a:t>а предыдущий – </a:t>
            </a:r>
            <a:r>
              <a:rPr lang="ru-RU" dirty="0" smtClean="0"/>
              <a:t> через </a:t>
            </a:r>
            <a:r>
              <a:rPr lang="ru-RU" b="1" dirty="0" err="1"/>
              <a:t>previousSibling</a:t>
            </a:r>
            <a:r>
              <a:rPr lang="ru-RU" dirty="0"/>
              <a:t>.</a:t>
            </a:r>
          </a:p>
          <a:p>
            <a:r>
              <a:rPr lang="ru-RU" dirty="0"/>
              <a:t>Родитель доступен </a:t>
            </a:r>
            <a:r>
              <a:rPr lang="ru-RU" dirty="0" smtClean="0"/>
              <a:t>через свойство </a:t>
            </a:r>
            <a:r>
              <a:rPr lang="ru-RU" b="1" dirty="0" err="1"/>
              <a:t>parentNode</a:t>
            </a:r>
            <a:r>
              <a:rPr lang="ru-RU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989031"/>
            <a:ext cx="8911687" cy="233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35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Навигация </a:t>
            </a:r>
            <a:r>
              <a:rPr lang="ru-RU" dirty="0"/>
              <a:t>по </a:t>
            </a:r>
            <a:r>
              <a:rPr lang="en-US" dirty="0"/>
              <a:t>DOM-</a:t>
            </a:r>
            <a:r>
              <a:rPr lang="ru-RU" dirty="0" smtClean="0"/>
              <a:t>элементам.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21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01890" y="920301"/>
            <a:ext cx="10164425" cy="365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900"/>
              </a:spcAft>
            </a:pPr>
            <a:r>
              <a:rPr lang="ru-RU" dirty="0"/>
              <a:t>Свойства, которые учитывают только узлы-элементы: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01890" y="1365909"/>
            <a:ext cx="10636380" cy="3656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 err="1"/>
              <a:t>children</a:t>
            </a:r>
            <a:r>
              <a:rPr lang="ru-RU" dirty="0"/>
              <a:t> – коллекция детей, которые являются элементами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48" y="1850468"/>
            <a:ext cx="6425929" cy="4845298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601890" y="1904744"/>
            <a:ext cx="3973624" cy="2964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 err="1"/>
              <a:t>firstElementChild</a:t>
            </a:r>
            <a:r>
              <a:rPr lang="ru-RU" dirty="0"/>
              <a:t>, 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 err="1" smtClean="0"/>
              <a:t>lastElementChild</a:t>
            </a:r>
            <a:r>
              <a:rPr lang="ru-RU" dirty="0"/>
              <a:t> – первый и последний дочерний элемент.</a:t>
            </a:r>
          </a:p>
          <a:p>
            <a:pPr marL="342900" lvl="0" indent="-342900">
              <a:lnSpc>
                <a:spcPct val="1070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 err="1"/>
              <a:t>previousElementSibling</a:t>
            </a:r>
            <a:r>
              <a:rPr lang="ru-RU" dirty="0"/>
              <a:t>, 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 err="1" smtClean="0"/>
              <a:t>nextElementSibling</a:t>
            </a:r>
            <a:r>
              <a:rPr lang="ru-RU" dirty="0"/>
              <a:t> – соседи-элементы.</a:t>
            </a:r>
          </a:p>
          <a:p>
            <a:pPr marL="342900" lvl="0" indent="-342900">
              <a:lnSpc>
                <a:spcPct val="1070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 err="1"/>
              <a:t>parentElement</a:t>
            </a:r>
            <a:r>
              <a:rPr lang="ru-RU" dirty="0"/>
              <a:t> – родитель-элемент.</a:t>
            </a:r>
          </a:p>
        </p:txBody>
      </p:sp>
    </p:spTree>
    <p:extLst>
      <p:ext uri="{BB962C8B-B14F-4D97-AF65-F5344CB8AC3E}">
        <p14:creationId xmlns:p14="http://schemas.microsoft.com/office/powerpoint/2010/main" val="164685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Навигация </a:t>
            </a:r>
            <a:r>
              <a:rPr lang="ru-RU" dirty="0"/>
              <a:t>по </a:t>
            </a:r>
            <a:r>
              <a:rPr lang="en-US" dirty="0"/>
              <a:t>DOM-</a:t>
            </a:r>
            <a:r>
              <a:rPr lang="ru-RU" dirty="0" smtClean="0"/>
              <a:t>элементам.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22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4004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Свойства элемента </a:t>
            </a:r>
            <a:r>
              <a:rPr lang="ru-RU" b="1" dirty="0" smtClean="0"/>
              <a:t>&lt;</a:t>
            </a:r>
            <a:r>
              <a:rPr lang="ru-RU" b="1" dirty="0" err="1"/>
              <a:t>table</a:t>
            </a:r>
            <a:r>
              <a:rPr lang="ru-RU" b="1" dirty="0" smtClean="0"/>
              <a:t>&gt;: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1289633"/>
            <a:ext cx="1094419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•</a:t>
            </a:r>
            <a:r>
              <a:rPr lang="ru-RU" dirty="0" smtClean="0"/>
              <a:t> </a:t>
            </a:r>
            <a:r>
              <a:rPr lang="en-US" dirty="0" err="1" smtClean="0"/>
              <a:t>table.rows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коллекция строк &lt;</a:t>
            </a:r>
            <a:r>
              <a:rPr lang="en-US" dirty="0" err="1"/>
              <a:t>tr</a:t>
            </a:r>
            <a:r>
              <a:rPr lang="en-US" dirty="0"/>
              <a:t>&gt; </a:t>
            </a:r>
            <a:r>
              <a:rPr lang="ru-RU" dirty="0"/>
              <a:t>таблицы.</a:t>
            </a:r>
          </a:p>
          <a:p>
            <a:r>
              <a:rPr lang="ru-RU" dirty="0" smtClean="0"/>
              <a:t>• </a:t>
            </a:r>
            <a:r>
              <a:rPr lang="en-US" dirty="0" err="1" smtClean="0"/>
              <a:t>table.caption</a:t>
            </a:r>
            <a:r>
              <a:rPr lang="en-US" dirty="0" smtClean="0"/>
              <a:t>/</a:t>
            </a:r>
            <a:r>
              <a:rPr lang="en-US" dirty="0" err="1" smtClean="0"/>
              <a:t>tHead</a:t>
            </a:r>
            <a:r>
              <a:rPr lang="en-US" dirty="0" smtClean="0"/>
              <a:t>/</a:t>
            </a:r>
            <a:r>
              <a:rPr lang="en-US" dirty="0" err="1" smtClean="0"/>
              <a:t>tFoot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ссылки на элементы таблицы &lt;</a:t>
            </a:r>
            <a:r>
              <a:rPr lang="en-US" dirty="0"/>
              <a:t>caption&gt;, &lt;</a:t>
            </a:r>
            <a:r>
              <a:rPr lang="en-US" dirty="0" err="1"/>
              <a:t>thead</a:t>
            </a:r>
            <a:r>
              <a:rPr lang="en-US" dirty="0"/>
              <a:t>&gt;, &lt;</a:t>
            </a:r>
            <a:r>
              <a:rPr lang="en-US" dirty="0" err="1"/>
              <a:t>tfoot</a:t>
            </a:r>
            <a:r>
              <a:rPr lang="en-US" dirty="0"/>
              <a:t>&gt;.</a:t>
            </a:r>
          </a:p>
          <a:p>
            <a:r>
              <a:rPr lang="en-US" dirty="0" smtClean="0"/>
              <a:t>•</a:t>
            </a:r>
            <a:r>
              <a:rPr lang="ru-RU" dirty="0" smtClean="0"/>
              <a:t> </a:t>
            </a:r>
            <a:r>
              <a:rPr lang="en-US" dirty="0" err="1" smtClean="0"/>
              <a:t>table.tBodies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коллекция элементов таблицы &lt;</a:t>
            </a:r>
            <a:r>
              <a:rPr lang="en-US" dirty="0" err="1"/>
              <a:t>tbody</a:t>
            </a:r>
            <a:r>
              <a:rPr lang="en-US" dirty="0"/>
              <a:t>&gt; (</a:t>
            </a:r>
            <a:r>
              <a:rPr lang="ru-RU" dirty="0"/>
              <a:t>по спецификации их может быть больше одного</a:t>
            </a:r>
            <a:r>
              <a:rPr lang="ru-RU" dirty="0" smtClean="0"/>
              <a:t>).</a:t>
            </a:r>
          </a:p>
          <a:p>
            <a:endParaRPr lang="ru-RU" dirty="0"/>
          </a:p>
          <a:p>
            <a:r>
              <a:rPr lang="ru-RU" b="1" dirty="0"/>
              <a:t>&lt;</a:t>
            </a:r>
            <a:r>
              <a:rPr lang="en-US" b="1" dirty="0" err="1"/>
              <a:t>thead</a:t>
            </a:r>
            <a:r>
              <a:rPr lang="en-US" b="1" dirty="0"/>
              <a:t>&gt;, &lt;</a:t>
            </a:r>
            <a:r>
              <a:rPr lang="en-US" b="1" dirty="0" err="1"/>
              <a:t>tfoot</a:t>
            </a:r>
            <a:r>
              <a:rPr lang="en-US" b="1" dirty="0"/>
              <a:t>&gt;, &lt;</a:t>
            </a:r>
            <a:r>
              <a:rPr lang="en-US" b="1" dirty="0" err="1"/>
              <a:t>tbody</a:t>
            </a:r>
            <a:r>
              <a:rPr lang="en-US" b="1" dirty="0"/>
              <a:t>&gt;</a:t>
            </a:r>
            <a:r>
              <a:rPr lang="en-US" dirty="0"/>
              <a:t> </a:t>
            </a:r>
            <a:r>
              <a:rPr lang="ru-RU" dirty="0"/>
              <a:t>предоставляют свойство </a:t>
            </a:r>
            <a:r>
              <a:rPr lang="en-US" dirty="0"/>
              <a:t>rows:</a:t>
            </a:r>
          </a:p>
          <a:p>
            <a:r>
              <a:rPr lang="en-US" dirty="0" smtClean="0"/>
              <a:t>•</a:t>
            </a:r>
            <a:r>
              <a:rPr lang="ru-RU" dirty="0" smtClean="0"/>
              <a:t> </a:t>
            </a:r>
            <a:r>
              <a:rPr lang="en-US" dirty="0" err="1" smtClean="0"/>
              <a:t>tbody.rows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коллекция строк &lt;</a:t>
            </a:r>
            <a:r>
              <a:rPr lang="en-US" dirty="0" err="1"/>
              <a:t>tr</a:t>
            </a:r>
            <a:r>
              <a:rPr lang="en-US" dirty="0"/>
              <a:t>&gt; </a:t>
            </a:r>
            <a:r>
              <a:rPr lang="ru-RU" dirty="0"/>
              <a:t>секции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b="1" dirty="0"/>
              <a:t>&lt;</a:t>
            </a:r>
            <a:r>
              <a:rPr lang="en-US" b="1" dirty="0" err="1"/>
              <a:t>tr</a:t>
            </a:r>
            <a:r>
              <a:rPr lang="en-US" b="1" dirty="0"/>
              <a:t>&gt;:</a:t>
            </a:r>
          </a:p>
          <a:p>
            <a:r>
              <a:rPr lang="en-US" dirty="0" smtClean="0"/>
              <a:t>•</a:t>
            </a:r>
            <a:r>
              <a:rPr lang="ru-RU" dirty="0" smtClean="0"/>
              <a:t> </a:t>
            </a:r>
            <a:r>
              <a:rPr lang="en-US" dirty="0" err="1" smtClean="0"/>
              <a:t>tr.cells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коллекция &lt;</a:t>
            </a:r>
            <a:r>
              <a:rPr lang="en-US" dirty="0"/>
              <a:t>td&gt; </a:t>
            </a:r>
            <a:r>
              <a:rPr lang="ru-RU" dirty="0"/>
              <a:t>и &lt;</a:t>
            </a:r>
            <a:r>
              <a:rPr lang="en-US" dirty="0" err="1"/>
              <a:t>th</a:t>
            </a:r>
            <a:r>
              <a:rPr lang="en-US" dirty="0"/>
              <a:t>&gt; </a:t>
            </a:r>
            <a:r>
              <a:rPr lang="ru-RU" dirty="0"/>
              <a:t>ячеек, находящихся внутри строки &lt;</a:t>
            </a:r>
            <a:r>
              <a:rPr lang="en-US" dirty="0" err="1"/>
              <a:t>tr</a:t>
            </a:r>
            <a:r>
              <a:rPr lang="en-US" dirty="0"/>
              <a:t>&gt;.</a:t>
            </a:r>
          </a:p>
          <a:p>
            <a:r>
              <a:rPr lang="en-US" dirty="0" smtClean="0"/>
              <a:t>•</a:t>
            </a:r>
            <a:r>
              <a:rPr lang="ru-RU" dirty="0" smtClean="0"/>
              <a:t> </a:t>
            </a:r>
            <a:r>
              <a:rPr lang="en-US" dirty="0" err="1" smtClean="0"/>
              <a:t>tr.sectionRowIndex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номер строки &lt;</a:t>
            </a:r>
            <a:r>
              <a:rPr lang="en-US" dirty="0" err="1"/>
              <a:t>tr</a:t>
            </a:r>
            <a:r>
              <a:rPr lang="en-US" dirty="0"/>
              <a:t>&gt; </a:t>
            </a:r>
            <a:r>
              <a:rPr lang="ru-RU" dirty="0"/>
              <a:t>в текущей секции &lt;</a:t>
            </a:r>
            <a:r>
              <a:rPr lang="en-US" dirty="0" err="1"/>
              <a:t>thead</a:t>
            </a:r>
            <a:r>
              <a:rPr lang="en-US" dirty="0"/>
              <a:t>&gt;/&lt;</a:t>
            </a:r>
            <a:r>
              <a:rPr lang="en-US" dirty="0" err="1"/>
              <a:t>tbody</a:t>
            </a:r>
            <a:r>
              <a:rPr lang="en-US" dirty="0"/>
              <a:t>&gt;/&lt;</a:t>
            </a:r>
            <a:r>
              <a:rPr lang="en-US" dirty="0" err="1"/>
              <a:t>tfoot</a:t>
            </a:r>
            <a:r>
              <a:rPr lang="en-US" dirty="0"/>
              <a:t>&gt;.</a:t>
            </a:r>
          </a:p>
          <a:p>
            <a:r>
              <a:rPr lang="en-US" dirty="0" smtClean="0"/>
              <a:t>•</a:t>
            </a:r>
            <a:r>
              <a:rPr lang="ru-RU" dirty="0" smtClean="0"/>
              <a:t> </a:t>
            </a:r>
            <a:r>
              <a:rPr lang="en-US" dirty="0" err="1" smtClean="0"/>
              <a:t>tr.rowIndex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номер строки &lt;</a:t>
            </a:r>
            <a:r>
              <a:rPr lang="en-US" dirty="0" err="1"/>
              <a:t>tr</a:t>
            </a:r>
            <a:r>
              <a:rPr lang="en-US" dirty="0"/>
              <a:t>&gt; </a:t>
            </a:r>
            <a:r>
              <a:rPr lang="ru-RU" dirty="0"/>
              <a:t>в таблице (включая все строки таблицы</a:t>
            </a:r>
            <a:r>
              <a:rPr lang="ru-RU" dirty="0" smtClean="0"/>
              <a:t>).</a:t>
            </a:r>
          </a:p>
          <a:p>
            <a:endParaRPr lang="ru-RU" dirty="0"/>
          </a:p>
          <a:p>
            <a:r>
              <a:rPr lang="ru-RU" b="1" dirty="0"/>
              <a:t>&lt;</a:t>
            </a:r>
            <a:r>
              <a:rPr lang="en-US" b="1" dirty="0"/>
              <a:t>td&gt; </a:t>
            </a:r>
            <a:r>
              <a:rPr lang="en-US" dirty="0"/>
              <a:t>and </a:t>
            </a:r>
            <a:r>
              <a:rPr lang="en-US" b="1" dirty="0"/>
              <a:t>&lt;</a:t>
            </a:r>
            <a:r>
              <a:rPr lang="en-US" b="1" dirty="0" err="1"/>
              <a:t>th</a:t>
            </a:r>
            <a:r>
              <a:rPr lang="en-US" b="1" dirty="0"/>
              <a:t>&gt;:</a:t>
            </a:r>
          </a:p>
          <a:p>
            <a:r>
              <a:rPr lang="en-US" dirty="0" smtClean="0"/>
              <a:t>•</a:t>
            </a:r>
            <a:r>
              <a:rPr lang="ru-RU" dirty="0" smtClean="0"/>
              <a:t> </a:t>
            </a:r>
            <a:r>
              <a:rPr lang="en-US" dirty="0" err="1" smtClean="0"/>
              <a:t>td.cellIndex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номер ячейки в строке &lt;</a:t>
            </a:r>
            <a:r>
              <a:rPr lang="en-US" dirty="0" err="1"/>
              <a:t>tr</a:t>
            </a:r>
            <a:r>
              <a:rPr lang="en-US" dirty="0"/>
              <a:t>&gt;.</a:t>
            </a:r>
          </a:p>
        </p:txBody>
      </p:sp>
    </p:spTree>
    <p:extLst>
      <p:ext uri="{BB962C8B-B14F-4D97-AF65-F5344CB8AC3E}">
        <p14:creationId xmlns:p14="http://schemas.microsoft.com/office/powerpoint/2010/main" val="286317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Навигация </a:t>
            </a:r>
            <a:r>
              <a:rPr lang="ru-RU" dirty="0"/>
              <a:t>по </a:t>
            </a:r>
            <a:r>
              <a:rPr lang="en-US" dirty="0"/>
              <a:t>DOM-</a:t>
            </a:r>
            <a:r>
              <a:rPr lang="ru-RU" dirty="0" smtClean="0"/>
              <a:t>элементам.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23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3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920301"/>
            <a:ext cx="7273746" cy="354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8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Методы </a:t>
            </a:r>
            <a:r>
              <a:rPr lang="ru-RU" dirty="0"/>
              <a:t>поиска </a:t>
            </a:r>
            <a:r>
              <a:rPr lang="en-US" dirty="0"/>
              <a:t>DOM-</a:t>
            </a:r>
            <a:r>
              <a:rPr lang="ru-RU" dirty="0"/>
              <a:t>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24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7248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Значение </a:t>
            </a:r>
            <a:r>
              <a:rPr lang="ru-RU" b="1" dirty="0" smtClean="0"/>
              <a:t>атрибута </a:t>
            </a:r>
            <a:r>
              <a:rPr lang="ru-RU" b="1" dirty="0" err="1" smtClean="0"/>
              <a:t>id</a:t>
            </a:r>
            <a:r>
              <a:rPr lang="ru-RU" b="1" dirty="0" smtClean="0"/>
              <a:t> </a:t>
            </a:r>
            <a:r>
              <a:rPr lang="ru-RU" dirty="0" err="1" smtClean="0"/>
              <a:t>ипользуется</a:t>
            </a:r>
            <a:r>
              <a:rPr lang="ru-RU" dirty="0" smtClean="0"/>
              <a:t> </a:t>
            </a:r>
            <a:r>
              <a:rPr lang="ru-RU" dirty="0"/>
              <a:t>в качестве имени глобальной </a:t>
            </a:r>
            <a:r>
              <a:rPr lang="ru-RU" dirty="0" smtClean="0"/>
              <a:t>переменной, с помощью которой мы </a:t>
            </a:r>
            <a:r>
              <a:rPr lang="ru-RU" dirty="0"/>
              <a:t>можем обратиться к элементу </a:t>
            </a:r>
            <a:r>
              <a:rPr lang="ru-RU" dirty="0" smtClean="0"/>
              <a:t>напрямую.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2493696"/>
            <a:ext cx="5589192" cy="275672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18084" y="1712032"/>
            <a:ext cx="96334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Переменная объявленная с </a:t>
            </a:r>
            <a:r>
              <a:rPr lang="ru-RU" dirty="0"/>
              <a:t>тем же </a:t>
            </a:r>
            <a:r>
              <a:rPr lang="ru-RU" dirty="0" smtClean="0"/>
              <a:t>именем будет </a:t>
            </a:r>
            <a:r>
              <a:rPr lang="ru-RU" dirty="0"/>
              <a:t>иметь </a:t>
            </a:r>
            <a:r>
              <a:rPr lang="ru-RU" dirty="0" smtClean="0"/>
              <a:t>приоритет.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637" y="2493697"/>
            <a:ext cx="3528706" cy="20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38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Методы </a:t>
            </a:r>
            <a:r>
              <a:rPr lang="ru-RU" dirty="0"/>
              <a:t>поиска </a:t>
            </a:r>
            <a:r>
              <a:rPr lang="en-US" dirty="0"/>
              <a:t>DOM-</a:t>
            </a:r>
            <a:r>
              <a:rPr lang="ru-RU" dirty="0"/>
              <a:t>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25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7988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Метод </a:t>
            </a:r>
            <a:r>
              <a:rPr lang="en-US" b="1" dirty="0" err="1"/>
              <a:t>document.getElementById</a:t>
            </a:r>
            <a:r>
              <a:rPr lang="en-US" b="1" dirty="0"/>
              <a:t>(id</a:t>
            </a:r>
            <a:r>
              <a:rPr lang="en-US" b="1" dirty="0" smtClean="0"/>
              <a:t>)</a:t>
            </a:r>
            <a:r>
              <a:rPr lang="ru-RU" dirty="0" smtClean="0"/>
              <a:t> позволяет получить доступ к </a:t>
            </a:r>
            <a:r>
              <a:rPr lang="en-US" dirty="0" smtClean="0"/>
              <a:t>id.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6477333" cy="252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80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Методы </a:t>
            </a:r>
            <a:r>
              <a:rPr lang="ru-RU" dirty="0"/>
              <a:t>поиска </a:t>
            </a:r>
            <a:r>
              <a:rPr lang="en-US" dirty="0"/>
              <a:t>DOM-</a:t>
            </a:r>
            <a:r>
              <a:rPr lang="ru-RU" dirty="0"/>
              <a:t>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26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7691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Метод поиска </a:t>
            </a:r>
            <a:r>
              <a:rPr lang="ru-RU" b="1" dirty="0" err="1" smtClean="0"/>
              <a:t>elem.querySelectorAll</a:t>
            </a:r>
            <a:r>
              <a:rPr lang="ru-RU" b="1" dirty="0" smtClean="0"/>
              <a:t>(</a:t>
            </a:r>
            <a:r>
              <a:rPr lang="ru-RU" b="1" dirty="0" err="1" smtClean="0"/>
              <a:t>css</a:t>
            </a:r>
            <a:r>
              <a:rPr lang="ru-RU" b="1" dirty="0" smtClean="0"/>
              <a:t>)</a:t>
            </a:r>
            <a:r>
              <a:rPr lang="ru-RU" dirty="0" smtClean="0"/>
              <a:t> возвращает </a:t>
            </a:r>
            <a:r>
              <a:rPr lang="ru-RU" dirty="0"/>
              <a:t>все элементы внутри </a:t>
            </a:r>
            <a:r>
              <a:rPr lang="ru-RU" dirty="0" err="1"/>
              <a:t>elem</a:t>
            </a:r>
            <a:r>
              <a:rPr lang="ru-RU" dirty="0"/>
              <a:t>, удовлетворяющие </a:t>
            </a:r>
            <a:r>
              <a:rPr lang="ru-RU" dirty="0" smtClean="0"/>
              <a:t>указанному </a:t>
            </a:r>
            <a:r>
              <a:rPr lang="ru-RU" dirty="0"/>
              <a:t>CSS-селектору.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113" y="1712032"/>
            <a:ext cx="8920777" cy="416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983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Методы </a:t>
            </a:r>
            <a:r>
              <a:rPr lang="ru-RU" dirty="0"/>
              <a:t>поиска </a:t>
            </a:r>
            <a:r>
              <a:rPr lang="en-US" dirty="0"/>
              <a:t>DOM-</a:t>
            </a:r>
            <a:r>
              <a:rPr lang="ru-RU" dirty="0"/>
              <a:t>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27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07838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</a:t>
            </a:r>
            <a:r>
              <a:rPr lang="ru-RU" b="1" dirty="0" err="1"/>
              <a:t>elem.querySelector</a:t>
            </a:r>
            <a:r>
              <a:rPr lang="ru-RU" b="1" dirty="0"/>
              <a:t>(</a:t>
            </a:r>
            <a:r>
              <a:rPr lang="ru-RU" b="1" dirty="0" err="1"/>
              <a:t>css</a:t>
            </a:r>
            <a:r>
              <a:rPr lang="ru-RU" b="1" dirty="0"/>
              <a:t>)</a:t>
            </a:r>
            <a:r>
              <a:rPr lang="ru-RU" dirty="0"/>
              <a:t> возвращает первый элемент, соответствующий данному </a:t>
            </a:r>
            <a:r>
              <a:rPr lang="ru-RU" dirty="0" smtClean="0"/>
              <a:t>CSS-селектору (соответствует </a:t>
            </a:r>
            <a:r>
              <a:rPr lang="ru-RU" dirty="0" err="1" smtClean="0"/>
              <a:t>elem.querySelectorAll</a:t>
            </a:r>
            <a:r>
              <a:rPr lang="ru-RU" dirty="0" smtClean="0"/>
              <a:t>(</a:t>
            </a:r>
            <a:r>
              <a:rPr lang="ru-RU" dirty="0" err="1" smtClean="0"/>
              <a:t>css</a:t>
            </a:r>
            <a:r>
              <a:rPr lang="ru-RU" dirty="0"/>
              <a:t>)[0</a:t>
            </a:r>
            <a:r>
              <a:rPr lang="ru-RU" dirty="0" smtClean="0"/>
              <a:t>]).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118085" y="1712193"/>
            <a:ext cx="103561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</a:t>
            </a:r>
            <a:r>
              <a:rPr lang="ru-RU" b="1" dirty="0" err="1"/>
              <a:t>elem.matches</a:t>
            </a:r>
            <a:r>
              <a:rPr lang="ru-RU" b="1" dirty="0"/>
              <a:t>(</a:t>
            </a:r>
            <a:r>
              <a:rPr lang="ru-RU" b="1" dirty="0" err="1"/>
              <a:t>css</a:t>
            </a:r>
            <a:r>
              <a:rPr lang="ru-RU" b="1" dirty="0"/>
              <a:t>)</a:t>
            </a:r>
            <a:r>
              <a:rPr lang="ru-RU" dirty="0"/>
              <a:t> </a:t>
            </a:r>
            <a:r>
              <a:rPr lang="ru-RU" dirty="0" smtClean="0"/>
              <a:t>проверяет</a:t>
            </a:r>
            <a:r>
              <a:rPr lang="ru-RU" dirty="0"/>
              <a:t>, удовлетворяет ли </a:t>
            </a:r>
            <a:r>
              <a:rPr lang="ru-RU" dirty="0" err="1"/>
              <a:t>elem</a:t>
            </a:r>
            <a:r>
              <a:rPr lang="ru-RU" dirty="0"/>
              <a:t> CSS-селектору, и возвращает </a:t>
            </a:r>
            <a:r>
              <a:rPr lang="ru-RU" dirty="0" err="1"/>
              <a:t>true</a:t>
            </a:r>
            <a:r>
              <a:rPr lang="ru-RU" dirty="0"/>
              <a:t> или </a:t>
            </a:r>
            <a:r>
              <a:rPr lang="ru-RU" dirty="0" err="1"/>
              <a:t>false</a:t>
            </a:r>
            <a:r>
              <a:rPr lang="ru-RU" dirty="0"/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2462677"/>
            <a:ext cx="6730934" cy="281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128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Методы </a:t>
            </a:r>
            <a:r>
              <a:rPr lang="ru-RU" dirty="0"/>
              <a:t>поиска </a:t>
            </a:r>
            <a:r>
              <a:rPr lang="en-US" dirty="0"/>
              <a:t>DOM-</a:t>
            </a:r>
            <a:r>
              <a:rPr lang="ru-RU" dirty="0"/>
              <a:t>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28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802317"/>
            <a:ext cx="107543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Предки</a:t>
            </a:r>
            <a:r>
              <a:rPr lang="ru-RU" dirty="0"/>
              <a:t> элемента – родитель, родитель родителя, его родитель и так </a:t>
            </a:r>
            <a:r>
              <a:rPr lang="ru-RU" dirty="0" smtClean="0"/>
              <a:t>далее (цепочка иерархии </a:t>
            </a:r>
            <a:r>
              <a:rPr lang="ru-RU" dirty="0"/>
              <a:t>от элемента до </a:t>
            </a:r>
            <a:r>
              <a:rPr lang="ru-RU" dirty="0" smtClean="0"/>
              <a:t>вершины).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b="1" dirty="0" err="1"/>
              <a:t>elem.closest</a:t>
            </a:r>
            <a:r>
              <a:rPr lang="ru-RU" b="1" dirty="0"/>
              <a:t>(</a:t>
            </a:r>
            <a:r>
              <a:rPr lang="ru-RU" b="1" dirty="0" err="1"/>
              <a:t>css</a:t>
            </a:r>
            <a:r>
              <a:rPr lang="ru-RU" b="1" dirty="0"/>
              <a:t>)</a:t>
            </a:r>
            <a:r>
              <a:rPr lang="ru-RU" dirty="0"/>
              <a:t> ищет ближайшего предка, который соответствует CSS-селектору.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2044810"/>
            <a:ext cx="7834186" cy="46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708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Методы </a:t>
            </a:r>
            <a:r>
              <a:rPr lang="ru-RU" dirty="0"/>
              <a:t>поиска </a:t>
            </a:r>
            <a:r>
              <a:rPr lang="en-US" dirty="0"/>
              <a:t>DOM-</a:t>
            </a:r>
            <a:r>
              <a:rPr lang="ru-RU" dirty="0"/>
              <a:t>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29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10164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Методы поиска </a:t>
            </a:r>
            <a:r>
              <a:rPr lang="ru-RU" dirty="0"/>
              <a:t>элементов по тегу, классу и </a:t>
            </a:r>
            <a:r>
              <a:rPr lang="ru-RU" dirty="0" smtClean="0"/>
              <a:t>т. д.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118085" y="1435033"/>
            <a:ext cx="106658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•</a:t>
            </a:r>
            <a:r>
              <a:rPr lang="ru-RU" dirty="0" smtClean="0"/>
              <a:t> </a:t>
            </a:r>
            <a:r>
              <a:rPr lang="en-US" b="1" dirty="0" err="1" smtClean="0"/>
              <a:t>elem.getElementsByTagName</a:t>
            </a:r>
            <a:r>
              <a:rPr lang="en-US" b="1" dirty="0" smtClean="0"/>
              <a:t>(tag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ru-RU" dirty="0" smtClean="0"/>
              <a:t>возвращает коллекцию элементов </a:t>
            </a:r>
            <a:r>
              <a:rPr lang="ru-RU" dirty="0"/>
              <a:t>с </a:t>
            </a:r>
            <a:r>
              <a:rPr lang="ru-RU" dirty="0" smtClean="0"/>
              <a:t>указанным тегом. </a:t>
            </a:r>
            <a:r>
              <a:rPr lang="ru-RU" dirty="0"/>
              <a:t>Передав "*" вместо тега, можно получить всех потомков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 smtClean="0"/>
              <a:t>• </a:t>
            </a:r>
            <a:r>
              <a:rPr lang="en-US" b="1" dirty="0" err="1" smtClean="0"/>
              <a:t>elem.getElementsByClassName</a:t>
            </a:r>
            <a:r>
              <a:rPr lang="en-US" b="1" dirty="0" smtClean="0"/>
              <a:t>(</a:t>
            </a:r>
            <a:r>
              <a:rPr lang="en-US" b="1" dirty="0" err="1" smtClean="0"/>
              <a:t>className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ru-RU" dirty="0"/>
              <a:t>возвращает элементы, которые имеют данный </a:t>
            </a:r>
            <a:r>
              <a:rPr lang="en-US" dirty="0"/>
              <a:t>CSS-</a:t>
            </a:r>
            <a:r>
              <a:rPr lang="ru-RU" dirty="0"/>
              <a:t>класс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 smtClean="0"/>
              <a:t>• </a:t>
            </a:r>
            <a:r>
              <a:rPr lang="en-US" b="1" dirty="0" err="1" smtClean="0"/>
              <a:t>document.getElementsByName</a:t>
            </a:r>
            <a:r>
              <a:rPr lang="en-US" b="1" dirty="0" smtClean="0"/>
              <a:t>(name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ru-RU" dirty="0"/>
              <a:t>возвращает элементы с заданным атрибутом </a:t>
            </a:r>
            <a:r>
              <a:rPr lang="en-US" dirty="0"/>
              <a:t>name.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39932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Методы </a:t>
            </a:r>
            <a:r>
              <a:rPr lang="ru-RU" dirty="0"/>
              <a:t>поиска </a:t>
            </a:r>
            <a:r>
              <a:rPr lang="en-US" dirty="0"/>
              <a:t>DOM-</a:t>
            </a:r>
            <a:r>
              <a:rPr lang="ru-RU" dirty="0"/>
              <a:t>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30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52" y="745921"/>
            <a:ext cx="8579403" cy="601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84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Методы </a:t>
            </a:r>
            <a:r>
              <a:rPr lang="ru-RU" dirty="0"/>
              <a:t>поиска </a:t>
            </a:r>
            <a:r>
              <a:rPr lang="en-US" dirty="0"/>
              <a:t>DOM-</a:t>
            </a:r>
            <a:r>
              <a:rPr lang="ru-RU" dirty="0"/>
              <a:t>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31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5036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Чтобы присвоить значение элементу нужно получить </a:t>
            </a:r>
            <a:r>
              <a:rPr lang="ru-RU" dirty="0"/>
              <a:t>элемент по номеру и </a:t>
            </a:r>
            <a:r>
              <a:rPr lang="ru-RU" dirty="0" smtClean="0"/>
              <a:t>ему </a:t>
            </a:r>
            <a:r>
              <a:rPr lang="ru-RU" dirty="0"/>
              <a:t>присваивать </a:t>
            </a:r>
            <a:r>
              <a:rPr lang="ru-RU" dirty="0" smtClean="0"/>
              <a:t>значение: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870433"/>
            <a:ext cx="7435980" cy="146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36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Методы </a:t>
            </a:r>
            <a:r>
              <a:rPr lang="ru-RU" dirty="0"/>
              <a:t>поиска </a:t>
            </a:r>
            <a:r>
              <a:rPr lang="en-US" dirty="0"/>
              <a:t>DOM-</a:t>
            </a:r>
            <a:r>
              <a:rPr lang="ru-RU" dirty="0"/>
              <a:t>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32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10164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Все методы "</a:t>
            </a:r>
            <a:r>
              <a:rPr lang="ru-RU" dirty="0" err="1"/>
              <a:t>getElementsBy</a:t>
            </a:r>
            <a:r>
              <a:rPr lang="ru-RU" dirty="0"/>
              <a:t>*" возвращают </a:t>
            </a:r>
            <a:r>
              <a:rPr lang="ru-RU" dirty="0" smtClean="0"/>
              <a:t>коллекцию, которая всегда отражает </a:t>
            </a:r>
            <a:r>
              <a:rPr lang="ru-RU" dirty="0"/>
              <a:t>текущее состояние документа и автоматически обновляются при его изменении.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04" y="1742881"/>
            <a:ext cx="7055299" cy="332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822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Методы </a:t>
            </a:r>
            <a:r>
              <a:rPr lang="ru-RU" dirty="0"/>
              <a:t>поиска </a:t>
            </a:r>
            <a:r>
              <a:rPr lang="en-US" dirty="0"/>
              <a:t>DOM-</a:t>
            </a:r>
            <a:r>
              <a:rPr lang="ru-RU" dirty="0"/>
              <a:t>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33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0316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querySelectorAll</a:t>
            </a:r>
            <a:r>
              <a:rPr lang="ru-RU" dirty="0"/>
              <a:t> возвращает </a:t>
            </a:r>
            <a:r>
              <a:rPr lang="ru-RU" dirty="0" smtClean="0"/>
              <a:t>коллекцию, которая не обновляется автоматически. 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420" y="1435033"/>
            <a:ext cx="6545980" cy="332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99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узлов: тип, тег и содержимое.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34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9677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Каждый DOM-узел принадлежит соответствующему встроенному классу.</a:t>
            </a:r>
          </a:p>
        </p:txBody>
      </p:sp>
      <p:pic>
        <p:nvPicPr>
          <p:cNvPr id="10" name="Рисунок 9"/>
          <p:cNvPicPr/>
          <p:nvPr/>
        </p:nvPicPr>
        <p:blipFill rotWithShape="1">
          <a:blip r:embed="rId2"/>
          <a:srcRect t="2763" b="9950"/>
          <a:stretch/>
        </p:blipFill>
        <p:spPr>
          <a:xfrm>
            <a:off x="1118085" y="1435033"/>
            <a:ext cx="7303244" cy="527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4273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узлов: тип, тег и содержимое.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35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782153" y="895027"/>
            <a:ext cx="10658925" cy="4381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Существуют следующие классы: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b="1" dirty="0" err="1" smtClean="0"/>
              <a:t>EventTarget</a:t>
            </a:r>
            <a:r>
              <a:rPr lang="ru-RU" dirty="0" smtClean="0"/>
              <a:t> </a:t>
            </a:r>
            <a:r>
              <a:rPr lang="ru-RU" dirty="0"/>
              <a:t>– это корневой «абстрактный» класс. </a:t>
            </a:r>
            <a:r>
              <a:rPr lang="ru-RU" dirty="0" smtClean="0"/>
              <a:t>Благодаря этому классу все DOM-узлы поддерживают события. 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b="1" dirty="0" err="1" smtClean="0"/>
              <a:t>Node</a:t>
            </a:r>
            <a:r>
              <a:rPr lang="ru-RU" dirty="0" smtClean="0"/>
              <a:t> – также является «абстрактным» классом, служит основой для DOM-узлов. Обеспечивает базовую функциональность: </a:t>
            </a:r>
            <a:r>
              <a:rPr lang="ru-RU" dirty="0" err="1" smtClean="0"/>
              <a:t>parentNode</a:t>
            </a:r>
            <a:r>
              <a:rPr lang="ru-RU" dirty="0" smtClean="0"/>
              <a:t>, </a:t>
            </a:r>
            <a:r>
              <a:rPr lang="ru-RU" dirty="0" err="1" smtClean="0"/>
              <a:t>nextSibling</a:t>
            </a:r>
            <a:r>
              <a:rPr lang="ru-RU" dirty="0" smtClean="0"/>
              <a:t>, </a:t>
            </a:r>
            <a:r>
              <a:rPr lang="ru-RU" dirty="0" err="1" smtClean="0"/>
              <a:t>childNodes</a:t>
            </a:r>
            <a:r>
              <a:rPr lang="ru-RU" dirty="0" smtClean="0"/>
              <a:t> и т.д. 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b="1" dirty="0" err="1" smtClean="0"/>
              <a:t>Element</a:t>
            </a:r>
            <a:r>
              <a:rPr lang="ru-RU" dirty="0" smtClean="0"/>
              <a:t> </a:t>
            </a:r>
            <a:r>
              <a:rPr lang="ru-RU" dirty="0"/>
              <a:t>– это базовый класс для DOM-элементов. Он обеспечивает навигацию на уровне элементов: </a:t>
            </a:r>
            <a:r>
              <a:rPr lang="ru-RU" dirty="0" err="1"/>
              <a:t>nextElementSibling</a:t>
            </a:r>
            <a:r>
              <a:rPr lang="ru-RU" dirty="0"/>
              <a:t>, </a:t>
            </a:r>
            <a:r>
              <a:rPr lang="ru-RU" dirty="0" err="1"/>
              <a:t>children</a:t>
            </a:r>
            <a:r>
              <a:rPr lang="ru-RU" dirty="0"/>
              <a:t> и методы поиска: </a:t>
            </a:r>
            <a:r>
              <a:rPr lang="ru-RU" dirty="0" err="1"/>
              <a:t>getElementsByTagName</a:t>
            </a:r>
            <a:r>
              <a:rPr lang="ru-RU" dirty="0"/>
              <a:t>, </a:t>
            </a:r>
            <a:r>
              <a:rPr lang="ru-RU" dirty="0" err="1" smtClean="0"/>
              <a:t>querySelector</a:t>
            </a:r>
            <a:r>
              <a:rPr lang="ru-RU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b="1" dirty="0" err="1" smtClean="0"/>
              <a:t>HTMLElement</a:t>
            </a:r>
            <a:r>
              <a:rPr lang="ru-RU" dirty="0" smtClean="0"/>
              <a:t> </a:t>
            </a:r>
            <a:r>
              <a:rPr lang="ru-RU" dirty="0"/>
              <a:t>– является базовым классом для всех остальных HTML-элементов. От него наследуют конкретные элементы: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-- </a:t>
            </a:r>
            <a:r>
              <a:rPr lang="ru-RU" dirty="0" err="1" smtClean="0"/>
              <a:t>HTMLInputElement</a:t>
            </a:r>
            <a:r>
              <a:rPr lang="ru-RU" dirty="0" smtClean="0"/>
              <a:t> </a:t>
            </a:r>
            <a:r>
              <a:rPr lang="ru-RU" dirty="0"/>
              <a:t>– класс для тега &lt;</a:t>
            </a:r>
            <a:r>
              <a:rPr lang="ru-RU" dirty="0" err="1"/>
              <a:t>input</a:t>
            </a:r>
            <a:r>
              <a:rPr lang="ru-RU" dirty="0"/>
              <a:t>&gt;,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-- </a:t>
            </a:r>
            <a:r>
              <a:rPr lang="ru-RU" dirty="0" err="1" smtClean="0"/>
              <a:t>HTMLBodyElement</a:t>
            </a:r>
            <a:r>
              <a:rPr lang="ru-RU" dirty="0" smtClean="0"/>
              <a:t> </a:t>
            </a:r>
            <a:r>
              <a:rPr lang="ru-RU" dirty="0"/>
              <a:t>– класс для тега &lt;</a:t>
            </a:r>
            <a:r>
              <a:rPr lang="ru-RU" dirty="0" err="1"/>
              <a:t>body</a:t>
            </a:r>
            <a:r>
              <a:rPr lang="ru-RU" dirty="0"/>
              <a:t>&gt;,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-- </a:t>
            </a:r>
            <a:r>
              <a:rPr lang="ru-RU" dirty="0" err="1" smtClean="0"/>
              <a:t>HTMLAnchorElement</a:t>
            </a:r>
            <a:r>
              <a:rPr lang="ru-RU" dirty="0" smtClean="0"/>
              <a:t> </a:t>
            </a:r>
            <a:r>
              <a:rPr lang="ru-RU" dirty="0"/>
              <a:t>– класс для тега &lt;a</a:t>
            </a:r>
            <a:r>
              <a:rPr lang="ru-RU" dirty="0" smtClean="0"/>
              <a:t>&gt; и др.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1443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узлов: тип, тег и содержимое.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36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6953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Чтобы </a:t>
            </a:r>
            <a:r>
              <a:rPr lang="ru-RU" dirty="0"/>
              <a:t>узнать имя класса DOM-узла, </a:t>
            </a:r>
            <a:r>
              <a:rPr lang="ru-RU" dirty="0" smtClean="0"/>
              <a:t>необходимо использовать свойство </a:t>
            </a:r>
            <a:r>
              <a:rPr lang="ru-RU" dirty="0" err="1"/>
              <a:t>constructor</a:t>
            </a:r>
            <a:r>
              <a:rPr lang="ru-RU" dirty="0"/>
              <a:t>. Оно ссылается на конструктор класса, и в свойстве constructor.name содержится его имя: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40" y="1712032"/>
            <a:ext cx="6343035" cy="662458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18086" y="2667793"/>
            <a:ext cx="3720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Можно привести </a:t>
            </a:r>
            <a:r>
              <a:rPr lang="ru-RU" dirty="0"/>
              <a:t>его к строке: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040" y="3067975"/>
            <a:ext cx="4665560" cy="668898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18085" y="3990738"/>
            <a:ext cx="104446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Проверить наследование можно </a:t>
            </a:r>
            <a:r>
              <a:rPr lang="ru-RU" dirty="0" smtClean="0"/>
              <a:t>при </a:t>
            </a:r>
            <a:r>
              <a:rPr lang="ru-RU" dirty="0"/>
              <a:t>помощи </a:t>
            </a:r>
            <a:r>
              <a:rPr lang="ru-RU" dirty="0" err="1"/>
              <a:t>instanceof</a:t>
            </a:r>
            <a:r>
              <a:rPr lang="ru-RU" dirty="0"/>
              <a:t>: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040" y="4486346"/>
            <a:ext cx="8726979" cy="148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6322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узлов: тип, тег и содержимое.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37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459398" cy="1390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 smtClean="0"/>
              <a:t>Команды в </a:t>
            </a:r>
            <a:r>
              <a:rPr lang="ru-RU" dirty="0"/>
              <a:t>инструментах разработчика </a:t>
            </a:r>
            <a:r>
              <a:rPr lang="ru-RU" dirty="0" smtClean="0"/>
              <a:t>в браузере: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b="1" dirty="0" smtClean="0"/>
              <a:t>console.log(</a:t>
            </a:r>
            <a:r>
              <a:rPr lang="ru-RU" b="1" dirty="0" err="1" smtClean="0"/>
              <a:t>elem</a:t>
            </a:r>
            <a:r>
              <a:rPr lang="ru-RU" b="1" dirty="0"/>
              <a:t>)</a:t>
            </a:r>
            <a:r>
              <a:rPr lang="ru-RU" dirty="0"/>
              <a:t> выводит элемент в виде DOM-дерева.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b="1" dirty="0" err="1" smtClean="0"/>
              <a:t>console.dir</a:t>
            </a:r>
            <a:r>
              <a:rPr lang="ru-RU" b="1" dirty="0" smtClean="0"/>
              <a:t>(</a:t>
            </a:r>
            <a:r>
              <a:rPr lang="ru-RU" b="1" dirty="0" err="1" smtClean="0"/>
              <a:t>elem</a:t>
            </a:r>
            <a:r>
              <a:rPr lang="ru-RU" b="1" dirty="0"/>
              <a:t>)</a:t>
            </a:r>
            <a:r>
              <a:rPr lang="ru-RU" dirty="0"/>
              <a:t> выводит элемент в виде DOM-объекта, что удобно для анализа его свойств.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1118086" y="2560822"/>
            <a:ext cx="10002198" cy="1722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Свойство </a:t>
            </a:r>
            <a:r>
              <a:rPr lang="ru-RU" dirty="0" err="1"/>
              <a:t>nodeType</a:t>
            </a:r>
            <a:r>
              <a:rPr lang="ru-RU" dirty="0"/>
              <a:t> предоставляет ещё </a:t>
            </a:r>
            <a:r>
              <a:rPr lang="ru-RU" dirty="0" smtClean="0"/>
              <a:t>один способ </a:t>
            </a:r>
            <a:r>
              <a:rPr lang="ru-RU" dirty="0"/>
              <a:t>узнать </a:t>
            </a:r>
            <a:r>
              <a:rPr lang="ru-RU" dirty="0" smtClean="0"/>
              <a:t>тип </a:t>
            </a:r>
            <a:r>
              <a:rPr lang="ru-RU" dirty="0"/>
              <a:t>DOM-узла.</a:t>
            </a:r>
          </a:p>
          <a:p>
            <a:pPr>
              <a:lnSpc>
                <a:spcPct val="120000"/>
              </a:lnSpc>
            </a:pPr>
            <a:r>
              <a:rPr lang="ru-RU" dirty="0"/>
              <a:t>Его значением является цифра: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dirty="0" err="1" smtClean="0"/>
              <a:t>elem.nodeType</a:t>
            </a:r>
            <a:r>
              <a:rPr lang="ru-RU" dirty="0" smtClean="0"/>
              <a:t> </a:t>
            </a:r>
            <a:r>
              <a:rPr lang="ru-RU" dirty="0"/>
              <a:t>== 1 для узлов-элементов,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dirty="0" err="1" smtClean="0"/>
              <a:t>elem.nodeType</a:t>
            </a:r>
            <a:r>
              <a:rPr lang="ru-RU" dirty="0" smtClean="0"/>
              <a:t> </a:t>
            </a:r>
            <a:r>
              <a:rPr lang="ru-RU" dirty="0"/>
              <a:t>== 3 для текстовых узлов,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dirty="0" err="1" smtClean="0"/>
              <a:t>elem.nodeType</a:t>
            </a:r>
            <a:r>
              <a:rPr lang="ru-RU" dirty="0" smtClean="0"/>
              <a:t> </a:t>
            </a:r>
            <a:r>
              <a:rPr lang="ru-RU" dirty="0"/>
              <a:t>== 9 для объектов документа,</a:t>
            </a:r>
          </a:p>
        </p:txBody>
      </p:sp>
    </p:spTree>
    <p:extLst>
      <p:ext uri="{BB962C8B-B14F-4D97-AF65-F5344CB8AC3E}">
        <p14:creationId xmlns:p14="http://schemas.microsoft.com/office/powerpoint/2010/main" val="41515360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узлов: тип, тег и содержимое.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38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5773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Получив DOM-узел, </a:t>
            </a:r>
            <a:r>
              <a:rPr lang="ru-RU" dirty="0" smtClean="0"/>
              <a:t>можно </a:t>
            </a:r>
            <a:r>
              <a:rPr lang="ru-RU" dirty="0"/>
              <a:t>узнать имя его тега из свойств </a:t>
            </a:r>
            <a:r>
              <a:rPr lang="ru-RU" dirty="0" err="1"/>
              <a:t>nodeName</a:t>
            </a:r>
            <a:r>
              <a:rPr lang="ru-RU" dirty="0"/>
              <a:t> и </a:t>
            </a:r>
            <a:r>
              <a:rPr lang="ru-RU" dirty="0" err="1"/>
              <a:t>tagName</a:t>
            </a:r>
            <a:r>
              <a:rPr lang="ru-RU" dirty="0"/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435033"/>
            <a:ext cx="5959500" cy="62974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4" y="2351752"/>
            <a:ext cx="8237143" cy="335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833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узлов: тип, тег и содержимое.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39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3414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Свойство </a:t>
            </a:r>
            <a:r>
              <a:rPr lang="ru-RU" b="1" dirty="0" err="1"/>
              <a:t>innerHTML</a:t>
            </a:r>
            <a:r>
              <a:rPr lang="ru-RU" dirty="0"/>
              <a:t> позволяет </a:t>
            </a:r>
            <a:r>
              <a:rPr lang="ru-RU" dirty="0" smtClean="0"/>
              <a:t>получать и изменять </a:t>
            </a:r>
            <a:r>
              <a:rPr lang="ru-RU" dirty="0"/>
              <a:t>HTML-содержимое </a:t>
            </a:r>
            <a:r>
              <a:rPr lang="ru-RU" dirty="0" smtClean="0"/>
              <a:t>элемента: 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1423024"/>
            <a:ext cx="6403593" cy="281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4986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узлов: тип, тег и содержимое.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40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8281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Браузер исправляет некорректный </a:t>
            </a:r>
            <a:r>
              <a:rPr lang="ru-RU" dirty="0"/>
              <a:t>HTML, </a:t>
            </a:r>
            <a:r>
              <a:rPr lang="ru-RU" dirty="0" smtClean="0"/>
              <a:t>добавленный с помощью </a:t>
            </a:r>
            <a:r>
              <a:rPr lang="ru-RU" dirty="0" err="1"/>
              <a:t>innerHTML</a:t>
            </a:r>
            <a:r>
              <a:rPr lang="ru-RU" dirty="0"/>
              <a:t> 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2"/>
            <a:ext cx="5981390" cy="228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100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узлов: тип, тег и содержимое.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41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56204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«</a:t>
            </a:r>
            <a:r>
              <a:rPr lang="en-US" dirty="0" err="1"/>
              <a:t>innerHTML</a:t>
            </a:r>
            <a:r>
              <a:rPr lang="en-US" dirty="0"/>
              <a:t>+=» </a:t>
            </a:r>
            <a:r>
              <a:rPr lang="ru-RU" dirty="0"/>
              <a:t>осуществляет </a:t>
            </a:r>
            <a:r>
              <a:rPr lang="ru-RU" dirty="0" smtClean="0"/>
              <a:t>перезапись </a:t>
            </a:r>
            <a:r>
              <a:rPr lang="en-US" dirty="0" smtClean="0"/>
              <a:t>HTML.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35" y="1435032"/>
            <a:ext cx="8978898" cy="61499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75935" y="2574893"/>
            <a:ext cx="9767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Свойство </a:t>
            </a:r>
            <a:r>
              <a:rPr lang="ru-RU" b="1" dirty="0" err="1"/>
              <a:t>outerHTML</a:t>
            </a:r>
            <a:r>
              <a:rPr lang="ru-RU" dirty="0"/>
              <a:t> содержит HTML элемента </a:t>
            </a:r>
            <a:r>
              <a:rPr lang="ru-RU" dirty="0" smtClean="0"/>
              <a:t>и сам элемент. 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35" y="3133571"/>
            <a:ext cx="5698078" cy="146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700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узлов: тип, тег и содержимое.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42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44578"/>
            <a:ext cx="5887398" cy="2980403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118085" y="774901"/>
            <a:ext cx="10164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В отличие </a:t>
            </a:r>
            <a:r>
              <a:rPr lang="ru-RU" dirty="0"/>
              <a:t>от </a:t>
            </a:r>
            <a:r>
              <a:rPr lang="ru-RU" dirty="0" err="1"/>
              <a:t>innerHTML</a:t>
            </a:r>
            <a:r>
              <a:rPr lang="ru-RU" dirty="0"/>
              <a:t>, запись в </a:t>
            </a:r>
            <a:r>
              <a:rPr lang="ru-RU" dirty="0" err="1"/>
              <a:t>outerHTML</a:t>
            </a:r>
            <a:r>
              <a:rPr lang="ru-RU" dirty="0"/>
              <a:t> не изменяет </a:t>
            </a:r>
            <a:r>
              <a:rPr lang="ru-RU" dirty="0" smtClean="0"/>
              <a:t>элемент: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43074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узлов: тип, тег и содержимое.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43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8133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Свойство </a:t>
            </a:r>
            <a:r>
              <a:rPr lang="ru-RU" dirty="0" err="1"/>
              <a:t>innerHTML</a:t>
            </a:r>
            <a:r>
              <a:rPr lang="ru-RU" dirty="0"/>
              <a:t> есть только у узлов-элементов</a:t>
            </a:r>
            <a:r>
              <a:rPr lang="ru-RU" dirty="0" smtClean="0"/>
              <a:t>. У </a:t>
            </a:r>
            <a:r>
              <a:rPr lang="ru-RU" dirty="0"/>
              <a:t>других типов </a:t>
            </a:r>
            <a:r>
              <a:rPr lang="ru-RU" dirty="0" smtClean="0"/>
              <a:t>узлов (текстовых и т.д.) </a:t>
            </a:r>
            <a:r>
              <a:rPr lang="ru-RU" dirty="0"/>
              <a:t>есть </a:t>
            </a:r>
            <a:r>
              <a:rPr lang="ru-RU" dirty="0" smtClean="0"/>
              <a:t>свойства-аналоги </a:t>
            </a:r>
            <a:r>
              <a:rPr lang="ru-RU" b="1" dirty="0" err="1"/>
              <a:t>nodeValue</a:t>
            </a:r>
            <a:r>
              <a:rPr lang="ru-RU" dirty="0"/>
              <a:t> и </a:t>
            </a:r>
            <a:r>
              <a:rPr lang="ru-RU" b="1" dirty="0" err="1"/>
              <a:t>data</a:t>
            </a:r>
            <a:r>
              <a:rPr lang="ru-RU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309" y="1712032"/>
            <a:ext cx="6063892" cy="306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43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узлов: тип, тег и содержимое.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44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07543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Свойство </a:t>
            </a:r>
            <a:r>
              <a:rPr lang="ru-RU" dirty="0" err="1"/>
              <a:t>textContent</a:t>
            </a:r>
            <a:r>
              <a:rPr lang="ru-RU" dirty="0"/>
              <a:t> предоставляет доступ к тексту внутри элемента за вычетом всех &lt;тегов&gt;.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303" y="1712031"/>
            <a:ext cx="4068865" cy="256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184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узлов: тип, тег и содержимое.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45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32834" y="920301"/>
            <a:ext cx="80730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При записи текста </a:t>
            </a:r>
            <a:r>
              <a:rPr lang="ru-RU" dirty="0"/>
              <a:t>в </a:t>
            </a:r>
            <a:r>
              <a:rPr lang="en-US" dirty="0" err="1" smtClean="0"/>
              <a:t>textContent</a:t>
            </a:r>
            <a:r>
              <a:rPr lang="ru-RU" dirty="0" smtClean="0"/>
              <a:t> </a:t>
            </a:r>
            <a:r>
              <a:rPr lang="ru-RU" dirty="0"/>
              <a:t>все символы трактуются </a:t>
            </a:r>
            <a:r>
              <a:rPr lang="ru-RU" dirty="0" smtClean="0"/>
              <a:t>буквально: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34" y="1435033"/>
            <a:ext cx="8438869" cy="251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732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узлов: тип, тег и содержимое.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46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102824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Атрибут и DOM-свойство «</a:t>
            </a:r>
            <a:r>
              <a:rPr lang="ru-RU" b="1" dirty="0" err="1"/>
              <a:t>hidden</a:t>
            </a:r>
            <a:r>
              <a:rPr lang="ru-RU" dirty="0"/>
              <a:t>» </a:t>
            </a:r>
            <a:r>
              <a:rPr lang="ru-RU" dirty="0" smtClean="0"/>
              <a:t>позволяет сделать элемент видимым </a:t>
            </a:r>
            <a:r>
              <a:rPr lang="ru-RU" dirty="0"/>
              <a:t>или </a:t>
            </a:r>
            <a:r>
              <a:rPr lang="ru-RU" dirty="0" smtClean="0"/>
              <a:t>скрытым.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435033"/>
            <a:ext cx="5533438" cy="24609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5" y="4240161"/>
            <a:ext cx="7535964" cy="145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940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Свойства </a:t>
            </a:r>
            <a:r>
              <a:rPr lang="ru-RU" dirty="0"/>
              <a:t>узлов: тип, тег и содержимое.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47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57738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У </a:t>
            </a:r>
            <a:r>
              <a:rPr lang="en-US" dirty="0"/>
              <a:t>DOM-</a:t>
            </a:r>
            <a:r>
              <a:rPr lang="ru-RU" dirty="0"/>
              <a:t>элементов есть дополнительные свойства, </a:t>
            </a:r>
            <a:r>
              <a:rPr lang="ru-RU" dirty="0" smtClean="0"/>
              <a:t>зависящие </a:t>
            </a:r>
            <a:r>
              <a:rPr lang="ru-RU" dirty="0"/>
              <a:t>от класса: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en-US" b="1" dirty="0" smtClean="0"/>
              <a:t>value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значение для &lt;</a:t>
            </a:r>
            <a:r>
              <a:rPr lang="en-US" dirty="0"/>
              <a:t>input&gt;, &lt;select&gt; </a:t>
            </a:r>
            <a:r>
              <a:rPr lang="ru-RU" dirty="0"/>
              <a:t>и &lt;</a:t>
            </a:r>
            <a:r>
              <a:rPr lang="en-US" dirty="0" err="1"/>
              <a:t>textarea</a:t>
            </a:r>
            <a:r>
              <a:rPr lang="en-US" dirty="0"/>
              <a:t>&gt; (</a:t>
            </a:r>
            <a:r>
              <a:rPr lang="en-US" dirty="0" err="1"/>
              <a:t>HTMLInputElement</a:t>
            </a:r>
            <a:r>
              <a:rPr lang="en-US" dirty="0"/>
              <a:t>, </a:t>
            </a:r>
            <a:r>
              <a:rPr lang="en-US" dirty="0" err="1" smtClean="0"/>
              <a:t>HTMLSelectElement</a:t>
            </a:r>
            <a:r>
              <a:rPr lang="en-US" dirty="0" smtClean="0"/>
              <a:t> </a:t>
            </a:r>
            <a:r>
              <a:rPr lang="ru-RU" dirty="0" smtClean="0"/>
              <a:t>и др.</a:t>
            </a:r>
            <a:r>
              <a:rPr lang="en-US" dirty="0" smtClean="0"/>
              <a:t>).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 smtClean="0"/>
              <a:t>•</a:t>
            </a:r>
            <a:r>
              <a:rPr lang="ru-RU" dirty="0" smtClean="0"/>
              <a:t> </a:t>
            </a:r>
            <a:r>
              <a:rPr lang="en-US" b="1" dirty="0" err="1" smtClean="0"/>
              <a:t>href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адрес ссылки «</a:t>
            </a:r>
            <a:r>
              <a:rPr lang="en-US" dirty="0" err="1"/>
              <a:t>href</a:t>
            </a:r>
            <a:r>
              <a:rPr lang="en-US" dirty="0"/>
              <a:t>» </a:t>
            </a:r>
            <a:r>
              <a:rPr lang="ru-RU" dirty="0"/>
              <a:t>для &lt;</a:t>
            </a:r>
            <a:r>
              <a:rPr lang="en-US" dirty="0"/>
              <a:t>a </a:t>
            </a:r>
            <a:r>
              <a:rPr lang="en-US" dirty="0" err="1"/>
              <a:t>href</a:t>
            </a:r>
            <a:r>
              <a:rPr lang="en-US" dirty="0"/>
              <a:t>="..."&gt; (</a:t>
            </a:r>
            <a:r>
              <a:rPr lang="en-US" dirty="0" err="1"/>
              <a:t>HTMLAnchorElement</a:t>
            </a:r>
            <a:r>
              <a:rPr lang="en-US" dirty="0"/>
              <a:t>).</a:t>
            </a:r>
          </a:p>
          <a:p>
            <a:pPr>
              <a:lnSpc>
                <a:spcPct val="120000"/>
              </a:lnSpc>
            </a:pPr>
            <a:r>
              <a:rPr lang="en-US" dirty="0" smtClean="0"/>
              <a:t>•</a:t>
            </a:r>
            <a:r>
              <a:rPr lang="ru-RU" dirty="0" smtClean="0"/>
              <a:t> </a:t>
            </a:r>
            <a:r>
              <a:rPr lang="en-US" b="1" dirty="0" smtClean="0"/>
              <a:t>id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значение атрибута «</a:t>
            </a:r>
            <a:r>
              <a:rPr lang="en-US" dirty="0"/>
              <a:t>id» </a:t>
            </a:r>
            <a:r>
              <a:rPr lang="ru-RU" dirty="0"/>
              <a:t>для всех элементов (</a:t>
            </a:r>
            <a:r>
              <a:rPr lang="en-US" dirty="0" err="1"/>
              <a:t>HTMLElement</a:t>
            </a:r>
            <a:r>
              <a:rPr lang="en-US" dirty="0" smtClean="0"/>
              <a:t>)</a:t>
            </a:r>
            <a:r>
              <a:rPr lang="ru-RU" dirty="0" smtClean="0"/>
              <a:t> и </a:t>
            </a:r>
            <a:r>
              <a:rPr lang="ru-RU" dirty="0" err="1" smtClean="0"/>
              <a:t>др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2820027"/>
            <a:ext cx="6433089" cy="192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1354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Атрибуты </a:t>
            </a:r>
            <a:r>
              <a:rPr lang="ru-RU" dirty="0"/>
              <a:t>и </a:t>
            </a:r>
            <a:r>
              <a:rPr lang="en-US" dirty="0"/>
              <a:t>DOM-</a:t>
            </a:r>
            <a:r>
              <a:rPr lang="ru-RU" dirty="0"/>
              <a:t>свойства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48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106511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DOM-узлы </a:t>
            </a:r>
            <a:r>
              <a:rPr lang="ru-RU" dirty="0"/>
              <a:t>– это </a:t>
            </a:r>
            <a:r>
              <a:rPr lang="ru-RU" dirty="0" smtClean="0"/>
              <a:t>объекты </a:t>
            </a:r>
            <a:r>
              <a:rPr lang="ru-RU" dirty="0" err="1"/>
              <a:t>JavaScript</a:t>
            </a:r>
            <a:r>
              <a:rPr lang="ru-RU" dirty="0" smtClean="0"/>
              <a:t>. Их можно изменять -- добавлять свои собственные свойства.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667787"/>
            <a:ext cx="5238470" cy="173097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18084" y="3588403"/>
            <a:ext cx="109441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Можно добавлять методы и </a:t>
            </a:r>
            <a:r>
              <a:rPr lang="ru-RU" dirty="0"/>
              <a:t>изменять встроенные прототипы, такие как </a:t>
            </a:r>
            <a:r>
              <a:rPr lang="ru-RU" dirty="0" err="1"/>
              <a:t>Element.prototype</a:t>
            </a:r>
            <a:r>
              <a:rPr lang="ru-RU" dirty="0"/>
              <a:t> и добавлять новые методы ко всем </a:t>
            </a:r>
            <a:r>
              <a:rPr lang="ru-RU" dirty="0" smtClean="0"/>
              <a:t>элементам: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4" y="4298271"/>
            <a:ext cx="7715482" cy="179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715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Атрибуты </a:t>
            </a:r>
            <a:r>
              <a:rPr lang="ru-RU" dirty="0"/>
              <a:t>и </a:t>
            </a:r>
            <a:r>
              <a:rPr lang="en-US" dirty="0"/>
              <a:t>DOM-</a:t>
            </a:r>
            <a:r>
              <a:rPr lang="ru-RU" dirty="0"/>
              <a:t>свойства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49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4593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Браузер </a:t>
            </a:r>
            <a:r>
              <a:rPr lang="ru-RU" dirty="0" err="1" smtClean="0"/>
              <a:t>парсит</a:t>
            </a:r>
            <a:r>
              <a:rPr lang="ru-RU" dirty="0" smtClean="0"/>
              <a:t> </a:t>
            </a:r>
            <a:r>
              <a:rPr lang="ru-RU" dirty="0"/>
              <a:t>HTML, чтобы создать DOM-объекты для </a:t>
            </a:r>
            <a:r>
              <a:rPr lang="ru-RU" dirty="0" smtClean="0"/>
              <a:t>тегов. Он </a:t>
            </a:r>
            <a:r>
              <a:rPr lang="ru-RU" dirty="0"/>
              <a:t>распознаёт стандартные атрибуты и создаёт DOM-свойства для </a:t>
            </a:r>
            <a:r>
              <a:rPr lang="ru-RU" dirty="0" smtClean="0"/>
              <a:t>них (кроме нестандартных атрибутов).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954" y="1989030"/>
            <a:ext cx="6939156" cy="169321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201954" y="3827644"/>
            <a:ext cx="10611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Стандартный атрибут </a:t>
            </a:r>
            <a:r>
              <a:rPr lang="ru-RU" dirty="0"/>
              <a:t>для одного тега может быть нестандартным для </a:t>
            </a:r>
            <a:r>
              <a:rPr lang="ru-RU" dirty="0" smtClean="0"/>
              <a:t>другого.</a:t>
            </a: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954" y="4342374"/>
            <a:ext cx="5257840" cy="202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538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Атрибуты </a:t>
            </a:r>
            <a:r>
              <a:rPr lang="ru-RU" dirty="0"/>
              <a:t>и </a:t>
            </a:r>
            <a:r>
              <a:rPr lang="en-US" dirty="0"/>
              <a:t>DOM-</a:t>
            </a:r>
            <a:r>
              <a:rPr lang="ru-RU" dirty="0"/>
              <a:t>свойства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50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0016946" cy="1722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Все атрибуты доступны с помощью следующих методов: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en-US" b="1" dirty="0" err="1" smtClean="0"/>
              <a:t>elem.hasAttribute</a:t>
            </a:r>
            <a:r>
              <a:rPr lang="en-US" b="1" dirty="0" smtClean="0"/>
              <a:t>(name</a:t>
            </a:r>
            <a:r>
              <a:rPr lang="en-US" b="1" dirty="0"/>
              <a:t>)</a:t>
            </a:r>
            <a:r>
              <a:rPr lang="en-US" dirty="0"/>
              <a:t> – </a:t>
            </a:r>
            <a:r>
              <a:rPr lang="ru-RU" dirty="0"/>
              <a:t>проверяет наличие атрибута.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en-US" b="1" dirty="0" err="1" smtClean="0"/>
              <a:t>elem.getAttribute</a:t>
            </a:r>
            <a:r>
              <a:rPr lang="en-US" b="1" dirty="0" smtClean="0"/>
              <a:t>(name</a:t>
            </a:r>
            <a:r>
              <a:rPr lang="en-US" b="1" dirty="0"/>
              <a:t>)</a:t>
            </a:r>
            <a:r>
              <a:rPr lang="en-US" dirty="0"/>
              <a:t> – </a:t>
            </a:r>
            <a:r>
              <a:rPr lang="ru-RU" dirty="0"/>
              <a:t>получает значение атрибута.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en-US" b="1" dirty="0" err="1" smtClean="0"/>
              <a:t>elem.setAttribute</a:t>
            </a:r>
            <a:r>
              <a:rPr lang="en-US" b="1" dirty="0" smtClean="0"/>
              <a:t>(name</a:t>
            </a:r>
            <a:r>
              <a:rPr lang="en-US" b="1" dirty="0"/>
              <a:t>, value)</a:t>
            </a:r>
            <a:r>
              <a:rPr lang="en-US" dirty="0"/>
              <a:t> – </a:t>
            </a:r>
            <a:r>
              <a:rPr lang="ru-RU" dirty="0"/>
              <a:t>устанавливает значение атрибута.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en-US" b="1" dirty="0" err="1" smtClean="0"/>
              <a:t>elem.removeAttribute</a:t>
            </a:r>
            <a:r>
              <a:rPr lang="en-US" b="1" dirty="0" smtClean="0"/>
              <a:t>(name</a:t>
            </a:r>
            <a:r>
              <a:rPr lang="en-US" b="1" dirty="0"/>
              <a:t>)</a:t>
            </a:r>
            <a:r>
              <a:rPr lang="en-US" dirty="0"/>
              <a:t> – </a:t>
            </a:r>
            <a:r>
              <a:rPr lang="ru-RU" dirty="0"/>
              <a:t>удаляет атрибут.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118086" y="2787967"/>
            <a:ext cx="107543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Получить все </a:t>
            </a:r>
            <a:r>
              <a:rPr lang="ru-RU" dirty="0"/>
              <a:t>атрибуты элемента можно с помощью свойства </a:t>
            </a:r>
            <a:r>
              <a:rPr lang="ru-RU" b="1" dirty="0" err="1"/>
              <a:t>elem.attributes</a:t>
            </a:r>
            <a:r>
              <a:rPr lang="ru-RU" dirty="0"/>
              <a:t>: коллекция объектов, которая принадлежит ко встроенному классу </a:t>
            </a:r>
            <a:r>
              <a:rPr lang="ru-RU" dirty="0" err="1"/>
              <a:t>Attr</a:t>
            </a:r>
            <a:r>
              <a:rPr lang="ru-RU" dirty="0"/>
              <a:t> со свойствами </a:t>
            </a:r>
            <a:r>
              <a:rPr lang="ru-RU" dirty="0" err="1"/>
              <a:t>name</a:t>
            </a:r>
            <a:r>
              <a:rPr lang="ru-RU" dirty="0"/>
              <a:t> и </a:t>
            </a:r>
            <a:r>
              <a:rPr lang="ru-RU" dirty="0" err="1"/>
              <a:t>value</a:t>
            </a:r>
            <a:r>
              <a:rPr lang="ru-RU" dirty="0"/>
              <a:t>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3579698"/>
            <a:ext cx="6949282" cy="163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826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Атрибуты </a:t>
            </a:r>
            <a:r>
              <a:rPr lang="ru-RU" dirty="0"/>
              <a:t>и </a:t>
            </a:r>
            <a:r>
              <a:rPr lang="en-US" dirty="0"/>
              <a:t>DOM-</a:t>
            </a:r>
            <a:r>
              <a:rPr lang="ru-RU" dirty="0"/>
              <a:t>свойства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51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9441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Особенности HTML-атрибутов:</a:t>
            </a:r>
            <a:endParaRPr lang="ru-RU" dirty="0"/>
          </a:p>
          <a:p>
            <a:r>
              <a:rPr lang="ru-RU" dirty="0" smtClean="0"/>
              <a:t>• Их </a:t>
            </a:r>
            <a:r>
              <a:rPr lang="ru-RU" dirty="0"/>
              <a:t>имена </a:t>
            </a:r>
            <a:r>
              <a:rPr lang="ru-RU" dirty="0" err="1"/>
              <a:t>регистронезависимы</a:t>
            </a:r>
            <a:r>
              <a:rPr lang="ru-RU" dirty="0"/>
              <a:t> (</a:t>
            </a:r>
            <a:r>
              <a:rPr lang="ru-RU" dirty="0" err="1"/>
              <a:t>id</a:t>
            </a:r>
            <a:r>
              <a:rPr lang="ru-RU" dirty="0"/>
              <a:t> то же самое, что и ID).</a:t>
            </a:r>
          </a:p>
          <a:p>
            <a:r>
              <a:rPr lang="ru-RU" dirty="0" smtClean="0"/>
              <a:t>• Их </a:t>
            </a:r>
            <a:r>
              <a:rPr lang="ru-RU" dirty="0"/>
              <a:t>значения всегда являются строками.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989031"/>
            <a:ext cx="6565824" cy="413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188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Атрибуты </a:t>
            </a:r>
            <a:r>
              <a:rPr lang="ru-RU" dirty="0"/>
              <a:t>и </a:t>
            </a:r>
            <a:r>
              <a:rPr lang="en-US" dirty="0"/>
              <a:t>DOM-</a:t>
            </a:r>
            <a:r>
              <a:rPr lang="ru-RU" dirty="0"/>
              <a:t>свойства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52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10847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Когда стандартный атрибут изменяется, соответствующее свойство автоматически обновляется. Это работает и в обратную сторону </a:t>
            </a:r>
            <a:r>
              <a:rPr lang="ru-RU" dirty="0" smtClean="0"/>
              <a:t>(есть исключения).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712032"/>
            <a:ext cx="6757553" cy="368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1535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Атрибуты </a:t>
            </a:r>
            <a:r>
              <a:rPr lang="ru-RU" dirty="0"/>
              <a:t>и </a:t>
            </a:r>
            <a:r>
              <a:rPr lang="en-US" dirty="0"/>
              <a:t>DOM-</a:t>
            </a:r>
            <a:r>
              <a:rPr lang="ru-RU" dirty="0"/>
              <a:t>свойства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53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895027"/>
            <a:ext cx="107543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Исключение: </a:t>
            </a:r>
            <a:r>
              <a:rPr lang="ru-RU" dirty="0" err="1" smtClean="0"/>
              <a:t>input.value</a:t>
            </a:r>
            <a:r>
              <a:rPr lang="ru-RU" dirty="0" smtClean="0"/>
              <a:t> </a:t>
            </a:r>
            <a:r>
              <a:rPr lang="ru-RU" dirty="0"/>
              <a:t>синхронизируется только в одну сторону – атрибут → значение, но не в обратную: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661484"/>
            <a:ext cx="6447837" cy="351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0360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Атрибуты </a:t>
            </a:r>
            <a:r>
              <a:rPr lang="ru-RU" dirty="0"/>
              <a:t>и </a:t>
            </a:r>
            <a:r>
              <a:rPr lang="en-US" dirty="0"/>
              <a:t>DOM-</a:t>
            </a:r>
            <a:r>
              <a:rPr lang="ru-RU" dirty="0"/>
              <a:t>свойства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54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03856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DOM-</a:t>
            </a:r>
            <a:r>
              <a:rPr lang="ru-RU" dirty="0"/>
              <a:t>свойства </a:t>
            </a:r>
            <a:r>
              <a:rPr lang="ru-RU" dirty="0" smtClean="0"/>
              <a:t>типизированы. </a:t>
            </a:r>
            <a:r>
              <a:rPr lang="ru-RU" dirty="0"/>
              <a:t>Например, свойство </a:t>
            </a:r>
            <a:r>
              <a:rPr lang="ru-RU" dirty="0" err="1"/>
              <a:t>input.checked</a:t>
            </a:r>
            <a:r>
              <a:rPr lang="ru-RU" dirty="0"/>
              <a:t> </a:t>
            </a:r>
            <a:r>
              <a:rPr lang="ru-RU" dirty="0" smtClean="0"/>
              <a:t>имеет </a:t>
            </a:r>
            <a:r>
              <a:rPr lang="ru-RU" dirty="0"/>
              <a:t>логический тип: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712032"/>
            <a:ext cx="8129153" cy="175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941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Атрибуты </a:t>
            </a:r>
            <a:r>
              <a:rPr lang="ru-RU" dirty="0"/>
              <a:t>и </a:t>
            </a:r>
            <a:r>
              <a:rPr lang="en-US" dirty="0"/>
              <a:t>DOM-</a:t>
            </a:r>
            <a:r>
              <a:rPr lang="ru-RU" dirty="0"/>
              <a:t>свойства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55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503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Атрибут </a:t>
            </a:r>
            <a:r>
              <a:rPr lang="ru-RU" dirty="0" err="1"/>
              <a:t>style</a:t>
            </a:r>
            <a:r>
              <a:rPr lang="ru-RU" dirty="0"/>
              <a:t> – строка, но свойство </a:t>
            </a:r>
            <a:r>
              <a:rPr lang="ru-RU" dirty="0" err="1"/>
              <a:t>style</a:t>
            </a:r>
            <a:r>
              <a:rPr lang="ru-RU" dirty="0"/>
              <a:t> является объектом: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492612"/>
            <a:ext cx="8556857" cy="271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472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Атрибуты </a:t>
            </a:r>
            <a:r>
              <a:rPr lang="ru-RU" dirty="0"/>
              <a:t>и </a:t>
            </a:r>
            <a:r>
              <a:rPr lang="en-US" dirty="0"/>
              <a:t>DOM-</a:t>
            </a:r>
            <a:r>
              <a:rPr lang="ru-RU" dirty="0"/>
              <a:t>свойства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56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8911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Некоторые из свойств, </a:t>
            </a:r>
            <a:r>
              <a:rPr lang="ru-RU" dirty="0"/>
              <a:t>хоть и строки, могут отличаться от атрибутов. 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1435032"/>
            <a:ext cx="9176289" cy="230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228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Атрибуты </a:t>
            </a:r>
            <a:r>
              <a:rPr lang="ru-RU" dirty="0"/>
              <a:t>и </a:t>
            </a:r>
            <a:r>
              <a:rPr lang="en-US" dirty="0"/>
              <a:t>DOM-</a:t>
            </a:r>
            <a:r>
              <a:rPr lang="ru-RU" dirty="0"/>
              <a:t>свойства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57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04636" y="920301"/>
            <a:ext cx="108825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Нестандартные атрибуты </a:t>
            </a:r>
            <a:r>
              <a:rPr lang="ru-RU" dirty="0"/>
              <a:t>используются для передачи пользовательских данных из HTML в </a:t>
            </a:r>
            <a:r>
              <a:rPr lang="ru-RU" dirty="0" err="1" smtClean="0"/>
              <a:t>JavaScript</a:t>
            </a:r>
            <a:r>
              <a:rPr lang="ru-RU" dirty="0" smtClean="0"/>
              <a:t> </a:t>
            </a:r>
            <a:r>
              <a:rPr lang="ru-RU" dirty="0"/>
              <a:t>или </a:t>
            </a:r>
            <a:r>
              <a:rPr lang="ru-RU" dirty="0" smtClean="0"/>
              <a:t>для поиска HTML-элементов.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712032"/>
            <a:ext cx="8468366" cy="392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4592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Атрибуты </a:t>
            </a:r>
            <a:r>
              <a:rPr lang="ru-RU" dirty="0"/>
              <a:t>и </a:t>
            </a:r>
            <a:r>
              <a:rPr lang="en-US" dirty="0"/>
              <a:t>DOM-</a:t>
            </a:r>
            <a:r>
              <a:rPr lang="ru-RU" dirty="0"/>
              <a:t>свойства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58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45867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Также они могут быть </a:t>
            </a:r>
            <a:r>
              <a:rPr lang="ru-RU" dirty="0" smtClean="0"/>
              <a:t>использованы</a:t>
            </a:r>
            <a:r>
              <a:rPr lang="ru-RU" dirty="0"/>
              <a:t> </a:t>
            </a:r>
            <a:r>
              <a:rPr lang="ru-RU" dirty="0" smtClean="0"/>
              <a:t>для стилизации элементов.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067" y="792397"/>
            <a:ext cx="5253219" cy="590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216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Атрибуты </a:t>
            </a:r>
            <a:r>
              <a:rPr lang="ru-RU" dirty="0"/>
              <a:t>и </a:t>
            </a:r>
            <a:r>
              <a:rPr lang="en-US" dirty="0"/>
              <a:t>DOM-</a:t>
            </a:r>
            <a:r>
              <a:rPr lang="ru-RU" dirty="0"/>
              <a:t>свойства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59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774901"/>
            <a:ext cx="9677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Атрибуты вида </a:t>
            </a:r>
            <a:r>
              <a:rPr lang="ru-RU" b="1" dirty="0" err="1"/>
              <a:t>data</a:t>
            </a:r>
            <a:r>
              <a:rPr lang="ru-RU" b="1" dirty="0"/>
              <a:t>-</a:t>
            </a:r>
            <a:r>
              <a:rPr lang="ru-RU" b="1" dirty="0" smtClean="0"/>
              <a:t>*</a:t>
            </a:r>
            <a:r>
              <a:rPr lang="ru-RU" dirty="0" smtClean="0"/>
              <a:t> доступны </a:t>
            </a:r>
            <a:r>
              <a:rPr lang="ru-RU" dirty="0"/>
              <a:t>в свойстве </a:t>
            </a:r>
            <a:r>
              <a:rPr lang="ru-RU" dirty="0" err="1"/>
              <a:t>dataset</a:t>
            </a:r>
            <a:r>
              <a:rPr lang="ru-RU" dirty="0"/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235773"/>
            <a:ext cx="6801799" cy="553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541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Добавление </a:t>
            </a:r>
            <a:r>
              <a:rPr lang="ru-RU" dirty="0"/>
              <a:t>и удаление узлов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60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2824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Добавим на </a:t>
            </a:r>
            <a:r>
              <a:rPr lang="ru-RU" dirty="0"/>
              <a:t>страницу </a:t>
            </a:r>
            <a:r>
              <a:rPr lang="ru-RU" dirty="0" smtClean="0"/>
              <a:t>сообщение: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1464420"/>
            <a:ext cx="6270857" cy="351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7878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Добавление </a:t>
            </a:r>
            <a:r>
              <a:rPr lang="ru-RU" dirty="0"/>
              <a:t>и удаление узлов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61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1644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DOM-</a:t>
            </a:r>
            <a:r>
              <a:rPr lang="ru-RU" dirty="0"/>
              <a:t>узел можно создать двумя методами:</a:t>
            </a:r>
          </a:p>
          <a:p>
            <a:r>
              <a:rPr lang="en-US" dirty="0" err="1"/>
              <a:t>document.createElement</a:t>
            </a:r>
            <a:r>
              <a:rPr lang="en-US" dirty="0"/>
              <a:t>(tag</a:t>
            </a:r>
            <a:r>
              <a:rPr lang="en-US" dirty="0" smtClean="0"/>
              <a:t>)</a:t>
            </a:r>
            <a:r>
              <a:rPr lang="ru-RU" dirty="0" smtClean="0"/>
              <a:t> -- создаёт </a:t>
            </a:r>
            <a:r>
              <a:rPr lang="ru-RU" dirty="0"/>
              <a:t>новый элемент с заданным тегом:</a:t>
            </a:r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en-US" dirty="0" err="1" smtClean="0"/>
              <a:t>document.createTextNode</a:t>
            </a:r>
            <a:r>
              <a:rPr lang="en-US" dirty="0" smtClean="0"/>
              <a:t>(text)</a:t>
            </a:r>
            <a:r>
              <a:rPr lang="ru-RU" dirty="0" smtClean="0"/>
              <a:t> -- создаёт </a:t>
            </a:r>
            <a:r>
              <a:rPr lang="ru-RU" dirty="0"/>
              <a:t>новый текстовый узел с заданным текстом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400" y="1707363"/>
            <a:ext cx="6109627" cy="37216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399" y="2820026"/>
            <a:ext cx="7888853" cy="357109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240399" y="3461689"/>
            <a:ext cx="28456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Создание </a:t>
            </a:r>
            <a:r>
              <a:rPr lang="ru-RU" dirty="0" smtClean="0"/>
              <a:t>сообщения:</a:t>
            </a: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399" y="4097103"/>
            <a:ext cx="9291512" cy="97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0070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Добавление </a:t>
            </a:r>
            <a:r>
              <a:rPr lang="ru-RU" dirty="0"/>
              <a:t>и удаление узлов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62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5211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Метод </a:t>
            </a:r>
            <a:r>
              <a:rPr lang="en-US" b="1" dirty="0" smtClean="0"/>
              <a:t>append</a:t>
            </a:r>
            <a:r>
              <a:rPr lang="ru-RU" dirty="0" smtClean="0"/>
              <a:t> – метод вставки элементов.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8811609" cy="465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345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Добавление </a:t>
            </a:r>
            <a:r>
              <a:rPr lang="ru-RU" dirty="0"/>
              <a:t>и удаление узлов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63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164425" cy="2447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900"/>
              </a:spcAft>
            </a:pPr>
            <a:r>
              <a:rPr lang="ru-RU" dirty="0"/>
              <a:t>Методы для различных вариантов вставки:</a:t>
            </a:r>
          </a:p>
          <a:p>
            <a:pPr marL="342900" lvl="0" indent="-342900">
              <a:lnSpc>
                <a:spcPct val="1070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 smtClean="0"/>
              <a:t>node.append</a:t>
            </a:r>
            <a:r>
              <a:rPr lang="ru-RU" dirty="0" smtClean="0"/>
              <a:t>(</a:t>
            </a:r>
            <a:r>
              <a:rPr lang="en-US" dirty="0" err="1" smtClean="0"/>
              <a:t>elem</a:t>
            </a:r>
            <a:r>
              <a:rPr lang="ru-RU" dirty="0" smtClean="0"/>
              <a:t>)</a:t>
            </a:r>
            <a:r>
              <a:rPr lang="ru-RU" dirty="0"/>
              <a:t> – добавляет узлы или строки в конец </a:t>
            </a:r>
            <a:r>
              <a:rPr lang="ru-RU" dirty="0" err="1"/>
              <a:t>node</a:t>
            </a:r>
            <a:r>
              <a:rPr lang="ru-RU" dirty="0"/>
              <a:t>,</a:t>
            </a:r>
          </a:p>
          <a:p>
            <a:pPr marL="342900" lvl="0" indent="-342900">
              <a:lnSpc>
                <a:spcPct val="1070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 smtClean="0"/>
              <a:t>node.prepend</a:t>
            </a:r>
            <a:r>
              <a:rPr lang="ru-RU" dirty="0" smtClean="0"/>
              <a:t>(</a:t>
            </a:r>
            <a:r>
              <a:rPr lang="en-US" dirty="0" err="1"/>
              <a:t>elem</a:t>
            </a:r>
            <a:r>
              <a:rPr lang="ru-RU" dirty="0" smtClean="0"/>
              <a:t>)</a:t>
            </a:r>
            <a:r>
              <a:rPr lang="ru-RU" dirty="0"/>
              <a:t> – вставляет узлы или строки в начало </a:t>
            </a:r>
            <a:r>
              <a:rPr lang="ru-RU" dirty="0" err="1"/>
              <a:t>node</a:t>
            </a:r>
            <a:r>
              <a:rPr lang="ru-RU" dirty="0"/>
              <a:t>,</a:t>
            </a:r>
          </a:p>
          <a:p>
            <a:pPr marL="342900" lvl="0" indent="-342900">
              <a:lnSpc>
                <a:spcPct val="1070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 smtClean="0"/>
              <a:t>node.before</a:t>
            </a:r>
            <a:r>
              <a:rPr lang="ru-RU" dirty="0" smtClean="0"/>
              <a:t>(</a:t>
            </a:r>
            <a:r>
              <a:rPr lang="en-US" dirty="0" err="1"/>
              <a:t>elem</a:t>
            </a:r>
            <a:r>
              <a:rPr lang="ru-RU" dirty="0" smtClean="0"/>
              <a:t>)</a:t>
            </a:r>
            <a:r>
              <a:rPr lang="ru-RU" dirty="0"/>
              <a:t> –- вставляет узлы или строки до </a:t>
            </a:r>
            <a:r>
              <a:rPr lang="ru-RU" dirty="0" err="1"/>
              <a:t>node</a:t>
            </a:r>
            <a:r>
              <a:rPr lang="ru-RU" dirty="0"/>
              <a:t>,</a:t>
            </a:r>
          </a:p>
          <a:p>
            <a:pPr marL="342900" lvl="0" indent="-342900">
              <a:lnSpc>
                <a:spcPct val="1070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 smtClean="0"/>
              <a:t>node.after</a:t>
            </a:r>
            <a:r>
              <a:rPr lang="ru-RU" dirty="0" smtClean="0"/>
              <a:t>(</a:t>
            </a:r>
            <a:r>
              <a:rPr lang="en-US" dirty="0" err="1"/>
              <a:t>elem</a:t>
            </a:r>
            <a:r>
              <a:rPr lang="ru-RU" dirty="0" smtClean="0"/>
              <a:t>)</a:t>
            </a:r>
            <a:r>
              <a:rPr lang="ru-RU" dirty="0"/>
              <a:t> –- вставляет узлы или строки после </a:t>
            </a:r>
            <a:r>
              <a:rPr lang="ru-RU" dirty="0" err="1"/>
              <a:t>node</a:t>
            </a:r>
            <a:r>
              <a:rPr lang="ru-RU" dirty="0"/>
              <a:t>,</a:t>
            </a:r>
          </a:p>
          <a:p>
            <a:pPr marL="342900" lvl="0" indent="-342900">
              <a:lnSpc>
                <a:spcPct val="1070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 smtClean="0"/>
              <a:t>node.replaceWith</a:t>
            </a:r>
            <a:r>
              <a:rPr lang="ru-RU" dirty="0" smtClean="0"/>
              <a:t>(</a:t>
            </a:r>
            <a:r>
              <a:rPr lang="en-US" dirty="0" err="1"/>
              <a:t>elem</a:t>
            </a:r>
            <a:r>
              <a:rPr lang="ru-RU" dirty="0" smtClean="0"/>
              <a:t>)</a:t>
            </a:r>
            <a:r>
              <a:rPr lang="ru-RU" dirty="0"/>
              <a:t> –- заменяет </a:t>
            </a:r>
            <a:r>
              <a:rPr lang="ru-RU" dirty="0" err="1"/>
              <a:t>node</a:t>
            </a:r>
            <a:r>
              <a:rPr lang="ru-RU" dirty="0"/>
              <a:t> заданными узлами или строками.</a:t>
            </a:r>
          </a:p>
        </p:txBody>
      </p:sp>
    </p:spTree>
    <p:extLst>
      <p:ext uri="{BB962C8B-B14F-4D97-AF65-F5344CB8AC3E}">
        <p14:creationId xmlns:p14="http://schemas.microsoft.com/office/powerpoint/2010/main" val="11430413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Добавление </a:t>
            </a:r>
            <a:r>
              <a:rPr lang="ru-RU" dirty="0"/>
              <a:t>и удаление узлов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64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654271"/>
            <a:ext cx="6433089" cy="492206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6" y="1029920"/>
            <a:ext cx="50449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Пример использования  методов</a:t>
            </a:r>
            <a:r>
              <a:rPr lang="en-US" dirty="0" smtClean="0"/>
              <a:t> </a:t>
            </a:r>
            <a:r>
              <a:rPr lang="ru-RU" dirty="0" smtClean="0"/>
              <a:t>вставки: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418" y="1654271"/>
            <a:ext cx="3174130" cy="261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3591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Добавление </a:t>
            </a:r>
            <a:r>
              <a:rPr lang="ru-RU" dirty="0"/>
              <a:t>и удаление узлов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65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812440"/>
            <a:ext cx="10429901" cy="2504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dirty="0" smtClean="0"/>
              <a:t>Метод </a:t>
            </a:r>
            <a:r>
              <a:rPr lang="ru-RU" b="1" dirty="0" err="1"/>
              <a:t>elem.insertAdjacentHTML</a:t>
            </a:r>
            <a:r>
              <a:rPr lang="ru-RU" b="1" dirty="0"/>
              <a:t>(</a:t>
            </a:r>
            <a:r>
              <a:rPr lang="ru-RU" b="1" dirty="0" err="1"/>
              <a:t>where</a:t>
            </a:r>
            <a:r>
              <a:rPr lang="ru-RU" b="1" dirty="0"/>
              <a:t>, </a:t>
            </a:r>
            <a:r>
              <a:rPr lang="ru-RU" b="1" dirty="0" err="1"/>
              <a:t>html</a:t>
            </a:r>
            <a:r>
              <a:rPr lang="ru-RU" b="1" dirty="0" smtClean="0"/>
              <a:t>)</a:t>
            </a:r>
            <a:r>
              <a:rPr lang="en-US" dirty="0" smtClean="0"/>
              <a:t> – </a:t>
            </a:r>
            <a:r>
              <a:rPr lang="ru-RU" dirty="0" smtClean="0"/>
              <a:t>вставляет </a:t>
            </a:r>
            <a:r>
              <a:rPr lang="en-US" dirty="0" smtClean="0"/>
              <a:t>HTML </a:t>
            </a:r>
            <a:r>
              <a:rPr lang="ru-RU" dirty="0" smtClean="0"/>
              <a:t>на страницу:</a:t>
            </a:r>
            <a:endParaRPr lang="ru-RU" dirty="0"/>
          </a:p>
          <a:p>
            <a:pPr>
              <a:lnSpc>
                <a:spcPct val="110000"/>
              </a:lnSpc>
            </a:pPr>
            <a:r>
              <a:rPr lang="en-US" b="1" dirty="0" smtClean="0"/>
              <a:t>w</a:t>
            </a:r>
            <a:r>
              <a:rPr lang="ru-RU" b="1" dirty="0" err="1" smtClean="0"/>
              <a:t>here</a:t>
            </a:r>
            <a:r>
              <a:rPr lang="ru-RU" b="1" dirty="0" smtClean="0"/>
              <a:t> </a:t>
            </a:r>
            <a:r>
              <a:rPr lang="ru-RU" dirty="0" smtClean="0"/>
              <a:t>– </a:t>
            </a:r>
            <a:r>
              <a:rPr lang="ru-RU" dirty="0"/>
              <a:t>это специальное слово, указывающее, куда по отношению к </a:t>
            </a:r>
            <a:r>
              <a:rPr lang="ru-RU" dirty="0" err="1"/>
              <a:t>elem</a:t>
            </a:r>
            <a:r>
              <a:rPr lang="ru-RU" dirty="0"/>
              <a:t> производить </a:t>
            </a:r>
            <a:r>
              <a:rPr lang="ru-RU" dirty="0" smtClean="0"/>
              <a:t>вставку, принимает одно </a:t>
            </a:r>
            <a:r>
              <a:rPr lang="ru-RU" dirty="0"/>
              <a:t>из </a:t>
            </a:r>
            <a:r>
              <a:rPr lang="ru-RU" dirty="0" smtClean="0"/>
              <a:t>следующих значений:</a:t>
            </a:r>
            <a:endParaRPr lang="ru-RU" dirty="0"/>
          </a:p>
          <a:p>
            <a:pPr>
              <a:lnSpc>
                <a:spcPct val="110000"/>
              </a:lnSpc>
            </a:pPr>
            <a:r>
              <a:rPr lang="ru-RU" dirty="0" smtClean="0"/>
              <a:t>• "</a:t>
            </a:r>
            <a:r>
              <a:rPr lang="ru-RU" dirty="0" err="1"/>
              <a:t>beforebegin</a:t>
            </a:r>
            <a:r>
              <a:rPr lang="ru-RU" dirty="0"/>
              <a:t>" – вставить </a:t>
            </a:r>
            <a:r>
              <a:rPr lang="ru-RU" dirty="0" err="1"/>
              <a:t>html</a:t>
            </a:r>
            <a:r>
              <a:rPr lang="ru-RU" dirty="0"/>
              <a:t> непосредственно перед </a:t>
            </a:r>
            <a:r>
              <a:rPr lang="ru-RU" dirty="0" err="1"/>
              <a:t>elem</a:t>
            </a:r>
            <a:r>
              <a:rPr lang="ru-RU" dirty="0"/>
              <a:t>,</a:t>
            </a:r>
          </a:p>
          <a:p>
            <a:pPr>
              <a:lnSpc>
                <a:spcPct val="110000"/>
              </a:lnSpc>
            </a:pPr>
            <a:r>
              <a:rPr lang="ru-RU" dirty="0" smtClean="0"/>
              <a:t>• "</a:t>
            </a:r>
            <a:r>
              <a:rPr lang="ru-RU" dirty="0" err="1"/>
              <a:t>afterbegin</a:t>
            </a:r>
            <a:r>
              <a:rPr lang="ru-RU" dirty="0"/>
              <a:t>" – вставить </a:t>
            </a:r>
            <a:r>
              <a:rPr lang="ru-RU" dirty="0" err="1"/>
              <a:t>html</a:t>
            </a:r>
            <a:r>
              <a:rPr lang="ru-RU" dirty="0"/>
              <a:t> в начало </a:t>
            </a:r>
            <a:r>
              <a:rPr lang="ru-RU" dirty="0" err="1"/>
              <a:t>elem</a:t>
            </a:r>
            <a:r>
              <a:rPr lang="ru-RU" dirty="0"/>
              <a:t>,</a:t>
            </a:r>
          </a:p>
          <a:p>
            <a:pPr>
              <a:lnSpc>
                <a:spcPct val="110000"/>
              </a:lnSpc>
            </a:pPr>
            <a:r>
              <a:rPr lang="ru-RU" dirty="0" smtClean="0"/>
              <a:t>• "</a:t>
            </a:r>
            <a:r>
              <a:rPr lang="ru-RU" dirty="0" err="1"/>
              <a:t>beforeend</a:t>
            </a:r>
            <a:r>
              <a:rPr lang="ru-RU" dirty="0"/>
              <a:t>" – вставить </a:t>
            </a:r>
            <a:r>
              <a:rPr lang="ru-RU" dirty="0" err="1"/>
              <a:t>html</a:t>
            </a:r>
            <a:r>
              <a:rPr lang="ru-RU" dirty="0"/>
              <a:t> в конец </a:t>
            </a:r>
            <a:r>
              <a:rPr lang="ru-RU" dirty="0" err="1"/>
              <a:t>elem</a:t>
            </a:r>
            <a:r>
              <a:rPr lang="ru-RU" dirty="0"/>
              <a:t>,</a:t>
            </a:r>
          </a:p>
          <a:p>
            <a:pPr>
              <a:lnSpc>
                <a:spcPct val="110000"/>
              </a:lnSpc>
            </a:pPr>
            <a:r>
              <a:rPr lang="ru-RU" dirty="0" smtClean="0"/>
              <a:t>• "</a:t>
            </a:r>
            <a:r>
              <a:rPr lang="ru-RU" dirty="0" err="1"/>
              <a:t>afterend</a:t>
            </a:r>
            <a:r>
              <a:rPr lang="ru-RU" dirty="0"/>
              <a:t>" – вставить </a:t>
            </a:r>
            <a:r>
              <a:rPr lang="ru-RU" dirty="0" err="1"/>
              <a:t>html</a:t>
            </a:r>
            <a:r>
              <a:rPr lang="ru-RU" dirty="0"/>
              <a:t> непосредственно после </a:t>
            </a:r>
            <a:r>
              <a:rPr lang="ru-RU" dirty="0" err="1"/>
              <a:t>elem</a:t>
            </a:r>
            <a:r>
              <a:rPr lang="ru-RU" dirty="0" smtClean="0"/>
              <a:t>.</a:t>
            </a:r>
          </a:p>
          <a:p>
            <a:pPr>
              <a:lnSpc>
                <a:spcPct val="110000"/>
              </a:lnSpc>
            </a:pPr>
            <a:r>
              <a:rPr lang="en-US" b="1" dirty="0" smtClean="0"/>
              <a:t>h</a:t>
            </a:r>
            <a:r>
              <a:rPr lang="ru-RU" b="1" dirty="0" err="1" smtClean="0"/>
              <a:t>tml</a:t>
            </a:r>
            <a:r>
              <a:rPr lang="en-US" b="1" dirty="0" smtClean="0"/>
              <a:t> </a:t>
            </a:r>
            <a:r>
              <a:rPr lang="ru-RU" dirty="0" smtClean="0"/>
              <a:t>– </a:t>
            </a:r>
            <a:r>
              <a:rPr lang="ru-RU" dirty="0"/>
              <a:t>это HTML-строка, которая будет вставлена именно «как HTML».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3388410"/>
            <a:ext cx="8173398" cy="152063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6" y="5062420"/>
            <a:ext cx="3512908" cy="98297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118086" y="6045390"/>
            <a:ext cx="106363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elem.insertAdjacentText</a:t>
            </a:r>
            <a:r>
              <a:rPr lang="en-US" b="1" dirty="0" smtClean="0"/>
              <a:t>(where, text)</a:t>
            </a:r>
            <a:r>
              <a:rPr lang="en-US" dirty="0" smtClean="0"/>
              <a:t> –</a:t>
            </a:r>
            <a:r>
              <a:rPr lang="ru-RU" dirty="0" smtClean="0"/>
              <a:t> строка </a:t>
            </a:r>
            <a:r>
              <a:rPr lang="en-US" dirty="0"/>
              <a:t>text </a:t>
            </a:r>
            <a:r>
              <a:rPr lang="ru-RU" dirty="0"/>
              <a:t>вставляется «как текст», вместо </a:t>
            </a:r>
            <a:r>
              <a:rPr lang="en-US" dirty="0"/>
              <a:t>HTML,</a:t>
            </a:r>
          </a:p>
          <a:p>
            <a:r>
              <a:rPr lang="en-US" b="1" dirty="0" err="1" smtClean="0"/>
              <a:t>elem.insertAdjacentElement</a:t>
            </a:r>
            <a:r>
              <a:rPr lang="en-US" b="1" dirty="0" smtClean="0"/>
              <a:t>(where</a:t>
            </a:r>
            <a:r>
              <a:rPr lang="en-US" b="1" dirty="0"/>
              <a:t>, </a:t>
            </a:r>
            <a:r>
              <a:rPr lang="en-US" b="1" dirty="0" err="1"/>
              <a:t>elem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smtClean="0"/>
              <a:t>–</a:t>
            </a:r>
            <a:r>
              <a:rPr lang="ru-RU" dirty="0" smtClean="0"/>
              <a:t> вставляет </a:t>
            </a:r>
            <a:r>
              <a:rPr lang="ru-RU" dirty="0"/>
              <a:t>элемент </a:t>
            </a:r>
            <a:r>
              <a:rPr lang="en-US" dirty="0"/>
              <a:t>elem.</a:t>
            </a:r>
          </a:p>
        </p:txBody>
      </p:sp>
    </p:spTree>
    <p:extLst>
      <p:ext uri="{BB962C8B-B14F-4D97-AF65-F5344CB8AC3E}">
        <p14:creationId xmlns:p14="http://schemas.microsoft.com/office/powerpoint/2010/main" val="13594405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Добавление </a:t>
            </a:r>
            <a:r>
              <a:rPr lang="ru-RU" dirty="0"/>
              <a:t>и удаление узлов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66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118086" y="920301"/>
            <a:ext cx="4386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Метод </a:t>
            </a:r>
            <a:r>
              <a:rPr lang="ru-RU" b="1" dirty="0" err="1" smtClean="0"/>
              <a:t>node.remove</a:t>
            </a:r>
            <a:r>
              <a:rPr lang="ru-RU" b="1" dirty="0" smtClean="0"/>
              <a:t>()</a:t>
            </a:r>
            <a:r>
              <a:rPr lang="ru-RU" dirty="0"/>
              <a:t> </a:t>
            </a:r>
            <a:r>
              <a:rPr lang="ru-RU" dirty="0" smtClean="0"/>
              <a:t>удаляет узлы. 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10527969" cy="477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601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Добавление </a:t>
            </a:r>
            <a:r>
              <a:rPr lang="ru-RU" dirty="0"/>
              <a:t>и удаление узлов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67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44866" y="1182561"/>
            <a:ext cx="331273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elem.cloneNode</a:t>
            </a:r>
            <a:r>
              <a:rPr lang="ru-RU" b="1" dirty="0" smtClean="0"/>
              <a:t>(</a:t>
            </a:r>
            <a:r>
              <a:rPr lang="ru-RU" b="1" dirty="0" err="1" smtClean="0"/>
              <a:t>true</a:t>
            </a:r>
            <a:r>
              <a:rPr lang="ru-RU" b="1" dirty="0"/>
              <a:t>)</a:t>
            </a:r>
            <a:r>
              <a:rPr lang="ru-RU" dirty="0"/>
              <a:t> создаёт «глубокий» клон элемента – со всеми атрибутами и дочерними </a:t>
            </a:r>
            <a:r>
              <a:rPr lang="ru-RU" dirty="0" smtClean="0"/>
              <a:t>элементами;</a:t>
            </a:r>
          </a:p>
          <a:p>
            <a:endParaRPr lang="ru-RU" dirty="0" smtClean="0"/>
          </a:p>
          <a:p>
            <a:r>
              <a:rPr lang="ru-RU" b="1" dirty="0" err="1" smtClean="0"/>
              <a:t>elem.cloneNode</a:t>
            </a:r>
            <a:r>
              <a:rPr lang="ru-RU" b="1" dirty="0" smtClean="0"/>
              <a:t>(</a:t>
            </a:r>
            <a:r>
              <a:rPr lang="ru-RU" b="1" dirty="0" err="1" smtClean="0"/>
              <a:t>false</a:t>
            </a:r>
            <a:r>
              <a:rPr lang="ru-RU" b="1" dirty="0" smtClean="0"/>
              <a:t>) </a:t>
            </a:r>
            <a:r>
              <a:rPr lang="ru-RU" dirty="0" smtClean="0"/>
              <a:t>создает </a:t>
            </a:r>
            <a:r>
              <a:rPr lang="ru-RU" dirty="0"/>
              <a:t>клон </a:t>
            </a:r>
            <a:r>
              <a:rPr lang="ru-RU" dirty="0" smtClean="0"/>
              <a:t>без </a:t>
            </a:r>
            <a:r>
              <a:rPr lang="ru-RU" dirty="0"/>
              <a:t>дочерних элементов.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4901"/>
            <a:ext cx="8213280" cy="531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013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Добавление </a:t>
            </a:r>
            <a:r>
              <a:rPr lang="ru-RU" dirty="0"/>
              <a:t>и удаление узлов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68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07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DocumentFragment</a:t>
            </a:r>
            <a:r>
              <a:rPr lang="ru-RU" dirty="0"/>
              <a:t> </a:t>
            </a:r>
            <a:r>
              <a:rPr lang="ru-RU" dirty="0" smtClean="0"/>
              <a:t>-- DOM-узел, </a:t>
            </a:r>
            <a:r>
              <a:rPr lang="ru-RU" dirty="0"/>
              <a:t>который служит обёрткой для передачи списков узлов.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118086" y="1435033"/>
            <a:ext cx="1076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getListContent</a:t>
            </a:r>
            <a:r>
              <a:rPr lang="ru-RU" dirty="0"/>
              <a:t> </a:t>
            </a:r>
            <a:r>
              <a:rPr lang="ru-RU" dirty="0" smtClean="0"/>
              <a:t>генерирует </a:t>
            </a:r>
            <a:r>
              <a:rPr lang="ru-RU" dirty="0"/>
              <a:t>фрагмент с элементами &lt;</a:t>
            </a:r>
            <a:r>
              <a:rPr lang="ru-RU" dirty="0" err="1"/>
              <a:t>li</a:t>
            </a:r>
            <a:r>
              <a:rPr lang="ru-RU" dirty="0"/>
              <a:t>&gt;, которые </a:t>
            </a:r>
            <a:r>
              <a:rPr lang="ru-RU" dirty="0" smtClean="0"/>
              <a:t>вставляются </a:t>
            </a:r>
            <a:r>
              <a:rPr lang="ru-RU" dirty="0"/>
              <a:t>в &lt;</a:t>
            </a:r>
            <a:r>
              <a:rPr lang="ru-RU" dirty="0" err="1"/>
              <a:t>ul</a:t>
            </a:r>
            <a:r>
              <a:rPr lang="ru-RU" dirty="0"/>
              <a:t>&gt;: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942328"/>
            <a:ext cx="5981270" cy="463400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898" y="1964053"/>
            <a:ext cx="2303541" cy="143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387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Добавление </a:t>
            </a:r>
            <a:r>
              <a:rPr lang="ru-RU" dirty="0"/>
              <a:t>и удаление узлов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69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7248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DocumentFragment</a:t>
            </a:r>
            <a:r>
              <a:rPr lang="en-US" dirty="0"/>
              <a:t> </a:t>
            </a:r>
            <a:r>
              <a:rPr lang="ru-RU" dirty="0" smtClean="0"/>
              <a:t>используется </a:t>
            </a:r>
            <a:r>
              <a:rPr lang="ru-RU" dirty="0"/>
              <a:t>редко</a:t>
            </a:r>
            <a:r>
              <a:rPr lang="ru-RU" dirty="0" smtClean="0"/>
              <a:t>. Вместо добавления элементов </a:t>
            </a:r>
            <a:r>
              <a:rPr lang="ru-RU" dirty="0"/>
              <a:t>в специальный вид узла, </a:t>
            </a:r>
            <a:r>
              <a:rPr lang="ru-RU" dirty="0" smtClean="0"/>
              <a:t>можно </a:t>
            </a:r>
            <a:r>
              <a:rPr lang="ru-RU" dirty="0"/>
              <a:t>вернуть массив </a:t>
            </a:r>
            <a:r>
              <a:rPr lang="ru-RU" dirty="0" smtClean="0"/>
              <a:t>узлов: 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712032"/>
            <a:ext cx="5784160" cy="45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099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Добавление </a:t>
            </a:r>
            <a:r>
              <a:rPr lang="ru-RU" dirty="0"/>
              <a:t>и удаление узлов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70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782152" y="920301"/>
            <a:ext cx="11280125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 smtClean="0"/>
              <a:t>Устаревшие методы </a:t>
            </a:r>
            <a:r>
              <a:rPr lang="ru-RU" dirty="0"/>
              <a:t>вставки и </a:t>
            </a:r>
            <a:r>
              <a:rPr lang="ru-RU" dirty="0" smtClean="0"/>
              <a:t>удаления:</a:t>
            </a:r>
          </a:p>
          <a:p>
            <a:pPr>
              <a:lnSpc>
                <a:spcPct val="120000"/>
              </a:lnSpc>
            </a:pPr>
            <a:r>
              <a:rPr lang="en-US" b="1" dirty="0" err="1" smtClean="0"/>
              <a:t>parentElem.appendChild</a:t>
            </a:r>
            <a:r>
              <a:rPr lang="en-US" b="1" dirty="0" smtClean="0"/>
              <a:t>(node)</a:t>
            </a:r>
            <a:r>
              <a:rPr lang="ru-RU" b="1" dirty="0" smtClean="0"/>
              <a:t> </a:t>
            </a:r>
            <a:r>
              <a:rPr lang="ru-RU" dirty="0" smtClean="0"/>
              <a:t>-- добавляет </a:t>
            </a:r>
            <a:r>
              <a:rPr lang="en-US" dirty="0"/>
              <a:t>node </a:t>
            </a:r>
            <a:r>
              <a:rPr lang="ru-RU" dirty="0"/>
              <a:t>в конец дочерних элементов </a:t>
            </a:r>
            <a:r>
              <a:rPr lang="en-US" dirty="0" err="1"/>
              <a:t>parentElem</a:t>
            </a:r>
            <a:r>
              <a:rPr lang="en-US" dirty="0" smtClean="0"/>
              <a:t>.</a:t>
            </a:r>
            <a:endParaRPr lang="ru-RU" dirty="0" smtClean="0"/>
          </a:p>
          <a:p>
            <a:pPr>
              <a:lnSpc>
                <a:spcPct val="120000"/>
              </a:lnSpc>
            </a:pPr>
            <a:r>
              <a:rPr lang="en-US" b="1" dirty="0" err="1"/>
              <a:t>parentElem.insertBefore</a:t>
            </a:r>
            <a:r>
              <a:rPr lang="en-US" b="1" dirty="0"/>
              <a:t>(node, </a:t>
            </a:r>
            <a:r>
              <a:rPr lang="en-US" b="1" dirty="0" err="1"/>
              <a:t>nextSibling</a:t>
            </a:r>
            <a:r>
              <a:rPr lang="en-US" b="1" dirty="0" smtClean="0"/>
              <a:t>)</a:t>
            </a:r>
            <a:r>
              <a:rPr lang="ru-RU" b="1" dirty="0" smtClean="0"/>
              <a:t> </a:t>
            </a:r>
            <a:r>
              <a:rPr lang="ru-RU" dirty="0" smtClean="0"/>
              <a:t>-- вставляет</a:t>
            </a:r>
            <a:r>
              <a:rPr lang="en-US" dirty="0"/>
              <a:t> node </a:t>
            </a:r>
            <a:r>
              <a:rPr lang="ru-RU" dirty="0"/>
              <a:t>перед</a:t>
            </a:r>
            <a:r>
              <a:rPr lang="en-US" dirty="0"/>
              <a:t> </a:t>
            </a:r>
            <a:r>
              <a:rPr lang="en-US" dirty="0" err="1"/>
              <a:t>nextSibling</a:t>
            </a:r>
            <a:r>
              <a:rPr lang="en-US" dirty="0"/>
              <a:t> </a:t>
            </a:r>
            <a:r>
              <a:rPr lang="ru-RU" dirty="0"/>
              <a:t>в</a:t>
            </a:r>
            <a:r>
              <a:rPr lang="en-US" dirty="0"/>
              <a:t> </a:t>
            </a:r>
            <a:r>
              <a:rPr lang="en-US" dirty="0" err="1"/>
              <a:t>parentElem</a:t>
            </a:r>
            <a:r>
              <a:rPr lang="en-US" dirty="0"/>
              <a:t>.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en-US" b="1" dirty="0" err="1"/>
              <a:t>parentElem.replaceChild</a:t>
            </a:r>
            <a:r>
              <a:rPr lang="en-US" b="1" dirty="0"/>
              <a:t>(node, </a:t>
            </a:r>
            <a:r>
              <a:rPr lang="en-US" b="1" dirty="0" err="1"/>
              <a:t>oldChild</a:t>
            </a:r>
            <a:r>
              <a:rPr lang="en-US" b="1" dirty="0" smtClean="0"/>
              <a:t>)</a:t>
            </a:r>
            <a:r>
              <a:rPr lang="ru-RU" b="1" dirty="0" smtClean="0"/>
              <a:t> </a:t>
            </a:r>
            <a:r>
              <a:rPr lang="ru-RU" dirty="0" smtClean="0"/>
              <a:t>-- заменяет</a:t>
            </a:r>
            <a:r>
              <a:rPr lang="en-US" dirty="0"/>
              <a:t> </a:t>
            </a:r>
            <a:r>
              <a:rPr lang="en-US" dirty="0" err="1"/>
              <a:t>oldChild</a:t>
            </a:r>
            <a:r>
              <a:rPr lang="en-US" dirty="0"/>
              <a:t> </a:t>
            </a:r>
            <a:r>
              <a:rPr lang="ru-RU" dirty="0"/>
              <a:t>на</a:t>
            </a:r>
            <a:r>
              <a:rPr lang="en-US" dirty="0"/>
              <a:t> node </a:t>
            </a:r>
            <a:r>
              <a:rPr lang="ru-RU" dirty="0"/>
              <a:t>среди дочерних элементов</a:t>
            </a:r>
            <a:r>
              <a:rPr lang="en-US" dirty="0"/>
              <a:t> </a:t>
            </a:r>
            <a:r>
              <a:rPr lang="en-US" dirty="0" err="1"/>
              <a:t>parentElem</a:t>
            </a:r>
            <a:r>
              <a:rPr lang="en-US" dirty="0"/>
              <a:t>.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en-US" b="1" dirty="0" err="1"/>
              <a:t>parentElem.removeChild</a:t>
            </a:r>
            <a:r>
              <a:rPr lang="en-US" b="1" dirty="0"/>
              <a:t>(node</a:t>
            </a:r>
            <a:r>
              <a:rPr lang="en-US" b="1" dirty="0" smtClean="0"/>
              <a:t>)</a:t>
            </a:r>
            <a:r>
              <a:rPr lang="ru-RU" b="1" dirty="0" smtClean="0"/>
              <a:t> </a:t>
            </a:r>
            <a:r>
              <a:rPr lang="ru-RU" dirty="0" smtClean="0"/>
              <a:t>--</a:t>
            </a:r>
            <a:r>
              <a:rPr lang="ru-RU" b="1" dirty="0" smtClean="0"/>
              <a:t> </a:t>
            </a:r>
            <a:r>
              <a:rPr lang="ru-RU" dirty="0" smtClean="0"/>
              <a:t>удаляет</a:t>
            </a:r>
            <a:r>
              <a:rPr lang="en-US" dirty="0"/>
              <a:t> node </a:t>
            </a:r>
            <a:r>
              <a:rPr lang="ru-RU" dirty="0"/>
              <a:t>из</a:t>
            </a:r>
            <a:r>
              <a:rPr lang="en-US" dirty="0"/>
              <a:t> </a:t>
            </a:r>
            <a:r>
              <a:rPr lang="en-US" dirty="0" err="1"/>
              <a:t>parentElem</a:t>
            </a:r>
            <a:r>
              <a:rPr lang="en-US" dirty="0"/>
              <a:t> (</a:t>
            </a:r>
            <a:r>
              <a:rPr lang="ru-RU" dirty="0"/>
              <a:t>предполагается</a:t>
            </a:r>
            <a:r>
              <a:rPr lang="en-US" dirty="0"/>
              <a:t>, </a:t>
            </a:r>
            <a:r>
              <a:rPr lang="ru-RU" dirty="0"/>
              <a:t>что он родитель</a:t>
            </a:r>
            <a:r>
              <a:rPr lang="en-US" dirty="0"/>
              <a:t> node).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b="1" dirty="0" err="1"/>
              <a:t>document.write</a:t>
            </a:r>
            <a:r>
              <a:rPr lang="ru-RU" b="1" dirty="0"/>
              <a:t>(</a:t>
            </a:r>
            <a:r>
              <a:rPr lang="ru-RU" b="1" dirty="0" err="1"/>
              <a:t>html</a:t>
            </a:r>
            <a:r>
              <a:rPr lang="ru-RU" b="1" dirty="0"/>
              <a:t>)</a:t>
            </a:r>
            <a:r>
              <a:rPr lang="ru-RU" dirty="0"/>
              <a:t> записывает </a:t>
            </a:r>
            <a:r>
              <a:rPr lang="ru-RU" dirty="0" err="1"/>
              <a:t>html</a:t>
            </a:r>
            <a:r>
              <a:rPr lang="ru-RU" dirty="0"/>
              <a:t> на страницу </a:t>
            </a:r>
            <a:r>
              <a:rPr lang="ru-RU" b="1" dirty="0" smtClean="0"/>
              <a:t>только </a:t>
            </a:r>
            <a:r>
              <a:rPr lang="ru-RU" b="1" dirty="0"/>
              <a:t>во время загрузки страницы</a:t>
            </a:r>
            <a:r>
              <a:rPr lang="ru-RU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2743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Стили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71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4151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Существует два </a:t>
            </a:r>
            <a:r>
              <a:rPr lang="ru-RU" dirty="0"/>
              <a:t>способа задания стилей для элемента:</a:t>
            </a:r>
          </a:p>
          <a:p>
            <a:r>
              <a:rPr lang="ru-RU" dirty="0" smtClean="0"/>
              <a:t>1. Создать </a:t>
            </a:r>
            <a:r>
              <a:rPr lang="ru-RU" dirty="0"/>
              <a:t>класс в CSS и использовать его: &lt;</a:t>
            </a:r>
            <a:r>
              <a:rPr lang="ru-RU" dirty="0" err="1"/>
              <a:t>div</a:t>
            </a:r>
            <a:r>
              <a:rPr lang="ru-RU" dirty="0"/>
              <a:t> </a:t>
            </a:r>
            <a:r>
              <a:rPr lang="ru-RU" dirty="0" err="1"/>
              <a:t>class</a:t>
            </a:r>
            <a:r>
              <a:rPr lang="ru-RU" dirty="0"/>
              <a:t>="..."&gt;</a:t>
            </a:r>
          </a:p>
          <a:p>
            <a:r>
              <a:rPr lang="ru-RU" dirty="0"/>
              <a:t>2</a:t>
            </a:r>
            <a:r>
              <a:rPr lang="ru-RU" dirty="0" smtClean="0"/>
              <a:t>. Писать </a:t>
            </a:r>
            <a:r>
              <a:rPr lang="ru-RU" dirty="0"/>
              <a:t>стили непосредственно в атрибуте </a:t>
            </a:r>
            <a:r>
              <a:rPr lang="ru-RU" dirty="0" err="1"/>
              <a:t>style</a:t>
            </a:r>
            <a:r>
              <a:rPr lang="ru-RU" dirty="0"/>
              <a:t>: &lt;</a:t>
            </a:r>
            <a:r>
              <a:rPr lang="ru-RU" dirty="0" err="1"/>
              <a:t>div</a:t>
            </a:r>
            <a:r>
              <a:rPr lang="ru-RU" dirty="0"/>
              <a:t> </a:t>
            </a:r>
            <a:r>
              <a:rPr lang="ru-RU" dirty="0" err="1"/>
              <a:t>style</a:t>
            </a:r>
            <a:r>
              <a:rPr lang="ru-RU" dirty="0"/>
              <a:t>="..."&gt;.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2053813"/>
            <a:ext cx="5031992" cy="146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0752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Стили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72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96629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Свойство </a:t>
            </a:r>
            <a:r>
              <a:rPr lang="ru-RU" b="1" dirty="0" smtClean="0"/>
              <a:t>"</a:t>
            </a:r>
            <a:r>
              <a:rPr lang="en-US" b="1" dirty="0" err="1"/>
              <a:t>className</a:t>
            </a:r>
            <a:r>
              <a:rPr lang="en-US" b="1" dirty="0"/>
              <a:t>": </a:t>
            </a:r>
            <a:r>
              <a:rPr lang="en-US" b="1" dirty="0" err="1"/>
              <a:t>elem.className</a:t>
            </a:r>
            <a:r>
              <a:rPr lang="en-US" b="1" dirty="0"/>
              <a:t> </a:t>
            </a:r>
            <a:r>
              <a:rPr lang="ru-RU" dirty="0"/>
              <a:t>соответствует атрибуту "</a:t>
            </a:r>
            <a:r>
              <a:rPr lang="en-US" dirty="0"/>
              <a:t>class".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802" y="1435033"/>
            <a:ext cx="5164179" cy="142615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227801" y="3173812"/>
            <a:ext cx="10172701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b="1" dirty="0" err="1"/>
              <a:t>elem.classList</a:t>
            </a:r>
            <a:r>
              <a:rPr lang="ru-RU" dirty="0"/>
              <a:t> </a:t>
            </a:r>
            <a:r>
              <a:rPr lang="ru-RU" dirty="0" smtClean="0"/>
              <a:t>–специальный </a:t>
            </a:r>
            <a:r>
              <a:rPr lang="ru-RU" dirty="0"/>
              <a:t>объект с методами для добавления/удаления одного класса</a:t>
            </a:r>
            <a:r>
              <a:rPr lang="ru-RU" dirty="0" smtClean="0"/>
              <a:t>.  </a:t>
            </a:r>
            <a:endParaRPr lang="en-US" dirty="0" smtClean="0"/>
          </a:p>
          <a:p>
            <a:pPr>
              <a:lnSpc>
                <a:spcPct val="120000"/>
              </a:lnSpc>
            </a:pPr>
            <a:endParaRPr lang="en-US" dirty="0" smtClean="0"/>
          </a:p>
          <a:p>
            <a:pPr>
              <a:lnSpc>
                <a:spcPct val="120000"/>
              </a:lnSpc>
            </a:pPr>
            <a:r>
              <a:rPr lang="ru-RU" dirty="0" smtClean="0"/>
              <a:t>Методы</a:t>
            </a:r>
            <a:r>
              <a:rPr lang="ru-RU" dirty="0"/>
              <a:t> </a:t>
            </a:r>
            <a:r>
              <a:rPr lang="ru-RU" dirty="0" err="1"/>
              <a:t>classList</a:t>
            </a:r>
            <a:r>
              <a:rPr lang="ru-RU" dirty="0"/>
              <a:t>:</a:t>
            </a:r>
          </a:p>
          <a:p>
            <a:pPr lvl="0">
              <a:lnSpc>
                <a:spcPct val="120000"/>
              </a:lnSpc>
            </a:pPr>
            <a:r>
              <a:rPr lang="ru-RU" dirty="0" err="1"/>
              <a:t>elem.classList.add</a:t>
            </a:r>
            <a:r>
              <a:rPr lang="ru-RU" dirty="0"/>
              <a:t>/</a:t>
            </a:r>
            <a:r>
              <a:rPr lang="ru-RU" dirty="0" err="1"/>
              <a:t>remove</a:t>
            </a:r>
            <a:r>
              <a:rPr lang="ru-RU" dirty="0"/>
              <a:t>("</a:t>
            </a:r>
            <a:r>
              <a:rPr lang="ru-RU" dirty="0" err="1"/>
              <a:t>class</a:t>
            </a:r>
            <a:r>
              <a:rPr lang="ru-RU" dirty="0"/>
              <a:t>") – добавить/удалить класса.</a:t>
            </a:r>
          </a:p>
          <a:p>
            <a:pPr lvl="0">
              <a:lnSpc>
                <a:spcPct val="120000"/>
              </a:lnSpc>
            </a:pPr>
            <a:r>
              <a:rPr lang="ru-RU" dirty="0" err="1"/>
              <a:t>elem.classList.toggle</a:t>
            </a:r>
            <a:r>
              <a:rPr lang="ru-RU" dirty="0"/>
              <a:t>("</a:t>
            </a:r>
            <a:r>
              <a:rPr lang="ru-RU" dirty="0" err="1"/>
              <a:t>class</a:t>
            </a:r>
            <a:r>
              <a:rPr lang="ru-RU" dirty="0"/>
              <a:t>") – добавить класс, если его нет, иначе удалить.</a:t>
            </a:r>
          </a:p>
          <a:p>
            <a:pPr lvl="0">
              <a:lnSpc>
                <a:spcPct val="120000"/>
              </a:lnSpc>
            </a:pPr>
            <a:r>
              <a:rPr lang="ru-RU" dirty="0" err="1"/>
              <a:t>elem.classList.contains</a:t>
            </a:r>
            <a:r>
              <a:rPr lang="ru-RU" dirty="0"/>
              <a:t>("</a:t>
            </a:r>
            <a:r>
              <a:rPr lang="ru-RU" dirty="0" err="1"/>
              <a:t>class</a:t>
            </a:r>
            <a:r>
              <a:rPr lang="ru-RU" dirty="0"/>
              <a:t>") – проверка наличия класса, возвращает </a:t>
            </a:r>
            <a:r>
              <a:rPr lang="ru-RU" dirty="0" err="1"/>
              <a:t>true</a:t>
            </a:r>
            <a:r>
              <a:rPr lang="ru-RU" dirty="0"/>
              <a:t>/</a:t>
            </a:r>
            <a:r>
              <a:rPr lang="ru-RU" dirty="0" err="1"/>
              <a:t>false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96483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Стили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73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36" y="920302"/>
            <a:ext cx="7932887" cy="233502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36" y="3758995"/>
            <a:ext cx="6707289" cy="200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3001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Стили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74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04636" y="920301"/>
            <a:ext cx="11057642" cy="374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Свойство </a:t>
            </a:r>
            <a:r>
              <a:rPr lang="en-US" b="1" dirty="0" err="1"/>
              <a:t>elem.style</a:t>
            </a:r>
            <a:r>
              <a:rPr lang="en-US" dirty="0"/>
              <a:t> – </a:t>
            </a:r>
            <a:r>
              <a:rPr lang="ru-RU" dirty="0"/>
              <a:t>это объект, который соответствует тому, что написано в атрибуте "</a:t>
            </a:r>
            <a:r>
              <a:rPr lang="en-US" dirty="0"/>
              <a:t>style". </a:t>
            </a:r>
            <a:r>
              <a:rPr lang="ru-RU" dirty="0" smtClean="0"/>
              <a:t>Например, </a:t>
            </a:r>
            <a:r>
              <a:rPr lang="en-US" dirty="0" err="1" smtClean="0"/>
              <a:t>elem.style.width</a:t>
            </a:r>
            <a:r>
              <a:rPr lang="en-US" dirty="0"/>
              <a:t>="100px" </a:t>
            </a:r>
            <a:r>
              <a:rPr lang="ru-RU" dirty="0" smtClean="0"/>
              <a:t>соответствует </a:t>
            </a:r>
            <a:r>
              <a:rPr lang="en-US" dirty="0" smtClean="0"/>
              <a:t>width:100px.</a:t>
            </a:r>
            <a:endParaRPr lang="ru-RU" dirty="0" smtClean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ru-RU" dirty="0"/>
              <a:t>Для свойства из нескольких слов используется </a:t>
            </a:r>
            <a:r>
              <a:rPr lang="en-US" dirty="0" err="1"/>
              <a:t>camelCase</a:t>
            </a:r>
            <a:r>
              <a:rPr lang="en-US" dirty="0"/>
              <a:t>:</a:t>
            </a:r>
          </a:p>
          <a:p>
            <a:pPr>
              <a:lnSpc>
                <a:spcPct val="120000"/>
              </a:lnSpc>
            </a:pPr>
            <a:r>
              <a:rPr lang="en-US" dirty="0"/>
              <a:t>background-color  =&gt; </a:t>
            </a:r>
            <a:r>
              <a:rPr lang="en-US" dirty="0" err="1"/>
              <a:t>elem.style.backgroundColor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z-index           =&gt; </a:t>
            </a:r>
            <a:r>
              <a:rPr lang="en-US" dirty="0" err="1"/>
              <a:t>elem.style.zIndex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border-left-width =&gt; </a:t>
            </a:r>
            <a:r>
              <a:rPr lang="en-US" dirty="0" err="1" smtClean="0"/>
              <a:t>elem.style.borderLeftWidth</a:t>
            </a:r>
            <a:endParaRPr lang="ru-RU" dirty="0" smtClean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r>
              <a:rPr lang="ru-RU" dirty="0" err="1"/>
              <a:t>button.style.MozBorderRadius</a:t>
            </a:r>
            <a:r>
              <a:rPr lang="ru-RU" dirty="0"/>
              <a:t> = '5px';</a:t>
            </a:r>
          </a:p>
          <a:p>
            <a:pPr>
              <a:lnSpc>
                <a:spcPct val="120000"/>
              </a:lnSpc>
            </a:pPr>
            <a:r>
              <a:rPr lang="ru-RU" dirty="0" err="1"/>
              <a:t>button.style.WebkitBorderRadius</a:t>
            </a:r>
            <a:r>
              <a:rPr lang="ru-RU" dirty="0"/>
              <a:t> = '5px';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799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Стили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75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295377"/>
            <a:ext cx="8055411" cy="9666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5" y="2459337"/>
            <a:ext cx="101644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задания нескольких стилей в одной строке используется специальное свойство </a:t>
            </a:r>
            <a:r>
              <a:rPr lang="ru-RU" dirty="0" err="1"/>
              <a:t>style.cssText</a:t>
            </a:r>
            <a:r>
              <a:rPr lang="ru-RU" dirty="0"/>
              <a:t>: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118085" y="850473"/>
            <a:ext cx="1912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Сброс </a:t>
            </a:r>
            <a:r>
              <a:rPr lang="ru-RU" dirty="0" smtClean="0"/>
              <a:t>стилей: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5" y="3302978"/>
            <a:ext cx="6195644" cy="309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73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Стили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76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311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Свойство </a:t>
            </a:r>
            <a:r>
              <a:rPr lang="ru-RU" dirty="0" err="1"/>
              <a:t>style</a:t>
            </a:r>
            <a:r>
              <a:rPr lang="ru-RU" dirty="0"/>
              <a:t> оперирует только значением атрибута "</a:t>
            </a:r>
            <a:r>
              <a:rPr lang="ru-RU" dirty="0" err="1"/>
              <a:t>style</a:t>
            </a:r>
            <a:r>
              <a:rPr lang="ru-RU" dirty="0"/>
              <a:t>", без учёта CSS-каскада.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6875540" cy="295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238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Стили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77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04636" y="774901"/>
            <a:ext cx="105331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getComputedStyle</a:t>
            </a:r>
            <a:r>
              <a:rPr lang="ru-RU" dirty="0" smtClean="0"/>
              <a:t> -- </a:t>
            </a:r>
            <a:r>
              <a:rPr lang="ru-RU" dirty="0"/>
              <a:t>получает текущее значение </a:t>
            </a:r>
            <a:r>
              <a:rPr lang="ru-RU" dirty="0" smtClean="0"/>
              <a:t>свойств элемента.</a:t>
            </a:r>
            <a:endParaRPr lang="ru-RU" dirty="0"/>
          </a:p>
          <a:p>
            <a:endParaRPr lang="ru-RU" dirty="0"/>
          </a:p>
          <a:p>
            <a:r>
              <a:rPr lang="ru-RU" dirty="0"/>
              <a:t>Синтаксис:</a:t>
            </a:r>
          </a:p>
          <a:p>
            <a:r>
              <a:rPr lang="ru-RU" dirty="0" err="1"/>
              <a:t>getComputedStyle</a:t>
            </a:r>
            <a:r>
              <a:rPr lang="ru-RU" dirty="0"/>
              <a:t>(</a:t>
            </a:r>
            <a:r>
              <a:rPr lang="ru-RU" dirty="0" err="1"/>
              <a:t>element</a:t>
            </a:r>
            <a:r>
              <a:rPr lang="ru-RU" dirty="0"/>
              <a:t>, [</a:t>
            </a:r>
            <a:r>
              <a:rPr lang="ru-RU" dirty="0" err="1"/>
              <a:t>pseudo</a:t>
            </a:r>
            <a:r>
              <a:rPr lang="ru-RU" dirty="0"/>
              <a:t>])</a:t>
            </a:r>
          </a:p>
          <a:p>
            <a:r>
              <a:rPr lang="en-US" b="1" dirty="0"/>
              <a:t>e</a:t>
            </a:r>
            <a:r>
              <a:rPr lang="ru-RU" b="1" dirty="0" err="1" smtClean="0"/>
              <a:t>lement</a:t>
            </a:r>
            <a:r>
              <a:rPr lang="ru-RU" b="1" dirty="0" smtClean="0"/>
              <a:t> </a:t>
            </a:r>
            <a:r>
              <a:rPr lang="ru-RU" dirty="0" smtClean="0"/>
              <a:t>-- элемент</a:t>
            </a:r>
            <a:r>
              <a:rPr lang="ru-RU" dirty="0"/>
              <a:t>, значения для которого нужно получить</a:t>
            </a:r>
          </a:p>
          <a:p>
            <a:r>
              <a:rPr lang="en-US" b="1" dirty="0"/>
              <a:t>p</a:t>
            </a:r>
            <a:r>
              <a:rPr lang="ru-RU" b="1" dirty="0" err="1" smtClean="0"/>
              <a:t>seudo</a:t>
            </a:r>
            <a:r>
              <a:rPr lang="en-US" b="1" dirty="0" smtClean="0"/>
              <a:t> </a:t>
            </a:r>
            <a:r>
              <a:rPr lang="en-US" dirty="0" smtClean="0"/>
              <a:t>-- </a:t>
            </a:r>
            <a:r>
              <a:rPr lang="ru-RU" dirty="0" smtClean="0"/>
              <a:t>указывается</a:t>
            </a:r>
            <a:r>
              <a:rPr lang="ru-RU" dirty="0"/>
              <a:t>, если нужен стиль </a:t>
            </a:r>
            <a:r>
              <a:rPr lang="ru-RU" dirty="0" err="1"/>
              <a:t>псевдоэлемента</a:t>
            </a:r>
            <a:r>
              <a:rPr lang="ru-RU" dirty="0"/>
              <a:t>, например ::</a:t>
            </a:r>
            <a:r>
              <a:rPr lang="ru-RU" dirty="0" err="1" smtClean="0"/>
              <a:t>before</a:t>
            </a:r>
            <a:r>
              <a:rPr lang="ru-RU" dirty="0"/>
              <a:t>,</a:t>
            </a:r>
            <a:r>
              <a:rPr lang="ru-RU" dirty="0" smtClean="0"/>
              <a:t> пустая </a:t>
            </a:r>
            <a:r>
              <a:rPr lang="ru-RU" dirty="0"/>
              <a:t>строка или отсутствие аргумента означают сам элемент.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36" y="2806226"/>
            <a:ext cx="7540212" cy="377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4913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78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9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7396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элемента есть рамка (</a:t>
            </a:r>
            <a:r>
              <a:rPr lang="ru-RU" dirty="0" err="1"/>
              <a:t>border</a:t>
            </a:r>
            <a:r>
              <a:rPr lang="ru-RU" dirty="0"/>
              <a:t>), внутренний отступ (</a:t>
            </a:r>
            <a:r>
              <a:rPr lang="ru-RU" dirty="0" err="1"/>
              <a:t>padding</a:t>
            </a:r>
            <a:r>
              <a:rPr lang="ru-RU" dirty="0"/>
              <a:t>) и прокрутка. </a:t>
            </a:r>
            <a:r>
              <a:rPr lang="ru-RU" dirty="0" smtClean="0"/>
              <a:t>Внешние отступы </a:t>
            </a:r>
            <a:r>
              <a:rPr lang="ru-RU" dirty="0"/>
              <a:t>(</a:t>
            </a:r>
            <a:r>
              <a:rPr lang="ru-RU" dirty="0" err="1"/>
              <a:t>margin</a:t>
            </a:r>
            <a:r>
              <a:rPr lang="ru-RU" dirty="0" smtClean="0"/>
              <a:t>) не </a:t>
            </a:r>
            <a:r>
              <a:rPr lang="ru-RU" dirty="0"/>
              <a:t>являются частью </a:t>
            </a:r>
            <a:r>
              <a:rPr lang="ru-RU" dirty="0" smtClean="0"/>
              <a:t>элемента</a:t>
            </a:r>
            <a:r>
              <a:rPr lang="ru-RU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712032"/>
            <a:ext cx="4530547" cy="326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615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79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9</a:t>
            </a:r>
            <a:endParaRPr lang="ru-RU" sz="3600" b="1" dirty="0"/>
          </a:p>
        </p:txBody>
      </p:sp>
      <p:pic>
        <p:nvPicPr>
          <p:cNvPr id="9" name="Рисунок 8"/>
          <p:cNvPicPr/>
          <p:nvPr/>
        </p:nvPicPr>
        <p:blipFill rotWithShape="1">
          <a:blip r:embed="rId2"/>
          <a:srcRect t="2649" r="8799" b="4451"/>
          <a:stretch/>
        </p:blipFill>
        <p:spPr>
          <a:xfrm>
            <a:off x="977552" y="724806"/>
            <a:ext cx="7930474" cy="60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134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80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9</a:t>
            </a:r>
            <a:endParaRPr lang="ru-RU" sz="3600" b="1" dirty="0"/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1004635" y="145397"/>
            <a:ext cx="7401945" cy="660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24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81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9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754366" cy="3384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В свойстве </a:t>
            </a:r>
            <a:r>
              <a:rPr lang="en-US" b="1" dirty="0" err="1"/>
              <a:t>offsetParent</a:t>
            </a:r>
            <a:r>
              <a:rPr lang="en-US" dirty="0"/>
              <a:t> </a:t>
            </a:r>
            <a:r>
              <a:rPr lang="ru-RU" dirty="0"/>
              <a:t>находится предок элемента, который используется внутри браузера для вычисления </a:t>
            </a:r>
            <a:r>
              <a:rPr lang="ru-RU" dirty="0" smtClean="0"/>
              <a:t>координат, т.е. ближайший </a:t>
            </a:r>
            <a:r>
              <a:rPr lang="ru-RU" dirty="0"/>
              <a:t>предок, который удовлетворяет следующим условиям: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1. Является </a:t>
            </a:r>
            <a:r>
              <a:rPr lang="en-US" dirty="0"/>
              <a:t>CSS-</a:t>
            </a:r>
            <a:r>
              <a:rPr lang="ru-RU" dirty="0"/>
              <a:t>позиционированным (</a:t>
            </a:r>
            <a:r>
              <a:rPr lang="en-US" dirty="0"/>
              <a:t>CSS-</a:t>
            </a:r>
            <a:r>
              <a:rPr lang="ru-RU" dirty="0"/>
              <a:t>свойство </a:t>
            </a:r>
            <a:r>
              <a:rPr lang="en-US" dirty="0"/>
              <a:t>position </a:t>
            </a:r>
            <a:r>
              <a:rPr lang="ru-RU" dirty="0"/>
              <a:t>равно </a:t>
            </a:r>
            <a:r>
              <a:rPr lang="en-US" dirty="0"/>
              <a:t>absolute, relative, fixed </a:t>
            </a:r>
            <a:r>
              <a:rPr lang="ru-RU" dirty="0"/>
              <a:t>или </a:t>
            </a:r>
            <a:r>
              <a:rPr lang="en-US" dirty="0"/>
              <a:t>sticky),</a:t>
            </a:r>
          </a:p>
          <a:p>
            <a:pPr>
              <a:lnSpc>
                <a:spcPct val="120000"/>
              </a:lnSpc>
            </a:pPr>
            <a:r>
              <a:rPr lang="en-US" dirty="0"/>
              <a:t>2</a:t>
            </a:r>
            <a:r>
              <a:rPr lang="en-US" dirty="0" smtClean="0"/>
              <a:t>.</a:t>
            </a:r>
            <a:r>
              <a:rPr lang="ru-RU" dirty="0" smtClean="0"/>
              <a:t> или </a:t>
            </a:r>
            <a:r>
              <a:rPr lang="ru-RU" dirty="0"/>
              <a:t>&lt;</a:t>
            </a:r>
            <a:r>
              <a:rPr lang="en-US" dirty="0"/>
              <a:t>td&gt;, &lt;</a:t>
            </a:r>
            <a:r>
              <a:rPr lang="en-US" dirty="0" err="1"/>
              <a:t>th</a:t>
            </a:r>
            <a:r>
              <a:rPr lang="en-US" dirty="0"/>
              <a:t>&gt;, &lt;table&gt;,</a:t>
            </a:r>
          </a:p>
          <a:p>
            <a:pPr>
              <a:lnSpc>
                <a:spcPct val="120000"/>
              </a:lnSpc>
            </a:pPr>
            <a:r>
              <a:rPr lang="en-US" dirty="0"/>
              <a:t>3</a:t>
            </a:r>
            <a:r>
              <a:rPr lang="en-US" dirty="0" smtClean="0"/>
              <a:t>.</a:t>
            </a:r>
            <a:r>
              <a:rPr lang="ru-RU" dirty="0" smtClean="0"/>
              <a:t> или </a:t>
            </a:r>
            <a:r>
              <a:rPr lang="ru-RU" dirty="0"/>
              <a:t>&lt;</a:t>
            </a:r>
            <a:r>
              <a:rPr lang="en-US" dirty="0"/>
              <a:t>body</a:t>
            </a:r>
            <a:r>
              <a:rPr lang="en-US" dirty="0" smtClean="0"/>
              <a:t>&gt;.</a:t>
            </a:r>
            <a:endParaRPr lang="ru-RU" dirty="0" smtClean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ru-RU" dirty="0"/>
              <a:t>Свойства </a:t>
            </a:r>
            <a:r>
              <a:rPr lang="en-US" b="1" dirty="0" err="1"/>
              <a:t>offsetLeft</a:t>
            </a:r>
            <a:r>
              <a:rPr lang="en-US" b="1" dirty="0"/>
              <a:t>/</a:t>
            </a:r>
            <a:r>
              <a:rPr lang="en-US" b="1" dirty="0" err="1"/>
              <a:t>offsetTop</a:t>
            </a:r>
            <a:r>
              <a:rPr lang="en-US" dirty="0"/>
              <a:t> </a:t>
            </a:r>
            <a:r>
              <a:rPr lang="ru-RU" dirty="0"/>
              <a:t>содержат координаты </a:t>
            </a:r>
            <a:r>
              <a:rPr lang="en-US" dirty="0"/>
              <a:t>x/y </a:t>
            </a:r>
            <a:r>
              <a:rPr lang="ru-RU" dirty="0"/>
              <a:t>относительно верхнего левого угла </a:t>
            </a:r>
            <a:r>
              <a:rPr lang="en-US" dirty="0" err="1"/>
              <a:t>offsetParent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363810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82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9</a:t>
            </a:r>
            <a:endParaRPr lang="ru-RU" sz="36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50" y="920300"/>
            <a:ext cx="11211444" cy="277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3893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83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9</a:t>
            </a:r>
            <a:endParaRPr lang="ru-RU" sz="3600" b="1" dirty="0"/>
          </a:p>
        </p:txBody>
      </p:sp>
      <p:pic>
        <p:nvPicPr>
          <p:cNvPr id="8" name="Рисунок 7"/>
          <p:cNvPicPr/>
          <p:nvPr/>
        </p:nvPicPr>
        <p:blipFill rotWithShape="1">
          <a:blip r:embed="rId2"/>
          <a:srcRect r="18605" b="42306"/>
          <a:stretch/>
        </p:blipFill>
        <p:spPr>
          <a:xfrm>
            <a:off x="4070094" y="920301"/>
            <a:ext cx="7787610" cy="480632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47643" y="1065699"/>
            <a:ext cx="3814640" cy="2054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 err="1" smtClean="0"/>
              <a:t>offsetParent</a:t>
            </a:r>
            <a:r>
              <a:rPr lang="ru-RU" dirty="0" smtClean="0"/>
              <a:t> </a:t>
            </a:r>
            <a:r>
              <a:rPr lang="ru-RU" dirty="0"/>
              <a:t>равно </a:t>
            </a:r>
            <a:r>
              <a:rPr lang="ru-RU" dirty="0" err="1" smtClean="0"/>
              <a:t>null</a:t>
            </a:r>
            <a:r>
              <a:rPr lang="ru-RU" dirty="0" smtClean="0"/>
              <a:t> если: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 smtClean="0"/>
              <a:t>1. Элементы скрыты (имеют CSS-свойство </a:t>
            </a:r>
            <a:r>
              <a:rPr lang="ru-RU" dirty="0" err="1"/>
              <a:t>display:none</a:t>
            </a:r>
            <a:r>
              <a:rPr lang="ru-RU" dirty="0"/>
              <a:t> или когда </a:t>
            </a:r>
            <a:r>
              <a:rPr lang="ru-RU" dirty="0" smtClean="0"/>
              <a:t>их </a:t>
            </a:r>
            <a:r>
              <a:rPr lang="ru-RU" dirty="0"/>
              <a:t>нет в документе).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2. Элементы &lt;</a:t>
            </a:r>
            <a:r>
              <a:rPr lang="ru-RU" dirty="0" err="1"/>
              <a:t>body</a:t>
            </a:r>
            <a:r>
              <a:rPr lang="ru-RU" dirty="0"/>
              <a:t>&gt; и &lt;</a:t>
            </a:r>
            <a:r>
              <a:rPr lang="ru-RU" dirty="0" err="1"/>
              <a:t>html</a:t>
            </a:r>
            <a:r>
              <a:rPr lang="ru-RU" dirty="0"/>
              <a:t>&gt;.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3. Элементы с </a:t>
            </a:r>
            <a:r>
              <a:rPr lang="ru-RU" dirty="0" err="1"/>
              <a:t>position:fixed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095449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84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9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44866" y="1195428"/>
            <a:ext cx="28492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offsetWidth</a:t>
            </a:r>
            <a:r>
              <a:rPr lang="ru-RU" b="1" dirty="0" smtClean="0"/>
              <a:t>/</a:t>
            </a:r>
            <a:r>
              <a:rPr lang="ru-RU" b="1" dirty="0" err="1" smtClean="0"/>
              <a:t>Height</a:t>
            </a:r>
            <a:r>
              <a:rPr lang="ru-RU" dirty="0" smtClean="0"/>
              <a:t> содержат </a:t>
            </a:r>
            <a:r>
              <a:rPr lang="ru-RU" dirty="0"/>
              <a:t>«внешнюю» ширину/высоту элемента, то есть его полный размер, включая рамки.</a:t>
            </a:r>
          </a:p>
        </p:txBody>
      </p:sp>
      <p:pic>
        <p:nvPicPr>
          <p:cNvPr id="8" name="Рисунок 7"/>
          <p:cNvPicPr/>
          <p:nvPr/>
        </p:nvPicPr>
        <p:blipFill rotWithShape="1">
          <a:blip r:embed="rId2"/>
          <a:srcRect t="24719"/>
          <a:stretch/>
        </p:blipFill>
        <p:spPr>
          <a:xfrm>
            <a:off x="3194097" y="872432"/>
            <a:ext cx="8247141" cy="582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50329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85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9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4888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Метрики для </a:t>
            </a:r>
            <a:r>
              <a:rPr lang="ru-RU" dirty="0" smtClean="0"/>
              <a:t>скрытых элементов </a:t>
            </a:r>
            <a:r>
              <a:rPr lang="ru-RU" dirty="0"/>
              <a:t>равны нулю</a:t>
            </a:r>
            <a:r>
              <a:rPr lang="ru-RU" dirty="0" smtClean="0"/>
              <a:t>. Это можно использовать для проверки </a:t>
            </a:r>
            <a:r>
              <a:rPr lang="ru-RU" dirty="0"/>
              <a:t>на видимость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004" y="1712031"/>
            <a:ext cx="6497996" cy="82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82926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86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9</a:t>
            </a:r>
            <a:endParaRPr lang="ru-RU" sz="36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8556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Свойства </a:t>
            </a:r>
            <a:r>
              <a:rPr lang="ru-RU" b="1" dirty="0" err="1" smtClean="0"/>
              <a:t>clientTop</a:t>
            </a:r>
            <a:r>
              <a:rPr lang="ru-RU" b="1" dirty="0" smtClean="0"/>
              <a:t>/</a:t>
            </a:r>
            <a:r>
              <a:rPr lang="ru-RU" b="1" dirty="0" err="1" smtClean="0"/>
              <a:t>clientLeft</a:t>
            </a:r>
            <a:r>
              <a:rPr lang="ru-RU" dirty="0" smtClean="0"/>
              <a:t> </a:t>
            </a:r>
            <a:r>
              <a:rPr lang="ru-RU" dirty="0"/>
              <a:t>ширина </a:t>
            </a:r>
            <a:r>
              <a:rPr lang="ru-RU" dirty="0" smtClean="0"/>
              <a:t>верхней/левой рамки </a:t>
            </a:r>
            <a:r>
              <a:rPr lang="ru-RU" dirty="0"/>
              <a:t>(</a:t>
            </a:r>
            <a:r>
              <a:rPr lang="ru-RU" dirty="0" err="1"/>
              <a:t>border</a:t>
            </a:r>
            <a:r>
              <a:rPr lang="ru-RU" dirty="0" smtClean="0"/>
              <a:t>).</a:t>
            </a:r>
            <a:endParaRPr lang="ru-RU" dirty="0"/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1118086" y="1435032"/>
            <a:ext cx="4604288" cy="3918543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6121963" y="1435031"/>
            <a:ext cx="4777095" cy="406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5113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87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9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774901"/>
            <a:ext cx="110739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clientWidth</a:t>
            </a:r>
            <a:r>
              <a:rPr lang="ru-RU" b="1" dirty="0" smtClean="0"/>
              <a:t>/</a:t>
            </a:r>
            <a:r>
              <a:rPr lang="ru-RU" b="1" dirty="0" err="1" smtClean="0"/>
              <a:t>clientHeight</a:t>
            </a:r>
            <a:r>
              <a:rPr lang="ru-RU" dirty="0" smtClean="0"/>
              <a:t> – </a:t>
            </a:r>
            <a:r>
              <a:rPr lang="ru-RU" dirty="0"/>
              <a:t>размер области внутри рамок </a:t>
            </a:r>
            <a:r>
              <a:rPr lang="ru-RU" dirty="0" smtClean="0"/>
              <a:t>элемента, включают </a:t>
            </a:r>
            <a:r>
              <a:rPr lang="ru-RU" dirty="0"/>
              <a:t>в себя ширину области содержимого вместе с внутренними отступами </a:t>
            </a:r>
            <a:r>
              <a:rPr lang="ru-RU" dirty="0" err="1"/>
              <a:t>padding</a:t>
            </a:r>
            <a:r>
              <a:rPr lang="ru-RU" dirty="0"/>
              <a:t>, но без </a:t>
            </a:r>
            <a:r>
              <a:rPr lang="ru-RU" dirty="0" smtClean="0"/>
              <a:t>прокрутки.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 rotWithShape="1">
          <a:blip r:embed="rId2"/>
          <a:srcRect t="26291"/>
          <a:stretch/>
        </p:blipFill>
        <p:spPr>
          <a:xfrm>
            <a:off x="1235945" y="1566631"/>
            <a:ext cx="7111641" cy="505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23274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88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9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782153" y="920301"/>
            <a:ext cx="44682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scrollWidth</a:t>
            </a:r>
            <a:r>
              <a:rPr lang="ru-RU" b="1" dirty="0" smtClean="0"/>
              <a:t>/</a:t>
            </a:r>
            <a:r>
              <a:rPr lang="ru-RU" b="1" dirty="0" err="1" smtClean="0"/>
              <a:t>scrollHeight</a:t>
            </a:r>
            <a:r>
              <a:rPr lang="ru-RU" dirty="0" smtClean="0"/>
              <a:t> – то же, что и </a:t>
            </a:r>
            <a:r>
              <a:rPr lang="ru-RU" dirty="0" err="1"/>
              <a:t>clientWidth</a:t>
            </a:r>
            <a:r>
              <a:rPr lang="ru-RU" dirty="0"/>
              <a:t>/</a:t>
            </a:r>
            <a:r>
              <a:rPr lang="ru-RU" dirty="0" err="1"/>
              <a:t>clientHeight</a:t>
            </a:r>
            <a:r>
              <a:rPr lang="ru-RU" dirty="0"/>
              <a:t>, но также включают в себя прокрученную </a:t>
            </a:r>
            <a:r>
              <a:rPr lang="ru-RU" dirty="0" smtClean="0"/>
              <a:t>(невидимую) </a:t>
            </a:r>
            <a:r>
              <a:rPr lang="ru-RU" dirty="0"/>
              <a:t>часть элемента.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5364263" y="637061"/>
            <a:ext cx="5431556" cy="605870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82153" y="2612293"/>
            <a:ext cx="45821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Эти свойства можно использовать, чтобы </a:t>
            </a:r>
            <a:r>
              <a:rPr lang="ru-RU" dirty="0" smtClean="0"/>
              <a:t>установить </a:t>
            </a:r>
            <a:r>
              <a:rPr lang="ru-RU" dirty="0"/>
              <a:t>ширину/высоту</a:t>
            </a:r>
            <a:r>
              <a:rPr lang="ru-RU" dirty="0" smtClean="0"/>
              <a:t> </a:t>
            </a:r>
            <a:r>
              <a:rPr lang="ru-RU" dirty="0"/>
              <a:t>элемент </a:t>
            </a:r>
            <a:r>
              <a:rPr lang="ru-RU" dirty="0" smtClean="0"/>
              <a:t>по содержимому.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50" y="5713217"/>
            <a:ext cx="7588769" cy="37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8608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89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9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390778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scrollLeft</a:t>
            </a:r>
            <a:r>
              <a:rPr lang="ru-RU" b="1" dirty="0" smtClean="0"/>
              <a:t>/</a:t>
            </a:r>
            <a:r>
              <a:rPr lang="ru-RU" b="1" dirty="0" err="1" smtClean="0"/>
              <a:t>scrollTop</a:t>
            </a:r>
            <a:r>
              <a:rPr lang="ru-RU" dirty="0" smtClean="0"/>
              <a:t> </a:t>
            </a:r>
            <a:r>
              <a:rPr lang="ru-RU" dirty="0"/>
              <a:t>– ширина/высота невидимой, прокрученной в данный момент, части элемента слева и сверху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В отличие от большинства свойств, которые доступны только для чтения, значения </a:t>
            </a:r>
            <a:r>
              <a:rPr lang="ru-RU" dirty="0" err="1" smtClean="0"/>
              <a:t>scrollLeft</a:t>
            </a:r>
            <a:r>
              <a:rPr lang="ru-RU" dirty="0" smtClean="0"/>
              <a:t>/</a:t>
            </a:r>
            <a:r>
              <a:rPr lang="ru-RU" dirty="0" err="1" smtClean="0"/>
              <a:t>scrollTop</a:t>
            </a:r>
            <a:r>
              <a:rPr lang="ru-RU" dirty="0" smtClean="0"/>
              <a:t> </a:t>
            </a:r>
            <a:r>
              <a:rPr lang="ru-RU" b="1" dirty="0" smtClean="0"/>
              <a:t>можно изменять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5361806" y="774901"/>
            <a:ext cx="5448761" cy="591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992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элементов.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90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9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90583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Высоту и ширину можно </a:t>
            </a:r>
            <a:r>
              <a:rPr lang="ru-RU" dirty="0"/>
              <a:t>извлечь, используя </a:t>
            </a:r>
            <a:r>
              <a:rPr lang="ru-RU" dirty="0" err="1" smtClean="0"/>
              <a:t>getComputedStyle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435033"/>
            <a:ext cx="5629214" cy="89521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6" y="2669147"/>
            <a:ext cx="9957954" cy="1722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 smtClean="0"/>
              <a:t>Но рекомендуется использовать свойства-метрики, т.к.:</a:t>
            </a:r>
          </a:p>
          <a:p>
            <a:pPr marL="342900" lvl="0" indent="-342900">
              <a:lnSpc>
                <a:spcPct val="120000"/>
              </a:lnSpc>
              <a:buAutoNum type="arabicPeriod"/>
            </a:pPr>
            <a:r>
              <a:rPr lang="ru-RU" dirty="0" smtClean="0"/>
              <a:t>CSS-свойства</a:t>
            </a:r>
            <a:r>
              <a:rPr lang="ru-RU" dirty="0"/>
              <a:t> </a:t>
            </a:r>
            <a:r>
              <a:rPr lang="ru-RU" dirty="0" err="1"/>
              <a:t>width</a:t>
            </a:r>
            <a:r>
              <a:rPr lang="ru-RU" dirty="0"/>
              <a:t>/</a:t>
            </a:r>
            <a:r>
              <a:rPr lang="ru-RU" dirty="0" err="1"/>
              <a:t>height</a:t>
            </a:r>
            <a:r>
              <a:rPr lang="ru-RU" dirty="0"/>
              <a:t> зависят от другого свойства – </a:t>
            </a:r>
            <a:r>
              <a:rPr lang="ru-RU" dirty="0" err="1"/>
              <a:t>box-sizing</a:t>
            </a:r>
            <a:r>
              <a:rPr lang="ru-RU" dirty="0"/>
              <a:t>, которое </a:t>
            </a:r>
            <a:r>
              <a:rPr lang="ru-RU" dirty="0" smtClean="0"/>
              <a:t>определяет CSS-ширину </a:t>
            </a:r>
            <a:r>
              <a:rPr lang="ru-RU" dirty="0"/>
              <a:t>и </a:t>
            </a:r>
            <a:r>
              <a:rPr lang="ru-RU" dirty="0" smtClean="0"/>
              <a:t>высоту.</a:t>
            </a:r>
          </a:p>
          <a:p>
            <a:pPr marL="342900" lvl="0" indent="-342900">
              <a:lnSpc>
                <a:spcPct val="120000"/>
              </a:lnSpc>
              <a:buAutoNum type="arabicPeriod"/>
            </a:pPr>
            <a:r>
              <a:rPr lang="ru-RU" dirty="0" smtClean="0"/>
              <a:t>В CSS </a:t>
            </a:r>
            <a:r>
              <a:rPr lang="ru-RU" dirty="0"/>
              <a:t>свойства </a:t>
            </a:r>
            <a:r>
              <a:rPr lang="ru-RU" dirty="0" err="1"/>
              <a:t>width</a:t>
            </a:r>
            <a:r>
              <a:rPr lang="ru-RU" dirty="0"/>
              <a:t>/</a:t>
            </a:r>
            <a:r>
              <a:rPr lang="ru-RU" dirty="0" err="1"/>
              <a:t>height</a:t>
            </a:r>
            <a:r>
              <a:rPr lang="ru-RU" dirty="0"/>
              <a:t> могут быть равны </a:t>
            </a:r>
            <a:r>
              <a:rPr lang="ru-RU" dirty="0" err="1"/>
              <a:t>auto</a:t>
            </a:r>
            <a:r>
              <a:rPr lang="ru-RU" dirty="0"/>
              <a:t>, например, для </a:t>
            </a:r>
            <a:r>
              <a:rPr lang="ru-RU" dirty="0" err="1"/>
              <a:t>инлайнового</a:t>
            </a:r>
            <a:r>
              <a:rPr lang="ru-RU" dirty="0"/>
              <a:t> элемента</a:t>
            </a:r>
            <a:r>
              <a:rPr lang="ru-RU" dirty="0" smtClean="0"/>
              <a:t>: 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5" y="4611311"/>
            <a:ext cx="7052522" cy="147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51974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окна.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91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13975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10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3266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Чтобы получить ширину/высоту окна, </a:t>
            </a:r>
            <a:r>
              <a:rPr lang="ru-RU" dirty="0" smtClean="0"/>
              <a:t>необходимо использовать свойства </a:t>
            </a:r>
            <a:r>
              <a:rPr lang="en-US" dirty="0" err="1"/>
              <a:t>clientWidth</a:t>
            </a:r>
            <a:r>
              <a:rPr lang="en-US" dirty="0"/>
              <a:t>/</a:t>
            </a:r>
            <a:r>
              <a:rPr lang="en-US" dirty="0" err="1"/>
              <a:t>clientHeight</a:t>
            </a:r>
            <a:r>
              <a:rPr lang="en-US" dirty="0"/>
              <a:t> </a:t>
            </a:r>
            <a:r>
              <a:rPr lang="ru-RU" dirty="0"/>
              <a:t>из </a:t>
            </a:r>
            <a:r>
              <a:rPr lang="en-US" dirty="0" err="1"/>
              <a:t>document.documentElement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712031"/>
            <a:ext cx="6784742" cy="38223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5" y="2515899"/>
            <a:ext cx="107396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Свойства </a:t>
            </a:r>
            <a:r>
              <a:rPr lang="ru-RU" b="1" dirty="0" err="1" smtClean="0"/>
              <a:t>window.innerWidth</a:t>
            </a:r>
            <a:r>
              <a:rPr lang="ru-RU" b="1" dirty="0" smtClean="0"/>
              <a:t>/</a:t>
            </a:r>
            <a:r>
              <a:rPr lang="ru-RU" b="1" dirty="0" err="1" smtClean="0"/>
              <a:t>innerHeight</a:t>
            </a:r>
            <a:r>
              <a:rPr lang="ru-RU" dirty="0" smtClean="0"/>
              <a:t> </a:t>
            </a:r>
            <a:r>
              <a:rPr lang="ru-RU" dirty="0"/>
              <a:t>включают в себя полосу прокрутки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4" y="3014308"/>
            <a:ext cx="6784744" cy="122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371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окна.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92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13975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10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533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Чтобы </a:t>
            </a:r>
            <a:r>
              <a:rPr lang="ru-RU" dirty="0" smtClean="0"/>
              <a:t>точно </a:t>
            </a:r>
            <a:r>
              <a:rPr lang="ru-RU" dirty="0"/>
              <a:t>получить полную </a:t>
            </a:r>
            <a:r>
              <a:rPr lang="ru-RU" b="1" dirty="0"/>
              <a:t>высоту документа</a:t>
            </a:r>
            <a:r>
              <a:rPr lang="ru-RU" dirty="0"/>
              <a:t>, </a:t>
            </a:r>
            <a:r>
              <a:rPr lang="ru-RU" dirty="0" smtClean="0"/>
              <a:t>необходимо </a:t>
            </a:r>
            <a:r>
              <a:rPr lang="ru-RU" dirty="0"/>
              <a:t>взять максимальное из этих свойств: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12" y="1712032"/>
            <a:ext cx="9757362" cy="196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1802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окна.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93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13975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10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533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Текущую прокрутку </a:t>
            </a:r>
            <a:r>
              <a:rPr lang="ru-RU" dirty="0"/>
              <a:t>можно </a:t>
            </a:r>
            <a:r>
              <a:rPr lang="ru-RU" dirty="0" smtClean="0"/>
              <a:t>получить </a:t>
            </a:r>
            <a:r>
              <a:rPr lang="ru-RU" dirty="0"/>
              <a:t>из свойств </a:t>
            </a:r>
            <a:r>
              <a:rPr lang="ru-RU" dirty="0" err="1"/>
              <a:t>window.pageXOffset</a:t>
            </a:r>
            <a:r>
              <a:rPr lang="ru-RU" dirty="0"/>
              <a:t>/</a:t>
            </a:r>
            <a:r>
              <a:rPr lang="ru-RU" dirty="0" err="1"/>
              <a:t>pageYOffset</a:t>
            </a:r>
            <a:r>
              <a:rPr lang="ru-RU" dirty="0"/>
              <a:t>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8284054" cy="64449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6" y="2240889"/>
            <a:ext cx="109441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 smtClean="0"/>
              <a:t>Метод </a:t>
            </a:r>
            <a:r>
              <a:rPr lang="ru-RU" b="1" dirty="0" err="1"/>
              <a:t>scrollBy</a:t>
            </a:r>
            <a:r>
              <a:rPr lang="ru-RU" b="1" dirty="0"/>
              <a:t>(</a:t>
            </a:r>
            <a:r>
              <a:rPr lang="ru-RU" b="1" dirty="0" err="1"/>
              <a:t>x,y</a:t>
            </a:r>
            <a:r>
              <a:rPr lang="ru-RU" b="1" dirty="0"/>
              <a:t>)</a:t>
            </a:r>
            <a:r>
              <a:rPr lang="ru-RU" dirty="0"/>
              <a:t> прокручивает страницу относительно её текущего положения. Например, </a:t>
            </a:r>
            <a:r>
              <a:rPr lang="ru-RU" dirty="0" err="1"/>
              <a:t>window.</a:t>
            </a:r>
            <a:r>
              <a:rPr lang="ru-RU" dirty="0" err="1" smtClean="0"/>
              <a:t>scrollBy</a:t>
            </a:r>
            <a:r>
              <a:rPr lang="ru-RU" dirty="0" smtClean="0"/>
              <a:t>(0,10)прокручивает </a:t>
            </a:r>
            <a:r>
              <a:rPr lang="ru-RU" dirty="0"/>
              <a:t>страницу на 10px вниз</a:t>
            </a:r>
            <a:r>
              <a:rPr lang="ru-RU" dirty="0" smtClean="0"/>
              <a:t>.</a:t>
            </a:r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r>
              <a:rPr lang="ru-RU" dirty="0" smtClean="0"/>
              <a:t>Метод </a:t>
            </a:r>
            <a:r>
              <a:rPr lang="ru-RU" b="1" dirty="0" err="1"/>
              <a:t>scrollTo</a:t>
            </a:r>
            <a:r>
              <a:rPr lang="ru-RU" b="1" dirty="0"/>
              <a:t>(</a:t>
            </a:r>
            <a:r>
              <a:rPr lang="ru-RU" b="1" dirty="0" err="1"/>
              <a:t>pageX,pageY</a:t>
            </a:r>
            <a:r>
              <a:rPr lang="ru-RU" b="1" dirty="0"/>
              <a:t>) </a:t>
            </a:r>
            <a:r>
              <a:rPr lang="ru-RU" dirty="0"/>
              <a:t>прокручивает страницу на абсолютные координаты (</a:t>
            </a:r>
            <a:r>
              <a:rPr lang="ru-RU" dirty="0" err="1"/>
              <a:t>pageX,pageY</a:t>
            </a:r>
            <a:r>
              <a:rPr lang="ru-RU" dirty="0"/>
              <a:t>). </a:t>
            </a:r>
            <a:r>
              <a:rPr lang="ru-RU" dirty="0" smtClean="0"/>
              <a:t>Для </a:t>
            </a:r>
            <a:r>
              <a:rPr lang="ru-RU" dirty="0"/>
              <a:t>прокрутки в самое начало </a:t>
            </a:r>
            <a:r>
              <a:rPr lang="ru-RU" dirty="0" smtClean="0"/>
              <a:t>можно </a:t>
            </a:r>
            <a:r>
              <a:rPr lang="ru-RU" dirty="0"/>
              <a:t>использовать </a:t>
            </a:r>
            <a:r>
              <a:rPr lang="ru-RU" dirty="0" err="1" smtClean="0"/>
              <a:t>window.scrollTo</a:t>
            </a:r>
            <a:r>
              <a:rPr lang="ru-RU" dirty="0" smtClean="0"/>
              <a:t>(0,0).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351392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Размеры </a:t>
            </a:r>
            <a:r>
              <a:rPr lang="ru-RU" dirty="0"/>
              <a:t>и прокрутка окна.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94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13975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10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385656" cy="1722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Вызов </a:t>
            </a:r>
            <a:r>
              <a:rPr lang="ru-RU" dirty="0" err="1"/>
              <a:t>elem.scrollIntoView</a:t>
            </a:r>
            <a:r>
              <a:rPr lang="ru-RU" dirty="0"/>
              <a:t>(</a:t>
            </a:r>
            <a:r>
              <a:rPr lang="ru-RU" dirty="0" err="1"/>
              <a:t>top</a:t>
            </a:r>
            <a:r>
              <a:rPr lang="ru-RU" dirty="0"/>
              <a:t>) прокручивает </a:t>
            </a:r>
            <a:r>
              <a:rPr lang="ru-RU" dirty="0" smtClean="0"/>
              <a:t>страницу так, </a:t>
            </a:r>
            <a:r>
              <a:rPr lang="ru-RU" dirty="0"/>
              <a:t>чтобы </a:t>
            </a:r>
            <a:r>
              <a:rPr lang="ru-RU" dirty="0" err="1"/>
              <a:t>elem</a:t>
            </a:r>
            <a:r>
              <a:rPr lang="ru-RU" dirty="0"/>
              <a:t> оказался вверху. У него есть один аргумент: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dirty="0" err="1" smtClean="0"/>
              <a:t>top</a:t>
            </a:r>
            <a:r>
              <a:rPr lang="ru-RU" dirty="0" smtClean="0"/>
              <a:t>=</a:t>
            </a:r>
            <a:r>
              <a:rPr lang="ru-RU" dirty="0" err="1" smtClean="0"/>
              <a:t>true</a:t>
            </a:r>
            <a:r>
              <a:rPr lang="ru-RU" dirty="0" smtClean="0"/>
              <a:t> </a:t>
            </a:r>
            <a:r>
              <a:rPr lang="ru-RU" dirty="0"/>
              <a:t>(по умолчанию</a:t>
            </a:r>
            <a:r>
              <a:rPr lang="ru-RU" dirty="0" smtClean="0"/>
              <a:t>) -- страница </a:t>
            </a:r>
            <a:r>
              <a:rPr lang="ru-RU" dirty="0"/>
              <a:t>будет </a:t>
            </a:r>
            <a:r>
              <a:rPr lang="ru-RU" dirty="0" smtClean="0"/>
              <a:t>прокручена так, </a:t>
            </a:r>
            <a:r>
              <a:rPr lang="ru-RU" dirty="0"/>
              <a:t>чтобы </a:t>
            </a:r>
            <a:r>
              <a:rPr lang="ru-RU" dirty="0" err="1"/>
              <a:t>elem</a:t>
            </a:r>
            <a:r>
              <a:rPr lang="ru-RU" dirty="0"/>
              <a:t> появился в верхней части окна. </a:t>
            </a:r>
            <a:endParaRPr lang="ru-RU" dirty="0" smtClean="0"/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dirty="0" err="1" smtClean="0"/>
              <a:t>top</a:t>
            </a:r>
            <a:r>
              <a:rPr lang="ru-RU" dirty="0" smtClean="0"/>
              <a:t>=</a:t>
            </a:r>
            <a:r>
              <a:rPr lang="ru-RU" dirty="0" err="1" smtClean="0"/>
              <a:t>false</a:t>
            </a:r>
            <a:r>
              <a:rPr lang="ru-RU" dirty="0" smtClean="0"/>
              <a:t> -- страница </a:t>
            </a:r>
            <a:r>
              <a:rPr lang="ru-RU" dirty="0"/>
              <a:t>будет </a:t>
            </a:r>
            <a:r>
              <a:rPr lang="ru-RU" dirty="0" smtClean="0"/>
              <a:t>прокручена так, </a:t>
            </a:r>
            <a:r>
              <a:rPr lang="ru-RU" dirty="0"/>
              <a:t>чтобы </a:t>
            </a:r>
            <a:r>
              <a:rPr lang="ru-RU" dirty="0" err="1"/>
              <a:t>elem</a:t>
            </a:r>
            <a:r>
              <a:rPr lang="ru-RU" dirty="0"/>
              <a:t> появился внизу.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2909112"/>
            <a:ext cx="4338817" cy="63760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081259" y="3852702"/>
            <a:ext cx="3849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Запретить прокрутку страницы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6" y="4392061"/>
            <a:ext cx="5857901" cy="63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09717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Координаты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95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</a:t>
            </a:r>
            <a:r>
              <a:rPr lang="en-US" sz="3600" b="1" dirty="0" smtClean="0"/>
              <a:t>1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895027"/>
            <a:ext cx="106953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 smtClean="0"/>
              <a:t>Методы </a:t>
            </a:r>
            <a:r>
              <a:rPr lang="ru-RU" dirty="0" err="1"/>
              <a:t>JavaScript</a:t>
            </a:r>
            <a:r>
              <a:rPr lang="ru-RU" dirty="0"/>
              <a:t> работают в одной из двух </a:t>
            </a:r>
            <a:r>
              <a:rPr lang="ru-RU" dirty="0" smtClean="0"/>
              <a:t>систем </a:t>
            </a:r>
            <a:r>
              <a:rPr lang="ru-RU" dirty="0"/>
              <a:t>координат: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1. Относительно </a:t>
            </a:r>
            <a:r>
              <a:rPr lang="ru-RU" dirty="0"/>
              <a:t>окна </a:t>
            </a:r>
            <a:r>
              <a:rPr lang="ru-RU" b="1" dirty="0"/>
              <a:t>браузера</a:t>
            </a:r>
            <a:r>
              <a:rPr lang="ru-RU" dirty="0"/>
              <a:t> – как </a:t>
            </a:r>
            <a:r>
              <a:rPr lang="ru-RU" dirty="0" err="1"/>
              <a:t>position:fixed</a:t>
            </a:r>
            <a:r>
              <a:rPr lang="ru-RU" dirty="0"/>
              <a:t>, отсчёт идёт от верхнего левого угла </a:t>
            </a:r>
            <a:r>
              <a:rPr lang="ru-RU" dirty="0" smtClean="0"/>
              <a:t>окна (обозначим </a:t>
            </a:r>
            <a:r>
              <a:rPr lang="ru-RU" dirty="0"/>
              <a:t>эти координаты как </a:t>
            </a:r>
            <a:r>
              <a:rPr lang="ru-RU" b="1" dirty="0" err="1" smtClean="0"/>
              <a:t>clientX</a:t>
            </a:r>
            <a:r>
              <a:rPr lang="ru-RU" b="1" dirty="0" smtClean="0"/>
              <a:t>/</a:t>
            </a:r>
            <a:r>
              <a:rPr lang="ru-RU" b="1" dirty="0" err="1" smtClean="0"/>
              <a:t>clientY</a:t>
            </a:r>
            <a:r>
              <a:rPr lang="ru-RU" dirty="0" smtClean="0"/>
              <a:t>).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 smtClean="0"/>
              <a:t>2. Относительно </a:t>
            </a:r>
            <a:r>
              <a:rPr lang="ru-RU" b="1" dirty="0"/>
              <a:t>документа</a:t>
            </a:r>
            <a:r>
              <a:rPr lang="ru-RU" dirty="0"/>
              <a:t> – как </a:t>
            </a:r>
            <a:r>
              <a:rPr lang="ru-RU" dirty="0" err="1"/>
              <a:t>position:absolute</a:t>
            </a:r>
            <a:r>
              <a:rPr lang="ru-RU" dirty="0"/>
              <a:t> на уровне документа, отсчёт идёт от верхнего левого угла </a:t>
            </a:r>
            <a:r>
              <a:rPr lang="ru-RU" dirty="0" smtClean="0"/>
              <a:t>документа </a:t>
            </a:r>
            <a:r>
              <a:rPr lang="en-US" dirty="0" smtClean="0"/>
              <a:t>(</a:t>
            </a:r>
            <a:r>
              <a:rPr lang="ru-RU" dirty="0" smtClean="0"/>
              <a:t>обозначим </a:t>
            </a:r>
            <a:r>
              <a:rPr lang="ru-RU" dirty="0"/>
              <a:t>эти координаты как </a:t>
            </a:r>
            <a:r>
              <a:rPr lang="ru-RU" b="1" dirty="0" err="1" smtClean="0"/>
              <a:t>pageX</a:t>
            </a:r>
            <a:r>
              <a:rPr lang="ru-RU" b="1" dirty="0" smtClean="0"/>
              <a:t>/</a:t>
            </a:r>
            <a:r>
              <a:rPr lang="ru-RU" b="1" dirty="0" err="1" smtClean="0"/>
              <a:t>pageY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306742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Координаты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96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</a:t>
            </a:r>
            <a:r>
              <a:rPr lang="en-US" sz="3600" b="1" dirty="0" smtClean="0"/>
              <a:t>1</a:t>
            </a:r>
            <a:endParaRPr lang="ru-RU" sz="3600" b="1" dirty="0"/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1118086" y="920301"/>
            <a:ext cx="10164425" cy="514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07478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Координаты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97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</a:t>
            </a:r>
            <a:r>
              <a:rPr lang="en-US" sz="3600" b="1" dirty="0" smtClean="0"/>
              <a:t>1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724869" cy="3052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Метод </a:t>
            </a:r>
            <a:r>
              <a:rPr lang="ru-RU" b="1" dirty="0" err="1"/>
              <a:t>elem.getBoundingClientRect</a:t>
            </a:r>
            <a:r>
              <a:rPr lang="ru-RU" b="1" dirty="0"/>
              <a:t>() </a:t>
            </a:r>
            <a:r>
              <a:rPr lang="ru-RU" dirty="0"/>
              <a:t>возвращает координаты в контексте окна для минимального по размеру прямоугольника, который заключает в себе элемент </a:t>
            </a:r>
            <a:r>
              <a:rPr lang="ru-RU" dirty="0" err="1"/>
              <a:t>elem</a:t>
            </a:r>
            <a:r>
              <a:rPr lang="ru-RU" dirty="0"/>
              <a:t>, в виде объекта встроенного класса </a:t>
            </a:r>
            <a:r>
              <a:rPr lang="ru-RU" dirty="0" err="1"/>
              <a:t>DOMRect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r>
              <a:rPr lang="ru-RU" dirty="0"/>
              <a:t>Основные свойства объекта типа </a:t>
            </a:r>
            <a:r>
              <a:rPr lang="ru-RU" dirty="0" err="1"/>
              <a:t>DOMRect</a:t>
            </a:r>
            <a:r>
              <a:rPr lang="ru-RU" dirty="0"/>
              <a:t>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x/y </a:t>
            </a:r>
            <a:r>
              <a:rPr lang="ru-RU" dirty="0"/>
              <a:t>– X/Y-координаты начала прямоугольника относительно окна,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dirty="0" err="1" smtClean="0"/>
              <a:t>width</a:t>
            </a:r>
            <a:r>
              <a:rPr lang="ru-RU" dirty="0" smtClean="0"/>
              <a:t>/</a:t>
            </a:r>
            <a:r>
              <a:rPr lang="ru-RU" dirty="0" err="1" smtClean="0"/>
              <a:t>height</a:t>
            </a:r>
            <a:r>
              <a:rPr lang="ru-RU" dirty="0" smtClean="0"/>
              <a:t> </a:t>
            </a:r>
            <a:r>
              <a:rPr lang="ru-RU" dirty="0"/>
              <a:t>– ширина/высота прямоугольника (могут быть отрицательными).</a:t>
            </a:r>
          </a:p>
          <a:p>
            <a:pPr>
              <a:lnSpc>
                <a:spcPct val="120000"/>
              </a:lnSpc>
            </a:pPr>
            <a:r>
              <a:rPr lang="ru-RU" dirty="0"/>
              <a:t>Дополнительные, «зависимые», свойства: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dirty="0" err="1" smtClean="0"/>
              <a:t>top</a:t>
            </a:r>
            <a:r>
              <a:rPr lang="ru-RU" dirty="0" smtClean="0"/>
              <a:t>/</a:t>
            </a:r>
            <a:r>
              <a:rPr lang="ru-RU" dirty="0" err="1" smtClean="0"/>
              <a:t>bottom</a:t>
            </a:r>
            <a:r>
              <a:rPr lang="ru-RU" dirty="0" smtClean="0"/>
              <a:t> </a:t>
            </a:r>
            <a:r>
              <a:rPr lang="ru-RU" dirty="0"/>
              <a:t>– Y-координата верхней/нижней границы прямоугольника,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• </a:t>
            </a:r>
            <a:r>
              <a:rPr lang="ru-RU" dirty="0" err="1" smtClean="0"/>
              <a:t>left</a:t>
            </a:r>
            <a:r>
              <a:rPr lang="ru-RU" dirty="0" smtClean="0"/>
              <a:t>/</a:t>
            </a:r>
            <a:r>
              <a:rPr lang="ru-RU" dirty="0" err="1" smtClean="0"/>
              <a:t>right</a:t>
            </a:r>
            <a:r>
              <a:rPr lang="ru-RU" dirty="0" smtClean="0"/>
              <a:t> </a:t>
            </a:r>
            <a:r>
              <a:rPr lang="ru-RU" dirty="0"/>
              <a:t>– X-координата левой/правой границы прямоугольника.</a:t>
            </a:r>
          </a:p>
        </p:txBody>
      </p:sp>
    </p:spTree>
    <p:extLst>
      <p:ext uri="{BB962C8B-B14F-4D97-AF65-F5344CB8AC3E}">
        <p14:creationId xmlns:p14="http://schemas.microsoft.com/office/powerpoint/2010/main" val="413045574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Координаты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98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</a:t>
            </a:r>
            <a:r>
              <a:rPr lang="en-US" sz="3600" b="1" dirty="0" smtClean="0"/>
              <a:t>1</a:t>
            </a:r>
            <a:endParaRPr lang="ru-RU" sz="3600" b="1" dirty="0"/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1118086" y="920301"/>
            <a:ext cx="7435979" cy="57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7644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Координаты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99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</a:t>
            </a:r>
            <a:r>
              <a:rPr lang="en-US" sz="3600" b="1" dirty="0" smtClean="0"/>
              <a:t>1</a:t>
            </a:r>
            <a:endParaRPr lang="ru-RU" sz="3600" b="1" dirty="0"/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1118086" y="920301"/>
            <a:ext cx="7760443" cy="575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31168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Координаты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100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</a:t>
            </a:r>
            <a:r>
              <a:rPr lang="en-US" sz="3600" b="1" dirty="0" smtClean="0"/>
              <a:t>1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533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Вызов </a:t>
            </a:r>
            <a:r>
              <a:rPr lang="ru-RU" b="1" dirty="0" err="1"/>
              <a:t>document.elementFromPoint</a:t>
            </a:r>
            <a:r>
              <a:rPr lang="ru-RU" b="1" dirty="0"/>
              <a:t>(x, y)</a:t>
            </a:r>
            <a:r>
              <a:rPr lang="ru-RU" dirty="0"/>
              <a:t> возвращает самый глубоко вложенный элемент в окне, находящийся по координатам (x, y).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712031"/>
            <a:ext cx="7716198" cy="192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3280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Координаты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101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</a:t>
            </a:r>
            <a:r>
              <a:rPr lang="en-US" sz="3600" b="1" dirty="0" smtClean="0"/>
              <a:t>1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782153" y="905151"/>
            <a:ext cx="112801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Функция </a:t>
            </a:r>
            <a:r>
              <a:rPr lang="ru-RU" dirty="0" err="1" smtClean="0"/>
              <a:t>createMessageUnder</a:t>
            </a:r>
            <a:r>
              <a:rPr lang="ru-RU" dirty="0" smtClean="0"/>
              <a:t>(</a:t>
            </a:r>
            <a:r>
              <a:rPr lang="ru-RU" dirty="0" err="1" smtClean="0"/>
              <a:t>elem</a:t>
            </a:r>
            <a:r>
              <a:rPr lang="ru-RU" dirty="0"/>
              <a:t>, </a:t>
            </a:r>
            <a:r>
              <a:rPr lang="ru-RU" dirty="0" err="1"/>
              <a:t>html</a:t>
            </a:r>
            <a:r>
              <a:rPr lang="ru-RU" dirty="0"/>
              <a:t>) ниже показывает сообщение под элементом </a:t>
            </a:r>
            <a:r>
              <a:rPr lang="ru-RU" dirty="0" err="1"/>
              <a:t>elem</a:t>
            </a:r>
            <a:r>
              <a:rPr lang="ru-RU" dirty="0"/>
              <a:t>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86" y="1404733"/>
            <a:ext cx="7775072" cy="523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3044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Координаты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102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</a:t>
            </a:r>
            <a:r>
              <a:rPr lang="en-US" sz="3600" b="1" dirty="0" smtClean="0"/>
              <a:t>1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400404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Две системы координат связаны следующими формулами:</a:t>
            </a:r>
          </a:p>
          <a:p>
            <a:r>
              <a:rPr lang="ru-RU" dirty="0" smtClean="0"/>
              <a:t>• </a:t>
            </a:r>
            <a:r>
              <a:rPr lang="ru-RU" dirty="0" err="1" smtClean="0"/>
              <a:t>pageY</a:t>
            </a:r>
            <a:r>
              <a:rPr lang="ru-RU" dirty="0" smtClean="0"/>
              <a:t> </a:t>
            </a:r>
            <a:r>
              <a:rPr lang="ru-RU" dirty="0"/>
              <a:t>= </a:t>
            </a:r>
            <a:r>
              <a:rPr lang="ru-RU" dirty="0" err="1"/>
              <a:t>clientY</a:t>
            </a:r>
            <a:r>
              <a:rPr lang="ru-RU" dirty="0"/>
              <a:t> + высота вертикально прокрученной части документа.</a:t>
            </a:r>
          </a:p>
          <a:p>
            <a:r>
              <a:rPr lang="ru-RU" dirty="0" smtClean="0"/>
              <a:t>• </a:t>
            </a:r>
            <a:r>
              <a:rPr lang="ru-RU" dirty="0" err="1" smtClean="0"/>
              <a:t>pageX</a:t>
            </a:r>
            <a:r>
              <a:rPr lang="ru-RU" dirty="0" smtClean="0"/>
              <a:t> </a:t>
            </a:r>
            <a:r>
              <a:rPr lang="ru-RU" dirty="0"/>
              <a:t>= </a:t>
            </a:r>
            <a:r>
              <a:rPr lang="ru-RU" dirty="0" err="1"/>
              <a:t>clientX</a:t>
            </a:r>
            <a:r>
              <a:rPr lang="ru-RU" dirty="0"/>
              <a:t> + ширина горизонтально прокрученной части документа.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2194562"/>
            <a:ext cx="106806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Функция </a:t>
            </a:r>
            <a:r>
              <a:rPr lang="ru-RU" dirty="0" err="1"/>
              <a:t>getCoords</a:t>
            </a:r>
            <a:r>
              <a:rPr lang="ru-RU" dirty="0"/>
              <a:t>(</a:t>
            </a:r>
            <a:r>
              <a:rPr lang="ru-RU" dirty="0" err="1"/>
              <a:t>elem</a:t>
            </a:r>
            <a:r>
              <a:rPr lang="ru-RU" dirty="0"/>
              <a:t>) берёт координаты в контексте окна с помощью </a:t>
            </a:r>
            <a:r>
              <a:rPr lang="ru-RU" dirty="0" err="1"/>
              <a:t>elem.getBoundingClientRect</a:t>
            </a:r>
            <a:r>
              <a:rPr lang="ru-RU" dirty="0"/>
              <a:t>() и добавляет к ним значение соответствующей прокрутки: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3136425"/>
            <a:ext cx="5872649" cy="220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60071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Координаты</a:t>
            </a:r>
            <a:r>
              <a:rPr lang="ru-RU" dirty="0"/>
              <a:t>.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103</a:t>
            </a:fld>
            <a:endParaRPr lang="ru-RU" sz="2400" b="1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</a:t>
            </a:r>
            <a:r>
              <a:rPr lang="en-US" sz="3600" b="1" dirty="0" smtClean="0"/>
              <a:t>1</a:t>
            </a:r>
            <a:endParaRPr lang="ru-RU" sz="36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920301"/>
            <a:ext cx="8266860" cy="371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205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1143</TotalTime>
  <Words>3398</Words>
  <Application>Microsoft Office PowerPoint</Application>
  <PresentationFormat>Широкоэкранный</PresentationFormat>
  <Paragraphs>571</Paragraphs>
  <Slides>103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103</vt:i4>
      </vt:variant>
    </vt:vector>
  </HeadingPairs>
  <TitlesOfParts>
    <vt:vector size="108" baseType="lpstr">
      <vt:lpstr>Arial</vt:lpstr>
      <vt:lpstr>Calibri</vt:lpstr>
      <vt:lpstr>Calibri Light</vt:lpstr>
      <vt:lpstr>Symbol</vt:lpstr>
      <vt:lpstr>Тема Office</vt:lpstr>
      <vt:lpstr>Тема 6 Клиентский JavaScript</vt:lpstr>
      <vt:lpstr>Вопросы:</vt:lpstr>
      <vt:lpstr>Окружение: DOM, BOM.</vt:lpstr>
      <vt:lpstr>Окружение: DOM, BOM.</vt:lpstr>
      <vt:lpstr>Окружение: DOM, BOM.</vt:lpstr>
      <vt:lpstr>Дерево DOM. </vt:lpstr>
      <vt:lpstr>Дерево DOM. </vt:lpstr>
      <vt:lpstr>Дерево DOM. </vt:lpstr>
      <vt:lpstr>Дерево DOM. </vt:lpstr>
      <vt:lpstr>Дерево DOM. </vt:lpstr>
      <vt:lpstr>Дерево DOM. </vt:lpstr>
      <vt:lpstr>Дерево DOM. </vt:lpstr>
      <vt:lpstr>Дерево DOM. </vt:lpstr>
      <vt:lpstr>Навигация по DOM-элементам.</vt:lpstr>
      <vt:lpstr>Навигация по DOM-элементам.</vt:lpstr>
      <vt:lpstr>Навигация по DOM-элементам.</vt:lpstr>
      <vt:lpstr>Навигация по DOM-элементам.</vt:lpstr>
      <vt:lpstr>Навигация по DOM-элементам.</vt:lpstr>
      <vt:lpstr>Навигация по DOM-элементам.</vt:lpstr>
      <vt:lpstr>Навигация по DOM-элементам.</vt:lpstr>
      <vt:lpstr>Навигация по DOM-элементам.</vt:lpstr>
      <vt:lpstr>Навигация по DOM-элементам.</vt:lpstr>
      <vt:lpstr>Навигация по DOM-элементам.</vt:lpstr>
      <vt:lpstr>Методы поиска DOM-элементов.</vt:lpstr>
      <vt:lpstr>Методы поиска DOM-элементов.</vt:lpstr>
      <vt:lpstr>Методы поиска DOM-элементов.</vt:lpstr>
      <vt:lpstr>Методы поиска DOM-элементов.</vt:lpstr>
      <vt:lpstr>Методы поиска DOM-элементов.</vt:lpstr>
      <vt:lpstr>Методы поиска DOM-элементов.</vt:lpstr>
      <vt:lpstr>Методы поиска DOM-элементов.</vt:lpstr>
      <vt:lpstr>Методы поиска DOM-элементов.</vt:lpstr>
      <vt:lpstr>Методы поиска DOM-элементов.</vt:lpstr>
      <vt:lpstr>Методы поиска DOM-элементов.</vt:lpstr>
      <vt:lpstr>Свойства узлов: тип, тег и содержимое.</vt:lpstr>
      <vt:lpstr>Свойства узлов: тип, тег и содержимое.</vt:lpstr>
      <vt:lpstr>Свойства узлов: тип, тег и содержимое.</vt:lpstr>
      <vt:lpstr>Свойства узлов: тип, тег и содержимое.</vt:lpstr>
      <vt:lpstr>Свойства узлов: тип, тег и содержимое.</vt:lpstr>
      <vt:lpstr>Свойства узлов: тип, тег и содержимое.</vt:lpstr>
      <vt:lpstr>Свойства узлов: тип, тег и содержимое.</vt:lpstr>
      <vt:lpstr>Свойства узлов: тип, тег и содержимое.</vt:lpstr>
      <vt:lpstr>Свойства узлов: тип, тег и содержимое.</vt:lpstr>
      <vt:lpstr>Свойства узлов: тип, тег и содержимое.</vt:lpstr>
      <vt:lpstr>Свойства узлов: тип, тег и содержимое.</vt:lpstr>
      <vt:lpstr>Свойства узлов: тип, тег и содержимое.</vt:lpstr>
      <vt:lpstr>Свойства узлов: тип, тег и содержимое.</vt:lpstr>
      <vt:lpstr>Свойства узлов: тип, тег и содержимое.</vt:lpstr>
      <vt:lpstr>Атрибуты и DOM-свойства.</vt:lpstr>
      <vt:lpstr>Атрибуты и DOM-свойства.</vt:lpstr>
      <vt:lpstr>Атрибуты и DOM-свойства.</vt:lpstr>
      <vt:lpstr>Атрибуты и DOM-свойства.</vt:lpstr>
      <vt:lpstr>Атрибуты и DOM-свойства.</vt:lpstr>
      <vt:lpstr>Атрибуты и DOM-свойства.</vt:lpstr>
      <vt:lpstr>Атрибуты и DOM-свойства.</vt:lpstr>
      <vt:lpstr>Атрибуты и DOM-свойства.</vt:lpstr>
      <vt:lpstr>Атрибуты и DOM-свойства.</vt:lpstr>
      <vt:lpstr>Атрибуты и DOM-свойства.</vt:lpstr>
      <vt:lpstr>Атрибуты и DOM-свойства.</vt:lpstr>
      <vt:lpstr>Атрибуты и DOM-свойства.</vt:lpstr>
      <vt:lpstr>Добавление и удаление узлов.</vt:lpstr>
      <vt:lpstr>Добавление и удаление узлов.</vt:lpstr>
      <vt:lpstr>Добавление и удаление узлов.</vt:lpstr>
      <vt:lpstr>Добавление и удаление узлов.</vt:lpstr>
      <vt:lpstr>Добавление и удаление узлов.</vt:lpstr>
      <vt:lpstr>Добавление и удаление узлов.</vt:lpstr>
      <vt:lpstr>Добавление и удаление узлов.</vt:lpstr>
      <vt:lpstr>Добавление и удаление узлов.</vt:lpstr>
      <vt:lpstr>Добавление и удаление узлов.</vt:lpstr>
      <vt:lpstr>Добавление и удаление узлов.</vt:lpstr>
      <vt:lpstr>Добавление и удаление узлов.</vt:lpstr>
      <vt:lpstr>Стили.</vt:lpstr>
      <vt:lpstr>Стили.</vt:lpstr>
      <vt:lpstr>Стили.</vt:lpstr>
      <vt:lpstr>Стили.</vt:lpstr>
      <vt:lpstr>Стили.</vt:lpstr>
      <vt:lpstr>Стили.</vt:lpstr>
      <vt:lpstr>Стили.</vt:lpstr>
      <vt:lpstr>Размеры и прокрутка элементов.</vt:lpstr>
      <vt:lpstr>Размеры и прокрутка элементов.</vt:lpstr>
      <vt:lpstr>Размеры и прокрутка элементов.</vt:lpstr>
      <vt:lpstr>Размеры и прокрутка элементов.</vt:lpstr>
      <vt:lpstr>Размеры и прокрутка элементов.</vt:lpstr>
      <vt:lpstr>Размеры и прокрутка элементов.</vt:lpstr>
      <vt:lpstr>Размеры и прокрутка элементов.</vt:lpstr>
      <vt:lpstr>Размеры и прокрутка элементов.</vt:lpstr>
      <vt:lpstr>Размеры и прокрутка элементов.</vt:lpstr>
      <vt:lpstr>Размеры и прокрутка элементов.</vt:lpstr>
      <vt:lpstr>Размеры и прокрутка элементов.</vt:lpstr>
      <vt:lpstr>Размеры и прокрутка элементов.</vt:lpstr>
      <vt:lpstr>Размеры и прокрутка элементов.</vt:lpstr>
      <vt:lpstr>Размеры и прокрутка окна.</vt:lpstr>
      <vt:lpstr>Размеры и прокрутка окна.</vt:lpstr>
      <vt:lpstr>Размеры и прокрутка окна.</vt:lpstr>
      <vt:lpstr>Размеры и прокрутка окна.</vt:lpstr>
      <vt:lpstr>Координаты.</vt:lpstr>
      <vt:lpstr>Координаты.</vt:lpstr>
      <vt:lpstr>Координаты.</vt:lpstr>
      <vt:lpstr>Координаты.</vt:lpstr>
      <vt:lpstr>Координаты.</vt:lpstr>
      <vt:lpstr>Координаты.</vt:lpstr>
      <vt:lpstr>Координаты.</vt:lpstr>
      <vt:lpstr>Координаты.</vt:lpstr>
      <vt:lpstr>Координаты.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  Основы JavaScript</dc:title>
  <dc:creator>Marina</dc:creator>
  <cp:lastModifiedBy>Пользователь</cp:lastModifiedBy>
  <cp:revision>231</cp:revision>
  <dcterms:created xsi:type="dcterms:W3CDTF">2019-08-27T10:51:56Z</dcterms:created>
  <dcterms:modified xsi:type="dcterms:W3CDTF">2021-11-01T11:33:52Z</dcterms:modified>
</cp:coreProperties>
</file>