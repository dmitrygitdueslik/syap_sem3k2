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42" r:id="rId1"/>
  </p:sldMasterIdLst>
  <p:notesMasterIdLst>
    <p:notesMasterId r:id="rId1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tableStyles" Target="tableStyle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F7BCA8-9609-48FB-A57C-8E4114581D3F}" type="datetimeFigureOut">
              <a:rPr lang="ru-RU" smtClean="0"/>
              <a:t>27.09.2022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3FD08-5A85-4EC1-9946-EF0EC000D9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8210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98354-2AEC-407C-892D-4CC4E97FF2F9}" type="datetime1">
              <a:rPr lang="ru-RU" smtClean="0"/>
              <a:t>27.09.2022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2252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EBA85-E22D-4185-966F-897334710B0B}" type="datetime1">
              <a:rPr lang="ru-RU" smtClean="0"/>
              <a:t>27.09.2022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821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D8926-D772-474E-A9C2-09038EBAF6E6}" type="datetime1">
              <a:rPr lang="ru-RU" smtClean="0"/>
              <a:t>27.09.2022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8153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8F255-A88D-4F36-A012-2562321C7166}" type="datetime1">
              <a:rPr lang="ru-RU" smtClean="0"/>
              <a:t>27.09.2022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48238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01B-A206-4541-BE7E-3C62D08E63F7}" type="datetime1">
              <a:rPr lang="ru-RU" smtClean="0"/>
              <a:t>27.09.2022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5071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5D306-E1D0-45BB-8675-D1C6E29D8416}" type="datetime1">
              <a:rPr lang="ru-RU" smtClean="0"/>
              <a:t>27.09.2022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3365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5C369-94CB-471C-98AD-11B8FD1EF56F}" type="datetime1">
              <a:rPr lang="ru-RU" smtClean="0"/>
              <a:t>27.09.2022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3269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B52CB-2BFD-42E6-946B-FC9BB9688A05}" type="datetime1">
              <a:rPr lang="ru-RU" smtClean="0"/>
              <a:t>27.09.2022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52534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4B6E6-77FC-4419-81B9-B1F57FA0389E}" type="datetime1">
              <a:rPr lang="ru-RU" smtClean="0"/>
              <a:t>27.09.2022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8448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06DA-CB2E-4815-94B7-3E256E026906}" type="datetime1">
              <a:rPr lang="ru-RU" smtClean="0"/>
              <a:t>27.09.2022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41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FB45-4AE3-4BCA-91EA-B3A8E720DE60}" type="datetime1">
              <a:rPr lang="ru-RU" smtClean="0"/>
              <a:t>27.09.2022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3953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AA82E-8907-4CCF-BB04-ADAC7456905B}" type="datetime1">
              <a:rPr lang="ru-RU" smtClean="0"/>
              <a:t>27.09.2022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9289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8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3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5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6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2.png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6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6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6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6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6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hyperlink" Target="&#1057;&#1087;&#1077;&#1094;&#1080;&#1072;&#1083;&#1100;&#1085;&#1099;&#1077;%20&#1089;&#1080;&#1084;&#1074;&#1086;&#1083;&#1099;%20&#1074;%20&#1088;&#1077;&#1075;&#1091;&#1083;&#1103;&#1088;&#1085;&#1099;&#1093;%20&#1074;&#1099;&#1088;&#1072;&#1078;&#1077;&#1085;&#1080;&#1103;.docx" TargetMode="External"/><Relationship Id="rId1" Type="http://schemas.openxmlformats.org/officeDocument/2006/relationships/slideLayout" Target="../slideLayouts/slideLayout6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6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67014" y="766915"/>
            <a:ext cx="10100754" cy="2625213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Тема 2</a:t>
            </a:r>
            <a:r>
              <a:rPr lang="ru-RU" b="1" dirty="0" smtClean="0"/>
              <a:t> </a:t>
            </a:r>
            <a:br>
              <a:rPr lang="ru-RU" b="1" dirty="0" smtClean="0"/>
            </a:br>
            <a:r>
              <a:rPr lang="ru-RU" b="1" dirty="0"/>
              <a:t>Структуры данных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014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Вопросы: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</a:t>
            </a:fld>
            <a:endParaRPr lang="ru-RU" sz="24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18086" y="728577"/>
            <a:ext cx="920791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ru-RU" sz="2400" dirty="0" smtClean="0"/>
              <a:t> Методы </a:t>
            </a:r>
            <a:r>
              <a:rPr lang="ru-RU" sz="2400" dirty="0"/>
              <a:t>примитивов. 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400" dirty="0" smtClean="0"/>
              <a:t> Числа</a:t>
            </a:r>
            <a:r>
              <a:rPr lang="ru-RU" sz="2400" dirty="0"/>
              <a:t>. 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400" dirty="0" smtClean="0"/>
              <a:t> Строки</a:t>
            </a:r>
            <a:r>
              <a:rPr lang="ru-RU" sz="2400" dirty="0"/>
              <a:t>. 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400" dirty="0" smtClean="0"/>
              <a:t> Массивы</a:t>
            </a:r>
            <a:r>
              <a:rPr lang="ru-RU" sz="2400" dirty="0"/>
              <a:t>. 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400" dirty="0" smtClean="0"/>
              <a:t> Методы </a:t>
            </a:r>
            <a:r>
              <a:rPr lang="ru-RU" sz="2400" dirty="0"/>
              <a:t>массивов. 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400" dirty="0" smtClean="0"/>
              <a:t> Объекты</a:t>
            </a:r>
            <a:r>
              <a:rPr lang="ru-RU" sz="2400" dirty="0"/>
              <a:t>.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400" dirty="0" smtClean="0"/>
              <a:t> Тип </a:t>
            </a:r>
            <a:r>
              <a:rPr lang="ru-RU" sz="2400" dirty="0"/>
              <a:t>данных </a:t>
            </a:r>
            <a:r>
              <a:rPr lang="en-US" sz="2400" dirty="0" smtClean="0"/>
              <a:t>Symbol</a:t>
            </a:r>
            <a:r>
              <a:rPr lang="ru-RU" sz="2400" dirty="0" smtClean="0"/>
              <a:t>.</a:t>
            </a:r>
            <a:endParaRPr lang="ru-RU" sz="2400" dirty="0"/>
          </a:p>
          <a:p>
            <a:pPr marL="342900" lvl="0" indent="-342900">
              <a:buFont typeface="+mj-lt"/>
              <a:buAutoNum type="arabicPeriod"/>
            </a:pPr>
            <a:r>
              <a:rPr lang="ru-RU" sz="2400" dirty="0" smtClean="0"/>
              <a:t> </a:t>
            </a:r>
            <a:r>
              <a:rPr lang="en-US" sz="2400" dirty="0" smtClean="0"/>
              <a:t>Set</a:t>
            </a:r>
            <a:r>
              <a:rPr lang="en-US" sz="2400" dirty="0"/>
              <a:t>, Map, </a:t>
            </a:r>
            <a:r>
              <a:rPr lang="en-US" sz="2400" dirty="0" err="1"/>
              <a:t>WeakSet</a:t>
            </a:r>
            <a:r>
              <a:rPr lang="en-US" sz="2400" dirty="0"/>
              <a:t> </a:t>
            </a:r>
            <a:r>
              <a:rPr lang="ru-RU" sz="2400" dirty="0"/>
              <a:t>и</a:t>
            </a:r>
            <a:r>
              <a:rPr lang="en-US" sz="2400" dirty="0"/>
              <a:t> </a:t>
            </a:r>
            <a:r>
              <a:rPr lang="en-US" sz="2400" dirty="0" err="1" smtClean="0"/>
              <a:t>WeakMap</a:t>
            </a:r>
            <a:r>
              <a:rPr lang="ru-RU" sz="2400" dirty="0" smtClean="0"/>
              <a:t>.</a:t>
            </a:r>
            <a:endParaRPr lang="ru-RU" sz="2400" dirty="0"/>
          </a:p>
          <a:p>
            <a:pPr marL="342900" lvl="0" indent="-342900">
              <a:buFont typeface="+mj-lt"/>
              <a:buAutoNum type="arabicPeriod"/>
            </a:pPr>
            <a:r>
              <a:rPr lang="en-US" sz="2400" dirty="0" err="1"/>
              <a:t>Object.keys</a:t>
            </a:r>
            <a:r>
              <a:rPr lang="en-US" sz="2400" dirty="0"/>
              <a:t>, values, </a:t>
            </a:r>
            <a:r>
              <a:rPr lang="en-US" sz="2400" dirty="0" smtClean="0"/>
              <a:t>entries</a:t>
            </a:r>
            <a:r>
              <a:rPr lang="ru-RU" sz="2400" dirty="0" smtClean="0"/>
              <a:t>.</a:t>
            </a:r>
            <a:endParaRPr lang="ru-RU" sz="2400" dirty="0"/>
          </a:p>
          <a:p>
            <a:pPr marL="342900" lvl="0" indent="-342900">
              <a:buFont typeface="+mj-lt"/>
              <a:buAutoNum type="arabicPeriod"/>
            </a:pPr>
            <a:r>
              <a:rPr lang="ru-RU" sz="2400" dirty="0" smtClean="0"/>
              <a:t> </a:t>
            </a:r>
            <a:r>
              <a:rPr lang="en-US" sz="2400" dirty="0" err="1" smtClean="0"/>
              <a:t>Деструктурирующее</a:t>
            </a:r>
            <a:r>
              <a:rPr lang="en-US" sz="2400" dirty="0" smtClean="0"/>
              <a:t> </a:t>
            </a:r>
            <a:r>
              <a:rPr lang="en-US" sz="2400" dirty="0" err="1" smtClean="0"/>
              <a:t>присваивание</a:t>
            </a:r>
            <a:r>
              <a:rPr lang="ru-RU" sz="2400" dirty="0" smtClean="0"/>
              <a:t>.</a:t>
            </a:r>
            <a:endParaRPr lang="ru-RU" sz="2400" dirty="0"/>
          </a:p>
          <a:p>
            <a:pPr marL="342900" lvl="0" indent="-342900">
              <a:buFont typeface="+mj-lt"/>
              <a:buAutoNum type="arabicPeriod"/>
            </a:pPr>
            <a:r>
              <a:rPr lang="ru-RU" sz="2400" dirty="0" smtClean="0"/>
              <a:t> Дата </a:t>
            </a:r>
            <a:r>
              <a:rPr lang="ru-RU" sz="2400" dirty="0"/>
              <a:t>и </a:t>
            </a:r>
            <a:r>
              <a:rPr lang="ru-RU" sz="2400" dirty="0" smtClean="0"/>
              <a:t>время.</a:t>
            </a:r>
            <a:endParaRPr lang="ru-RU" sz="2400" dirty="0"/>
          </a:p>
          <a:p>
            <a:pPr marL="342900" lvl="0" indent="-342900">
              <a:buFont typeface="+mj-lt"/>
              <a:buAutoNum type="arabicPeriod"/>
            </a:pPr>
            <a:r>
              <a:rPr lang="ru-RU" sz="2400" dirty="0" smtClean="0"/>
              <a:t> Формат JSON.</a:t>
            </a:r>
            <a:endParaRPr lang="ru-RU" sz="2400" dirty="0"/>
          </a:p>
          <a:p>
            <a:pPr marL="342900" lvl="0" indent="-342900">
              <a:buFont typeface="+mj-lt"/>
              <a:buAutoNum type="arabicPeriod"/>
            </a:pPr>
            <a:r>
              <a:rPr lang="ru-RU" sz="2400" dirty="0" smtClean="0"/>
              <a:t> </a:t>
            </a:r>
            <a:r>
              <a:rPr lang="ru-RU" sz="2400" dirty="0" err="1" smtClean="0"/>
              <a:t>Intl</a:t>
            </a:r>
            <a:r>
              <a:rPr lang="ru-RU" sz="2400" dirty="0"/>
              <a:t>: интернационализация в </a:t>
            </a:r>
            <a:r>
              <a:rPr lang="ru-RU" sz="2400" dirty="0" err="1" smtClean="0"/>
              <a:t>JavaScript</a:t>
            </a:r>
            <a:r>
              <a:rPr lang="ru-RU" sz="2400" dirty="0"/>
              <a:t>.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400" dirty="0" smtClean="0"/>
              <a:t> Регулярные </a:t>
            </a:r>
            <a:r>
              <a:rPr lang="ru-RU" sz="2400" dirty="0"/>
              <a:t>выражения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219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/>
              <a:t>Методы примитивов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7" y="920301"/>
            <a:ext cx="106511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Примитивные типы: </a:t>
            </a:r>
            <a:r>
              <a:rPr lang="en-US" sz="2200" dirty="0"/>
              <a:t>string, number, </a:t>
            </a:r>
            <a:r>
              <a:rPr lang="en-US" sz="2200" dirty="0" err="1"/>
              <a:t>boolean</a:t>
            </a:r>
            <a:r>
              <a:rPr lang="en-US" sz="2200" dirty="0"/>
              <a:t>, symbol, null </a:t>
            </a:r>
            <a:r>
              <a:rPr lang="ru-RU" sz="2200" dirty="0"/>
              <a:t>и </a:t>
            </a:r>
            <a:r>
              <a:rPr lang="en-US" sz="2200" dirty="0" smtClean="0"/>
              <a:t>undefined</a:t>
            </a:r>
            <a:r>
              <a:rPr lang="ru-RU" sz="2200" dirty="0" smtClean="0"/>
              <a:t>.</a:t>
            </a:r>
            <a:endParaRPr lang="ru-RU" sz="22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911608" y="1507245"/>
            <a:ext cx="1082810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Объект может </a:t>
            </a:r>
            <a:r>
              <a:rPr lang="ru-RU" sz="2200" dirty="0"/>
              <a:t>хранить функцию как одно из </a:t>
            </a:r>
            <a:r>
              <a:rPr lang="ru-RU" sz="2200" dirty="0" smtClean="0"/>
              <a:t>свойств:</a:t>
            </a:r>
            <a:endParaRPr lang="ru-RU" sz="22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11608" y="2094189"/>
            <a:ext cx="5179476" cy="2565535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911608" y="4869881"/>
            <a:ext cx="1082810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Каждый примитив имеет свой собственный «объект-обёртку», которые называются: </a:t>
            </a:r>
            <a:r>
              <a:rPr lang="ru-RU" sz="2200" dirty="0" err="1"/>
              <a:t>String</a:t>
            </a:r>
            <a:r>
              <a:rPr lang="ru-RU" sz="2200" dirty="0"/>
              <a:t>, </a:t>
            </a:r>
            <a:r>
              <a:rPr lang="ru-RU" sz="2200" dirty="0" err="1"/>
              <a:t>Number</a:t>
            </a:r>
            <a:r>
              <a:rPr lang="ru-RU" sz="2200" dirty="0"/>
              <a:t>, </a:t>
            </a:r>
            <a:r>
              <a:rPr lang="ru-RU" sz="2200" dirty="0" err="1"/>
              <a:t>Boolean</a:t>
            </a:r>
            <a:r>
              <a:rPr lang="ru-RU" sz="2200" dirty="0"/>
              <a:t> и </a:t>
            </a:r>
            <a:r>
              <a:rPr lang="ru-RU" sz="2200" dirty="0" err="1"/>
              <a:t>Symbol</a:t>
            </a:r>
            <a:r>
              <a:rPr lang="ru-RU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6659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/>
              <a:t>Методы примитивов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1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11608" y="1516626"/>
            <a:ext cx="6032088" cy="1005348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911608" y="940950"/>
            <a:ext cx="532389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/>
              <a:t>Метод </a:t>
            </a:r>
            <a:r>
              <a:rPr lang="en-US" sz="2200" dirty="0" err="1"/>
              <a:t>toUpperCase</a:t>
            </a:r>
            <a:r>
              <a:rPr lang="en-US" sz="2200" dirty="0"/>
              <a:t>()</a:t>
            </a:r>
            <a:r>
              <a:rPr lang="ru-RU" sz="2200" dirty="0" smtClean="0"/>
              <a:t> объекта </a:t>
            </a:r>
            <a:r>
              <a:rPr lang="en-US" sz="2200" dirty="0" smtClean="0"/>
              <a:t>String:</a:t>
            </a:r>
            <a:endParaRPr lang="ru-RU" sz="22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911608" y="2748967"/>
            <a:ext cx="501451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/>
              <a:t>Метод </a:t>
            </a:r>
            <a:r>
              <a:rPr lang="en-US" sz="2200" dirty="0" err="1" smtClean="0"/>
              <a:t>toFixed</a:t>
            </a:r>
            <a:r>
              <a:rPr lang="en-US" sz="2200" dirty="0" smtClean="0"/>
              <a:t>(n)</a:t>
            </a:r>
            <a:r>
              <a:rPr lang="ru-RU" sz="2200" dirty="0" smtClean="0"/>
              <a:t> объекта </a:t>
            </a:r>
            <a:r>
              <a:rPr lang="en-US" sz="2200" dirty="0" smtClean="0"/>
              <a:t>Number:</a:t>
            </a:r>
            <a:endParaRPr lang="ru-RU" sz="2200" dirty="0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911608" y="3347823"/>
            <a:ext cx="5231614" cy="101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231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 smtClean="0"/>
              <a:t>Числа.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519182" y="167355"/>
            <a:ext cx="38138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Способы записи числа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11608" y="801238"/>
            <a:ext cx="4815934" cy="40813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943110" y="1433637"/>
            <a:ext cx="606768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1 </a:t>
            </a:r>
            <a:r>
              <a:rPr lang="ru-RU" sz="2200" dirty="0" smtClean="0"/>
              <a:t>миллиард - </a:t>
            </a:r>
            <a:r>
              <a:rPr lang="ru-RU" sz="2200" dirty="0"/>
              <a:t>"1млрд" </a:t>
            </a:r>
            <a:endParaRPr lang="ru-RU" sz="2200" dirty="0" smtClean="0"/>
          </a:p>
          <a:p>
            <a:r>
              <a:rPr lang="ru-RU" sz="2200" dirty="0"/>
              <a:t>7 миллиардов 300 </a:t>
            </a:r>
            <a:r>
              <a:rPr lang="ru-RU" sz="2200" dirty="0" smtClean="0"/>
              <a:t>миллионов - </a:t>
            </a:r>
            <a:r>
              <a:rPr lang="ru-RU" sz="2200" dirty="0"/>
              <a:t>"7.3млрд" 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943110" y="2316363"/>
            <a:ext cx="5917577" cy="692307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invGray">
          <a:xfrm>
            <a:off x="911608" y="3818910"/>
            <a:ext cx="3558490" cy="679348"/>
          </a:xfrm>
          <a:prstGeom prst="rect">
            <a:avLst/>
          </a:prstGeom>
        </p:spPr>
      </p:pic>
      <p:sp>
        <p:nvSpPr>
          <p:cNvPr id="17" name="Прямоугольник 16"/>
          <p:cNvSpPr/>
          <p:nvPr/>
        </p:nvSpPr>
        <p:spPr>
          <a:xfrm>
            <a:off x="943110" y="3324228"/>
            <a:ext cx="671690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1 </a:t>
            </a:r>
            <a:r>
              <a:rPr lang="ru-RU" sz="2200" dirty="0" smtClean="0"/>
              <a:t>микросекунда </a:t>
            </a:r>
            <a:r>
              <a:rPr lang="ru-RU" sz="2200" dirty="0"/>
              <a:t>(одна </a:t>
            </a:r>
            <a:r>
              <a:rPr lang="ru-RU" sz="2200" dirty="0" smtClean="0"/>
              <a:t>миллионная секунды):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111507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518392" cy="920301"/>
          </a:xfrm>
        </p:spPr>
        <p:txBody>
          <a:bodyPr>
            <a:normAutofit/>
          </a:bodyPr>
          <a:lstStyle/>
          <a:p>
            <a:r>
              <a:rPr lang="ru-RU" dirty="0"/>
              <a:t>Числа. </a:t>
            </a:r>
            <a:r>
              <a:rPr lang="ru-RU" sz="2700" dirty="0"/>
              <a:t>Шестнадцатеричные, двоичные и восьмеричные числа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704857"/>
            <a:ext cx="983996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Короткий стиль записи - </a:t>
            </a:r>
            <a:r>
              <a:rPr lang="ru-RU" sz="2200" dirty="0"/>
              <a:t>0x, после которого указывается </a:t>
            </a:r>
            <a:r>
              <a:rPr lang="ru-RU" sz="2200" dirty="0" smtClean="0"/>
              <a:t>число:</a:t>
            </a:r>
            <a:endParaRPr lang="ru-RU" sz="2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207501"/>
            <a:ext cx="4016974" cy="680294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911607" y="2092288"/>
            <a:ext cx="1037090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Двоичные (</a:t>
            </a:r>
            <a:r>
              <a:rPr lang="ru-RU" sz="2200" dirty="0"/>
              <a:t>0b</a:t>
            </a:r>
            <a:r>
              <a:rPr lang="ru-RU" sz="2200" dirty="0" smtClean="0"/>
              <a:t>) и восьмеричные (0o) числа:</a:t>
            </a:r>
            <a:endParaRPr lang="ru-RU" sz="22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7" y="2660402"/>
            <a:ext cx="4450340" cy="1196988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911608" y="4098266"/>
            <a:ext cx="315022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/>
              <a:t>Метод </a:t>
            </a:r>
            <a:r>
              <a:rPr lang="en-US" sz="2200" dirty="0" err="1" smtClean="0"/>
              <a:t>toString</a:t>
            </a:r>
            <a:r>
              <a:rPr lang="en-US" sz="2200" dirty="0" smtClean="0"/>
              <a:t>(base)</a:t>
            </a:r>
            <a:r>
              <a:rPr lang="ru-RU" sz="2200" dirty="0" smtClean="0"/>
              <a:t>:</a:t>
            </a:r>
            <a:endParaRPr lang="ru-RU" sz="2200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608" y="4632804"/>
            <a:ext cx="6096430" cy="1222304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608" y="6072247"/>
            <a:ext cx="6262776" cy="387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742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724869" cy="920301"/>
          </a:xfrm>
        </p:spPr>
        <p:txBody>
          <a:bodyPr>
            <a:normAutofit/>
          </a:bodyPr>
          <a:lstStyle/>
          <a:p>
            <a:r>
              <a:rPr lang="ru-RU" dirty="0" smtClean="0"/>
              <a:t>Числа</a:t>
            </a:r>
            <a:r>
              <a:rPr lang="ru-RU" dirty="0"/>
              <a:t>. </a:t>
            </a:r>
            <a:r>
              <a:rPr lang="ru-RU" sz="2400" dirty="0"/>
              <a:t>Округление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911608" y="750667"/>
            <a:ext cx="10916598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Встроенные функции </a:t>
            </a:r>
            <a:r>
              <a:rPr lang="ru-RU" sz="2200" dirty="0"/>
              <a:t>для работы с округлением: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 err="1" smtClean="0"/>
              <a:t>Math.floor</a:t>
            </a:r>
            <a:r>
              <a:rPr lang="ru-RU" sz="2200" dirty="0" smtClean="0"/>
              <a:t> - округление </a:t>
            </a:r>
            <a:r>
              <a:rPr lang="ru-RU" sz="2200" dirty="0"/>
              <a:t>в меньшую </a:t>
            </a:r>
            <a:r>
              <a:rPr lang="ru-RU" sz="2200" dirty="0" smtClean="0"/>
              <a:t>сторону.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 err="1" smtClean="0"/>
              <a:t>Math.ceil</a:t>
            </a:r>
            <a:r>
              <a:rPr lang="ru-RU" sz="2200" dirty="0" smtClean="0"/>
              <a:t> - округление </a:t>
            </a:r>
            <a:r>
              <a:rPr lang="ru-RU" sz="2200" dirty="0"/>
              <a:t>в большую </a:t>
            </a:r>
            <a:r>
              <a:rPr lang="ru-RU" sz="2200" dirty="0" smtClean="0"/>
              <a:t>сторону.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 err="1" smtClean="0"/>
              <a:t>Math.round</a:t>
            </a:r>
            <a:r>
              <a:rPr lang="ru-RU" sz="2200" dirty="0" smtClean="0"/>
              <a:t> - округление </a:t>
            </a:r>
            <a:r>
              <a:rPr lang="ru-RU" sz="2200" dirty="0"/>
              <a:t>до ближайшего </a:t>
            </a:r>
            <a:r>
              <a:rPr lang="ru-RU" sz="2200" dirty="0" smtClean="0"/>
              <a:t>целого. </a:t>
            </a:r>
            <a:endParaRPr lang="ru-RU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 err="1"/>
              <a:t>Math.trunc</a:t>
            </a:r>
            <a:r>
              <a:rPr lang="ru-RU" sz="2200" dirty="0"/>
              <a:t> </a:t>
            </a:r>
            <a:r>
              <a:rPr lang="ru-RU" sz="2200" dirty="0" smtClean="0"/>
              <a:t>- производит </a:t>
            </a:r>
            <a:r>
              <a:rPr lang="ru-RU" sz="2200" dirty="0"/>
              <a:t>удаление дробной части без </a:t>
            </a:r>
            <a:r>
              <a:rPr lang="ru-RU" sz="2200" dirty="0" smtClean="0"/>
              <a:t>округления. </a:t>
            </a:r>
            <a:endParaRPr lang="ru-RU" sz="2200" dirty="0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554892"/>
              </p:ext>
            </p:extLst>
          </p:nvPr>
        </p:nvGraphicFramePr>
        <p:xfrm>
          <a:off x="911608" y="2902274"/>
          <a:ext cx="9766225" cy="198437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953245">
                  <a:extLst>
                    <a:ext uri="{9D8B030D-6E8A-4147-A177-3AD203B41FA5}">
                      <a16:colId xmlns:a16="http://schemas.microsoft.com/office/drawing/2014/main" val="4059260683"/>
                    </a:ext>
                  </a:extLst>
                </a:gridCol>
                <a:gridCol w="1953245">
                  <a:extLst>
                    <a:ext uri="{9D8B030D-6E8A-4147-A177-3AD203B41FA5}">
                      <a16:colId xmlns:a16="http://schemas.microsoft.com/office/drawing/2014/main" val="3882055012"/>
                    </a:ext>
                  </a:extLst>
                </a:gridCol>
                <a:gridCol w="1953245">
                  <a:extLst>
                    <a:ext uri="{9D8B030D-6E8A-4147-A177-3AD203B41FA5}">
                      <a16:colId xmlns:a16="http://schemas.microsoft.com/office/drawing/2014/main" val="4038883192"/>
                    </a:ext>
                  </a:extLst>
                </a:gridCol>
                <a:gridCol w="1953245">
                  <a:extLst>
                    <a:ext uri="{9D8B030D-6E8A-4147-A177-3AD203B41FA5}">
                      <a16:colId xmlns:a16="http://schemas.microsoft.com/office/drawing/2014/main" val="1449047960"/>
                    </a:ext>
                  </a:extLst>
                </a:gridCol>
                <a:gridCol w="1953245">
                  <a:extLst>
                    <a:ext uri="{9D8B030D-6E8A-4147-A177-3AD203B41FA5}">
                      <a16:colId xmlns:a16="http://schemas.microsoft.com/office/drawing/2014/main" val="12535399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2200" dirty="0" smtClean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Число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 b="1" dirty="0" err="1">
                          <a:effectLst/>
                        </a:rPr>
                        <a:t>Math.floor</a:t>
                      </a:r>
                      <a:endParaRPr lang="ru-RU" sz="2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 b="1" dirty="0" err="1">
                          <a:effectLst/>
                        </a:rPr>
                        <a:t>Math.ceil</a:t>
                      </a:r>
                      <a:endParaRPr lang="ru-RU" sz="2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 b="1" dirty="0" err="1">
                          <a:effectLst/>
                        </a:rPr>
                        <a:t>Math.round</a:t>
                      </a:r>
                      <a:endParaRPr lang="ru-RU" sz="2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 b="1" dirty="0" err="1">
                          <a:effectLst/>
                        </a:rPr>
                        <a:t>Math.trunc</a:t>
                      </a:r>
                      <a:endParaRPr lang="ru-RU" sz="2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b"/>
                </a:tc>
                <a:extLst>
                  <a:ext uri="{0D108BD9-81ED-4DB2-BD59-A6C34878D82A}">
                    <a16:rowId xmlns:a16="http://schemas.microsoft.com/office/drawing/2014/main" val="1766119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 b="1" dirty="0">
                          <a:effectLst/>
                        </a:rPr>
                        <a:t>3.1</a:t>
                      </a:r>
                      <a:endParaRPr lang="ru-RU" sz="2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3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4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3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3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extLst>
                  <a:ext uri="{0D108BD9-81ED-4DB2-BD59-A6C34878D82A}">
                    <a16:rowId xmlns:a16="http://schemas.microsoft.com/office/drawing/2014/main" val="1066634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 b="1" dirty="0">
                          <a:effectLst/>
                        </a:rPr>
                        <a:t>3.6</a:t>
                      </a:r>
                      <a:endParaRPr lang="ru-RU" sz="2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3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4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4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 marR="98679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3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extLst>
                  <a:ext uri="{0D108BD9-81ED-4DB2-BD59-A6C34878D82A}">
                    <a16:rowId xmlns:a16="http://schemas.microsoft.com/office/drawing/2014/main" val="517252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 b="1" dirty="0">
                          <a:effectLst/>
                        </a:rPr>
                        <a:t>-1.1</a:t>
                      </a:r>
                      <a:endParaRPr lang="ru-RU" sz="2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-2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-1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-1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-1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extLst>
                  <a:ext uri="{0D108BD9-81ED-4DB2-BD59-A6C34878D82A}">
                    <a16:rowId xmlns:a16="http://schemas.microsoft.com/office/drawing/2014/main" val="2190060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 b="1" dirty="0">
                          <a:effectLst/>
                        </a:rPr>
                        <a:t>-1.6</a:t>
                      </a:r>
                      <a:endParaRPr lang="ru-RU" sz="2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-2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-1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-2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 dirty="0">
                          <a:effectLst/>
                        </a:rPr>
                        <a:t>-1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extLst>
                  <a:ext uri="{0D108BD9-81ED-4DB2-BD59-A6C34878D82A}">
                    <a16:rowId xmlns:a16="http://schemas.microsoft.com/office/drawing/2014/main" val="3088587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7224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 smtClean="0"/>
              <a:t>Числа. </a:t>
            </a:r>
            <a:r>
              <a:rPr lang="ru-RU" sz="2400" dirty="0"/>
              <a:t>Округление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911608" y="735635"/>
            <a:ext cx="515397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/>
              <a:t>Округление до заданной точности:</a:t>
            </a:r>
            <a:endParaRPr lang="ru-RU" sz="22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911608" y="1286604"/>
            <a:ext cx="435728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1.	Умножить и разделить.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902158"/>
            <a:ext cx="6211864" cy="1245608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911608" y="3332433"/>
            <a:ext cx="345479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2.	Метод </a:t>
            </a:r>
            <a:r>
              <a:rPr lang="en-US" sz="2200" dirty="0" err="1"/>
              <a:t>toFixed</a:t>
            </a:r>
            <a:r>
              <a:rPr lang="en-US" sz="2200" dirty="0"/>
              <a:t>(n)</a:t>
            </a:r>
            <a:endParaRPr lang="ru-RU" sz="2200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8" y="3920072"/>
            <a:ext cx="6432066" cy="72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655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 smtClean="0"/>
              <a:t>Числа. </a:t>
            </a:r>
            <a:r>
              <a:rPr lang="ru-RU" sz="2400" dirty="0" smtClean="0"/>
              <a:t>Округление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9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20301"/>
            <a:ext cx="231024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/>
              <a:t>Потеря</a:t>
            </a:r>
            <a:r>
              <a:rPr lang="ru-RU" dirty="0" smtClean="0"/>
              <a:t> точности: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485899"/>
            <a:ext cx="7067270" cy="43490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7" y="2157189"/>
            <a:ext cx="7716199" cy="42967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607" y="2823241"/>
            <a:ext cx="9751477" cy="42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584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 smtClean="0"/>
              <a:t>Числа</a:t>
            </a:r>
            <a:r>
              <a:rPr lang="ru-RU" dirty="0"/>
              <a:t>. </a:t>
            </a:r>
            <a:r>
              <a:rPr lang="ru-RU" sz="2400" dirty="0"/>
              <a:t>Проверка: </a:t>
            </a:r>
            <a:r>
              <a:rPr lang="en-US" sz="2400" dirty="0" err="1"/>
              <a:t>isFinite</a:t>
            </a:r>
            <a:r>
              <a:rPr lang="en-US" sz="2400" dirty="0"/>
              <a:t> </a:t>
            </a:r>
            <a:r>
              <a:rPr lang="ru-RU" sz="2400" dirty="0"/>
              <a:t>и </a:t>
            </a:r>
            <a:r>
              <a:rPr lang="en-US" sz="2400" dirty="0" err="1"/>
              <a:t>isNaN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10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911608" y="758070"/>
            <a:ext cx="879279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/>
              <a:t>Специальные </a:t>
            </a:r>
            <a:r>
              <a:rPr lang="ru-RU" sz="2200" dirty="0"/>
              <a:t>числовые </a:t>
            </a:r>
            <a:r>
              <a:rPr lang="ru-RU" sz="2200" dirty="0" smtClean="0"/>
              <a:t>значения принадлежат </a:t>
            </a:r>
            <a:r>
              <a:rPr lang="ru-RU" sz="2200" dirty="0"/>
              <a:t>типу </a:t>
            </a:r>
            <a:r>
              <a:rPr lang="en-US" sz="2200" dirty="0" smtClean="0"/>
              <a:t>number</a:t>
            </a:r>
            <a:r>
              <a:rPr lang="ru-RU" sz="2200" dirty="0" smtClean="0"/>
              <a:t>:</a:t>
            </a:r>
            <a:endParaRPr lang="ru-RU" sz="22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911608" y="1132779"/>
            <a:ext cx="1066587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• </a:t>
            </a:r>
            <a:r>
              <a:rPr lang="ru-RU" sz="2200" dirty="0" err="1" smtClean="0"/>
              <a:t>Infinity</a:t>
            </a:r>
            <a:r>
              <a:rPr lang="ru-RU" sz="2200" dirty="0" smtClean="0"/>
              <a:t> </a:t>
            </a:r>
            <a:r>
              <a:rPr lang="ru-RU" sz="2200" dirty="0"/>
              <a:t>(и -</a:t>
            </a:r>
            <a:r>
              <a:rPr lang="ru-RU" sz="2200" dirty="0" err="1"/>
              <a:t>Infinity</a:t>
            </a:r>
            <a:r>
              <a:rPr lang="ru-RU" sz="2200" dirty="0"/>
              <a:t>) </a:t>
            </a:r>
            <a:r>
              <a:rPr lang="ru-RU" sz="2200" dirty="0" smtClean="0"/>
              <a:t>- </a:t>
            </a:r>
            <a:r>
              <a:rPr lang="ru-RU" sz="2200" dirty="0"/>
              <a:t>особенное численное </a:t>
            </a:r>
            <a:r>
              <a:rPr lang="ru-RU" sz="2200" dirty="0" smtClean="0"/>
              <a:t>значение (математическая </a:t>
            </a:r>
            <a:r>
              <a:rPr lang="ru-RU" sz="2200" dirty="0"/>
              <a:t>бесконечность </a:t>
            </a:r>
            <a:r>
              <a:rPr lang="ru-RU" sz="2200" dirty="0" smtClean="0"/>
              <a:t>∞),</a:t>
            </a:r>
            <a:endParaRPr lang="ru-RU" sz="2200" dirty="0"/>
          </a:p>
          <a:p>
            <a:r>
              <a:rPr lang="ru-RU" sz="2200" dirty="0" smtClean="0"/>
              <a:t>• </a:t>
            </a:r>
            <a:r>
              <a:rPr lang="ru-RU" sz="2200" dirty="0" err="1" smtClean="0"/>
              <a:t>NaN</a:t>
            </a:r>
            <a:r>
              <a:rPr lang="ru-RU" sz="2200" dirty="0" smtClean="0"/>
              <a:t> </a:t>
            </a:r>
            <a:r>
              <a:rPr lang="ru-RU" sz="2200" dirty="0"/>
              <a:t>представляет ошибку.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911608" y="2465769"/>
            <a:ext cx="60960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200" dirty="0" smtClean="0"/>
              <a:t>Функции для проверки:</a:t>
            </a:r>
            <a:endParaRPr lang="ru-RU" sz="22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911608" y="2896656"/>
            <a:ext cx="1115067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• </a:t>
            </a:r>
            <a:r>
              <a:rPr lang="ru-RU" sz="2200" dirty="0" err="1" smtClean="0"/>
              <a:t>isNaN</a:t>
            </a:r>
            <a:r>
              <a:rPr lang="ru-RU" sz="2200" dirty="0" smtClean="0"/>
              <a:t>(</a:t>
            </a:r>
            <a:r>
              <a:rPr lang="ru-RU" sz="2200" dirty="0" err="1" smtClean="0"/>
              <a:t>value</a:t>
            </a:r>
            <a:r>
              <a:rPr lang="ru-RU" sz="2200" dirty="0"/>
              <a:t>) преобразует значение в число и проверяет является ли оно </a:t>
            </a:r>
            <a:r>
              <a:rPr lang="ru-RU" sz="2200" dirty="0" err="1"/>
              <a:t>NaN</a:t>
            </a:r>
            <a:endParaRPr lang="ru-RU" sz="2200" dirty="0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3806779"/>
            <a:ext cx="5532112" cy="706227"/>
          </a:xfrm>
          <a:prstGeom prst="rect">
            <a:avLst/>
          </a:prstGeom>
        </p:spPr>
      </p:pic>
      <p:sp>
        <p:nvSpPr>
          <p:cNvPr id="16" name="Прямоугольник 15"/>
          <p:cNvSpPr/>
          <p:nvPr/>
        </p:nvSpPr>
        <p:spPr>
          <a:xfrm>
            <a:off x="911608" y="4520956"/>
            <a:ext cx="1066587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• </a:t>
            </a:r>
            <a:r>
              <a:rPr lang="ru-RU" sz="2200" dirty="0" err="1" smtClean="0"/>
              <a:t>isFinite</a:t>
            </a:r>
            <a:r>
              <a:rPr lang="ru-RU" sz="2200" dirty="0" smtClean="0"/>
              <a:t>(</a:t>
            </a:r>
            <a:r>
              <a:rPr lang="ru-RU" sz="2200" dirty="0" err="1" smtClean="0"/>
              <a:t>value</a:t>
            </a:r>
            <a:r>
              <a:rPr lang="ru-RU" sz="2200" dirty="0"/>
              <a:t>) преобразует аргумент в число и возвращает </a:t>
            </a:r>
            <a:r>
              <a:rPr lang="ru-RU" sz="2200" dirty="0" err="1"/>
              <a:t>true</a:t>
            </a:r>
            <a:r>
              <a:rPr lang="ru-RU" sz="2200" dirty="0"/>
              <a:t>, если оно является обычным числом</a:t>
            </a:r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8" y="5448863"/>
            <a:ext cx="6815560" cy="112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197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 smtClean="0"/>
              <a:t>Числа</a:t>
            </a:r>
            <a:r>
              <a:rPr lang="ru-RU" dirty="0"/>
              <a:t>. </a:t>
            </a:r>
            <a:r>
              <a:rPr lang="ru-RU" sz="2400" dirty="0"/>
              <a:t>Проверка: </a:t>
            </a:r>
            <a:r>
              <a:rPr lang="en-US" sz="2400" dirty="0" err="1"/>
              <a:t>isFinite</a:t>
            </a:r>
            <a:r>
              <a:rPr lang="en-US" sz="2400" dirty="0"/>
              <a:t> </a:t>
            </a:r>
            <a:r>
              <a:rPr lang="ru-RU" sz="2400" dirty="0"/>
              <a:t>и </a:t>
            </a:r>
            <a:r>
              <a:rPr lang="en-US" sz="2400" dirty="0" err="1"/>
              <a:t>isNaN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11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7" y="920301"/>
            <a:ext cx="1004644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err="1" smtClean="0"/>
              <a:t>isFinite</a:t>
            </a:r>
            <a:r>
              <a:rPr lang="ru-RU" sz="2200" dirty="0" smtClean="0"/>
              <a:t> </a:t>
            </a:r>
            <a:r>
              <a:rPr lang="ru-RU" sz="2200" dirty="0"/>
              <a:t>используется для проверки, содержится ли в строке число: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430" y="1431027"/>
            <a:ext cx="6653536" cy="692741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002430" y="2434526"/>
            <a:ext cx="1017589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Специальный </a:t>
            </a:r>
            <a:r>
              <a:rPr lang="ru-RU" sz="2200" dirty="0"/>
              <a:t>метод </a:t>
            </a:r>
            <a:r>
              <a:rPr lang="ru-RU" sz="2200" dirty="0" smtClean="0"/>
              <a:t>Object.is более точно сравнивает значения:</a:t>
            </a:r>
            <a:endParaRPr lang="ru-RU" sz="2200" dirty="0"/>
          </a:p>
          <a:p>
            <a:r>
              <a:rPr lang="ru-RU" sz="2200" dirty="0" smtClean="0"/>
              <a:t>1. Работает </a:t>
            </a:r>
            <a:r>
              <a:rPr lang="ru-RU" sz="2200" dirty="0"/>
              <a:t>с </a:t>
            </a:r>
            <a:r>
              <a:rPr lang="ru-RU" sz="2200" dirty="0" err="1"/>
              <a:t>NaN</a:t>
            </a:r>
            <a:r>
              <a:rPr lang="ru-RU" sz="2200" dirty="0"/>
              <a:t>: Object.is(</a:t>
            </a:r>
            <a:r>
              <a:rPr lang="ru-RU" sz="2200" dirty="0" err="1"/>
              <a:t>NaN</a:t>
            </a:r>
            <a:r>
              <a:rPr lang="ru-RU" sz="2200" dirty="0"/>
              <a:t>, </a:t>
            </a:r>
            <a:r>
              <a:rPr lang="ru-RU" sz="2200" dirty="0" err="1"/>
              <a:t>NaN</a:t>
            </a:r>
            <a:r>
              <a:rPr lang="ru-RU" sz="2200" dirty="0"/>
              <a:t>) === </a:t>
            </a:r>
            <a:r>
              <a:rPr lang="ru-RU" sz="2200" dirty="0" err="1" smtClean="0"/>
              <a:t>true</a:t>
            </a:r>
            <a:r>
              <a:rPr lang="ru-RU" sz="2200" dirty="0" smtClean="0"/>
              <a:t>.</a:t>
            </a:r>
            <a:endParaRPr lang="ru-RU" sz="2200" dirty="0"/>
          </a:p>
          <a:p>
            <a:r>
              <a:rPr lang="ru-RU" sz="2200" dirty="0" smtClean="0"/>
              <a:t>2. Значения </a:t>
            </a:r>
            <a:r>
              <a:rPr lang="ru-RU" sz="2200" dirty="0"/>
              <a:t>0 и -0 разные: Object.is(0, -0) === </a:t>
            </a:r>
            <a:r>
              <a:rPr lang="ru-RU" sz="2200" dirty="0" err="1" smtClean="0"/>
              <a:t>false</a:t>
            </a:r>
            <a:r>
              <a:rPr lang="ru-RU" sz="2200" dirty="0" smtClean="0"/>
              <a:t>. </a:t>
            </a:r>
            <a:endParaRPr lang="ru-RU" sz="2200" dirty="0"/>
          </a:p>
          <a:p>
            <a:r>
              <a:rPr lang="ru-RU" sz="2200" dirty="0"/>
              <a:t>Во всех других случаях Object.is(a, b) идентичен a === b.</a:t>
            </a:r>
          </a:p>
        </p:txBody>
      </p:sp>
    </p:spTree>
    <p:extLst>
      <p:ext uri="{BB962C8B-B14F-4D97-AF65-F5344CB8AC3E}">
        <p14:creationId xmlns:p14="http://schemas.microsoft.com/office/powerpoint/2010/main" val="3682777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 smtClean="0"/>
              <a:t>Числа. </a:t>
            </a:r>
            <a:r>
              <a:rPr lang="en-US" sz="2400" dirty="0" err="1"/>
              <a:t>parseInt</a:t>
            </a:r>
            <a:r>
              <a:rPr lang="en-US" sz="2400" dirty="0"/>
              <a:t> </a:t>
            </a:r>
            <a:r>
              <a:rPr lang="ru-RU" sz="2400" dirty="0"/>
              <a:t>и </a:t>
            </a:r>
            <a:r>
              <a:rPr lang="en-US" sz="2400" dirty="0" err="1"/>
              <a:t>parseFloat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12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2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9" y="1264500"/>
            <a:ext cx="5046740" cy="409195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911608" y="760841"/>
            <a:ext cx="863059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Явное преобразование </a:t>
            </a:r>
            <a:r>
              <a:rPr lang="ru-RU" sz="2200" dirty="0"/>
              <a:t>к </a:t>
            </a:r>
            <a:r>
              <a:rPr lang="ru-RU" sz="2200" dirty="0" smtClean="0"/>
              <a:t>числу: + </a:t>
            </a:r>
            <a:r>
              <a:rPr lang="ru-RU" sz="2200" dirty="0"/>
              <a:t>или </a:t>
            </a:r>
            <a:r>
              <a:rPr lang="ru-RU" sz="2200" dirty="0" err="1"/>
              <a:t>Number</a:t>
            </a:r>
            <a:r>
              <a:rPr lang="ru-RU" sz="2200" dirty="0"/>
              <a:t>().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11608" y="1857992"/>
            <a:ext cx="744466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/>
              <a:t>Преобразование с помощью </a:t>
            </a:r>
            <a:r>
              <a:rPr lang="en-US" sz="2200" dirty="0" err="1" smtClean="0"/>
              <a:t>parseInt</a:t>
            </a:r>
            <a:r>
              <a:rPr lang="en-US" sz="2200" dirty="0" smtClean="0"/>
              <a:t> </a:t>
            </a:r>
            <a:r>
              <a:rPr lang="ru-RU" sz="2200" dirty="0"/>
              <a:t>и </a:t>
            </a:r>
            <a:r>
              <a:rPr lang="en-US" sz="2200" dirty="0" err="1" smtClean="0"/>
              <a:t>parseFloat</a:t>
            </a:r>
            <a:r>
              <a:rPr lang="ru-RU" sz="2200" dirty="0" smtClean="0"/>
              <a:t>:</a:t>
            </a:r>
            <a:endParaRPr lang="ru-RU" sz="22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7" y="2347406"/>
            <a:ext cx="6485519" cy="160516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606" y="4086386"/>
            <a:ext cx="5985125" cy="382383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911606" y="4632655"/>
            <a:ext cx="874858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err="1" smtClean="0"/>
              <a:t>parseInt</a:t>
            </a:r>
            <a:r>
              <a:rPr lang="ru-RU" sz="2200" dirty="0"/>
              <a:t>() имеет необязательный второй </a:t>
            </a:r>
            <a:r>
              <a:rPr lang="ru-RU" sz="2200" dirty="0" smtClean="0"/>
              <a:t>параметр:</a:t>
            </a:r>
            <a:endParaRPr lang="ru-RU" sz="2200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605" y="5148852"/>
            <a:ext cx="7329473" cy="142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286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>
            <a:normAutofit/>
          </a:bodyPr>
          <a:lstStyle/>
          <a:p>
            <a:r>
              <a:rPr lang="ru-RU" dirty="0" smtClean="0"/>
              <a:t>Числа</a:t>
            </a:r>
            <a:r>
              <a:rPr lang="ru-RU" dirty="0"/>
              <a:t>. </a:t>
            </a:r>
            <a:r>
              <a:rPr lang="ru-RU" sz="2400" dirty="0"/>
              <a:t>Другие математические функции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13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7" y="784574"/>
            <a:ext cx="1079861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err="1"/>
              <a:t>Math.random</a:t>
            </a:r>
            <a:r>
              <a:rPr lang="ru-RU" sz="2200" dirty="0" smtClean="0"/>
              <a:t>() - возвращает </a:t>
            </a:r>
            <a:r>
              <a:rPr lang="ru-RU" sz="2200" dirty="0"/>
              <a:t>псевдослучайное число в </a:t>
            </a:r>
            <a:r>
              <a:rPr lang="ru-RU" sz="2200" dirty="0" smtClean="0"/>
              <a:t>диапазоне </a:t>
            </a:r>
            <a:r>
              <a:rPr lang="en-US" sz="2200" dirty="0" smtClean="0"/>
              <a:t>[</a:t>
            </a:r>
            <a:r>
              <a:rPr lang="ru-RU" sz="2200" dirty="0" smtClean="0"/>
              <a:t>0</a:t>
            </a:r>
            <a:r>
              <a:rPr lang="en-US" sz="2200" dirty="0" smtClean="0"/>
              <a:t>,</a:t>
            </a:r>
            <a:r>
              <a:rPr lang="ru-RU" sz="2200" dirty="0" smtClean="0"/>
              <a:t> 1</a:t>
            </a:r>
            <a:r>
              <a:rPr lang="en-US" sz="2200" dirty="0" smtClean="0"/>
              <a:t>)</a:t>
            </a:r>
            <a:endParaRPr lang="ru-RU" sz="22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911606" y="2555395"/>
            <a:ext cx="107986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err="1"/>
              <a:t>Math.max</a:t>
            </a:r>
            <a:r>
              <a:rPr lang="ru-RU" sz="2200" dirty="0"/>
              <a:t>(a, b, c...) / </a:t>
            </a:r>
            <a:r>
              <a:rPr lang="ru-RU" sz="2200" dirty="0" err="1"/>
              <a:t>Math.min</a:t>
            </a:r>
            <a:r>
              <a:rPr lang="ru-RU" sz="2200" dirty="0"/>
              <a:t>(a, b, c</a:t>
            </a:r>
            <a:r>
              <a:rPr lang="ru-RU" sz="2200" dirty="0" smtClean="0"/>
              <a:t>...)</a:t>
            </a:r>
            <a:r>
              <a:rPr lang="en-US" sz="2200" dirty="0" smtClean="0"/>
              <a:t> - </a:t>
            </a:r>
            <a:r>
              <a:rPr lang="ru-RU" sz="2200" dirty="0" smtClean="0"/>
              <a:t>возвращает </a:t>
            </a:r>
            <a:r>
              <a:rPr lang="ru-RU" sz="2200" dirty="0"/>
              <a:t>наибольшее/наименьшее число из перечисленных аргументов.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" y="1393081"/>
            <a:ext cx="6989436" cy="99615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0" y="3432200"/>
            <a:ext cx="6857246" cy="697347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911606" y="4313599"/>
            <a:ext cx="1079861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err="1"/>
              <a:t>Math.pow</a:t>
            </a:r>
            <a:r>
              <a:rPr lang="ru-RU" sz="2200" dirty="0"/>
              <a:t>(n, </a:t>
            </a:r>
            <a:r>
              <a:rPr lang="ru-RU" sz="2200" dirty="0" err="1"/>
              <a:t>power</a:t>
            </a:r>
            <a:r>
              <a:rPr lang="ru-RU" sz="2200" dirty="0" smtClean="0"/>
              <a:t>) - возвращает </a:t>
            </a:r>
            <a:r>
              <a:rPr lang="ru-RU" sz="2200" dirty="0"/>
              <a:t>число n, возведённое в степень </a:t>
            </a:r>
            <a:r>
              <a:rPr lang="ru-RU" sz="2200" dirty="0" err="1"/>
              <a:t>power</a:t>
            </a:r>
            <a:endParaRPr lang="ru-RU" sz="2200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49" y="4959930"/>
            <a:ext cx="5784119" cy="40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699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/>
              <a:t>Строки. </a:t>
            </a:r>
            <a:r>
              <a:rPr lang="ru-RU" sz="2400" dirty="0"/>
              <a:t>Кавычки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14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20301"/>
            <a:ext cx="686598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Внутренний формат для строк </a:t>
            </a:r>
            <a:r>
              <a:rPr lang="ru-RU" sz="2200" dirty="0" smtClean="0"/>
              <a:t>-- </a:t>
            </a:r>
            <a:r>
              <a:rPr lang="ru-RU" sz="2200" dirty="0"/>
              <a:t>всегда </a:t>
            </a:r>
            <a:r>
              <a:rPr lang="ru-RU" sz="2200" dirty="0" smtClean="0"/>
              <a:t>UTF-16.</a:t>
            </a:r>
            <a:endParaRPr lang="ru-RU" sz="22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911608" y="1409715"/>
            <a:ext cx="797365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/>
              <a:t>Используются одинарные, двойные, обратных кавычек:</a:t>
            </a:r>
            <a:endParaRPr lang="ru-RU" sz="22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136" y="1944253"/>
            <a:ext cx="4973750" cy="1270895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911607" y="3424535"/>
            <a:ext cx="1101983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Обратные кавычки позволяют вставлять </a:t>
            </a:r>
            <a:r>
              <a:rPr lang="ru-RU" sz="2200" dirty="0"/>
              <a:t>в </a:t>
            </a:r>
            <a:r>
              <a:rPr lang="ru-RU" sz="2200" dirty="0" smtClean="0"/>
              <a:t>строку </a:t>
            </a:r>
            <a:r>
              <a:rPr lang="ru-RU" sz="2200" dirty="0"/>
              <a:t>произвольные выражения, обернув их в ${…}: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136" y="4297895"/>
            <a:ext cx="7363199" cy="169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788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 smtClean="0"/>
              <a:t>Строки. </a:t>
            </a:r>
            <a:r>
              <a:rPr lang="ru-RU" sz="2400" dirty="0"/>
              <a:t>Кавычки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15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3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501389"/>
            <a:ext cx="4191334" cy="2126946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911608" y="920301"/>
            <a:ext cx="944176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Обратные кавычек могут </a:t>
            </a:r>
            <a:r>
              <a:rPr lang="ru-RU" sz="2200" dirty="0"/>
              <a:t>занимать более одной </a:t>
            </a:r>
            <a:r>
              <a:rPr lang="ru-RU" sz="2200" dirty="0" smtClean="0"/>
              <a:t>строки:</a:t>
            </a:r>
            <a:endParaRPr lang="ru-RU" sz="22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5713" y="1501389"/>
            <a:ext cx="2495397" cy="1787483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2203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/>
              <a:t>Строки. </a:t>
            </a:r>
            <a:r>
              <a:rPr lang="ru-RU" sz="2400" dirty="0"/>
              <a:t>Спецсимволы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16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7" y="566348"/>
            <a:ext cx="103709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Многострочные строки также можно создавать с помощью одинарных и двойных </a:t>
            </a:r>
            <a:r>
              <a:rPr lang="ru-RU" sz="2000" dirty="0" smtClean="0"/>
              <a:t>кавычек, используя «</a:t>
            </a:r>
            <a:r>
              <a:rPr lang="ru-RU" sz="2000" dirty="0"/>
              <a:t>символ перевода строки</a:t>
            </a:r>
            <a:r>
              <a:rPr lang="ru-RU" sz="2000" dirty="0" smtClean="0"/>
              <a:t>» -- </a:t>
            </a:r>
            <a:r>
              <a:rPr lang="ru-RU" sz="2000" dirty="0"/>
              <a:t>\n: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7" y="1324421"/>
            <a:ext cx="8942614" cy="769441"/>
          </a:xfrm>
          <a:prstGeom prst="rect">
            <a:avLst/>
          </a:prstGeom>
        </p:spPr>
      </p:pic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359411"/>
              </p:ext>
            </p:extLst>
          </p:nvPr>
        </p:nvGraphicFramePr>
        <p:xfrm>
          <a:off x="439657" y="2185724"/>
          <a:ext cx="11150671" cy="46207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76105">
                  <a:extLst>
                    <a:ext uri="{9D8B030D-6E8A-4147-A177-3AD203B41FA5}">
                      <a16:colId xmlns:a16="http://schemas.microsoft.com/office/drawing/2014/main" val="2117881479"/>
                    </a:ext>
                  </a:extLst>
                </a:gridCol>
                <a:gridCol w="8674566">
                  <a:extLst>
                    <a:ext uri="{9D8B030D-6E8A-4147-A177-3AD203B41FA5}">
                      <a16:colId xmlns:a16="http://schemas.microsoft.com/office/drawing/2014/main" val="428287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Символ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Описание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b"/>
                </a:tc>
                <a:extLst>
                  <a:ext uri="{0D108BD9-81ED-4DB2-BD59-A6C34878D82A}">
                    <a16:rowId xmlns:a16="http://schemas.microsoft.com/office/drawing/2014/main" val="2410239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\n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Перевод строки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extLst>
                  <a:ext uri="{0D108BD9-81ED-4DB2-BD59-A6C34878D82A}">
                    <a16:rowId xmlns:a16="http://schemas.microsoft.com/office/drawing/2014/main" val="2454551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\r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Возврат </a:t>
                      </a:r>
                      <a:r>
                        <a:rPr lang="ru-RU" sz="2000" dirty="0" smtClean="0">
                          <a:effectLst/>
                        </a:rPr>
                        <a:t>каретки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extLst>
                  <a:ext uri="{0D108BD9-81ED-4DB2-BD59-A6C34878D82A}">
                    <a16:rowId xmlns:a16="http://schemas.microsoft.com/office/drawing/2014/main" val="770026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\', \"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 marR="30607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Кавычки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extLst>
                  <a:ext uri="{0D108BD9-81ED-4DB2-BD59-A6C34878D82A}">
                    <a16:rowId xmlns:a16="http://schemas.microsoft.com/office/drawing/2014/main" val="3689988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\\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Обратный слеш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extLst>
                  <a:ext uri="{0D108BD9-81ED-4DB2-BD59-A6C34878D82A}">
                    <a16:rowId xmlns:a16="http://schemas.microsoft.com/office/drawing/2014/main" val="4265482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\t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Знак табуляции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extLst>
                  <a:ext uri="{0D108BD9-81ED-4DB2-BD59-A6C34878D82A}">
                    <a16:rowId xmlns:a16="http://schemas.microsoft.com/office/drawing/2014/main" val="3062325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\b, \f, \v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effectLst/>
                        </a:rPr>
                        <a:t>Backspace</a:t>
                      </a:r>
                      <a:r>
                        <a:rPr lang="ru-RU" sz="2000" dirty="0">
                          <a:effectLst/>
                        </a:rPr>
                        <a:t>, </a:t>
                      </a:r>
                      <a:r>
                        <a:rPr lang="ru-RU" sz="2000" dirty="0" err="1">
                          <a:effectLst/>
                        </a:rPr>
                        <a:t>Form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r>
                        <a:rPr lang="ru-RU" sz="2000" dirty="0" err="1">
                          <a:effectLst/>
                        </a:rPr>
                        <a:t>Feed</a:t>
                      </a:r>
                      <a:r>
                        <a:rPr lang="ru-RU" sz="2000" dirty="0">
                          <a:effectLst/>
                        </a:rPr>
                        <a:t> и </a:t>
                      </a:r>
                      <a:r>
                        <a:rPr lang="ru-RU" sz="2000" dirty="0" err="1">
                          <a:effectLst/>
                        </a:rPr>
                        <a:t>Vertical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r>
                        <a:rPr lang="ru-RU" sz="2000" dirty="0" err="1" smtClean="0">
                          <a:effectLst/>
                        </a:rPr>
                        <a:t>Tab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extLst>
                  <a:ext uri="{0D108BD9-81ED-4DB2-BD59-A6C34878D82A}">
                    <a16:rowId xmlns:a16="http://schemas.microsoft.com/office/drawing/2014/main" val="3419704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\xXX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Символ с шестнадцатеричным </a:t>
                      </a:r>
                      <a:r>
                        <a:rPr lang="ru-RU" sz="2000" dirty="0" err="1">
                          <a:effectLst/>
                        </a:rPr>
                        <a:t>юникодным</a:t>
                      </a:r>
                      <a:r>
                        <a:rPr lang="ru-RU" sz="2000" dirty="0">
                          <a:effectLst/>
                        </a:rPr>
                        <a:t> кодом XX, например, '\x7A' — то же самое, что 'z'.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extLst>
                  <a:ext uri="{0D108BD9-81ED-4DB2-BD59-A6C34878D82A}">
                    <a16:rowId xmlns:a16="http://schemas.microsoft.com/office/drawing/2014/main" val="582264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\uXXXX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Символ в кодировке UTF-16 с шестнадцатеричным кодом </a:t>
                      </a:r>
                      <a:r>
                        <a:rPr lang="ru-RU" sz="2000" dirty="0" smtClean="0">
                          <a:effectLst/>
                        </a:rPr>
                        <a:t>XXXX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extLst>
                  <a:ext uri="{0D108BD9-81ED-4DB2-BD59-A6C34878D82A}">
                    <a16:rowId xmlns:a16="http://schemas.microsoft.com/office/drawing/2014/main" val="2469631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\u{X…XXXXXX} (от 1 до 6 </a:t>
                      </a:r>
                      <a:r>
                        <a:rPr lang="ru-RU" sz="2000" dirty="0" smtClean="0">
                          <a:effectLst/>
                        </a:rPr>
                        <a:t>16-ричных </a:t>
                      </a:r>
                      <a:r>
                        <a:rPr lang="ru-RU" sz="2000" dirty="0">
                          <a:effectLst/>
                        </a:rPr>
                        <a:t>цифр)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Символ в кодировке UTF-32 с шестнадцатеричным кодом от U+0000 до U+10FFFF. 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extLst>
                  <a:ext uri="{0D108BD9-81ED-4DB2-BD59-A6C34878D82A}">
                    <a16:rowId xmlns:a16="http://schemas.microsoft.com/office/drawing/2014/main" val="694933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8953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 smtClean="0"/>
              <a:t>Строки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17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20301"/>
            <a:ext cx="468429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Длина </a:t>
            </a:r>
            <a:r>
              <a:rPr lang="ru-RU" sz="2200" dirty="0" smtClean="0"/>
              <a:t>строки: свойство </a:t>
            </a:r>
            <a:r>
              <a:rPr lang="en-US" sz="2200" dirty="0" smtClean="0"/>
              <a:t>length </a:t>
            </a:r>
            <a:r>
              <a:rPr lang="ru-RU" sz="2200" dirty="0" smtClean="0"/>
              <a:t> </a:t>
            </a:r>
            <a:endParaRPr lang="ru-RU" sz="2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471612"/>
            <a:ext cx="4574792" cy="401037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911608" y="2271489"/>
            <a:ext cx="111506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Доступ к символу на позиции </a:t>
            </a:r>
            <a:r>
              <a:rPr lang="en-US" dirty="0" err="1" smtClean="0"/>
              <a:t>pos</a:t>
            </a:r>
            <a:r>
              <a:rPr lang="ru-RU" dirty="0" smtClean="0"/>
              <a:t> с </a:t>
            </a:r>
            <a:r>
              <a:rPr lang="ru-RU" dirty="0"/>
              <a:t>помощью квадратных </a:t>
            </a:r>
            <a:r>
              <a:rPr lang="ru-RU" dirty="0" smtClean="0"/>
              <a:t>скобок </a:t>
            </a:r>
            <a:r>
              <a:rPr lang="ru-RU" dirty="0"/>
              <a:t>[</a:t>
            </a:r>
            <a:r>
              <a:rPr lang="ru-RU" dirty="0" err="1"/>
              <a:t>pos</a:t>
            </a:r>
            <a:r>
              <a:rPr lang="ru-RU" dirty="0" smtClean="0"/>
              <a:t>] и метода </a:t>
            </a:r>
            <a:r>
              <a:rPr lang="ru-RU" dirty="0" err="1" smtClean="0"/>
              <a:t>charAt</a:t>
            </a:r>
            <a:r>
              <a:rPr lang="ru-RU" dirty="0" smtClean="0"/>
              <a:t>(</a:t>
            </a:r>
            <a:r>
              <a:rPr lang="ru-RU" dirty="0" err="1" smtClean="0"/>
              <a:t>pos</a:t>
            </a:r>
            <a:r>
              <a:rPr lang="ru-RU" dirty="0" smtClean="0"/>
              <a:t>)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73" y="2725628"/>
            <a:ext cx="5627607" cy="1875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836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 smtClean="0"/>
              <a:t>Строки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18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20301"/>
            <a:ext cx="335700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Строки </a:t>
            </a:r>
            <a:r>
              <a:rPr lang="ru-RU" sz="2200" dirty="0" smtClean="0"/>
              <a:t>неизменяемы</a:t>
            </a:r>
            <a:r>
              <a:rPr lang="en-US" sz="2200" dirty="0"/>
              <a:t>:</a:t>
            </a:r>
            <a:endParaRPr lang="ru-RU" sz="2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923" y="1428883"/>
            <a:ext cx="3257858" cy="1322497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911608" y="2936796"/>
            <a:ext cx="1081336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Можно </a:t>
            </a:r>
            <a:r>
              <a:rPr lang="ru-RU" sz="2200" dirty="0" smtClean="0"/>
              <a:t>изменить переменную:</a:t>
            </a:r>
            <a:endParaRPr lang="ru-RU" sz="22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923" y="3454910"/>
            <a:ext cx="3630539" cy="1117089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911609" y="4768678"/>
            <a:ext cx="994320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/>
              <a:t>Методы </a:t>
            </a:r>
            <a:r>
              <a:rPr lang="ru-RU" sz="2200" dirty="0" err="1"/>
              <a:t>toLowerCase</a:t>
            </a:r>
            <a:r>
              <a:rPr lang="ru-RU" sz="2200" dirty="0"/>
              <a:t>() и </a:t>
            </a:r>
            <a:r>
              <a:rPr lang="ru-RU" sz="2200" dirty="0" err="1"/>
              <a:t>toUpperCase</a:t>
            </a:r>
            <a:r>
              <a:rPr lang="ru-RU" sz="2200" dirty="0"/>
              <a:t>() меняют регистр символов: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340" y="5295690"/>
            <a:ext cx="7760328" cy="1030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0953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/>
              <a:t>Строки. </a:t>
            </a:r>
            <a:r>
              <a:rPr lang="ru-RU" sz="2400" dirty="0"/>
              <a:t>Поиск подстроки 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19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911608" y="920301"/>
            <a:ext cx="1051839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Метод </a:t>
            </a:r>
            <a:r>
              <a:rPr lang="ru-RU" sz="2200" dirty="0" err="1" smtClean="0"/>
              <a:t>str.indexOf</a:t>
            </a:r>
            <a:r>
              <a:rPr lang="ru-RU" sz="2200" dirty="0" smtClean="0"/>
              <a:t>(</a:t>
            </a:r>
            <a:r>
              <a:rPr lang="ru-RU" sz="2200" dirty="0" err="1" smtClean="0"/>
              <a:t>substr</a:t>
            </a:r>
            <a:r>
              <a:rPr lang="ru-RU" sz="2200" dirty="0"/>
              <a:t>, </a:t>
            </a:r>
            <a:r>
              <a:rPr lang="ru-RU" sz="2200" dirty="0" err="1"/>
              <a:t>pos</a:t>
            </a:r>
            <a:r>
              <a:rPr lang="ru-RU" sz="2200" dirty="0" smtClean="0"/>
              <a:t>) ищет </a:t>
            </a:r>
            <a:r>
              <a:rPr lang="ru-RU" sz="2200" dirty="0"/>
              <a:t>подстроку </a:t>
            </a:r>
            <a:r>
              <a:rPr lang="ru-RU" sz="2200" dirty="0" err="1"/>
              <a:t>substr</a:t>
            </a:r>
            <a:r>
              <a:rPr lang="ru-RU" sz="2200" dirty="0"/>
              <a:t> в строке </a:t>
            </a:r>
            <a:r>
              <a:rPr lang="ru-RU" sz="2200" dirty="0" err="1"/>
              <a:t>str</a:t>
            </a:r>
            <a:r>
              <a:rPr lang="ru-RU" sz="2200" dirty="0"/>
              <a:t>, начиная с позиции </a:t>
            </a:r>
            <a:r>
              <a:rPr lang="ru-RU" sz="2200" dirty="0" err="1"/>
              <a:t>pos</a:t>
            </a:r>
            <a:r>
              <a:rPr lang="ru-RU" sz="2200" dirty="0"/>
              <a:t>, и возвращает позицию, на которой располагается совпадение, либо -1 при отсутствии совпадений.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9" y="2049557"/>
            <a:ext cx="6403592" cy="1724701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8" y="4527758"/>
            <a:ext cx="6228738" cy="825910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911608" y="4032708"/>
            <a:ext cx="23984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Поиск </a:t>
            </a:r>
            <a:r>
              <a:rPr lang="ru-RU" dirty="0"/>
              <a:t>с позиции </a:t>
            </a:r>
            <a:r>
              <a:rPr lang="ru-RU" dirty="0" smtClean="0"/>
              <a:t>2: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89303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 smtClean="0"/>
              <a:t>Строки.</a:t>
            </a:r>
            <a:r>
              <a:rPr lang="ru-RU" dirty="0"/>
              <a:t> </a:t>
            </a:r>
            <a:r>
              <a:rPr lang="ru-RU" sz="2400" dirty="0"/>
              <a:t>Поиск подстроки 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20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7" y="920301"/>
            <a:ext cx="1037090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Чтобы найти все вхождения подстроки, нужно запустить </a:t>
            </a:r>
            <a:r>
              <a:rPr lang="ru-RU" sz="2200" dirty="0" err="1"/>
              <a:t>indexOf</a:t>
            </a:r>
            <a:r>
              <a:rPr lang="ru-RU" sz="2200" dirty="0"/>
              <a:t> в </a:t>
            </a:r>
            <a:r>
              <a:rPr lang="ru-RU" sz="2200" dirty="0" smtClean="0"/>
              <a:t>цикле:</a:t>
            </a:r>
            <a:endParaRPr lang="ru-RU" sz="2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7" y="1461168"/>
            <a:ext cx="7123752" cy="3612280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911607" y="5384861"/>
            <a:ext cx="1076911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Метод </a:t>
            </a:r>
            <a:r>
              <a:rPr lang="ru-RU" sz="2200" dirty="0" err="1" smtClean="0"/>
              <a:t>lastIndexOf</a:t>
            </a:r>
            <a:r>
              <a:rPr lang="ru-RU" sz="2200" dirty="0" smtClean="0"/>
              <a:t>(</a:t>
            </a:r>
            <a:r>
              <a:rPr lang="ru-RU" sz="2200" dirty="0" err="1" smtClean="0"/>
              <a:t>substr</a:t>
            </a:r>
            <a:r>
              <a:rPr lang="ru-RU" sz="2200" dirty="0"/>
              <a:t>, </a:t>
            </a:r>
            <a:r>
              <a:rPr lang="ru-RU" sz="2200" dirty="0" err="1"/>
              <a:t>position</a:t>
            </a:r>
            <a:r>
              <a:rPr lang="ru-RU" sz="2200" dirty="0" smtClean="0"/>
              <a:t>) ищет </a:t>
            </a:r>
            <a:r>
              <a:rPr lang="ru-RU" sz="2200" dirty="0"/>
              <a:t>с конца строки к её </a:t>
            </a:r>
            <a:r>
              <a:rPr lang="ru-RU" sz="2200" dirty="0" smtClean="0"/>
              <a:t>началу.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2024375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 smtClean="0"/>
              <a:t>Строки.</a:t>
            </a:r>
            <a:r>
              <a:rPr lang="ru-RU" dirty="0"/>
              <a:t> </a:t>
            </a:r>
            <a:r>
              <a:rPr lang="ru-RU" sz="2400" dirty="0"/>
              <a:t>Поиск подстроки 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21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911607" y="1005801"/>
            <a:ext cx="1037090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Метод </a:t>
            </a:r>
            <a:r>
              <a:rPr lang="en-US" sz="2200" dirty="0" smtClean="0"/>
              <a:t>includes(</a:t>
            </a:r>
            <a:r>
              <a:rPr lang="en-US" sz="2200" dirty="0" err="1" smtClean="0"/>
              <a:t>substr</a:t>
            </a:r>
            <a:r>
              <a:rPr lang="en-US" sz="2200" dirty="0"/>
              <a:t>, </a:t>
            </a:r>
            <a:r>
              <a:rPr lang="en-US" sz="2200" dirty="0" err="1"/>
              <a:t>pos</a:t>
            </a:r>
            <a:r>
              <a:rPr lang="en-US" sz="2200" dirty="0"/>
              <a:t>) </a:t>
            </a:r>
            <a:r>
              <a:rPr lang="ru-RU" sz="2200" dirty="0"/>
              <a:t>возвращает </a:t>
            </a:r>
            <a:r>
              <a:rPr lang="en-US" sz="2200" dirty="0"/>
              <a:t>true, </a:t>
            </a:r>
            <a:r>
              <a:rPr lang="ru-RU" sz="2200" dirty="0"/>
              <a:t>если в строке </a:t>
            </a:r>
            <a:r>
              <a:rPr lang="en-US" sz="2200" dirty="0" err="1"/>
              <a:t>str</a:t>
            </a:r>
            <a:r>
              <a:rPr lang="en-US" sz="2200" dirty="0"/>
              <a:t> </a:t>
            </a:r>
            <a:r>
              <a:rPr lang="ru-RU" sz="2200" dirty="0"/>
              <a:t>есть подстрока </a:t>
            </a:r>
            <a:r>
              <a:rPr lang="en-US" sz="2200" dirty="0" err="1"/>
              <a:t>substr</a:t>
            </a:r>
            <a:r>
              <a:rPr lang="en-US" sz="2200" dirty="0"/>
              <a:t>, </a:t>
            </a:r>
            <a:r>
              <a:rPr lang="ru-RU" sz="2200" dirty="0"/>
              <a:t>либо </a:t>
            </a:r>
            <a:r>
              <a:rPr lang="en-US" sz="2200" dirty="0"/>
              <a:t>false, </a:t>
            </a:r>
            <a:r>
              <a:rPr lang="ru-RU" sz="2200" dirty="0"/>
              <a:t>если </a:t>
            </a:r>
            <a:r>
              <a:rPr lang="ru-RU" sz="2200" dirty="0" smtClean="0"/>
              <a:t>нет:</a:t>
            </a:r>
            <a:endParaRPr lang="ru-RU" sz="22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7" y="1885112"/>
            <a:ext cx="8589263" cy="1374282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911606" y="3506701"/>
            <a:ext cx="1073961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Методы </a:t>
            </a:r>
            <a:r>
              <a:rPr lang="ru-RU" sz="2200" dirty="0" err="1" smtClean="0"/>
              <a:t>startsWith</a:t>
            </a:r>
            <a:r>
              <a:rPr lang="ru-RU" sz="2200" dirty="0" smtClean="0"/>
              <a:t> </a:t>
            </a:r>
            <a:r>
              <a:rPr lang="ru-RU" sz="2200" dirty="0"/>
              <a:t>и </a:t>
            </a:r>
            <a:r>
              <a:rPr lang="ru-RU" sz="2200" dirty="0" err="1" smtClean="0"/>
              <a:t>endsWith</a:t>
            </a:r>
            <a:r>
              <a:rPr lang="ru-RU" sz="2200" dirty="0" smtClean="0"/>
              <a:t> </a:t>
            </a:r>
            <a:r>
              <a:rPr lang="ru-RU" sz="2200" dirty="0"/>
              <a:t>проверяют, соответственно, начинается ли и заканчивается ли строка определённой </a:t>
            </a:r>
            <a:r>
              <a:rPr lang="ru-RU" sz="2200" dirty="0" smtClean="0"/>
              <a:t>подстрокой</a:t>
            </a:r>
            <a:r>
              <a:rPr lang="ru-RU" sz="2200" dirty="0"/>
              <a:t>: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6" y="4438358"/>
            <a:ext cx="7220804" cy="76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8339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 smtClean="0"/>
              <a:t>Строки.</a:t>
            </a:r>
            <a:r>
              <a:rPr lang="ru-RU" dirty="0"/>
              <a:t> </a:t>
            </a:r>
            <a:r>
              <a:rPr lang="ru-RU" sz="2400" dirty="0"/>
              <a:t>Получение подстроки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22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20301"/>
            <a:ext cx="1115067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s</a:t>
            </a:r>
            <a:r>
              <a:rPr lang="en-US" sz="2200" dirty="0" smtClean="0"/>
              <a:t>tr.</a:t>
            </a:r>
            <a:r>
              <a:rPr lang="ru-RU" sz="2200" dirty="0" err="1" smtClean="0"/>
              <a:t>slice</a:t>
            </a:r>
            <a:r>
              <a:rPr lang="ru-RU" sz="2200" dirty="0" smtClean="0"/>
              <a:t>(</a:t>
            </a:r>
            <a:r>
              <a:rPr lang="ru-RU" sz="2200" dirty="0" err="1" smtClean="0"/>
              <a:t>start</a:t>
            </a:r>
            <a:r>
              <a:rPr lang="ru-RU" sz="2200" dirty="0" smtClean="0"/>
              <a:t> </a:t>
            </a:r>
            <a:r>
              <a:rPr lang="ru-RU" sz="2200" dirty="0"/>
              <a:t>[, </a:t>
            </a:r>
            <a:r>
              <a:rPr lang="ru-RU" sz="2200" dirty="0" err="1"/>
              <a:t>end</a:t>
            </a:r>
            <a:r>
              <a:rPr lang="ru-RU" sz="2200" dirty="0" smtClean="0"/>
              <a:t>])</a:t>
            </a:r>
            <a:r>
              <a:rPr lang="en-US" sz="2200" dirty="0" smtClean="0"/>
              <a:t> -- </a:t>
            </a:r>
            <a:r>
              <a:rPr lang="ru-RU" sz="2200" dirty="0" smtClean="0"/>
              <a:t>возвращает </a:t>
            </a:r>
            <a:r>
              <a:rPr lang="ru-RU" sz="2200" dirty="0"/>
              <a:t>часть строки от </a:t>
            </a:r>
            <a:r>
              <a:rPr lang="ru-RU" sz="2200" dirty="0" err="1"/>
              <a:t>start</a:t>
            </a:r>
            <a:r>
              <a:rPr lang="ru-RU" sz="2200" dirty="0"/>
              <a:t> до (не включая) </a:t>
            </a:r>
            <a:r>
              <a:rPr lang="ru-RU" sz="2200" dirty="0" err="1"/>
              <a:t>end</a:t>
            </a:r>
            <a:r>
              <a:rPr lang="ru-RU" sz="2200" dirty="0"/>
              <a:t>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480914"/>
            <a:ext cx="5840036" cy="1306531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911608" y="3076338"/>
            <a:ext cx="1091659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str.substring</a:t>
            </a:r>
            <a:r>
              <a:rPr lang="en-US" dirty="0"/>
              <a:t>(start [, end</a:t>
            </a:r>
            <a:r>
              <a:rPr lang="en-US" dirty="0" smtClean="0"/>
              <a:t>])</a:t>
            </a:r>
            <a:r>
              <a:rPr lang="ru-RU" dirty="0" smtClean="0"/>
              <a:t> -- </a:t>
            </a:r>
            <a:r>
              <a:rPr lang="ru-RU" sz="2200" dirty="0" smtClean="0"/>
              <a:t>возвращает</a:t>
            </a:r>
            <a:r>
              <a:rPr lang="ru-RU" dirty="0" smtClean="0"/>
              <a:t> </a:t>
            </a:r>
            <a:r>
              <a:rPr lang="ru-RU" dirty="0"/>
              <a:t>часть строки между </a:t>
            </a:r>
            <a:r>
              <a:rPr lang="en-US" dirty="0"/>
              <a:t>start </a:t>
            </a:r>
            <a:r>
              <a:rPr lang="ru-RU" dirty="0"/>
              <a:t>и </a:t>
            </a:r>
            <a:r>
              <a:rPr lang="en-US" dirty="0"/>
              <a:t>end.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8" y="3632405"/>
            <a:ext cx="6403592" cy="225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8917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 smtClean="0"/>
              <a:t>Строки.</a:t>
            </a:r>
            <a:r>
              <a:rPr lang="ru-RU" dirty="0"/>
              <a:t> </a:t>
            </a:r>
            <a:r>
              <a:rPr lang="ru-RU" sz="2400" dirty="0"/>
              <a:t>Получение подстроки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23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787567"/>
            <a:ext cx="1081336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err="1"/>
              <a:t>str.substr</a:t>
            </a:r>
            <a:r>
              <a:rPr lang="en-US" sz="2200" dirty="0"/>
              <a:t>(start [, length</a:t>
            </a:r>
            <a:r>
              <a:rPr lang="en-US" sz="2200" dirty="0" smtClean="0"/>
              <a:t>])</a:t>
            </a:r>
            <a:r>
              <a:rPr lang="ru-RU" sz="2200" dirty="0" smtClean="0"/>
              <a:t> -- возвращает </a:t>
            </a:r>
            <a:r>
              <a:rPr lang="ru-RU" sz="2200" dirty="0"/>
              <a:t>часть строки от </a:t>
            </a:r>
            <a:r>
              <a:rPr lang="en-US" sz="2200" dirty="0"/>
              <a:t>start </a:t>
            </a:r>
            <a:r>
              <a:rPr lang="ru-RU" sz="2200" dirty="0"/>
              <a:t>длины </a:t>
            </a:r>
            <a:r>
              <a:rPr lang="en-US" sz="2200" dirty="0"/>
              <a:t>length.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335940"/>
            <a:ext cx="4707527" cy="1666238"/>
          </a:xfrm>
          <a:prstGeom prst="rect">
            <a:avLst/>
          </a:prstGeom>
        </p:spPr>
      </p:pic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914627"/>
              </p:ext>
            </p:extLst>
          </p:nvPr>
        </p:nvGraphicFramePr>
        <p:xfrm>
          <a:off x="911608" y="3377727"/>
          <a:ext cx="11150670" cy="266382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243940">
                  <a:extLst>
                    <a:ext uri="{9D8B030D-6E8A-4147-A177-3AD203B41FA5}">
                      <a16:colId xmlns:a16="http://schemas.microsoft.com/office/drawing/2014/main" val="68690532"/>
                    </a:ext>
                  </a:extLst>
                </a:gridCol>
                <a:gridCol w="2990466">
                  <a:extLst>
                    <a:ext uri="{9D8B030D-6E8A-4147-A177-3AD203B41FA5}">
                      <a16:colId xmlns:a16="http://schemas.microsoft.com/office/drawing/2014/main" val="1861592326"/>
                    </a:ext>
                  </a:extLst>
                </a:gridCol>
                <a:gridCol w="4916264">
                  <a:extLst>
                    <a:ext uri="{9D8B030D-6E8A-4147-A177-3AD203B41FA5}">
                      <a16:colId xmlns:a16="http://schemas.microsoft.com/office/drawing/2014/main" val="16085989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 b="1" dirty="0" smtClean="0">
                          <a:effectLst/>
                        </a:rPr>
                        <a:t>Метод</a:t>
                      </a:r>
                      <a:endParaRPr lang="ru-RU" sz="2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 b="1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Диапазон</a:t>
                      </a:r>
                      <a:endParaRPr lang="ru-RU" sz="2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 b="1" dirty="0" smtClean="0">
                          <a:effectLst/>
                        </a:rPr>
                        <a:t>Отрицательные значения</a:t>
                      </a:r>
                      <a:endParaRPr lang="ru-RU" sz="2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b"/>
                </a:tc>
                <a:extLst>
                  <a:ext uri="{0D108BD9-81ED-4DB2-BD59-A6C34878D82A}">
                    <a16:rowId xmlns:a16="http://schemas.microsoft.com/office/drawing/2014/main" val="894051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slice(start, end)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 dirty="0">
                          <a:effectLst/>
                        </a:rPr>
                        <a:t>от </a:t>
                      </a:r>
                      <a:r>
                        <a:rPr lang="ru-RU" sz="2200" dirty="0" err="1">
                          <a:effectLst/>
                        </a:rPr>
                        <a:t>start</a:t>
                      </a:r>
                      <a:r>
                        <a:rPr lang="ru-RU" sz="2200" dirty="0">
                          <a:effectLst/>
                        </a:rPr>
                        <a:t> до </a:t>
                      </a:r>
                      <a:r>
                        <a:rPr lang="ru-RU" sz="2200" dirty="0" err="1">
                          <a:effectLst/>
                        </a:rPr>
                        <a:t>end</a:t>
                      </a:r>
                      <a:r>
                        <a:rPr lang="ru-RU" sz="2200" dirty="0">
                          <a:effectLst/>
                        </a:rPr>
                        <a:t> (не включая </a:t>
                      </a:r>
                      <a:r>
                        <a:rPr lang="ru-RU" sz="2200" dirty="0" err="1">
                          <a:effectLst/>
                        </a:rPr>
                        <a:t>end</a:t>
                      </a:r>
                      <a:r>
                        <a:rPr lang="ru-RU" sz="2200" dirty="0">
                          <a:effectLst/>
                        </a:rPr>
                        <a:t>)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 marR="107632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можно передавать отрицательные значения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extLst>
                  <a:ext uri="{0D108BD9-81ED-4DB2-BD59-A6C34878D82A}">
                    <a16:rowId xmlns:a16="http://schemas.microsoft.com/office/drawing/2014/main" val="289094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substring(start, end)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между start и end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отрицательные значения равнозначны 0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extLst>
                  <a:ext uri="{0D108BD9-81ED-4DB2-BD59-A6C34878D82A}">
                    <a16:rowId xmlns:a16="http://schemas.microsoft.com/office/drawing/2014/main" val="3672159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substr(start, length)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length символов, начиная от start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 dirty="0">
                          <a:effectLst/>
                        </a:rPr>
                        <a:t>значение </a:t>
                      </a:r>
                      <a:r>
                        <a:rPr lang="ru-RU" sz="2200" dirty="0" err="1">
                          <a:effectLst/>
                        </a:rPr>
                        <a:t>start</a:t>
                      </a:r>
                      <a:r>
                        <a:rPr lang="ru-RU" sz="2200" dirty="0">
                          <a:effectLst/>
                        </a:rPr>
                        <a:t> может быть отрицательным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extLst>
                  <a:ext uri="{0D108BD9-81ED-4DB2-BD59-A6C34878D82A}">
                    <a16:rowId xmlns:a16="http://schemas.microsoft.com/office/drawing/2014/main" val="4147093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52205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 smtClean="0"/>
              <a:t>Строки.</a:t>
            </a:r>
            <a:r>
              <a:rPr lang="ru-RU" dirty="0"/>
              <a:t> </a:t>
            </a:r>
            <a:r>
              <a:rPr lang="ru-RU" sz="2400" dirty="0"/>
              <a:t>Сравнение строк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24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790337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200" dirty="0" smtClean="0"/>
              <a:t>Особенности сравнения строк:</a:t>
            </a:r>
            <a:endParaRPr lang="ru-RU" sz="2200" dirty="0"/>
          </a:p>
          <a:p>
            <a:r>
              <a:rPr lang="ru-RU" sz="2200" dirty="0" smtClean="0"/>
              <a:t>1. Строчные </a:t>
            </a:r>
            <a:r>
              <a:rPr lang="ru-RU" sz="2200" dirty="0"/>
              <a:t>буквы больше </a:t>
            </a:r>
            <a:r>
              <a:rPr lang="ru-RU" sz="2200" dirty="0" smtClean="0"/>
              <a:t>заглавных.</a:t>
            </a:r>
            <a:endParaRPr lang="ru-RU" sz="2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136" y="1636294"/>
            <a:ext cx="4795680" cy="42848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999136" y="2215030"/>
            <a:ext cx="935423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2. Буквы</a:t>
            </a:r>
            <a:r>
              <a:rPr lang="ru-RU" sz="2200" dirty="0"/>
              <a:t>, имеющие диакритические знаки, идут «не по порядку</a:t>
            </a:r>
            <a:r>
              <a:rPr lang="ru-RU" sz="2200" dirty="0" smtClean="0"/>
              <a:t>».</a:t>
            </a:r>
            <a:endParaRPr lang="ru-RU" sz="22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136" y="2796171"/>
            <a:ext cx="6848606" cy="418975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998221" y="3524511"/>
            <a:ext cx="424667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Строки кодируются в </a:t>
            </a:r>
            <a:r>
              <a:rPr lang="en-US" sz="2200" dirty="0"/>
              <a:t>UTF-16. </a:t>
            </a:r>
            <a:endParaRPr lang="ru-RU" sz="22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998221" y="3955398"/>
            <a:ext cx="1106314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err="1" smtClean="0"/>
              <a:t>str.codePointAt</a:t>
            </a:r>
            <a:r>
              <a:rPr lang="ru-RU" sz="2200" dirty="0" smtClean="0"/>
              <a:t>(</a:t>
            </a:r>
            <a:r>
              <a:rPr lang="ru-RU" sz="2200" dirty="0" err="1" smtClean="0"/>
              <a:t>pos</a:t>
            </a:r>
            <a:r>
              <a:rPr lang="ru-RU" sz="2200" dirty="0" smtClean="0"/>
              <a:t>) -- возвращает </a:t>
            </a:r>
            <a:r>
              <a:rPr lang="ru-RU" sz="2200" dirty="0"/>
              <a:t>код для символа, находящегося на позиции </a:t>
            </a:r>
            <a:r>
              <a:rPr lang="ru-RU" sz="2200" dirty="0" err="1" smtClean="0"/>
              <a:t>pos</a:t>
            </a:r>
            <a:r>
              <a:rPr lang="ru-RU" sz="2200" dirty="0" smtClean="0"/>
              <a:t>.</a:t>
            </a:r>
            <a:endParaRPr lang="ru-RU" sz="22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999136" y="5580612"/>
            <a:ext cx="1028337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err="1"/>
              <a:t>String.fromCodePoint</a:t>
            </a:r>
            <a:r>
              <a:rPr lang="en-US" sz="2200" dirty="0"/>
              <a:t>(code</a:t>
            </a:r>
            <a:r>
              <a:rPr lang="en-US" sz="2200" dirty="0" smtClean="0"/>
              <a:t>)</a:t>
            </a:r>
            <a:r>
              <a:rPr lang="ru-RU" sz="2200" dirty="0" smtClean="0"/>
              <a:t> -- создаёт </a:t>
            </a:r>
            <a:r>
              <a:rPr lang="ru-RU" sz="2200" dirty="0"/>
              <a:t>символ по его коду </a:t>
            </a:r>
            <a:r>
              <a:rPr lang="en-US" sz="2200" dirty="0"/>
              <a:t>code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136" y="4787021"/>
            <a:ext cx="5637638" cy="702753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221" y="6091081"/>
            <a:ext cx="6125250" cy="40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8290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 smtClean="0"/>
              <a:t>Строки.</a:t>
            </a:r>
            <a:r>
              <a:rPr lang="ru-RU" dirty="0"/>
              <a:t> </a:t>
            </a:r>
            <a:r>
              <a:rPr lang="ru-RU" sz="2400" dirty="0"/>
              <a:t>Сравнение строк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25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7" y="920301"/>
            <a:ext cx="1087235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Выведем строку символов с </a:t>
            </a:r>
            <a:r>
              <a:rPr lang="ru-RU" sz="2200" dirty="0"/>
              <a:t>кодами от 65 до </a:t>
            </a:r>
            <a:r>
              <a:rPr lang="ru-RU" sz="2200" dirty="0" smtClean="0"/>
              <a:t>220:</a:t>
            </a:r>
            <a:endParaRPr lang="ru-RU" sz="22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066" y="1559641"/>
            <a:ext cx="7659482" cy="345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7381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 smtClean="0"/>
              <a:t>Строки.</a:t>
            </a:r>
            <a:r>
              <a:rPr lang="ru-RU" dirty="0"/>
              <a:t> </a:t>
            </a:r>
            <a:r>
              <a:rPr lang="ru-RU" sz="2400" dirty="0"/>
              <a:t>Сравнение строк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26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11608" y="920301"/>
            <a:ext cx="1090185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Вызов </a:t>
            </a:r>
            <a:r>
              <a:rPr lang="ru-RU" sz="2200" dirty="0" err="1"/>
              <a:t>str.localeCompare</a:t>
            </a:r>
            <a:r>
              <a:rPr lang="ru-RU" sz="2200" dirty="0"/>
              <a:t>(str2) возвращает число, которое показывает, какая строка больше в соответствии с правилами языка:</a:t>
            </a:r>
          </a:p>
          <a:p>
            <a:r>
              <a:rPr lang="ru-RU" sz="2200" dirty="0"/>
              <a:t>•	Отрицательное число, если </a:t>
            </a:r>
            <a:r>
              <a:rPr lang="ru-RU" sz="2200" dirty="0" err="1"/>
              <a:t>str</a:t>
            </a:r>
            <a:r>
              <a:rPr lang="ru-RU" sz="2200" dirty="0"/>
              <a:t> меньше str2.</a:t>
            </a:r>
          </a:p>
          <a:p>
            <a:r>
              <a:rPr lang="ru-RU" sz="2200" dirty="0"/>
              <a:t>•	Положительное число, если </a:t>
            </a:r>
            <a:r>
              <a:rPr lang="ru-RU" sz="2200" dirty="0" err="1"/>
              <a:t>str</a:t>
            </a:r>
            <a:r>
              <a:rPr lang="ru-RU" sz="2200" dirty="0"/>
              <a:t> больше str2.</a:t>
            </a:r>
          </a:p>
          <a:p>
            <a:r>
              <a:rPr lang="ru-RU" sz="2200" dirty="0"/>
              <a:t>•	0, если строки равны.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2896983"/>
            <a:ext cx="8653640" cy="40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7234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 smtClean="0"/>
              <a:t>Строки.</a:t>
            </a:r>
            <a:r>
              <a:rPr lang="ru-RU" dirty="0"/>
              <a:t> </a:t>
            </a:r>
            <a:r>
              <a:rPr lang="ru-RU" sz="2400" dirty="0"/>
              <a:t>Заполнение строки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27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7" y="1073778"/>
            <a:ext cx="1084285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Методы </a:t>
            </a:r>
            <a:r>
              <a:rPr lang="ru-RU" sz="2200" dirty="0" err="1" smtClean="0"/>
              <a:t>padStart</a:t>
            </a:r>
            <a:r>
              <a:rPr lang="ru-RU" sz="2200" dirty="0"/>
              <a:t>() и </a:t>
            </a:r>
            <a:r>
              <a:rPr lang="ru-RU" sz="2200" dirty="0" err="1"/>
              <a:t>padEnd</a:t>
            </a:r>
            <a:r>
              <a:rPr lang="ru-RU" sz="2200" dirty="0"/>
              <a:t>() </a:t>
            </a:r>
            <a:r>
              <a:rPr lang="ru-RU" sz="2200" dirty="0" smtClean="0"/>
              <a:t>позволяют </a:t>
            </a:r>
            <a:r>
              <a:rPr lang="ru-RU" sz="2200" dirty="0"/>
              <a:t>добавлять либо пустую строку, либо любую другую строку к началу </a:t>
            </a:r>
            <a:r>
              <a:rPr lang="ru-RU" sz="2200" dirty="0" smtClean="0"/>
              <a:t>или </a:t>
            </a:r>
            <a:r>
              <a:rPr lang="ru-RU" sz="2200" dirty="0"/>
              <a:t>концу исходной </a:t>
            </a:r>
            <a:r>
              <a:rPr lang="ru-RU" sz="2200" dirty="0" smtClean="0"/>
              <a:t>строки.</a:t>
            </a:r>
            <a:endParaRPr lang="ru-RU" sz="2200" dirty="0"/>
          </a:p>
        </p:txBody>
      </p:sp>
      <p:pic>
        <p:nvPicPr>
          <p:cNvPr id="8" name="Рисунок 7"/>
          <p:cNvPicPr/>
          <p:nvPr/>
        </p:nvPicPr>
        <p:blipFill rotWithShape="1">
          <a:blip r:embed="rId2"/>
          <a:srcRect b="14742"/>
          <a:stretch/>
        </p:blipFill>
        <p:spPr>
          <a:xfrm>
            <a:off x="911607" y="1996696"/>
            <a:ext cx="6786201" cy="938234"/>
          </a:xfrm>
          <a:prstGeom prst="rect">
            <a:avLst/>
          </a:prstGeom>
        </p:spPr>
      </p:pic>
      <p:pic>
        <p:nvPicPr>
          <p:cNvPr id="10" name="Рисунок 9"/>
          <p:cNvPicPr/>
          <p:nvPr/>
        </p:nvPicPr>
        <p:blipFill rotWithShape="1">
          <a:blip r:embed="rId3"/>
          <a:srcRect r="19281"/>
          <a:stretch/>
        </p:blipFill>
        <p:spPr>
          <a:xfrm>
            <a:off x="483900" y="3198557"/>
            <a:ext cx="5503941" cy="2184604"/>
          </a:xfrm>
          <a:prstGeom prst="rect">
            <a:avLst/>
          </a:prstGeom>
        </p:spPr>
      </p:pic>
      <p:pic>
        <p:nvPicPr>
          <p:cNvPr id="11" name="Рисунок 10"/>
          <p:cNvPicPr/>
          <p:nvPr/>
        </p:nvPicPr>
        <p:blipFill rotWithShape="1">
          <a:blip r:embed="rId4"/>
          <a:srcRect r="20435"/>
          <a:stretch/>
        </p:blipFill>
        <p:spPr>
          <a:xfrm>
            <a:off x="6375609" y="3198557"/>
            <a:ext cx="5425206" cy="218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7617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>
            <a:normAutofit/>
          </a:bodyPr>
          <a:lstStyle/>
          <a:p>
            <a:r>
              <a:rPr lang="ru-RU" dirty="0"/>
              <a:t>Массивы. </a:t>
            </a:r>
            <a:r>
              <a:rPr lang="ru-RU" sz="2400" dirty="0"/>
              <a:t>Объявление 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28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4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7" y="920301"/>
            <a:ext cx="4312421" cy="702022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911606" y="1896293"/>
            <a:ext cx="1050364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Можно указать начальные значения и получить </a:t>
            </a:r>
            <a:r>
              <a:rPr lang="ru-RU" sz="2200" dirty="0"/>
              <a:t>элемент, указав его номер в квадратных скобках: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6" y="2698751"/>
            <a:ext cx="7574464" cy="1637275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911606" y="4645431"/>
            <a:ext cx="1011366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/>
              <a:t>Замена </a:t>
            </a:r>
            <a:r>
              <a:rPr lang="ru-RU" sz="2200" dirty="0"/>
              <a:t>элемента </a:t>
            </a:r>
            <a:r>
              <a:rPr lang="ru-RU" sz="2200" dirty="0" smtClean="0"/>
              <a:t>и добавление нового </a:t>
            </a:r>
            <a:r>
              <a:rPr lang="ru-RU" sz="2200" dirty="0"/>
              <a:t>к существующему массиву:</a:t>
            </a: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606" y="5171410"/>
            <a:ext cx="10298676" cy="742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8274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>
            <a:normAutofit/>
          </a:bodyPr>
          <a:lstStyle/>
          <a:p>
            <a:r>
              <a:rPr lang="ru-RU" dirty="0"/>
              <a:t>Массивы. </a:t>
            </a:r>
            <a:r>
              <a:rPr lang="ru-RU" sz="2400" dirty="0"/>
              <a:t>Объявление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29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7" y="1011567"/>
            <a:ext cx="1010543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Общее число элементов массива содержится в его свойстве </a:t>
            </a:r>
            <a:r>
              <a:rPr lang="ru-RU" sz="2200" dirty="0" err="1"/>
              <a:t>length</a:t>
            </a:r>
            <a:r>
              <a:rPr lang="ru-RU" sz="2200" dirty="0"/>
              <a:t>: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526" y="1533720"/>
            <a:ext cx="7789595" cy="767028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014525" y="2589642"/>
            <a:ext cx="982553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Вывод массива целиком:</a:t>
            </a:r>
            <a:endParaRPr lang="ru-RU" sz="22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526" y="3185597"/>
            <a:ext cx="7777876" cy="442505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014524" y="3844551"/>
            <a:ext cx="1000251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В массиве могут храниться элементы любого </a:t>
            </a:r>
            <a:r>
              <a:rPr lang="ru-RU" sz="2200" dirty="0" smtClean="0"/>
              <a:t>типа:</a:t>
            </a:r>
            <a:endParaRPr lang="ru-RU" sz="2200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72" y="4363636"/>
            <a:ext cx="11951885" cy="151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2881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>
            <a:normAutofit/>
          </a:bodyPr>
          <a:lstStyle/>
          <a:p>
            <a:r>
              <a:rPr lang="ru-RU" dirty="0" smtClean="0"/>
              <a:t>Массивы. </a:t>
            </a:r>
            <a:r>
              <a:rPr lang="ru-RU" sz="2400" dirty="0" smtClean="0"/>
              <a:t>Объявление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30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11608" y="1026312"/>
            <a:ext cx="905830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Массив может </a:t>
            </a:r>
            <a:r>
              <a:rPr lang="ru-RU" sz="2200" dirty="0"/>
              <a:t>оканчиваться запятой: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563210"/>
            <a:ext cx="2922973" cy="156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4617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>
            <a:normAutofit/>
          </a:bodyPr>
          <a:lstStyle/>
          <a:p>
            <a:r>
              <a:rPr lang="ru-RU" dirty="0" smtClean="0"/>
              <a:t>Массивы</a:t>
            </a:r>
            <a:r>
              <a:rPr lang="ru-RU" dirty="0"/>
              <a:t>. </a:t>
            </a:r>
            <a:r>
              <a:rPr lang="ru-RU" sz="2700" dirty="0"/>
              <a:t>Методы </a:t>
            </a:r>
            <a:r>
              <a:rPr lang="en-US" sz="2700" dirty="0"/>
              <a:t>pop/push, shift/</a:t>
            </a:r>
            <a:r>
              <a:rPr lang="en-US" sz="2700" dirty="0" err="1"/>
              <a:t>unshift</a:t>
            </a:r>
            <a:endParaRPr lang="ru-RU" sz="27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31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625336"/>
            <a:ext cx="1048889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/>
              <a:t>p</a:t>
            </a:r>
            <a:r>
              <a:rPr lang="ru-RU" sz="2200" dirty="0" err="1" smtClean="0"/>
              <a:t>op</a:t>
            </a:r>
            <a:r>
              <a:rPr lang="ru-RU" sz="2200" dirty="0" smtClean="0"/>
              <a:t> -- удаляет </a:t>
            </a:r>
            <a:r>
              <a:rPr lang="ru-RU" sz="2200" dirty="0"/>
              <a:t>последний элемент из массива и возвращает его: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078148"/>
            <a:ext cx="7782208" cy="1045627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911607" y="2160437"/>
            <a:ext cx="935326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p</a:t>
            </a:r>
            <a:r>
              <a:rPr lang="ru-RU" sz="2200" dirty="0" err="1" smtClean="0"/>
              <a:t>ush</a:t>
            </a:r>
            <a:r>
              <a:rPr lang="en-US" sz="2200" dirty="0" smtClean="0"/>
              <a:t> -- </a:t>
            </a:r>
            <a:r>
              <a:rPr lang="ru-RU" sz="2200" dirty="0" smtClean="0"/>
              <a:t>добавляет </a:t>
            </a:r>
            <a:r>
              <a:rPr lang="ru-RU" sz="2200" dirty="0"/>
              <a:t>элемент в конец массива: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7" y="2598501"/>
            <a:ext cx="7782208" cy="1045627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911607" y="3725045"/>
            <a:ext cx="1069537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s</a:t>
            </a:r>
            <a:r>
              <a:rPr lang="ru-RU" sz="2200" dirty="0" err="1" smtClean="0"/>
              <a:t>hift</a:t>
            </a:r>
            <a:r>
              <a:rPr lang="ru-RU" sz="2200" dirty="0" smtClean="0"/>
              <a:t> -- удаляет </a:t>
            </a:r>
            <a:r>
              <a:rPr lang="ru-RU" sz="2200" dirty="0"/>
              <a:t>из массива первый элемент и возвращает его:</a:t>
            </a: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606" y="4163109"/>
            <a:ext cx="7557053" cy="1015375"/>
          </a:xfrm>
          <a:prstGeom prst="rect">
            <a:avLst/>
          </a:prstGeom>
        </p:spPr>
      </p:pic>
      <p:sp>
        <p:nvSpPr>
          <p:cNvPr id="16" name="Прямоугольник 15"/>
          <p:cNvSpPr/>
          <p:nvPr/>
        </p:nvSpPr>
        <p:spPr>
          <a:xfrm>
            <a:off x="911606" y="5284860"/>
            <a:ext cx="867484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/>
              <a:t>u</a:t>
            </a:r>
            <a:r>
              <a:rPr lang="ru-RU" sz="2200" dirty="0" err="1" smtClean="0"/>
              <a:t>nshift</a:t>
            </a:r>
            <a:r>
              <a:rPr lang="en-US" sz="2200" dirty="0" smtClean="0"/>
              <a:t> -- </a:t>
            </a:r>
            <a:r>
              <a:rPr lang="ru-RU" sz="2200" dirty="0" smtClean="0"/>
              <a:t>добавляет </a:t>
            </a:r>
            <a:r>
              <a:rPr lang="ru-RU" sz="2200" dirty="0"/>
              <a:t>элемент в начало массива:</a:t>
            </a:r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605" y="5698221"/>
            <a:ext cx="7829997" cy="105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5464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>
            <a:normAutofit/>
          </a:bodyPr>
          <a:lstStyle/>
          <a:p>
            <a:r>
              <a:rPr lang="ru-RU" dirty="0" smtClean="0"/>
              <a:t>Массивы</a:t>
            </a:r>
            <a:r>
              <a:rPr lang="ru-RU" dirty="0"/>
              <a:t>. </a:t>
            </a:r>
            <a:r>
              <a:rPr lang="ru-RU" sz="2700" dirty="0"/>
              <a:t>Методы </a:t>
            </a:r>
            <a:r>
              <a:rPr lang="en-US" sz="2700" dirty="0"/>
              <a:t>pop/push, shift/</a:t>
            </a:r>
            <a:r>
              <a:rPr lang="en-US" sz="2700" dirty="0" err="1"/>
              <a:t>unshift</a:t>
            </a:r>
            <a:endParaRPr lang="ru-RU" sz="27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32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911608" y="920301"/>
            <a:ext cx="1016443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Методы </a:t>
            </a:r>
            <a:r>
              <a:rPr lang="ru-RU" sz="2200" dirty="0" err="1"/>
              <a:t>push</a:t>
            </a:r>
            <a:r>
              <a:rPr lang="ru-RU" sz="2200" dirty="0"/>
              <a:t> и </a:t>
            </a:r>
            <a:r>
              <a:rPr lang="ru-RU" sz="2200" dirty="0" err="1"/>
              <a:t>unshift</a:t>
            </a:r>
            <a:r>
              <a:rPr lang="ru-RU" sz="2200" dirty="0"/>
              <a:t> могут добавлять сразу несколько элементов: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22" y="1483902"/>
            <a:ext cx="8820573" cy="233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9364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 smtClean="0"/>
              <a:t>Массивы</a:t>
            </a:r>
            <a:r>
              <a:rPr lang="ru-RU" dirty="0"/>
              <a:t>. </a:t>
            </a:r>
            <a:r>
              <a:rPr lang="ru-RU" sz="2400" dirty="0"/>
              <a:t>Внутреннее устройство массива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33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4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920301"/>
            <a:ext cx="3586650" cy="995414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911607" y="2490028"/>
            <a:ext cx="10651127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Неправильное применение </a:t>
            </a:r>
            <a:r>
              <a:rPr lang="ru-RU" sz="2200" dirty="0"/>
              <a:t>массива:</a:t>
            </a:r>
          </a:p>
          <a:p>
            <a:r>
              <a:rPr lang="ru-RU" sz="2200" dirty="0" smtClean="0"/>
              <a:t>•</a:t>
            </a:r>
            <a:r>
              <a:rPr lang="en-US" sz="2200" dirty="0" smtClean="0"/>
              <a:t> </a:t>
            </a:r>
            <a:r>
              <a:rPr lang="ru-RU" sz="2200" dirty="0" smtClean="0"/>
              <a:t>Добавление </a:t>
            </a:r>
            <a:r>
              <a:rPr lang="ru-RU" sz="2200" dirty="0"/>
              <a:t>нечислового </a:t>
            </a:r>
            <a:r>
              <a:rPr lang="ru-RU" sz="2200" dirty="0" smtClean="0"/>
              <a:t>свойства: </a:t>
            </a:r>
            <a:r>
              <a:rPr lang="ru-RU" sz="2200" dirty="0" err="1"/>
              <a:t>arr.test</a:t>
            </a:r>
            <a:r>
              <a:rPr lang="ru-RU" sz="2200" dirty="0"/>
              <a:t> = 5.</a:t>
            </a:r>
          </a:p>
          <a:p>
            <a:r>
              <a:rPr lang="ru-RU" sz="2200" dirty="0" smtClean="0"/>
              <a:t>•</a:t>
            </a:r>
            <a:r>
              <a:rPr lang="en-US" sz="2200" dirty="0" smtClean="0"/>
              <a:t> </a:t>
            </a:r>
            <a:r>
              <a:rPr lang="ru-RU" sz="2200" dirty="0" smtClean="0"/>
              <a:t>Создание пустот: </a:t>
            </a:r>
            <a:r>
              <a:rPr lang="ru-RU" sz="2200" dirty="0"/>
              <a:t>добавление </a:t>
            </a:r>
            <a:r>
              <a:rPr lang="ru-RU" sz="2200" dirty="0" err="1"/>
              <a:t>arr</a:t>
            </a:r>
            <a:r>
              <a:rPr lang="ru-RU" sz="2200" dirty="0"/>
              <a:t>[0], затем </a:t>
            </a:r>
            <a:r>
              <a:rPr lang="ru-RU" sz="2200" dirty="0" err="1"/>
              <a:t>arr</a:t>
            </a:r>
            <a:r>
              <a:rPr lang="ru-RU" sz="2200" dirty="0"/>
              <a:t>[1000] (между ними ничего нет).</a:t>
            </a:r>
          </a:p>
          <a:p>
            <a:r>
              <a:rPr lang="ru-RU" sz="2200" dirty="0" smtClean="0"/>
              <a:t>•</a:t>
            </a:r>
            <a:r>
              <a:rPr lang="en-US" sz="2200" dirty="0" smtClean="0"/>
              <a:t> </a:t>
            </a:r>
            <a:r>
              <a:rPr lang="ru-RU" sz="2200" dirty="0" smtClean="0"/>
              <a:t>Заполнение </a:t>
            </a:r>
            <a:r>
              <a:rPr lang="ru-RU" sz="2200" dirty="0"/>
              <a:t>массива в обратном </a:t>
            </a:r>
            <a:r>
              <a:rPr lang="ru-RU" sz="2200" dirty="0" smtClean="0"/>
              <a:t>порядке: </a:t>
            </a:r>
            <a:r>
              <a:rPr lang="ru-RU" sz="2200" dirty="0" err="1"/>
              <a:t>arr</a:t>
            </a:r>
            <a:r>
              <a:rPr lang="ru-RU" sz="2200" dirty="0"/>
              <a:t>[1000], </a:t>
            </a:r>
            <a:r>
              <a:rPr lang="ru-RU" sz="2200" dirty="0" err="1"/>
              <a:t>arr</a:t>
            </a:r>
            <a:r>
              <a:rPr lang="ru-RU" sz="2200" dirty="0"/>
              <a:t>[999] и т.д.</a:t>
            </a:r>
          </a:p>
        </p:txBody>
      </p:sp>
      <p:pic>
        <p:nvPicPr>
          <p:cNvPr id="11" name="Рисунок 10"/>
          <p:cNvPicPr/>
          <p:nvPr/>
        </p:nvPicPr>
        <p:blipFill rotWithShape="1">
          <a:blip r:embed="rId3"/>
          <a:srcRect t="50000"/>
          <a:stretch/>
        </p:blipFill>
        <p:spPr bwMode="auto">
          <a:xfrm>
            <a:off x="911607" y="4849445"/>
            <a:ext cx="6064379" cy="148653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070791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 smtClean="0"/>
              <a:t>Массивы</a:t>
            </a:r>
            <a:r>
              <a:rPr lang="ru-RU" dirty="0"/>
              <a:t>. </a:t>
            </a:r>
            <a:r>
              <a:rPr lang="ru-RU" sz="2400" dirty="0"/>
              <a:t>Перебор элементов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34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911608" y="920301"/>
            <a:ext cx="144943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/>
              <a:t>Цикл </a:t>
            </a:r>
            <a:r>
              <a:rPr lang="en-US" sz="2200" dirty="0" smtClean="0"/>
              <a:t>for</a:t>
            </a:r>
            <a:r>
              <a:rPr lang="ru-RU" sz="2200" dirty="0" smtClean="0"/>
              <a:t>:</a:t>
            </a:r>
            <a:r>
              <a:rPr lang="en-US" sz="2200" dirty="0" smtClean="0"/>
              <a:t> </a:t>
            </a:r>
            <a:endParaRPr lang="ru-RU" sz="22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418581"/>
            <a:ext cx="6473045" cy="1531095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911608" y="3196248"/>
            <a:ext cx="180049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/>
              <a:t>Цикл </a:t>
            </a:r>
            <a:r>
              <a:rPr lang="en-US" sz="2200" dirty="0" err="1"/>
              <a:t>for..of</a:t>
            </a:r>
            <a:r>
              <a:rPr lang="en-US" sz="2200" dirty="0"/>
              <a:t>:</a:t>
            </a:r>
            <a:endParaRPr lang="ru-RU" sz="2200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8" y="3676194"/>
            <a:ext cx="6715064" cy="1500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3370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 smtClean="0"/>
              <a:t>Массивы</a:t>
            </a:r>
            <a:r>
              <a:rPr lang="ru-RU" dirty="0"/>
              <a:t>. </a:t>
            </a:r>
            <a:r>
              <a:rPr lang="ru-RU" sz="2400" dirty="0"/>
              <a:t>Свойство </a:t>
            </a:r>
            <a:r>
              <a:rPr lang="en-US" sz="2400" dirty="0"/>
              <a:t>length 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35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4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465415"/>
            <a:ext cx="5003652" cy="126246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911608" y="920301"/>
            <a:ext cx="1101983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err="1" smtClean="0"/>
              <a:t>length</a:t>
            </a:r>
            <a:r>
              <a:rPr lang="ru-RU" sz="2200" dirty="0" smtClean="0"/>
              <a:t> -- это наибольший </a:t>
            </a:r>
            <a:r>
              <a:rPr lang="ru-RU" sz="2200" dirty="0"/>
              <a:t>цифровой индекс плюс </a:t>
            </a:r>
            <a:r>
              <a:rPr lang="ru-RU" sz="2200" dirty="0" smtClean="0"/>
              <a:t>один:</a:t>
            </a:r>
            <a:endParaRPr lang="ru-RU" sz="22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911608" y="2980805"/>
            <a:ext cx="450315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/>
              <a:t>length </a:t>
            </a:r>
            <a:r>
              <a:rPr lang="en-US" sz="2200" dirty="0" smtClean="0"/>
              <a:t>–</a:t>
            </a:r>
            <a:r>
              <a:rPr lang="ru-RU" sz="2200" dirty="0" smtClean="0"/>
              <a:t> можно перезаписать:</a:t>
            </a:r>
            <a:endParaRPr lang="ru-RU" sz="2200" dirty="0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8" y="3548677"/>
            <a:ext cx="5003652" cy="214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3879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 smtClean="0"/>
              <a:t>Массивы</a:t>
            </a:r>
            <a:r>
              <a:rPr lang="ru-RU" dirty="0"/>
              <a:t>. 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36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684329"/>
            <a:ext cx="651492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/>
              <a:t>Создание массива с помощью </a:t>
            </a:r>
            <a:r>
              <a:rPr lang="en-US" sz="2200" dirty="0" smtClean="0"/>
              <a:t>new </a:t>
            </a:r>
            <a:r>
              <a:rPr lang="en-US" sz="2200" dirty="0"/>
              <a:t>Array</a:t>
            </a:r>
            <a:r>
              <a:rPr lang="en-US" sz="2200" dirty="0" smtClean="0"/>
              <a:t>()</a:t>
            </a:r>
            <a:r>
              <a:rPr lang="ru-RU" sz="2200" dirty="0" smtClean="0"/>
              <a:t>:</a:t>
            </a:r>
            <a:endParaRPr lang="ru-RU" sz="2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225654"/>
            <a:ext cx="8139988" cy="44091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8" y="1913791"/>
            <a:ext cx="5707028" cy="1743814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911608" y="3904826"/>
            <a:ext cx="370486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Многомерные </a:t>
            </a:r>
            <a:r>
              <a:rPr lang="ru-RU" sz="2200" dirty="0" smtClean="0"/>
              <a:t>массивы:</a:t>
            </a:r>
            <a:endParaRPr lang="ru-RU" sz="22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608" y="4335713"/>
            <a:ext cx="5254133" cy="236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5555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 smtClean="0"/>
              <a:t>Массивы</a:t>
            </a:r>
            <a:r>
              <a:rPr lang="ru-RU" dirty="0"/>
              <a:t>. 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37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911608" y="920301"/>
            <a:ext cx="105036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Метод </a:t>
            </a:r>
            <a:r>
              <a:rPr lang="ru-RU" dirty="0" err="1" smtClean="0"/>
              <a:t>String</a:t>
            </a:r>
            <a:r>
              <a:rPr lang="ru-RU" dirty="0" smtClean="0"/>
              <a:t> возвращает </a:t>
            </a:r>
            <a:r>
              <a:rPr lang="ru-RU" dirty="0"/>
              <a:t>список элементов, разделённых </a:t>
            </a:r>
            <a:r>
              <a:rPr lang="ru-RU" dirty="0" smtClean="0"/>
              <a:t>запятыми:</a:t>
            </a:r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450077"/>
            <a:ext cx="6871172" cy="132262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8" y="3109452"/>
            <a:ext cx="5312211" cy="1059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6347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/>
              <a:t>Методы </a:t>
            </a:r>
            <a:r>
              <a:rPr lang="ru-RU" dirty="0" smtClean="0"/>
              <a:t>массивов</a:t>
            </a:r>
            <a:r>
              <a:rPr lang="ru-RU" dirty="0"/>
              <a:t>. </a:t>
            </a:r>
            <a:r>
              <a:rPr lang="ru-RU" sz="2700" dirty="0"/>
              <a:t>Добавление/удаление элементов 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38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896705"/>
            <a:ext cx="592021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/>
              <a:t>Удаление элемента с помощью </a:t>
            </a:r>
            <a:r>
              <a:rPr lang="en-US" sz="2200" dirty="0" smtClean="0"/>
              <a:t>delete</a:t>
            </a:r>
            <a:r>
              <a:rPr lang="ru-RU" sz="2200" dirty="0" smtClean="0"/>
              <a:t>:</a:t>
            </a:r>
            <a:endParaRPr lang="ru-RU" sz="2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424196"/>
            <a:ext cx="5378634" cy="1407493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911608" y="2965416"/>
            <a:ext cx="1115067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 err="1" smtClean="0"/>
              <a:t>arr.splice</a:t>
            </a:r>
            <a:r>
              <a:rPr lang="ru-RU" sz="2200" b="1" dirty="0" smtClean="0"/>
              <a:t>(</a:t>
            </a:r>
            <a:r>
              <a:rPr lang="ru-RU" sz="2200" b="1" dirty="0" err="1" smtClean="0"/>
              <a:t>str</a:t>
            </a:r>
            <a:r>
              <a:rPr lang="ru-RU" sz="2200" b="1" dirty="0"/>
              <a:t>)</a:t>
            </a:r>
            <a:r>
              <a:rPr lang="ru-RU" sz="2200" dirty="0"/>
              <a:t> </a:t>
            </a:r>
            <a:r>
              <a:rPr lang="ru-RU" sz="2200" dirty="0" smtClean="0"/>
              <a:t>– добавляет, удаляет </a:t>
            </a:r>
            <a:r>
              <a:rPr lang="ru-RU" sz="2200" dirty="0"/>
              <a:t>и </a:t>
            </a:r>
            <a:r>
              <a:rPr lang="ru-RU" sz="2200" dirty="0" smtClean="0"/>
              <a:t>заменяет элементы массива.</a:t>
            </a:r>
            <a:endParaRPr lang="ru-RU" sz="22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911608" y="3472805"/>
            <a:ext cx="689964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err="1"/>
              <a:t>arr.splice</a:t>
            </a:r>
            <a:r>
              <a:rPr lang="en-US" sz="2200" dirty="0"/>
              <a:t>(index[, </a:t>
            </a:r>
            <a:r>
              <a:rPr lang="en-US" sz="2200" dirty="0" err="1"/>
              <a:t>deleteCount</a:t>
            </a:r>
            <a:r>
              <a:rPr lang="en-US" sz="2200" dirty="0"/>
              <a:t>, elem1, ..., </a:t>
            </a:r>
            <a:r>
              <a:rPr lang="en-US" sz="2200" dirty="0" err="1"/>
              <a:t>elemN</a:t>
            </a:r>
            <a:r>
              <a:rPr lang="en-US" sz="2200" dirty="0"/>
              <a:t>])</a:t>
            </a:r>
            <a:endParaRPr lang="ru-RU" sz="22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911608" y="3999655"/>
            <a:ext cx="2632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Удаление элемента:</a:t>
            </a:r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8" y="4452804"/>
            <a:ext cx="6240626" cy="988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9874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/>
              <a:t>Методы </a:t>
            </a:r>
            <a:r>
              <a:rPr lang="ru-RU" dirty="0" smtClean="0"/>
              <a:t>массивов</a:t>
            </a:r>
            <a:r>
              <a:rPr lang="ru-RU" dirty="0"/>
              <a:t>. </a:t>
            </a:r>
            <a:r>
              <a:rPr lang="ru-RU" sz="2700" dirty="0"/>
              <a:t>Добавление/удаление элементов 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39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5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218662"/>
            <a:ext cx="8985298" cy="1005348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>
          <a:xfrm>
            <a:off x="782153" y="704941"/>
            <a:ext cx="303320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/>
              <a:t>Замена элементов:</a:t>
            </a:r>
            <a:endParaRPr lang="ru-RU" sz="22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911608" y="2313673"/>
            <a:ext cx="930902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err="1"/>
              <a:t>splice</a:t>
            </a:r>
            <a:r>
              <a:rPr lang="ru-RU" sz="2200" dirty="0"/>
              <a:t> возвращает массив из удалённых </a:t>
            </a:r>
            <a:r>
              <a:rPr lang="ru-RU" sz="2200" dirty="0" smtClean="0"/>
              <a:t>элементов:</a:t>
            </a:r>
            <a:endParaRPr lang="ru-RU" sz="2200" dirty="0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8" y="2810730"/>
            <a:ext cx="9309024" cy="1041569"/>
          </a:xfrm>
          <a:prstGeom prst="rect">
            <a:avLst/>
          </a:prstGeom>
        </p:spPr>
      </p:pic>
      <p:sp>
        <p:nvSpPr>
          <p:cNvPr id="17" name="Прямоугольник 16"/>
          <p:cNvSpPr/>
          <p:nvPr/>
        </p:nvSpPr>
        <p:spPr>
          <a:xfrm>
            <a:off x="911608" y="3968020"/>
            <a:ext cx="299473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/>
              <a:t>Вставка элементов:</a:t>
            </a:r>
            <a:endParaRPr lang="ru-RU" sz="2200" dirty="0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518" y="4514628"/>
            <a:ext cx="9216650" cy="97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3949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/>
              <a:t>Методы </a:t>
            </a:r>
            <a:r>
              <a:rPr lang="ru-RU" dirty="0" smtClean="0"/>
              <a:t>массивов</a:t>
            </a:r>
            <a:r>
              <a:rPr lang="ru-RU" dirty="0"/>
              <a:t>. </a:t>
            </a:r>
            <a:r>
              <a:rPr lang="ru-RU" sz="2700" dirty="0"/>
              <a:t>Добавление/удаление элементов 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40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7" y="775589"/>
            <a:ext cx="1047414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Отрицательный индекс -- </a:t>
            </a:r>
            <a:r>
              <a:rPr lang="ru-RU" sz="2200" dirty="0"/>
              <a:t>позволяет начать отсчёт элементов с </a:t>
            </a:r>
            <a:r>
              <a:rPr lang="ru-RU" sz="2200" dirty="0" smtClean="0"/>
              <a:t>конца:</a:t>
            </a:r>
            <a:endParaRPr lang="ru-RU" sz="2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6" y="1372464"/>
            <a:ext cx="4315597" cy="97252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911606" y="2612490"/>
            <a:ext cx="1065112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Метод </a:t>
            </a:r>
            <a:r>
              <a:rPr lang="en-US" sz="2200" b="1" dirty="0" err="1"/>
              <a:t>arr.slice</a:t>
            </a:r>
            <a:r>
              <a:rPr lang="en-US" sz="2200" b="1" dirty="0"/>
              <a:t>(start, end)</a:t>
            </a:r>
            <a:r>
              <a:rPr lang="ru-RU" sz="2200" dirty="0" smtClean="0"/>
              <a:t> возвращает </a:t>
            </a:r>
            <a:r>
              <a:rPr lang="ru-RU" sz="2200" dirty="0"/>
              <a:t>новый массив, в который копирует элементы, начиная с индекса </a:t>
            </a:r>
            <a:r>
              <a:rPr lang="ru-RU" sz="2200" dirty="0" err="1"/>
              <a:t>start</a:t>
            </a:r>
            <a:r>
              <a:rPr lang="ru-RU" sz="2200" dirty="0"/>
              <a:t> и до </a:t>
            </a:r>
            <a:r>
              <a:rPr lang="ru-RU" sz="2200" dirty="0" err="1"/>
              <a:t>end</a:t>
            </a:r>
            <a:r>
              <a:rPr lang="ru-RU" sz="2200" dirty="0"/>
              <a:t> (не включая </a:t>
            </a:r>
            <a:r>
              <a:rPr lang="ru-RU" sz="2200" dirty="0" err="1" smtClean="0"/>
              <a:t>end</a:t>
            </a:r>
            <a:r>
              <a:rPr lang="ru-RU" sz="2200" dirty="0" smtClean="0"/>
              <a:t>).  </a:t>
            </a:r>
            <a:endParaRPr lang="ru-RU" sz="22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80" y="3454656"/>
            <a:ext cx="5106914" cy="969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8430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/>
              <a:t>Методы </a:t>
            </a:r>
            <a:r>
              <a:rPr lang="ru-RU" dirty="0" smtClean="0"/>
              <a:t>массивов</a:t>
            </a:r>
            <a:r>
              <a:rPr lang="ru-RU" dirty="0"/>
              <a:t>. </a:t>
            </a:r>
            <a:r>
              <a:rPr lang="ru-RU" sz="2700" dirty="0"/>
              <a:t>Добавление/удаление элементов 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41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911607" y="713825"/>
            <a:ext cx="1065112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Метод </a:t>
            </a:r>
            <a:r>
              <a:rPr lang="ru-RU" sz="2200" b="1" dirty="0" err="1" smtClean="0"/>
              <a:t>arr.concat</a:t>
            </a:r>
            <a:r>
              <a:rPr lang="ru-RU" sz="2200" b="1" dirty="0" smtClean="0"/>
              <a:t>() </a:t>
            </a:r>
            <a:r>
              <a:rPr lang="ru-RU" sz="2200" dirty="0"/>
              <a:t>создаёт новый массив, в который копирует данные из других массивов и дополнительные </a:t>
            </a:r>
            <a:r>
              <a:rPr lang="ru-RU" sz="2200" dirty="0" smtClean="0"/>
              <a:t>значения.</a:t>
            </a:r>
            <a:endParaRPr lang="ru-RU" sz="22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911607" y="1589882"/>
            <a:ext cx="348364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err="1"/>
              <a:t>arr.concat</a:t>
            </a:r>
            <a:r>
              <a:rPr lang="en-US" sz="2200" dirty="0"/>
              <a:t>(arg1, arg2...)</a:t>
            </a:r>
            <a:endParaRPr lang="ru-RU" sz="2200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7" y="2105266"/>
            <a:ext cx="8121162" cy="1375358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>
          <a:xfrm>
            <a:off x="911607" y="3609366"/>
            <a:ext cx="700063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/>
              <a:t>Позволяет копировать в массив другие объекты:</a:t>
            </a:r>
            <a:endParaRPr lang="ru-RU" sz="2200" dirty="0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7" y="4107685"/>
            <a:ext cx="4914006" cy="26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6280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/>
              <a:t>Методы </a:t>
            </a:r>
            <a:r>
              <a:rPr lang="ru-RU" dirty="0" smtClean="0"/>
              <a:t>массивов</a:t>
            </a:r>
            <a:r>
              <a:rPr lang="ru-RU" dirty="0"/>
              <a:t>. </a:t>
            </a:r>
            <a:r>
              <a:rPr lang="ru-RU" sz="2700" dirty="0" smtClean="0"/>
              <a:t>Перебор массива</a:t>
            </a:r>
            <a:endParaRPr lang="ru-RU" sz="27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42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20301"/>
            <a:ext cx="1078058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Метод </a:t>
            </a:r>
            <a:r>
              <a:rPr lang="ru-RU" sz="2200" b="1" dirty="0" err="1"/>
              <a:t>arr.forEach</a:t>
            </a:r>
            <a:r>
              <a:rPr lang="ru-RU" sz="2200" dirty="0"/>
              <a:t> позволяет запускать функцию для каждого элемента массива.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11608" y="1795865"/>
            <a:ext cx="936801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arr</a:t>
            </a:r>
            <a:r>
              <a:rPr lang="en-US" sz="2000" dirty="0" err="1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forEach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function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item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index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array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ru-RU" sz="2000" dirty="0" smtClean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r>
              <a:rPr lang="en-US" sz="2000" dirty="0" smtClean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ru-RU" sz="2000" dirty="0">
                <a:solidFill>
                  <a:srgbClr val="70809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// </a:t>
            </a:r>
            <a:r>
              <a:rPr lang="ru-RU" sz="2000" dirty="0" smtClean="0">
                <a:solidFill>
                  <a:srgbClr val="70809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делать </a:t>
            </a:r>
            <a:r>
              <a:rPr lang="ru-RU" sz="2000" dirty="0">
                <a:solidFill>
                  <a:srgbClr val="70809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что-то с </a:t>
            </a:r>
            <a:r>
              <a:rPr lang="ru-RU" sz="2000" dirty="0" err="1">
                <a:solidFill>
                  <a:srgbClr val="70809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item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ru-RU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});</a:t>
            </a:r>
            <a:endParaRPr lang="ru-RU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7" y="3035900"/>
            <a:ext cx="9854715" cy="1017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286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/>
              <a:t>Методы </a:t>
            </a:r>
            <a:r>
              <a:rPr lang="ru-RU" dirty="0" smtClean="0"/>
              <a:t>массивов</a:t>
            </a:r>
            <a:r>
              <a:rPr lang="ru-RU" dirty="0"/>
              <a:t>. </a:t>
            </a:r>
            <a:r>
              <a:rPr lang="ru-RU" sz="2700" dirty="0" smtClean="0"/>
              <a:t>Поиск в массиве</a:t>
            </a:r>
            <a:endParaRPr lang="ru-RU" sz="27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43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20301"/>
            <a:ext cx="1097559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Методы поиска элементов в массиве:</a:t>
            </a:r>
          </a:p>
          <a:p>
            <a:r>
              <a:rPr lang="en-US" sz="2200" dirty="0" smtClean="0"/>
              <a:t>•</a:t>
            </a:r>
            <a:r>
              <a:rPr lang="ru-RU" sz="2200" dirty="0" smtClean="0"/>
              <a:t> </a:t>
            </a:r>
            <a:r>
              <a:rPr lang="en-US" sz="2200" b="1" dirty="0" err="1" smtClean="0"/>
              <a:t>arr.indexOf</a:t>
            </a:r>
            <a:r>
              <a:rPr lang="en-US" sz="2200" b="1" dirty="0" smtClean="0"/>
              <a:t>(item</a:t>
            </a:r>
            <a:r>
              <a:rPr lang="en-US" sz="2200" b="1" dirty="0"/>
              <a:t>, from)</a:t>
            </a:r>
            <a:r>
              <a:rPr lang="en-US" sz="2200" dirty="0"/>
              <a:t> </a:t>
            </a:r>
            <a:r>
              <a:rPr lang="ru-RU" sz="2200" dirty="0"/>
              <a:t>ищет </a:t>
            </a:r>
            <a:r>
              <a:rPr lang="en-US" sz="2200" dirty="0"/>
              <a:t>item, </a:t>
            </a:r>
            <a:r>
              <a:rPr lang="ru-RU" sz="2200" dirty="0"/>
              <a:t>начиная с индекса </a:t>
            </a:r>
            <a:r>
              <a:rPr lang="en-US" sz="2200" dirty="0"/>
              <a:t>from, </a:t>
            </a:r>
            <a:r>
              <a:rPr lang="ru-RU" sz="2200" dirty="0"/>
              <a:t>и возвращает индекс, на котором был найден искомый элемент, в противном случае -1.</a:t>
            </a:r>
          </a:p>
          <a:p>
            <a:r>
              <a:rPr lang="ru-RU" sz="2200" dirty="0" smtClean="0"/>
              <a:t>• </a:t>
            </a:r>
            <a:r>
              <a:rPr lang="en-US" sz="2200" b="1" dirty="0" err="1" smtClean="0"/>
              <a:t>arr.lastIndexOf</a:t>
            </a:r>
            <a:r>
              <a:rPr lang="en-US" sz="2200" b="1" dirty="0" smtClean="0"/>
              <a:t>(item</a:t>
            </a:r>
            <a:r>
              <a:rPr lang="en-US" sz="2200" b="1" dirty="0"/>
              <a:t>, from) </a:t>
            </a:r>
            <a:r>
              <a:rPr lang="en-US" sz="2200" dirty="0"/>
              <a:t>– </a:t>
            </a:r>
            <a:r>
              <a:rPr lang="ru-RU" sz="2200" dirty="0"/>
              <a:t>то же самое, но ищет справа налево.</a:t>
            </a:r>
          </a:p>
          <a:p>
            <a:r>
              <a:rPr lang="ru-RU" sz="2200" dirty="0" smtClean="0"/>
              <a:t>• </a:t>
            </a:r>
            <a:r>
              <a:rPr lang="en-US" sz="2200" b="1" dirty="0" err="1" smtClean="0"/>
              <a:t>arr.includes</a:t>
            </a:r>
            <a:r>
              <a:rPr lang="en-US" sz="2200" b="1" dirty="0" smtClean="0"/>
              <a:t>(item</a:t>
            </a:r>
            <a:r>
              <a:rPr lang="en-US" sz="2200" b="1" dirty="0"/>
              <a:t>, from)</a:t>
            </a:r>
            <a:r>
              <a:rPr lang="en-US" sz="2200" dirty="0"/>
              <a:t> – </a:t>
            </a:r>
            <a:r>
              <a:rPr lang="ru-RU" sz="2200" dirty="0"/>
              <a:t>ищет </a:t>
            </a:r>
            <a:r>
              <a:rPr lang="en-US" sz="2200" dirty="0"/>
              <a:t>item, </a:t>
            </a:r>
            <a:r>
              <a:rPr lang="ru-RU" sz="2200" dirty="0"/>
              <a:t>начиная с индекса </a:t>
            </a:r>
            <a:r>
              <a:rPr lang="en-US" sz="2200" dirty="0"/>
              <a:t>from, </a:t>
            </a:r>
            <a:r>
              <a:rPr lang="ru-RU" sz="2200" dirty="0"/>
              <a:t>и возвращает </a:t>
            </a:r>
            <a:r>
              <a:rPr lang="en-US" sz="2200" dirty="0"/>
              <a:t>true, </a:t>
            </a:r>
            <a:r>
              <a:rPr lang="ru-RU" sz="2200" dirty="0"/>
              <a:t>если поиск успешен.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3176691"/>
            <a:ext cx="6086000" cy="236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0732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/>
              <a:t>Методы </a:t>
            </a:r>
            <a:r>
              <a:rPr lang="ru-RU" dirty="0" smtClean="0"/>
              <a:t>массивов</a:t>
            </a:r>
            <a:r>
              <a:rPr lang="ru-RU" dirty="0"/>
              <a:t>. </a:t>
            </a:r>
            <a:r>
              <a:rPr lang="ru-RU" sz="2700" dirty="0"/>
              <a:t>Поиск в массиве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44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7" y="831813"/>
            <a:ext cx="1065112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Метод </a:t>
            </a:r>
            <a:r>
              <a:rPr lang="ru-RU" sz="2200" b="1" dirty="0" err="1" smtClean="0"/>
              <a:t>arr.find</a:t>
            </a:r>
            <a:r>
              <a:rPr lang="ru-RU" sz="2200" b="1" dirty="0" smtClean="0"/>
              <a:t>() </a:t>
            </a:r>
            <a:r>
              <a:rPr lang="ru-RU" sz="2200" dirty="0" smtClean="0"/>
              <a:t>находит </a:t>
            </a:r>
            <a:r>
              <a:rPr lang="ru-RU" sz="2200" dirty="0"/>
              <a:t>объект с</a:t>
            </a:r>
            <a:r>
              <a:rPr lang="ru-RU" sz="2200" dirty="0" smtClean="0"/>
              <a:t> </a:t>
            </a:r>
            <a:r>
              <a:rPr lang="ru-RU" sz="2200" dirty="0"/>
              <a:t>определённым </a:t>
            </a:r>
            <a:r>
              <a:rPr lang="ru-RU" sz="2200" dirty="0" smtClean="0"/>
              <a:t>условием, вызывая функцию по </a:t>
            </a:r>
            <a:r>
              <a:rPr lang="ru-RU" sz="2200" dirty="0"/>
              <a:t>очереди для каждого элемента массива: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911606" y="1752114"/>
            <a:ext cx="1065112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let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result 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arr</a:t>
            </a:r>
            <a:r>
              <a:rPr lang="en-US" sz="2000" dirty="0" err="1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find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function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item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index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array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ru-RU" sz="2000" dirty="0">
                <a:solidFill>
                  <a:srgbClr val="70809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// если </a:t>
            </a:r>
            <a:r>
              <a:rPr lang="ru-RU" sz="2000" dirty="0" err="1">
                <a:solidFill>
                  <a:srgbClr val="70809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true</a:t>
            </a:r>
            <a:r>
              <a:rPr lang="ru-RU" sz="2000" dirty="0">
                <a:solidFill>
                  <a:srgbClr val="70809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- возвращается текущий элемент и перебор прерывается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ru-RU" sz="2000" dirty="0">
                <a:solidFill>
                  <a:srgbClr val="70809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// если все итерации оказались ложными возвращается </a:t>
            </a:r>
            <a:r>
              <a:rPr lang="ru-RU" sz="2000" dirty="0" err="1">
                <a:solidFill>
                  <a:srgbClr val="70809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undefined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});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6" y="3226413"/>
            <a:ext cx="6767361" cy="2466464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911605" y="5843737"/>
            <a:ext cx="1065112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Метод </a:t>
            </a:r>
            <a:r>
              <a:rPr lang="ru-RU" sz="2200" b="1" dirty="0" err="1" smtClean="0"/>
              <a:t>arr.findIndex</a:t>
            </a:r>
            <a:r>
              <a:rPr lang="ru-RU" sz="2200" b="1" dirty="0" smtClean="0"/>
              <a:t>() </a:t>
            </a:r>
            <a:r>
              <a:rPr lang="ru-RU" sz="2200" dirty="0" smtClean="0"/>
              <a:t>– </a:t>
            </a:r>
            <a:r>
              <a:rPr lang="ru-RU" sz="2200" dirty="0"/>
              <a:t>возвращает индекс, на котором был найден элемент, а не сам элемент, и -1, если ничего не найдено.</a:t>
            </a:r>
          </a:p>
        </p:txBody>
      </p:sp>
    </p:spTree>
    <p:extLst>
      <p:ext uri="{BB962C8B-B14F-4D97-AF65-F5344CB8AC3E}">
        <p14:creationId xmlns:p14="http://schemas.microsoft.com/office/powerpoint/2010/main" val="35217731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/>
              <a:t>Методы </a:t>
            </a:r>
            <a:r>
              <a:rPr lang="ru-RU" dirty="0" smtClean="0"/>
              <a:t>массивов</a:t>
            </a:r>
            <a:r>
              <a:rPr lang="ru-RU" dirty="0"/>
              <a:t>. </a:t>
            </a:r>
            <a:r>
              <a:rPr lang="ru-RU" sz="2700" dirty="0"/>
              <a:t>Поиск в массиве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45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911608" y="920301"/>
            <a:ext cx="1091659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Метод </a:t>
            </a:r>
            <a:r>
              <a:rPr lang="ru-RU" sz="2200" b="1" dirty="0" err="1" smtClean="0"/>
              <a:t>arr.filter</a:t>
            </a:r>
            <a:r>
              <a:rPr lang="ru-RU" sz="2200" b="1" dirty="0" smtClean="0"/>
              <a:t>(</a:t>
            </a:r>
            <a:r>
              <a:rPr lang="ru-RU" sz="2200" b="1" dirty="0" err="1" smtClean="0"/>
              <a:t>fn</a:t>
            </a:r>
            <a:r>
              <a:rPr lang="ru-RU" sz="2200" b="1" dirty="0" smtClean="0"/>
              <a:t>)</a:t>
            </a:r>
            <a:r>
              <a:rPr lang="ru-RU" sz="2200" dirty="0" smtClean="0"/>
              <a:t> возвращает </a:t>
            </a:r>
            <a:r>
              <a:rPr lang="ru-RU" sz="2200" dirty="0"/>
              <a:t>массив из всех подходящих </a:t>
            </a:r>
            <a:r>
              <a:rPr lang="ru-RU" sz="2200" dirty="0" smtClean="0"/>
              <a:t>элементов.</a:t>
            </a:r>
            <a:endParaRPr lang="ru-RU" sz="22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911607" y="1595811"/>
            <a:ext cx="1129120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let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results 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arr</a:t>
            </a:r>
            <a:r>
              <a:rPr lang="en-US" sz="2000" dirty="0" err="1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filter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function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item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index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array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ru-RU" sz="2000" dirty="0">
                <a:solidFill>
                  <a:srgbClr val="70809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// если </a:t>
            </a:r>
            <a:r>
              <a:rPr lang="ru-RU" sz="2000" dirty="0" err="1">
                <a:solidFill>
                  <a:srgbClr val="70809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true</a:t>
            </a:r>
            <a:r>
              <a:rPr lang="ru-RU" sz="2000" dirty="0">
                <a:solidFill>
                  <a:srgbClr val="70809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- элемент добавляется к результату и перебор продолжается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ru-RU" sz="2000" dirty="0">
                <a:solidFill>
                  <a:srgbClr val="70809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// возвращается пустой массив в случае, если ничего не найдено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});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6" y="3041055"/>
            <a:ext cx="7937425" cy="2581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2743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/>
              <a:t>Методы </a:t>
            </a:r>
            <a:r>
              <a:rPr lang="ru-RU" dirty="0" smtClean="0"/>
              <a:t>массивов</a:t>
            </a:r>
            <a:r>
              <a:rPr lang="ru-RU" dirty="0"/>
              <a:t>. </a:t>
            </a:r>
            <a:r>
              <a:rPr lang="ru-RU" sz="2700" dirty="0"/>
              <a:t>Преобразование массива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46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7" y="920301"/>
            <a:ext cx="1084285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Метод </a:t>
            </a:r>
            <a:r>
              <a:rPr lang="ru-RU" sz="2200" b="1" dirty="0" err="1" smtClean="0"/>
              <a:t>arr.map</a:t>
            </a:r>
            <a:r>
              <a:rPr lang="ru-RU" sz="2200" b="1" dirty="0" smtClean="0"/>
              <a:t>()</a:t>
            </a:r>
            <a:r>
              <a:rPr lang="ru-RU" sz="2200" dirty="0" smtClean="0"/>
              <a:t> вызывает </a:t>
            </a:r>
            <a:r>
              <a:rPr lang="ru-RU" sz="2200" dirty="0"/>
              <a:t>функцию для каждого элемента массива и возвращает массив результатов выполнения этой функции.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911607" y="1795865"/>
            <a:ext cx="972198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let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result 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arr</a:t>
            </a:r>
            <a:r>
              <a:rPr lang="en-US" sz="2000" dirty="0" err="1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map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function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item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index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array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ru-RU" sz="2000" dirty="0">
                <a:solidFill>
                  <a:srgbClr val="70809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// возвращается новое значение вместо элемента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});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7" y="2966547"/>
            <a:ext cx="10931430" cy="735298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911607" y="3856864"/>
            <a:ext cx="1025292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 err="1"/>
              <a:t>arr.sort</a:t>
            </a:r>
            <a:r>
              <a:rPr lang="ru-RU" sz="2200" b="1" dirty="0"/>
              <a:t>() </a:t>
            </a:r>
            <a:r>
              <a:rPr lang="ru-RU" sz="2200" dirty="0"/>
              <a:t>сортирует массив на месте, меняя в нём порядок </a:t>
            </a:r>
            <a:r>
              <a:rPr lang="ru-RU" sz="2200" dirty="0" smtClean="0"/>
              <a:t>элементов.</a:t>
            </a:r>
            <a:endParaRPr lang="ru-RU" sz="22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7" y="4442769"/>
            <a:ext cx="4810486" cy="1043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2724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/>
              <a:t>Методы </a:t>
            </a:r>
            <a:r>
              <a:rPr lang="ru-RU" dirty="0" smtClean="0"/>
              <a:t>массивов</a:t>
            </a:r>
            <a:r>
              <a:rPr lang="ru-RU" dirty="0"/>
              <a:t>. </a:t>
            </a:r>
            <a:r>
              <a:rPr lang="ru-RU" sz="2700" dirty="0"/>
              <a:t>Преобразование массива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47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5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359804"/>
            <a:ext cx="5381316" cy="2870035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911608" y="833242"/>
            <a:ext cx="289534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/>
              <a:t>Сортировка чисел:</a:t>
            </a:r>
            <a:endParaRPr lang="ru-RU" sz="22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911608" y="4484676"/>
            <a:ext cx="714169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Функция сравнения может вернуть любое </a:t>
            </a:r>
            <a:r>
              <a:rPr lang="ru-RU" sz="2200" dirty="0" smtClean="0"/>
              <a:t>число:</a:t>
            </a:r>
            <a:endParaRPr lang="ru-RU" sz="2200" dirty="0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81" y="5046574"/>
            <a:ext cx="7062818" cy="425077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181" y="5709161"/>
            <a:ext cx="4854677" cy="41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8742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/>
              <a:t>Методы </a:t>
            </a:r>
            <a:r>
              <a:rPr lang="ru-RU" dirty="0" smtClean="0"/>
              <a:t>массивов</a:t>
            </a:r>
            <a:r>
              <a:rPr lang="ru-RU" dirty="0"/>
              <a:t>. </a:t>
            </a:r>
            <a:r>
              <a:rPr lang="ru-RU" sz="2700" dirty="0"/>
              <a:t>Преобразование массива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48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846561"/>
            <a:ext cx="1022342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Метод </a:t>
            </a:r>
            <a:r>
              <a:rPr lang="ru-RU" sz="2200" b="1" dirty="0" err="1" smtClean="0"/>
              <a:t>arr.reverse</a:t>
            </a:r>
            <a:r>
              <a:rPr lang="ru-RU" sz="2200" b="1" dirty="0" smtClean="0"/>
              <a:t>()</a:t>
            </a:r>
            <a:r>
              <a:rPr lang="ru-RU" sz="2200" dirty="0" smtClean="0"/>
              <a:t> </a:t>
            </a:r>
            <a:r>
              <a:rPr lang="ru-RU" sz="2200" dirty="0"/>
              <a:t>меняет порядок элементов в </a:t>
            </a:r>
            <a:r>
              <a:rPr lang="ru-RU" sz="2200" dirty="0" err="1"/>
              <a:t>arr</a:t>
            </a:r>
            <a:r>
              <a:rPr lang="ru-RU" sz="2200" dirty="0"/>
              <a:t> на </a:t>
            </a:r>
            <a:r>
              <a:rPr lang="ru-RU" sz="2200" dirty="0" smtClean="0"/>
              <a:t>обратный.</a:t>
            </a:r>
            <a:endParaRPr lang="ru-RU" sz="2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7" y="1504884"/>
            <a:ext cx="4574793" cy="102538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911606" y="2757705"/>
            <a:ext cx="1075436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Метод </a:t>
            </a:r>
            <a:r>
              <a:rPr lang="ru-RU" sz="2200" b="1" dirty="0" err="1"/>
              <a:t>str.split</a:t>
            </a:r>
            <a:r>
              <a:rPr lang="ru-RU" sz="2200" b="1" dirty="0"/>
              <a:t>(</a:t>
            </a:r>
            <a:r>
              <a:rPr lang="ru-RU" sz="2200" b="1" dirty="0" err="1"/>
              <a:t>delim</a:t>
            </a:r>
            <a:r>
              <a:rPr lang="ru-RU" sz="2200" b="1" dirty="0"/>
              <a:t>)</a:t>
            </a:r>
            <a:r>
              <a:rPr lang="ru-RU" sz="2200" dirty="0"/>
              <a:t> </a:t>
            </a:r>
            <a:r>
              <a:rPr lang="ru-RU" sz="2200" dirty="0" smtClean="0"/>
              <a:t>разбивает </a:t>
            </a:r>
            <a:r>
              <a:rPr lang="ru-RU" sz="2200" dirty="0"/>
              <a:t>строку на массив по заданному разделителю </a:t>
            </a:r>
            <a:r>
              <a:rPr lang="ru-RU" sz="2200" dirty="0" err="1" smtClean="0"/>
              <a:t>delim</a:t>
            </a:r>
            <a:r>
              <a:rPr lang="ru-RU" sz="2200" dirty="0" smtClean="0"/>
              <a:t>.</a:t>
            </a:r>
            <a:endParaRPr lang="ru-RU" sz="22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6" y="3647063"/>
            <a:ext cx="6311144" cy="186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8442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/>
              <a:t>Методы </a:t>
            </a:r>
            <a:r>
              <a:rPr lang="ru-RU" dirty="0" smtClean="0"/>
              <a:t>массивов</a:t>
            </a:r>
            <a:r>
              <a:rPr lang="ru-RU" dirty="0"/>
              <a:t>. </a:t>
            </a:r>
            <a:r>
              <a:rPr lang="ru-RU" sz="2700" dirty="0"/>
              <a:t>Преобразование массива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49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911605" y="920301"/>
            <a:ext cx="1037090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split </a:t>
            </a:r>
            <a:r>
              <a:rPr lang="ru-RU" sz="2200" dirty="0" smtClean="0"/>
              <a:t>имеет необязательный </a:t>
            </a:r>
            <a:r>
              <a:rPr lang="ru-RU" sz="2200" dirty="0"/>
              <a:t>второй </a:t>
            </a:r>
            <a:r>
              <a:rPr lang="ru-RU" sz="2200" dirty="0" smtClean="0"/>
              <a:t>аргумент </a:t>
            </a:r>
            <a:r>
              <a:rPr lang="ru-RU" sz="2200" dirty="0"/>
              <a:t>– ограничение на количество элементов в </a:t>
            </a:r>
            <a:r>
              <a:rPr lang="ru-RU" sz="2200" dirty="0" smtClean="0"/>
              <a:t>массиве.</a:t>
            </a:r>
            <a:endParaRPr lang="ru-RU" sz="2200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5" y="1737366"/>
            <a:ext cx="7996421" cy="712232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911605" y="2658255"/>
            <a:ext cx="1065113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Вызов </a:t>
            </a:r>
            <a:r>
              <a:rPr lang="ru-RU" sz="2200" dirty="0" err="1"/>
              <a:t>split</a:t>
            </a:r>
            <a:r>
              <a:rPr lang="ru-RU" sz="2200" dirty="0"/>
              <a:t>(s) с пустым аргументом s </a:t>
            </a:r>
            <a:r>
              <a:rPr lang="ru-RU" sz="2200" dirty="0" smtClean="0"/>
              <a:t>разбивает строку </a:t>
            </a:r>
            <a:r>
              <a:rPr lang="ru-RU" sz="2200" dirty="0"/>
              <a:t>на массив </a:t>
            </a:r>
            <a:r>
              <a:rPr lang="ru-RU" sz="2200" dirty="0" smtClean="0"/>
              <a:t>букв:</a:t>
            </a:r>
            <a:endParaRPr lang="ru-RU" sz="2200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6" y="3136764"/>
            <a:ext cx="5680924" cy="696269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>
          <a:xfrm>
            <a:off x="911604" y="4026611"/>
            <a:ext cx="1065113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Вызов </a:t>
            </a:r>
            <a:r>
              <a:rPr lang="ru-RU" sz="2200" b="1" dirty="0" err="1"/>
              <a:t>arr.join</a:t>
            </a:r>
            <a:r>
              <a:rPr lang="ru-RU" sz="2200" b="1" dirty="0"/>
              <a:t>(</a:t>
            </a:r>
            <a:r>
              <a:rPr lang="ru-RU" sz="2200" b="1" dirty="0" err="1"/>
              <a:t>glue</a:t>
            </a:r>
            <a:r>
              <a:rPr lang="ru-RU" sz="2200" b="1" dirty="0"/>
              <a:t>)</a:t>
            </a:r>
            <a:r>
              <a:rPr lang="ru-RU" sz="2200" dirty="0"/>
              <a:t> </a:t>
            </a:r>
            <a:r>
              <a:rPr lang="ru-RU" sz="2200" dirty="0" smtClean="0"/>
              <a:t>создаёт </a:t>
            </a:r>
            <a:r>
              <a:rPr lang="ru-RU" sz="2200" dirty="0"/>
              <a:t>строку из элементов </a:t>
            </a:r>
            <a:r>
              <a:rPr lang="ru-RU" sz="2200" dirty="0" err="1"/>
              <a:t>arr</a:t>
            </a:r>
            <a:r>
              <a:rPr lang="ru-RU" sz="2200" dirty="0"/>
              <a:t>, вставляя </a:t>
            </a:r>
            <a:r>
              <a:rPr lang="ru-RU" sz="2200" dirty="0" err="1" smtClean="0"/>
              <a:t>glue</a:t>
            </a:r>
            <a:r>
              <a:rPr lang="ru-RU" sz="2200" dirty="0" smtClean="0"/>
              <a:t> между ними:</a:t>
            </a:r>
            <a:endParaRPr lang="ru-RU" sz="2200" dirty="0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604" y="4816410"/>
            <a:ext cx="5940060" cy="103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5323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/>
              <a:t>Методы </a:t>
            </a:r>
            <a:r>
              <a:rPr lang="ru-RU" dirty="0" smtClean="0"/>
              <a:t>массивов</a:t>
            </a:r>
            <a:r>
              <a:rPr lang="ru-RU" dirty="0"/>
              <a:t>. </a:t>
            </a:r>
            <a:r>
              <a:rPr lang="ru-RU" sz="2700" dirty="0"/>
              <a:t>Преобразование массива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50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7" y="920301"/>
            <a:ext cx="10872353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Методы </a:t>
            </a:r>
            <a:r>
              <a:rPr lang="ru-RU" sz="2200" b="1" dirty="0" err="1" smtClean="0"/>
              <a:t>arr.reduce</a:t>
            </a:r>
            <a:r>
              <a:rPr lang="ru-RU" sz="2200" b="1" dirty="0" smtClean="0"/>
              <a:t>()</a:t>
            </a:r>
            <a:r>
              <a:rPr lang="ru-RU" sz="2200" dirty="0" smtClean="0"/>
              <a:t> </a:t>
            </a:r>
            <a:r>
              <a:rPr lang="ru-RU" sz="2200" dirty="0"/>
              <a:t>и </a:t>
            </a:r>
            <a:r>
              <a:rPr lang="ru-RU" sz="2200" b="1" dirty="0" err="1" smtClean="0"/>
              <a:t>arr.reduceRight</a:t>
            </a:r>
            <a:r>
              <a:rPr lang="ru-RU" sz="2200" b="1" dirty="0" smtClean="0"/>
              <a:t>()</a:t>
            </a:r>
            <a:r>
              <a:rPr lang="ru-RU" sz="2200" dirty="0" smtClean="0"/>
              <a:t> используются </a:t>
            </a:r>
            <a:r>
              <a:rPr lang="ru-RU" sz="2200" dirty="0"/>
              <a:t>для вычисления какого-нибудь единого значения на основе всего массива. </a:t>
            </a:r>
            <a:r>
              <a:rPr lang="ru-RU" sz="2200" dirty="0" smtClean="0"/>
              <a:t>Функция-</a:t>
            </a:r>
            <a:r>
              <a:rPr lang="ru-RU" sz="2200" dirty="0" err="1" smtClean="0"/>
              <a:t>коллбэк</a:t>
            </a:r>
            <a:r>
              <a:rPr lang="ru-RU" sz="2200" dirty="0" smtClean="0"/>
              <a:t> </a:t>
            </a:r>
            <a:r>
              <a:rPr lang="ru-RU" sz="2200" dirty="0"/>
              <a:t>применяется по очереди ко всем элементам массива и «переносит» свой результат на следующий вызов.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911607" y="2779320"/>
            <a:ext cx="1178675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let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value 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arr</a:t>
            </a:r>
            <a:r>
              <a:rPr lang="en-US" sz="2000" dirty="0" err="1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reduce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function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previousValue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item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index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array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ru-RU" sz="2000" dirty="0">
                <a:solidFill>
                  <a:srgbClr val="70809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// ...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},</a:t>
            </a:r>
            <a:r>
              <a:rPr lang="ru-RU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ru-RU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</a:t>
            </a:r>
            <a:r>
              <a:rPr lang="ru-RU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initial</a:t>
            </a:r>
            <a:r>
              <a:rPr lang="ru-RU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]);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53204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/>
              <a:t>Методы </a:t>
            </a:r>
            <a:r>
              <a:rPr lang="ru-RU" dirty="0" smtClean="0"/>
              <a:t>массивов</a:t>
            </a:r>
            <a:r>
              <a:rPr lang="ru-RU" dirty="0"/>
              <a:t>. </a:t>
            </a:r>
            <a:r>
              <a:rPr lang="ru-RU" sz="2700" dirty="0"/>
              <a:t>Преобразование массива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51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11607" y="891886"/>
            <a:ext cx="512512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/>
              <a:t>Сумма </a:t>
            </a:r>
            <a:r>
              <a:rPr lang="ru-RU" sz="2200" dirty="0"/>
              <a:t>всех элементов </a:t>
            </a:r>
            <a:r>
              <a:rPr lang="ru-RU" sz="2200" dirty="0" smtClean="0"/>
              <a:t>массива: </a:t>
            </a:r>
            <a:endParaRPr lang="ru-RU" sz="22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7" y="1503779"/>
            <a:ext cx="9235283" cy="1006913"/>
          </a:xfrm>
          <a:prstGeom prst="rect">
            <a:avLst/>
          </a:prstGeom>
        </p:spPr>
      </p:pic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594858"/>
              </p:ext>
            </p:extLst>
          </p:nvPr>
        </p:nvGraphicFramePr>
        <p:xfrm>
          <a:off x="911607" y="2831773"/>
          <a:ext cx="10857606" cy="238125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628006">
                  <a:extLst>
                    <a:ext uri="{9D8B030D-6E8A-4147-A177-3AD203B41FA5}">
                      <a16:colId xmlns:a16="http://schemas.microsoft.com/office/drawing/2014/main" val="2870852412"/>
                    </a:ext>
                  </a:extLst>
                </a:gridCol>
                <a:gridCol w="2440273">
                  <a:extLst>
                    <a:ext uri="{9D8B030D-6E8A-4147-A177-3AD203B41FA5}">
                      <a16:colId xmlns:a16="http://schemas.microsoft.com/office/drawing/2014/main" val="3513495562"/>
                    </a:ext>
                  </a:extLst>
                </a:gridCol>
                <a:gridCol w="2888343">
                  <a:extLst>
                    <a:ext uri="{9D8B030D-6E8A-4147-A177-3AD203B41FA5}">
                      <a16:colId xmlns:a16="http://schemas.microsoft.com/office/drawing/2014/main" val="1872395582"/>
                    </a:ext>
                  </a:extLst>
                </a:gridCol>
                <a:gridCol w="2900984">
                  <a:extLst>
                    <a:ext uri="{9D8B030D-6E8A-4147-A177-3AD203B41FA5}">
                      <a16:colId xmlns:a16="http://schemas.microsoft.com/office/drawing/2014/main" val="36066664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22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 b="1" dirty="0" err="1">
                          <a:effectLst/>
                        </a:rPr>
                        <a:t>sum</a:t>
                      </a:r>
                      <a:endParaRPr lang="ru-RU" sz="2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 b="1" dirty="0" err="1">
                          <a:effectLst/>
                        </a:rPr>
                        <a:t>current</a:t>
                      </a:r>
                      <a:endParaRPr lang="ru-RU" sz="2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 b="1" dirty="0" err="1">
                          <a:effectLst/>
                        </a:rPr>
                        <a:t>result</a:t>
                      </a:r>
                      <a:endParaRPr lang="ru-RU" sz="2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b"/>
                </a:tc>
                <a:extLst>
                  <a:ext uri="{0D108BD9-81ED-4DB2-BD59-A6C34878D82A}">
                    <a16:rowId xmlns:a16="http://schemas.microsoft.com/office/drawing/2014/main" val="321606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первый вызов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0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1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 dirty="0">
                          <a:effectLst/>
                        </a:rPr>
                        <a:t>1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extLst>
                  <a:ext uri="{0D108BD9-81ED-4DB2-BD59-A6C34878D82A}">
                    <a16:rowId xmlns:a16="http://schemas.microsoft.com/office/drawing/2014/main" val="4238936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второй вызов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1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2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3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extLst>
                  <a:ext uri="{0D108BD9-81ED-4DB2-BD59-A6C34878D82A}">
                    <a16:rowId xmlns:a16="http://schemas.microsoft.com/office/drawing/2014/main" val="2192991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третий вызов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3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3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6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extLst>
                  <a:ext uri="{0D108BD9-81ED-4DB2-BD59-A6C34878D82A}">
                    <a16:rowId xmlns:a16="http://schemas.microsoft.com/office/drawing/2014/main" val="1562938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четвёртый вызов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6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4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10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extLst>
                  <a:ext uri="{0D108BD9-81ED-4DB2-BD59-A6C34878D82A}">
                    <a16:rowId xmlns:a16="http://schemas.microsoft.com/office/drawing/2014/main" val="3824265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пятый вызов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10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5</a:t>
                      </a:r>
                      <a:endParaRPr lang="ru-RU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200" dirty="0">
                          <a:effectLst/>
                        </a:rPr>
                        <a:t>15</a:t>
                      </a:r>
                      <a:endParaRPr lang="ru-RU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extLst>
                  <a:ext uri="{0D108BD9-81ED-4DB2-BD59-A6C34878D82A}">
                    <a16:rowId xmlns:a16="http://schemas.microsoft.com/office/drawing/2014/main" val="2966240862"/>
                  </a:ext>
                </a:extLst>
              </a:tr>
            </a:tbl>
          </a:graphicData>
        </a:graphic>
      </p:graphicFrame>
      <p:sp>
        <p:nvSpPr>
          <p:cNvPr id="10" name="Прямоугольник 9"/>
          <p:cNvSpPr/>
          <p:nvPr/>
        </p:nvSpPr>
        <p:spPr>
          <a:xfrm>
            <a:off x="911607" y="5461891"/>
            <a:ext cx="1085760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Метод </a:t>
            </a:r>
            <a:r>
              <a:rPr lang="ru-RU" sz="2200" b="1" dirty="0" err="1" smtClean="0"/>
              <a:t>arr.reduceRight</a:t>
            </a:r>
            <a:r>
              <a:rPr lang="ru-RU" sz="2200" b="1" dirty="0" smtClean="0"/>
              <a:t>()</a:t>
            </a:r>
            <a:r>
              <a:rPr lang="ru-RU" sz="2200" dirty="0" smtClean="0"/>
              <a:t> </a:t>
            </a:r>
            <a:r>
              <a:rPr lang="ru-RU" sz="2200" dirty="0"/>
              <a:t>работает аналогично, но проходит по массиву справа </a:t>
            </a:r>
            <a:r>
              <a:rPr lang="ru-RU" sz="2200" dirty="0" smtClean="0"/>
              <a:t>налево.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9302177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/>
              <a:t>Методы </a:t>
            </a:r>
            <a:r>
              <a:rPr lang="ru-RU" dirty="0" smtClean="0"/>
              <a:t>массивов</a:t>
            </a:r>
            <a:r>
              <a:rPr lang="ru-RU" dirty="0"/>
              <a:t>. </a:t>
            </a:r>
            <a:r>
              <a:rPr lang="ru-RU" sz="2700" dirty="0"/>
              <a:t>Преобразование массива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52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1030292"/>
            <a:ext cx="1065112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Метод </a:t>
            </a:r>
            <a:r>
              <a:rPr lang="ru-RU" sz="2200" b="1" dirty="0" err="1" smtClean="0"/>
              <a:t>Array.isArray</a:t>
            </a:r>
            <a:r>
              <a:rPr lang="ru-RU" sz="2200" b="1" dirty="0" smtClean="0"/>
              <a:t>(</a:t>
            </a:r>
            <a:r>
              <a:rPr lang="ru-RU" sz="2200" b="1" dirty="0" err="1" smtClean="0"/>
              <a:t>value</a:t>
            </a:r>
            <a:r>
              <a:rPr lang="ru-RU" sz="2200" b="1" dirty="0" smtClean="0"/>
              <a:t>) </a:t>
            </a:r>
            <a:r>
              <a:rPr lang="ru-RU" sz="2200" dirty="0"/>
              <a:t>возвращает </a:t>
            </a:r>
            <a:r>
              <a:rPr lang="ru-RU" sz="2200" dirty="0" err="1"/>
              <a:t>true</a:t>
            </a:r>
            <a:r>
              <a:rPr lang="ru-RU" sz="2200" dirty="0"/>
              <a:t>, если </a:t>
            </a:r>
            <a:r>
              <a:rPr lang="ru-RU" sz="2200" dirty="0" err="1"/>
              <a:t>value</a:t>
            </a:r>
            <a:r>
              <a:rPr lang="ru-RU" sz="2200" dirty="0"/>
              <a:t> массив, и </a:t>
            </a:r>
            <a:r>
              <a:rPr lang="ru-RU" sz="2200" dirty="0" err="1"/>
              <a:t>false</a:t>
            </a:r>
            <a:r>
              <a:rPr lang="ru-RU" sz="2200" dirty="0"/>
              <a:t>, если нет.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909723"/>
            <a:ext cx="5647459" cy="688333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8" y="2751649"/>
            <a:ext cx="4538811" cy="105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2345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/>
              <a:t>Методы </a:t>
            </a:r>
            <a:r>
              <a:rPr lang="ru-RU" dirty="0" smtClean="0"/>
              <a:t>массивов</a:t>
            </a:r>
            <a:r>
              <a:rPr lang="ru-RU" dirty="0"/>
              <a:t>. </a:t>
            </a:r>
            <a:r>
              <a:rPr lang="ru-RU" sz="2700" dirty="0"/>
              <a:t>Преобразование массива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53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5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082507"/>
            <a:ext cx="9013999" cy="512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0898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/>
              <a:t>Объекты. </a:t>
            </a:r>
            <a:r>
              <a:rPr lang="ru-RU" sz="2400" dirty="0"/>
              <a:t>Литералы и свойства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54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798064"/>
            <a:ext cx="45913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Создание пустого объекта:</a:t>
            </a:r>
            <a:endParaRPr lang="ru-RU" sz="2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362667"/>
            <a:ext cx="4304383" cy="722751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911608" y="2329937"/>
            <a:ext cx="430438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/>
              <a:t>Литеральный синтаксис {...}: </a:t>
            </a:r>
            <a:endParaRPr lang="ru-RU" sz="22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8" y="2775005"/>
            <a:ext cx="3152392" cy="1362753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858912" y="4339552"/>
            <a:ext cx="980908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Для обращения к свойствам используется запись «через точку»: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608" y="4857181"/>
            <a:ext cx="4865078" cy="104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1593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/>
              <a:t>Объекты. </a:t>
            </a:r>
            <a:r>
              <a:rPr lang="ru-RU" sz="2400" dirty="0"/>
              <a:t>Квадратные скобки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55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911608" y="920301"/>
            <a:ext cx="311495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/>
              <a:t>Удаление свойства: </a:t>
            </a:r>
            <a:endParaRPr lang="ru-RU" sz="2200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351188"/>
            <a:ext cx="3384621" cy="429269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8" y="1979120"/>
            <a:ext cx="4081306" cy="1695059"/>
          </a:xfrm>
          <a:prstGeom prst="rect">
            <a:avLst/>
          </a:prstGeom>
        </p:spPr>
      </p:pic>
      <p:sp>
        <p:nvSpPr>
          <p:cNvPr id="16" name="Прямоугольник 15"/>
          <p:cNvSpPr/>
          <p:nvPr/>
        </p:nvSpPr>
        <p:spPr>
          <a:xfrm>
            <a:off x="782153" y="3817034"/>
            <a:ext cx="1116310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Для свойств, имена которых состоят из нескольких </a:t>
            </a:r>
            <a:r>
              <a:rPr lang="ru-RU" sz="2200" dirty="0" smtClean="0"/>
              <a:t>слов, доступ осуществляется через </a:t>
            </a:r>
            <a:r>
              <a:rPr lang="ru-RU" sz="2200" dirty="0"/>
              <a:t>квадратные </a:t>
            </a:r>
            <a:r>
              <a:rPr lang="ru-RU" sz="2200" dirty="0" smtClean="0"/>
              <a:t>скобки:</a:t>
            </a:r>
            <a:endParaRPr lang="ru-RU" sz="2200" dirty="0"/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608" y="4729681"/>
            <a:ext cx="6069763" cy="170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6153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/>
              <a:t>Объекты. </a:t>
            </a:r>
            <a:r>
              <a:rPr lang="ru-RU" sz="2400" dirty="0"/>
              <a:t>Квадратные скобки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56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7" y="891273"/>
            <a:ext cx="1037090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Квадратные скобки также позволяют обратиться к свойству, имя которого может быть результатом </a:t>
            </a:r>
            <a:r>
              <a:rPr lang="ru-RU" sz="2200" dirty="0" smtClean="0"/>
              <a:t>выражения.</a:t>
            </a:r>
            <a:endParaRPr lang="ru-RU" sz="2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7" y="1811573"/>
            <a:ext cx="4345902" cy="74041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7" y="2702845"/>
            <a:ext cx="7753422" cy="169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6620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/>
              <a:t>Объекты. </a:t>
            </a:r>
            <a:r>
              <a:rPr lang="ru-RU" sz="2400" dirty="0"/>
              <a:t>Вычисляемые свойства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57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911608" y="920301"/>
            <a:ext cx="354937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Вычисляемые </a:t>
            </a:r>
            <a:r>
              <a:rPr lang="ru-RU" sz="2200" dirty="0" smtClean="0"/>
              <a:t>свойства:</a:t>
            </a:r>
            <a:endParaRPr lang="ru-RU" sz="22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491153"/>
            <a:ext cx="7987419" cy="2239018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7" y="4041321"/>
            <a:ext cx="4908621" cy="166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1671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/>
              <a:t>Объекты. </a:t>
            </a:r>
            <a:r>
              <a:rPr lang="ru-RU" sz="2400" dirty="0"/>
              <a:t>Вычисляемые свойства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58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782152" y="758165"/>
            <a:ext cx="110905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Зарезервированные слова разрешено использовать как имена </a:t>
            </a:r>
            <a:r>
              <a:rPr lang="ru-RU" sz="2200" dirty="0" smtClean="0"/>
              <a:t>свойств:</a:t>
            </a:r>
            <a:endParaRPr lang="ru-RU" sz="2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348975"/>
            <a:ext cx="7158336" cy="219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27821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/>
              <a:t>Объекты. </a:t>
            </a:r>
            <a:r>
              <a:rPr lang="ru-RU" sz="2400" dirty="0" smtClean="0"/>
              <a:t>Короткие </a:t>
            </a:r>
            <a:r>
              <a:rPr lang="ru-RU" sz="2400" dirty="0"/>
              <a:t>свойства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59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6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468" y="920301"/>
            <a:ext cx="5600837" cy="317272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759" y="920301"/>
            <a:ext cx="5405701" cy="263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6240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 smtClean="0"/>
              <a:t>Объекты</a:t>
            </a:r>
            <a:r>
              <a:rPr lang="ru-RU" dirty="0"/>
              <a:t>. </a:t>
            </a:r>
            <a:r>
              <a:rPr lang="ru-RU" sz="2400" dirty="0"/>
              <a:t>Проверка существования свойства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60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782153" y="920301"/>
            <a:ext cx="994390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При обращении к свойству, которого нет, возвращается </a:t>
            </a:r>
            <a:r>
              <a:rPr lang="ru-RU" sz="2200" dirty="0" err="1" smtClean="0"/>
              <a:t>undefined</a:t>
            </a:r>
            <a:r>
              <a:rPr lang="en-US" sz="2200" dirty="0"/>
              <a:t>:</a:t>
            </a:r>
            <a:endParaRPr lang="ru-RU" sz="2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53" y="1518543"/>
            <a:ext cx="8074144" cy="752946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782153" y="2596084"/>
            <a:ext cx="1050035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Оператор "</a:t>
            </a:r>
            <a:r>
              <a:rPr lang="ru-RU" sz="2200" dirty="0" err="1"/>
              <a:t>in</a:t>
            </a:r>
            <a:r>
              <a:rPr lang="ru-RU" sz="2200" dirty="0"/>
              <a:t>" </a:t>
            </a:r>
            <a:r>
              <a:rPr lang="ru-RU" sz="2200" dirty="0" smtClean="0"/>
              <a:t>проверяет существование </a:t>
            </a:r>
            <a:r>
              <a:rPr lang="ru-RU" sz="2200" dirty="0"/>
              <a:t>свойства в </a:t>
            </a:r>
            <a:r>
              <a:rPr lang="ru-RU" sz="2200" dirty="0" smtClean="0"/>
              <a:t>объекте:</a:t>
            </a:r>
            <a:endParaRPr lang="ru-RU" sz="22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782153" y="3026971"/>
            <a:ext cx="273344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ru-RU" sz="2200" dirty="0">
                <a:solidFill>
                  <a:srgbClr val="6699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</a:t>
            </a:r>
            <a:r>
              <a:rPr lang="ru-RU" sz="2200" dirty="0" err="1">
                <a:solidFill>
                  <a:srgbClr val="6699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key</a:t>
            </a:r>
            <a:r>
              <a:rPr lang="ru-RU" sz="2200" dirty="0">
                <a:solidFill>
                  <a:srgbClr val="6699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</a:t>
            </a:r>
            <a:r>
              <a:rPr lang="ru-RU" sz="22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ru-RU" sz="2200" dirty="0" err="1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</a:t>
            </a:r>
            <a:r>
              <a:rPr lang="ru-RU" sz="22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ru-RU" sz="22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object</a:t>
            </a:r>
            <a:endParaRPr lang="ru-RU" sz="22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153" y="3588707"/>
            <a:ext cx="5812674" cy="968779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153" y="4735461"/>
            <a:ext cx="4991871" cy="135562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7260" y="4735461"/>
            <a:ext cx="5124717" cy="188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55140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 smtClean="0"/>
              <a:t>Объекты</a:t>
            </a:r>
            <a:r>
              <a:rPr lang="ru-RU" dirty="0"/>
              <a:t>. </a:t>
            </a:r>
            <a:r>
              <a:rPr lang="ru-RU" sz="2400" dirty="0"/>
              <a:t>Цикл «</a:t>
            </a:r>
            <a:r>
              <a:rPr lang="en-US" sz="2400" dirty="0"/>
              <a:t>for…in»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61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11608" y="920301"/>
            <a:ext cx="1016279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22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for</a:t>
            </a:r>
            <a:r>
              <a:rPr lang="en-US" sz="22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2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key </a:t>
            </a:r>
            <a:r>
              <a:rPr lang="en-US" sz="22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</a:t>
            </a:r>
            <a:r>
              <a:rPr lang="en-US" sz="22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object</a:t>
            </a:r>
            <a:r>
              <a:rPr lang="en-US" sz="22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r>
              <a:rPr lang="en-US" sz="22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ru-RU" sz="22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2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ru-RU" sz="2200" dirty="0">
                <a:solidFill>
                  <a:srgbClr val="70809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// тело цикла выполняется для каждого свойства объекта</a:t>
            </a:r>
            <a:endParaRPr lang="ru-RU" sz="22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ru-RU" sz="22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ru-RU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2028297"/>
            <a:ext cx="6505192" cy="321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0998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 smtClean="0"/>
              <a:t>Объекты</a:t>
            </a:r>
            <a:r>
              <a:rPr lang="ru-RU" dirty="0"/>
              <a:t>. </a:t>
            </a:r>
            <a:r>
              <a:rPr lang="ru-RU" sz="2400" dirty="0"/>
              <a:t>Цикл «</a:t>
            </a:r>
            <a:r>
              <a:rPr lang="en-US" sz="2400" dirty="0"/>
              <a:t>for…in»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62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782152" y="964546"/>
            <a:ext cx="1128012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Свойства объекта упорядочены </a:t>
            </a:r>
            <a:r>
              <a:rPr lang="ru-RU" sz="2200" dirty="0"/>
              <a:t>особым образом: свойства с целочисленными ключами сортируются по возрастанию, остальные располагаются в порядке </a:t>
            </a:r>
            <a:r>
              <a:rPr lang="ru-RU" sz="2200" dirty="0" smtClean="0"/>
              <a:t>создания.</a:t>
            </a:r>
            <a:endParaRPr lang="ru-RU" sz="2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58" y="2116786"/>
            <a:ext cx="5009048" cy="329864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7392" y="2116786"/>
            <a:ext cx="5960151" cy="272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52110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 smtClean="0"/>
              <a:t>Объекты</a:t>
            </a:r>
            <a:r>
              <a:rPr lang="ru-RU" dirty="0"/>
              <a:t>. </a:t>
            </a:r>
            <a:r>
              <a:rPr lang="ru-RU" sz="2400" dirty="0"/>
              <a:t>Цикл «</a:t>
            </a:r>
            <a:r>
              <a:rPr lang="en-US" sz="2400" dirty="0"/>
              <a:t>for…in»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63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6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920301"/>
            <a:ext cx="5547250" cy="3369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71060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 smtClean="0"/>
              <a:t>Объекты</a:t>
            </a:r>
            <a:r>
              <a:rPr lang="ru-RU" dirty="0"/>
              <a:t>. </a:t>
            </a:r>
            <a:r>
              <a:rPr lang="ru-RU" sz="2400" dirty="0"/>
              <a:t>Копирование по ссылке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64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20301"/>
            <a:ext cx="1090185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Переменная хранит не сам объект, а его «адрес в памяти», другими словами «ссылку» на него.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911608" y="1840602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en-US" sz="22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let</a:t>
            </a:r>
            <a:r>
              <a:rPr lang="en-US" sz="22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user </a:t>
            </a:r>
            <a:r>
              <a:rPr lang="en-US" sz="22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sz="22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ru-RU" sz="22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2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sz="2200" dirty="0" smtClean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name</a:t>
            </a:r>
            <a:r>
              <a:rPr lang="en-US" sz="22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  <a:r>
              <a:rPr lang="en-US" sz="22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6699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"John"</a:t>
            </a:r>
            <a:endParaRPr lang="ru-RU" sz="22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2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};</a:t>
            </a:r>
            <a:endParaRPr lang="ru-RU" sz="22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pic>
        <p:nvPicPr>
          <p:cNvPr id="10" name="Рисунок 9"/>
          <p:cNvPicPr/>
          <p:nvPr/>
        </p:nvPicPr>
        <p:blipFill>
          <a:blip r:embed="rId2"/>
          <a:stretch>
            <a:fillRect/>
          </a:stretch>
        </p:blipFill>
        <p:spPr>
          <a:xfrm>
            <a:off x="3787539" y="1957158"/>
            <a:ext cx="6934533" cy="457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65418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 smtClean="0"/>
              <a:t>Объекты</a:t>
            </a:r>
            <a:r>
              <a:rPr lang="ru-RU" dirty="0"/>
              <a:t>. </a:t>
            </a:r>
            <a:r>
              <a:rPr lang="ru-RU" sz="2400" dirty="0"/>
              <a:t>Копирование по ссылке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65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11608" y="920301"/>
            <a:ext cx="340189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/>
              <a:t>Копирование объекта:</a:t>
            </a:r>
            <a:endParaRPr lang="ru-RU" sz="22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402451"/>
            <a:ext cx="4942861" cy="765561"/>
          </a:xfrm>
          <a:prstGeom prst="rect">
            <a:avLst/>
          </a:prstGeom>
        </p:spPr>
      </p:pic>
      <p:pic>
        <p:nvPicPr>
          <p:cNvPr id="12" name="Рисунок 11"/>
          <p:cNvPicPr/>
          <p:nvPr/>
        </p:nvPicPr>
        <p:blipFill>
          <a:blip r:embed="rId3"/>
          <a:stretch>
            <a:fillRect/>
          </a:stretch>
        </p:blipFill>
        <p:spPr>
          <a:xfrm>
            <a:off x="911608" y="2427646"/>
            <a:ext cx="9323773" cy="400666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7171" y="781665"/>
            <a:ext cx="5021281" cy="1386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56831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 smtClean="0"/>
              <a:t>Объекты</a:t>
            </a:r>
            <a:r>
              <a:rPr lang="ru-RU" dirty="0"/>
              <a:t>. </a:t>
            </a:r>
            <a:r>
              <a:rPr lang="ru-RU" sz="2400" dirty="0"/>
              <a:t>Сравнение объектов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66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782153" y="964546"/>
            <a:ext cx="1038237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Два объекта равны только в том случае, если это один и тот же объект.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53" y="1584761"/>
            <a:ext cx="4733626" cy="168938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153" y="3625644"/>
            <a:ext cx="4734272" cy="1093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94913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 smtClean="0"/>
              <a:t>Объекты</a:t>
            </a:r>
            <a:r>
              <a:rPr lang="ru-RU" dirty="0"/>
              <a:t>. </a:t>
            </a:r>
            <a:r>
              <a:rPr lang="ru-RU" sz="2400" dirty="0"/>
              <a:t>Объекты-константы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67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6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255091"/>
            <a:ext cx="4225670" cy="2044125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911608" y="3495064"/>
            <a:ext cx="703429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/>
              <a:t>Нельзя переопределять переменную-константу:</a:t>
            </a:r>
            <a:endParaRPr lang="ru-RU" sz="22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911608" y="772819"/>
            <a:ext cx="489428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/>
              <a:t>Объект-константу можно менять:</a:t>
            </a:r>
            <a:endParaRPr lang="ru-RU" sz="2200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8" y="3986949"/>
            <a:ext cx="3129450" cy="240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84471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 smtClean="0"/>
              <a:t>Объекты</a:t>
            </a:r>
            <a:r>
              <a:rPr lang="ru-RU" dirty="0"/>
              <a:t>. </a:t>
            </a:r>
            <a:r>
              <a:rPr lang="ru-RU" sz="2400" dirty="0"/>
              <a:t>Клонирование и объединение объектов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68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35049"/>
            <a:ext cx="355898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Клонирование </a:t>
            </a:r>
            <a:r>
              <a:rPr lang="ru-RU" sz="2200" dirty="0" smtClean="0"/>
              <a:t>объекта:</a:t>
            </a:r>
            <a:endParaRPr lang="ru-RU" sz="2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380684"/>
            <a:ext cx="4589540" cy="416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31109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 smtClean="0"/>
              <a:t>Объекты</a:t>
            </a:r>
            <a:r>
              <a:rPr lang="ru-RU" dirty="0"/>
              <a:t>. </a:t>
            </a:r>
            <a:r>
              <a:rPr lang="ru-RU" sz="2400" dirty="0"/>
              <a:t>Клонирование и объединение объектов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69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11608" y="920301"/>
            <a:ext cx="603402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/>
              <a:t>Метод </a:t>
            </a:r>
            <a:r>
              <a:rPr lang="en-US" sz="2200" dirty="0" err="1" smtClean="0"/>
              <a:t>Object.assign</a:t>
            </a:r>
            <a:r>
              <a:rPr lang="ru-RU" sz="2200" dirty="0" smtClean="0"/>
              <a:t> объединяет объекты.</a:t>
            </a:r>
            <a:endParaRPr lang="ru-RU" sz="22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911608" y="1471270"/>
            <a:ext cx="66479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Object</a:t>
            </a:r>
            <a:r>
              <a:rPr lang="en-US" sz="2000" dirty="0" err="1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assign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dest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src1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src2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src3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...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])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 b="28116"/>
          <a:stretch/>
        </p:blipFill>
        <p:spPr>
          <a:xfrm>
            <a:off x="1013450" y="1991462"/>
            <a:ext cx="9502150" cy="2300319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2"/>
          <a:srcRect b="86870"/>
          <a:stretch/>
        </p:blipFill>
        <p:spPr>
          <a:xfrm>
            <a:off x="1013450" y="4686762"/>
            <a:ext cx="9502150" cy="420148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 rotWithShape="1">
          <a:blip r:embed="rId2"/>
          <a:srcRect t="77889"/>
          <a:stretch/>
        </p:blipFill>
        <p:spPr>
          <a:xfrm>
            <a:off x="1013450" y="5106910"/>
            <a:ext cx="9502150" cy="70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50209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smtClean="0"/>
              <a:t>Объекты. </a:t>
            </a:r>
            <a:r>
              <a:rPr lang="ru-RU" sz="2400" smtClean="0"/>
              <a:t>Клонирование и объединение объектов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70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861309"/>
            <a:ext cx="913583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err="1"/>
              <a:t>Object.assign</a:t>
            </a:r>
            <a:r>
              <a:rPr lang="en-US" sz="2200" dirty="0"/>
              <a:t> </a:t>
            </a:r>
            <a:r>
              <a:rPr lang="ru-RU" sz="2200" dirty="0" smtClean="0"/>
              <a:t>можно использовать для </a:t>
            </a:r>
            <a:r>
              <a:rPr lang="ru-RU" sz="2200" dirty="0"/>
              <a:t>простого </a:t>
            </a:r>
            <a:r>
              <a:rPr lang="ru-RU" sz="2200" dirty="0" smtClean="0"/>
              <a:t>клонирования:</a:t>
            </a:r>
            <a:endParaRPr lang="ru-RU" sz="2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466389"/>
            <a:ext cx="6027301" cy="1955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80213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 smtClean="0"/>
              <a:t>Тип </a:t>
            </a:r>
            <a:r>
              <a:rPr lang="ru-RU" dirty="0"/>
              <a:t>данных </a:t>
            </a:r>
            <a:r>
              <a:rPr lang="en-US" dirty="0"/>
              <a:t>Symbol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71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904044" y="778722"/>
            <a:ext cx="461216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/>
              <a:t>Создание нового символа – </a:t>
            </a:r>
            <a:r>
              <a:rPr lang="en-US" sz="2200" dirty="0" smtClean="0"/>
              <a:t>id</a:t>
            </a:r>
            <a:r>
              <a:rPr lang="ru-RU" sz="2200" dirty="0" smtClean="0"/>
              <a:t>:</a:t>
            </a:r>
            <a:endParaRPr lang="en-US" sz="22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231731"/>
            <a:ext cx="3630895" cy="425240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911608" y="1769503"/>
            <a:ext cx="743184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/>
              <a:t>Создание символа </a:t>
            </a:r>
            <a:r>
              <a:rPr lang="ru-RU" sz="2200" dirty="0" err="1"/>
              <a:t>id</a:t>
            </a:r>
            <a:r>
              <a:rPr lang="ru-RU" sz="2200" dirty="0"/>
              <a:t> с описанием (именем) </a:t>
            </a:r>
            <a:r>
              <a:rPr lang="ru-RU" sz="2200" dirty="0" smtClean="0"/>
              <a:t>«</a:t>
            </a:r>
            <a:r>
              <a:rPr lang="ru-RU" sz="2200" dirty="0" err="1" smtClean="0"/>
              <a:t>id</a:t>
            </a:r>
            <a:r>
              <a:rPr lang="ru-RU" sz="2200" dirty="0" smtClean="0"/>
              <a:t>»:</a:t>
            </a:r>
            <a:endParaRPr lang="ru-RU" sz="2200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043" y="2276893"/>
            <a:ext cx="4095659" cy="425949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911608" y="2767520"/>
            <a:ext cx="868959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Символы с </a:t>
            </a:r>
            <a:r>
              <a:rPr lang="ru-RU" sz="2200" dirty="0"/>
              <a:t>одинаковым описанием </a:t>
            </a:r>
            <a:r>
              <a:rPr lang="ru-RU" sz="2200" dirty="0" smtClean="0"/>
              <a:t>не равны:</a:t>
            </a:r>
            <a:endParaRPr lang="ru-RU" sz="2200" dirty="0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607" y="3256382"/>
            <a:ext cx="4829435" cy="1345111"/>
          </a:xfrm>
          <a:prstGeom prst="rect">
            <a:avLst/>
          </a:prstGeom>
        </p:spPr>
      </p:pic>
      <p:sp>
        <p:nvSpPr>
          <p:cNvPr id="16" name="Прямоугольник 15"/>
          <p:cNvSpPr/>
          <p:nvPr/>
        </p:nvSpPr>
        <p:spPr>
          <a:xfrm>
            <a:off x="911606" y="4723773"/>
            <a:ext cx="899930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Символы не преобразуются автоматически в </a:t>
            </a:r>
            <a:r>
              <a:rPr lang="ru-RU" sz="2200" dirty="0" smtClean="0"/>
              <a:t>строки:</a:t>
            </a:r>
            <a:endParaRPr lang="ru-RU" sz="2200" dirty="0"/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606" y="5199298"/>
            <a:ext cx="8620148" cy="136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77326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 smtClean="0"/>
              <a:t>Тип </a:t>
            </a:r>
            <a:r>
              <a:rPr lang="ru-RU" dirty="0"/>
              <a:t>данных </a:t>
            </a:r>
            <a:r>
              <a:rPr lang="en-US" dirty="0"/>
              <a:t>Symbol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72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51586"/>
            <a:ext cx="997270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Чтобы вывести </a:t>
            </a:r>
            <a:r>
              <a:rPr lang="ru-RU" sz="2200" dirty="0"/>
              <a:t>символ с помощью </a:t>
            </a:r>
            <a:r>
              <a:rPr lang="ru-RU" sz="2200" dirty="0" err="1"/>
              <a:t>alert</a:t>
            </a:r>
            <a:r>
              <a:rPr lang="ru-RU" sz="2200" dirty="0" smtClean="0"/>
              <a:t>, </a:t>
            </a:r>
            <a:r>
              <a:rPr lang="ru-RU" sz="2200" dirty="0"/>
              <a:t>необходимо явно преобразовать его с помощью метода .</a:t>
            </a:r>
            <a:r>
              <a:rPr lang="ru-RU" sz="2200" dirty="0" err="1"/>
              <a:t>toString</a:t>
            </a:r>
            <a:r>
              <a:rPr lang="ru-RU" sz="2200" dirty="0" smtClean="0"/>
              <a:t>():</a:t>
            </a:r>
            <a:endParaRPr lang="ru-RU" sz="22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911607" y="2755094"/>
            <a:ext cx="955974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Свойство </a:t>
            </a:r>
            <a:r>
              <a:rPr lang="en-US" sz="2200" dirty="0" err="1" smtClean="0"/>
              <a:t>symbol.description</a:t>
            </a:r>
            <a:r>
              <a:rPr lang="ru-RU" sz="2200" dirty="0"/>
              <a:t> </a:t>
            </a:r>
            <a:r>
              <a:rPr lang="ru-RU" sz="2200" dirty="0" smtClean="0"/>
              <a:t>выводит </a:t>
            </a:r>
            <a:r>
              <a:rPr lang="ru-RU" sz="2200" dirty="0"/>
              <a:t>только описание: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788222"/>
            <a:ext cx="6036770" cy="733751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7" y="3296140"/>
            <a:ext cx="5163629" cy="74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24450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 smtClean="0"/>
              <a:t>Тип </a:t>
            </a:r>
            <a:r>
              <a:rPr lang="ru-RU" dirty="0"/>
              <a:t>данных </a:t>
            </a:r>
            <a:r>
              <a:rPr lang="en-US" dirty="0" smtClean="0"/>
              <a:t>Symbol</a:t>
            </a:r>
            <a:r>
              <a:rPr lang="ru-RU" dirty="0"/>
              <a:t>. </a:t>
            </a:r>
            <a:r>
              <a:rPr lang="ru-RU" sz="2400" dirty="0"/>
              <a:t>«Скрытые» свойства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73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911607" y="814071"/>
            <a:ext cx="1037090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Символы позволяют создавать «скрытые» свойства объектов, к которым нельзя </a:t>
            </a:r>
            <a:r>
              <a:rPr lang="ru-RU" sz="2200" dirty="0" smtClean="0"/>
              <a:t>случайно </a:t>
            </a:r>
            <a:r>
              <a:rPr lang="ru-RU" sz="2200" dirty="0"/>
              <a:t>обратиться и </a:t>
            </a:r>
            <a:r>
              <a:rPr lang="ru-RU" sz="2200" dirty="0" smtClean="0"/>
              <a:t>перезаписать:</a:t>
            </a:r>
            <a:endParaRPr lang="ru-RU" sz="22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7" y="1660632"/>
            <a:ext cx="4855012" cy="1575889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7" y="3455220"/>
            <a:ext cx="5223722" cy="732297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911607" y="4406216"/>
            <a:ext cx="1085760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Использование строки </a:t>
            </a:r>
            <a:r>
              <a:rPr lang="ru-RU" sz="2200" dirty="0"/>
              <a:t>"</a:t>
            </a:r>
            <a:r>
              <a:rPr lang="ru-RU" sz="2200" dirty="0" err="1"/>
              <a:t>id</a:t>
            </a:r>
            <a:r>
              <a:rPr lang="ru-RU" sz="2200" dirty="0"/>
              <a:t>" вместо </a:t>
            </a:r>
            <a:r>
              <a:rPr lang="ru-RU" sz="2200" dirty="0" smtClean="0"/>
              <a:t>символа приводит к конфликту:</a:t>
            </a:r>
            <a:endParaRPr lang="ru-RU" sz="2200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607" y="4870696"/>
            <a:ext cx="5297119" cy="136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13693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 smtClean="0"/>
              <a:t>Тип </a:t>
            </a:r>
            <a:r>
              <a:rPr lang="ru-RU" dirty="0"/>
              <a:t>данных </a:t>
            </a:r>
            <a:r>
              <a:rPr lang="en-US" dirty="0" smtClean="0"/>
              <a:t>Symbol</a:t>
            </a:r>
            <a:r>
              <a:rPr lang="ru-RU" dirty="0"/>
              <a:t>. </a:t>
            </a:r>
            <a:r>
              <a:rPr lang="ru-RU" sz="2700" dirty="0"/>
              <a:t>Символы в литеральном объекте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74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7" y="920301"/>
            <a:ext cx="1037090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Символ при </a:t>
            </a:r>
            <a:r>
              <a:rPr lang="ru-RU" sz="2200" dirty="0"/>
              <a:t>литеральном объявлении объекта </a:t>
            </a:r>
            <a:r>
              <a:rPr lang="ru-RU" sz="2200" dirty="0" smtClean="0"/>
              <a:t>{...} необходимо заключать </a:t>
            </a:r>
            <a:r>
              <a:rPr lang="ru-RU" sz="2200" dirty="0"/>
              <a:t>в квадратные </a:t>
            </a:r>
            <a:r>
              <a:rPr lang="ru-RU" sz="2200" dirty="0" smtClean="0"/>
              <a:t>скобки:</a:t>
            </a:r>
            <a:endParaRPr lang="ru-RU" sz="2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7" y="1776903"/>
            <a:ext cx="4073348" cy="1979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21411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 smtClean="0"/>
              <a:t>Тип </a:t>
            </a:r>
            <a:r>
              <a:rPr lang="ru-RU" dirty="0"/>
              <a:t>данных </a:t>
            </a:r>
            <a:r>
              <a:rPr lang="en-US" dirty="0" smtClean="0"/>
              <a:t>Symbol</a:t>
            </a:r>
            <a:r>
              <a:rPr lang="ru-RU" dirty="0"/>
              <a:t>. </a:t>
            </a:r>
            <a:r>
              <a:rPr lang="ru-RU" sz="2400" dirty="0"/>
              <a:t>Символы </a:t>
            </a:r>
            <a:r>
              <a:rPr lang="ru-RU" sz="2400" dirty="0" smtClean="0"/>
              <a:t>и цикл </a:t>
            </a:r>
            <a:r>
              <a:rPr lang="en-US" sz="2400" dirty="0"/>
              <a:t>for…in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75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11608" y="920301"/>
            <a:ext cx="1020867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Свойства с ключами-символами </a:t>
            </a:r>
            <a:r>
              <a:rPr lang="ru-RU" sz="2200" dirty="0"/>
              <a:t>не перебираются циклом </a:t>
            </a:r>
            <a:r>
              <a:rPr lang="ru-RU" sz="2200" dirty="0" err="1"/>
              <a:t>for</a:t>
            </a:r>
            <a:r>
              <a:rPr lang="ru-RU" sz="2200" dirty="0"/>
              <a:t>..</a:t>
            </a:r>
            <a:r>
              <a:rPr lang="ru-RU" sz="2200" dirty="0" err="1" smtClean="0"/>
              <a:t>in</a:t>
            </a:r>
            <a:r>
              <a:rPr lang="ru-RU" sz="2200" dirty="0" smtClean="0"/>
              <a:t>:</a:t>
            </a:r>
            <a:endParaRPr lang="ru-RU" sz="22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423764"/>
            <a:ext cx="7613515" cy="292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38473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 smtClean="0"/>
              <a:t>Тип </a:t>
            </a:r>
            <a:r>
              <a:rPr lang="ru-RU" dirty="0"/>
              <a:t>данных </a:t>
            </a:r>
            <a:r>
              <a:rPr lang="en-US" dirty="0" smtClean="0"/>
              <a:t>Symbol</a:t>
            </a:r>
            <a:r>
              <a:rPr lang="ru-RU" dirty="0"/>
              <a:t>. </a:t>
            </a:r>
            <a:r>
              <a:rPr lang="ru-RU" sz="2400" dirty="0" smtClean="0"/>
              <a:t>Символы и цикл </a:t>
            </a:r>
            <a:r>
              <a:rPr lang="en-US" sz="2400" dirty="0" smtClean="0"/>
              <a:t>for…in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76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20301"/>
            <a:ext cx="991370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err="1" smtClean="0"/>
              <a:t>Object.assign</a:t>
            </a:r>
            <a:r>
              <a:rPr lang="ru-RU" sz="2200" dirty="0" smtClean="0"/>
              <a:t> копирует </a:t>
            </a:r>
            <a:r>
              <a:rPr lang="ru-RU" sz="2200" dirty="0"/>
              <a:t>и строковые, и символьные свойства: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7" y="1476865"/>
            <a:ext cx="5951197" cy="228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46834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 smtClean="0"/>
              <a:t>Тип </a:t>
            </a:r>
            <a:r>
              <a:rPr lang="ru-RU" dirty="0"/>
              <a:t>данных </a:t>
            </a:r>
            <a:r>
              <a:rPr lang="en-US" dirty="0" smtClean="0"/>
              <a:t>Symbol</a:t>
            </a:r>
            <a:r>
              <a:rPr lang="ru-RU" dirty="0"/>
              <a:t>. </a:t>
            </a:r>
            <a:r>
              <a:rPr lang="ru-RU" sz="2400" dirty="0"/>
              <a:t>Глобальные символы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77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11608" y="920301"/>
            <a:ext cx="1097559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Для чтения (</a:t>
            </a:r>
            <a:r>
              <a:rPr lang="ru-RU" sz="2200" dirty="0" smtClean="0"/>
              <a:t>или создания</a:t>
            </a:r>
            <a:r>
              <a:rPr lang="ru-RU" sz="2200" dirty="0"/>
              <a:t>) символа из реестра используется вызов </a:t>
            </a:r>
            <a:r>
              <a:rPr lang="ru-RU" sz="2200" b="1" dirty="0" err="1"/>
              <a:t>Symbol.for</a:t>
            </a:r>
            <a:r>
              <a:rPr lang="ru-RU" sz="2200" b="1" dirty="0"/>
              <a:t>(</a:t>
            </a:r>
            <a:r>
              <a:rPr lang="ru-RU" sz="2200" b="1" dirty="0" err="1"/>
              <a:t>key</a:t>
            </a:r>
            <a:r>
              <a:rPr lang="ru-RU" sz="2200" b="1" dirty="0" smtClean="0"/>
              <a:t>)</a:t>
            </a:r>
            <a:r>
              <a:rPr lang="ru-RU" sz="2200" dirty="0" smtClean="0"/>
              <a:t>:</a:t>
            </a:r>
            <a:endParaRPr lang="ru-RU" sz="22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840602"/>
            <a:ext cx="5828406" cy="111500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911607" y="3180859"/>
            <a:ext cx="1106129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Метод </a:t>
            </a:r>
            <a:r>
              <a:rPr lang="ru-RU" sz="2200" b="1" dirty="0" err="1"/>
              <a:t>Symbol.keyFor</a:t>
            </a:r>
            <a:r>
              <a:rPr lang="ru-RU" sz="2200" b="1" dirty="0"/>
              <a:t>(</a:t>
            </a:r>
            <a:r>
              <a:rPr lang="ru-RU" sz="2200" b="1" dirty="0" err="1"/>
              <a:t>sym</a:t>
            </a:r>
            <a:r>
              <a:rPr lang="ru-RU" sz="2200" b="1" dirty="0" smtClean="0"/>
              <a:t>) </a:t>
            </a:r>
            <a:r>
              <a:rPr lang="ru-RU" sz="2200" dirty="0" smtClean="0"/>
              <a:t>принимает </a:t>
            </a:r>
            <a:r>
              <a:rPr lang="ru-RU" sz="2200" dirty="0"/>
              <a:t>глобальный символ и возвращает его </a:t>
            </a:r>
            <a:r>
              <a:rPr lang="ru-RU" sz="2200" dirty="0" smtClean="0"/>
              <a:t>имя:</a:t>
            </a:r>
            <a:endParaRPr lang="ru-RU" sz="2200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7" y="4039616"/>
            <a:ext cx="6226612" cy="170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08411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ru-RU" dirty="0" smtClean="0"/>
              <a:t>Тип </a:t>
            </a:r>
            <a:r>
              <a:rPr lang="ru-RU" dirty="0"/>
              <a:t>данных </a:t>
            </a:r>
            <a:r>
              <a:rPr lang="en-US" dirty="0" smtClean="0"/>
              <a:t>Symbol</a:t>
            </a:r>
            <a:r>
              <a:rPr lang="ru-RU" dirty="0"/>
              <a:t>. </a:t>
            </a:r>
            <a:r>
              <a:rPr lang="ru-RU" sz="2400" dirty="0"/>
              <a:t>Системные символы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78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20301"/>
            <a:ext cx="1088710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sz="2200" dirty="0"/>
              <a:t>Эти символы перечислены в спецификации в таблице </a:t>
            </a:r>
            <a:r>
              <a:rPr lang="en-US" sz="2200" dirty="0"/>
              <a:t>Well-known symbols</a:t>
            </a:r>
            <a:r>
              <a:rPr lang="en-US" sz="2200" dirty="0" smtClean="0"/>
              <a:t>:</a:t>
            </a:r>
            <a:endParaRPr lang="ru-RU" sz="2200" dirty="0" smtClean="0"/>
          </a:p>
          <a:p>
            <a:pPr>
              <a:lnSpc>
                <a:spcPct val="120000"/>
              </a:lnSpc>
            </a:pPr>
            <a:endParaRPr lang="en-US" sz="2200" dirty="0"/>
          </a:p>
          <a:p>
            <a:pPr>
              <a:lnSpc>
                <a:spcPct val="120000"/>
              </a:lnSpc>
            </a:pPr>
            <a:r>
              <a:rPr lang="en-US" sz="2200" dirty="0" smtClean="0"/>
              <a:t>•</a:t>
            </a:r>
            <a:r>
              <a:rPr lang="ru-RU" sz="2200" dirty="0" smtClean="0"/>
              <a:t> </a:t>
            </a:r>
            <a:r>
              <a:rPr lang="en-US" sz="2200" dirty="0" err="1" smtClean="0"/>
              <a:t>Symbol.hasInstance</a:t>
            </a:r>
            <a:endParaRPr lang="en-US" sz="2200" dirty="0"/>
          </a:p>
          <a:p>
            <a:pPr>
              <a:lnSpc>
                <a:spcPct val="120000"/>
              </a:lnSpc>
            </a:pPr>
            <a:r>
              <a:rPr lang="en-US" sz="2200" dirty="0" smtClean="0"/>
              <a:t>•</a:t>
            </a:r>
            <a:r>
              <a:rPr lang="ru-RU" sz="2200" dirty="0" smtClean="0"/>
              <a:t> </a:t>
            </a:r>
            <a:r>
              <a:rPr lang="en-US" sz="2200" dirty="0" err="1" smtClean="0"/>
              <a:t>Symbol.iterator</a:t>
            </a:r>
            <a:endParaRPr lang="en-US" sz="2200" dirty="0"/>
          </a:p>
          <a:p>
            <a:pPr>
              <a:lnSpc>
                <a:spcPct val="120000"/>
              </a:lnSpc>
            </a:pPr>
            <a:r>
              <a:rPr lang="en-US" sz="2200" dirty="0" smtClean="0"/>
              <a:t>•</a:t>
            </a:r>
            <a:r>
              <a:rPr lang="ru-RU" sz="2200" dirty="0" smtClean="0"/>
              <a:t> </a:t>
            </a:r>
            <a:r>
              <a:rPr lang="en-US" sz="2200" dirty="0" err="1" smtClean="0"/>
              <a:t>Symbol.toPrimitive</a:t>
            </a:r>
            <a:r>
              <a:rPr lang="ru-RU" sz="2200" dirty="0" smtClean="0"/>
              <a:t> и др.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470021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en-US" dirty="0" smtClean="0"/>
              <a:t>Set</a:t>
            </a:r>
            <a:r>
              <a:rPr lang="en-US" dirty="0"/>
              <a:t>, Map, </a:t>
            </a:r>
            <a:r>
              <a:rPr lang="en-US" dirty="0" err="1"/>
              <a:t>WeakSet</a:t>
            </a:r>
            <a:r>
              <a:rPr lang="en-US" dirty="0"/>
              <a:t> </a:t>
            </a:r>
            <a:r>
              <a:rPr lang="ru-RU" dirty="0"/>
              <a:t>и</a:t>
            </a:r>
            <a:r>
              <a:rPr lang="en-US" dirty="0"/>
              <a:t> </a:t>
            </a:r>
            <a:r>
              <a:rPr lang="en-US" dirty="0" err="1" smtClean="0"/>
              <a:t>WeakMap</a:t>
            </a:r>
            <a:r>
              <a:rPr lang="ru-RU" dirty="0" smtClean="0"/>
              <a:t>. </a:t>
            </a:r>
            <a:r>
              <a:rPr lang="en-US" sz="2400" dirty="0" smtClean="0"/>
              <a:t>Map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79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911607" y="920301"/>
            <a:ext cx="1087235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 err="1"/>
              <a:t>Map</a:t>
            </a:r>
            <a:r>
              <a:rPr lang="ru-RU" sz="2200" dirty="0"/>
              <a:t> – это коллекция </a:t>
            </a:r>
            <a:r>
              <a:rPr lang="ru-RU" sz="2200" dirty="0" smtClean="0"/>
              <a:t>ключ/значение, позволяет </a:t>
            </a:r>
            <a:r>
              <a:rPr lang="ru-RU" sz="2200" dirty="0"/>
              <a:t>использовать ключи любого типа.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11606" y="1840602"/>
            <a:ext cx="1087235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sz="2200" dirty="0"/>
              <a:t>Методы и свойства:</a:t>
            </a:r>
          </a:p>
          <a:p>
            <a:pPr>
              <a:lnSpc>
                <a:spcPct val="120000"/>
              </a:lnSpc>
            </a:pPr>
            <a:r>
              <a:rPr lang="ru-RU" sz="2200" dirty="0" smtClean="0"/>
              <a:t>• </a:t>
            </a:r>
            <a:r>
              <a:rPr lang="en-US" sz="2200" dirty="0" smtClean="0"/>
              <a:t>new </a:t>
            </a:r>
            <a:r>
              <a:rPr lang="en-US" sz="2200" dirty="0"/>
              <a:t>Map() – </a:t>
            </a:r>
            <a:r>
              <a:rPr lang="ru-RU" sz="2200" dirty="0"/>
              <a:t>создаёт коллекцию.</a:t>
            </a:r>
          </a:p>
          <a:p>
            <a:pPr>
              <a:lnSpc>
                <a:spcPct val="120000"/>
              </a:lnSpc>
            </a:pPr>
            <a:r>
              <a:rPr lang="ru-RU" sz="2200" dirty="0" smtClean="0"/>
              <a:t>• </a:t>
            </a:r>
            <a:r>
              <a:rPr lang="en-US" sz="2200" dirty="0" err="1" smtClean="0"/>
              <a:t>map.set</a:t>
            </a:r>
            <a:r>
              <a:rPr lang="en-US" sz="2200" dirty="0" smtClean="0"/>
              <a:t>(key</a:t>
            </a:r>
            <a:r>
              <a:rPr lang="en-US" sz="2200" dirty="0"/>
              <a:t>, value) – </a:t>
            </a:r>
            <a:r>
              <a:rPr lang="ru-RU" sz="2200" dirty="0"/>
              <a:t>записывает по ключу </a:t>
            </a:r>
            <a:r>
              <a:rPr lang="en-US" sz="2200" dirty="0"/>
              <a:t>key </a:t>
            </a:r>
            <a:r>
              <a:rPr lang="ru-RU" sz="2200" dirty="0"/>
              <a:t>значение </a:t>
            </a:r>
            <a:r>
              <a:rPr lang="en-US" sz="2200" dirty="0"/>
              <a:t>value.</a:t>
            </a:r>
          </a:p>
          <a:p>
            <a:pPr>
              <a:lnSpc>
                <a:spcPct val="120000"/>
              </a:lnSpc>
            </a:pPr>
            <a:r>
              <a:rPr lang="en-US" sz="2200" dirty="0" smtClean="0"/>
              <a:t>•</a:t>
            </a:r>
            <a:r>
              <a:rPr lang="ru-RU" sz="2200" dirty="0" smtClean="0"/>
              <a:t> </a:t>
            </a:r>
            <a:r>
              <a:rPr lang="en-US" sz="2200" dirty="0" err="1" smtClean="0"/>
              <a:t>map.get</a:t>
            </a:r>
            <a:r>
              <a:rPr lang="en-US" sz="2200" dirty="0" smtClean="0"/>
              <a:t>(key</a:t>
            </a:r>
            <a:r>
              <a:rPr lang="en-US" sz="2200" dirty="0"/>
              <a:t>) – </a:t>
            </a:r>
            <a:r>
              <a:rPr lang="ru-RU" sz="2200" dirty="0"/>
              <a:t>возвращает значение по ключу или </a:t>
            </a:r>
            <a:r>
              <a:rPr lang="en-US" sz="2200" dirty="0"/>
              <a:t>undefined, </a:t>
            </a:r>
            <a:r>
              <a:rPr lang="ru-RU" sz="2200" dirty="0"/>
              <a:t>если ключ </a:t>
            </a:r>
            <a:r>
              <a:rPr lang="en-US" sz="2200" dirty="0"/>
              <a:t>key </a:t>
            </a:r>
            <a:r>
              <a:rPr lang="ru-RU" sz="2200" dirty="0"/>
              <a:t>отсутствует.</a:t>
            </a:r>
          </a:p>
          <a:p>
            <a:pPr>
              <a:lnSpc>
                <a:spcPct val="120000"/>
              </a:lnSpc>
            </a:pPr>
            <a:r>
              <a:rPr lang="ru-RU" sz="2200" dirty="0" smtClean="0"/>
              <a:t>• </a:t>
            </a:r>
            <a:r>
              <a:rPr lang="en-US" sz="2200" dirty="0" err="1" smtClean="0"/>
              <a:t>map.has</a:t>
            </a:r>
            <a:r>
              <a:rPr lang="en-US" sz="2200" dirty="0" smtClean="0"/>
              <a:t>(key</a:t>
            </a:r>
            <a:r>
              <a:rPr lang="en-US" sz="2200" dirty="0"/>
              <a:t>) – </a:t>
            </a:r>
            <a:r>
              <a:rPr lang="ru-RU" sz="2200" dirty="0"/>
              <a:t>возвращает </a:t>
            </a:r>
            <a:r>
              <a:rPr lang="en-US" sz="2200" dirty="0"/>
              <a:t>true, </a:t>
            </a:r>
            <a:r>
              <a:rPr lang="ru-RU" sz="2200" dirty="0"/>
              <a:t>если ключ </a:t>
            </a:r>
            <a:r>
              <a:rPr lang="en-US" sz="2200" dirty="0"/>
              <a:t>key </a:t>
            </a:r>
            <a:r>
              <a:rPr lang="ru-RU" sz="2200" dirty="0"/>
              <a:t>присутствует в коллекции, иначе </a:t>
            </a:r>
            <a:r>
              <a:rPr lang="en-US" sz="2200" dirty="0"/>
              <a:t>false.</a:t>
            </a:r>
          </a:p>
          <a:p>
            <a:pPr>
              <a:lnSpc>
                <a:spcPct val="120000"/>
              </a:lnSpc>
            </a:pPr>
            <a:r>
              <a:rPr lang="en-US" sz="2200" dirty="0" smtClean="0"/>
              <a:t>•</a:t>
            </a:r>
            <a:r>
              <a:rPr lang="ru-RU" sz="2200" dirty="0" smtClean="0"/>
              <a:t> </a:t>
            </a:r>
            <a:r>
              <a:rPr lang="en-US" sz="2200" dirty="0" err="1" smtClean="0"/>
              <a:t>map.delete</a:t>
            </a:r>
            <a:r>
              <a:rPr lang="en-US" sz="2200" dirty="0" smtClean="0"/>
              <a:t>(key</a:t>
            </a:r>
            <a:r>
              <a:rPr lang="en-US" sz="2200" dirty="0"/>
              <a:t>) – </a:t>
            </a:r>
            <a:r>
              <a:rPr lang="ru-RU" sz="2200" dirty="0"/>
              <a:t>удаляет элемент по ключу </a:t>
            </a:r>
            <a:r>
              <a:rPr lang="en-US" sz="2200" dirty="0"/>
              <a:t>key.</a:t>
            </a:r>
          </a:p>
          <a:p>
            <a:pPr>
              <a:lnSpc>
                <a:spcPct val="120000"/>
              </a:lnSpc>
            </a:pPr>
            <a:r>
              <a:rPr lang="en-US" sz="2200" dirty="0" smtClean="0"/>
              <a:t>•</a:t>
            </a:r>
            <a:r>
              <a:rPr lang="ru-RU" sz="2200" dirty="0" smtClean="0"/>
              <a:t> </a:t>
            </a:r>
            <a:r>
              <a:rPr lang="en-US" sz="2200" dirty="0" err="1" smtClean="0"/>
              <a:t>map.clear</a:t>
            </a:r>
            <a:r>
              <a:rPr lang="en-US" sz="2200" dirty="0"/>
              <a:t>() – </a:t>
            </a:r>
            <a:r>
              <a:rPr lang="ru-RU" sz="2200" dirty="0"/>
              <a:t>очищает коллекцию от всех элементов.</a:t>
            </a:r>
          </a:p>
          <a:p>
            <a:pPr>
              <a:lnSpc>
                <a:spcPct val="120000"/>
              </a:lnSpc>
            </a:pPr>
            <a:r>
              <a:rPr lang="ru-RU" sz="2200" dirty="0" smtClean="0"/>
              <a:t>• </a:t>
            </a:r>
            <a:r>
              <a:rPr lang="en-US" sz="2200" dirty="0" err="1" smtClean="0"/>
              <a:t>map.size</a:t>
            </a:r>
            <a:r>
              <a:rPr lang="en-US" sz="2200" dirty="0" smtClean="0"/>
              <a:t> </a:t>
            </a:r>
            <a:r>
              <a:rPr lang="en-US" sz="2200" dirty="0"/>
              <a:t>– </a:t>
            </a:r>
            <a:r>
              <a:rPr lang="ru-RU" sz="2200" dirty="0"/>
              <a:t>возвращает текущее количество элементов.</a:t>
            </a:r>
          </a:p>
        </p:txBody>
      </p:sp>
    </p:spTree>
    <p:extLst>
      <p:ext uri="{BB962C8B-B14F-4D97-AF65-F5344CB8AC3E}">
        <p14:creationId xmlns:p14="http://schemas.microsoft.com/office/powerpoint/2010/main" val="1219043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en-US" dirty="0" smtClean="0"/>
              <a:t>Set</a:t>
            </a:r>
            <a:r>
              <a:rPr lang="en-US" dirty="0"/>
              <a:t>, Map, </a:t>
            </a:r>
            <a:r>
              <a:rPr lang="en-US" dirty="0" err="1"/>
              <a:t>WeakSet</a:t>
            </a:r>
            <a:r>
              <a:rPr lang="en-US" dirty="0"/>
              <a:t> </a:t>
            </a:r>
            <a:r>
              <a:rPr lang="ru-RU" dirty="0"/>
              <a:t>и</a:t>
            </a:r>
            <a:r>
              <a:rPr lang="en-US" dirty="0"/>
              <a:t> </a:t>
            </a:r>
            <a:r>
              <a:rPr lang="en-US" dirty="0" err="1" smtClean="0"/>
              <a:t>WeakMap</a:t>
            </a:r>
            <a:r>
              <a:rPr lang="ru-RU" dirty="0" smtClean="0"/>
              <a:t>. </a:t>
            </a:r>
            <a:r>
              <a:rPr lang="en-US" sz="2400" dirty="0" smtClean="0"/>
              <a:t>Map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80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8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11607" y="920301"/>
            <a:ext cx="5312211" cy="321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490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en-US" dirty="0" smtClean="0"/>
              <a:t>Set</a:t>
            </a:r>
            <a:r>
              <a:rPr lang="en-US" dirty="0"/>
              <a:t>, Map, </a:t>
            </a:r>
            <a:r>
              <a:rPr lang="en-US" dirty="0" err="1"/>
              <a:t>WeakSet</a:t>
            </a:r>
            <a:r>
              <a:rPr lang="en-US" dirty="0"/>
              <a:t> </a:t>
            </a:r>
            <a:r>
              <a:rPr lang="ru-RU" dirty="0"/>
              <a:t>и</a:t>
            </a:r>
            <a:r>
              <a:rPr lang="en-US" dirty="0"/>
              <a:t> </a:t>
            </a:r>
            <a:r>
              <a:rPr lang="en-US" dirty="0" err="1" smtClean="0"/>
              <a:t>WeakMap</a:t>
            </a:r>
            <a:r>
              <a:rPr lang="ru-RU" dirty="0" smtClean="0"/>
              <a:t>. </a:t>
            </a:r>
            <a:r>
              <a:rPr lang="en-US" sz="2400" dirty="0" smtClean="0"/>
              <a:t>Map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81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911608" y="920301"/>
            <a:ext cx="958924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err="1"/>
              <a:t>Map</a:t>
            </a:r>
            <a:r>
              <a:rPr lang="ru-RU" sz="2200" dirty="0"/>
              <a:t> может использовать объекты в качестве ключей.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11607" y="1501110"/>
            <a:ext cx="6639567" cy="2021452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911607" y="3734039"/>
            <a:ext cx="662873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/>
              <a:t>Можно </a:t>
            </a:r>
            <a:r>
              <a:rPr lang="ru-RU" sz="2200" dirty="0"/>
              <a:t>объединить </a:t>
            </a:r>
            <a:r>
              <a:rPr lang="ru-RU" sz="2200" dirty="0" smtClean="0"/>
              <a:t>вызовы </a:t>
            </a:r>
            <a:r>
              <a:rPr lang="en-US" sz="2200" dirty="0" err="1" smtClean="0"/>
              <a:t>map.set</a:t>
            </a:r>
            <a:r>
              <a:rPr lang="ru-RU" sz="2200" dirty="0" smtClean="0"/>
              <a:t> </a:t>
            </a:r>
            <a:r>
              <a:rPr lang="ru-RU" sz="2200" dirty="0"/>
              <a:t>в цепочку: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911607" y="4170039"/>
            <a:ext cx="4262548" cy="106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914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en-US" dirty="0" smtClean="0"/>
              <a:t>Set</a:t>
            </a:r>
            <a:r>
              <a:rPr lang="en-US" dirty="0"/>
              <a:t>, Map, </a:t>
            </a:r>
            <a:r>
              <a:rPr lang="en-US" dirty="0" err="1"/>
              <a:t>WeakSet</a:t>
            </a:r>
            <a:r>
              <a:rPr lang="en-US" dirty="0"/>
              <a:t> </a:t>
            </a:r>
            <a:r>
              <a:rPr lang="ru-RU" dirty="0"/>
              <a:t>и</a:t>
            </a:r>
            <a:r>
              <a:rPr lang="en-US" dirty="0"/>
              <a:t> </a:t>
            </a:r>
            <a:r>
              <a:rPr lang="en-US" dirty="0" err="1" smtClean="0"/>
              <a:t>WeakMap</a:t>
            </a:r>
            <a:r>
              <a:rPr lang="ru-RU" dirty="0"/>
              <a:t>. </a:t>
            </a:r>
            <a:r>
              <a:rPr lang="ru-RU" sz="2400" dirty="0"/>
              <a:t>Перебор </a:t>
            </a:r>
            <a:r>
              <a:rPr lang="en-US" sz="2400" dirty="0"/>
              <a:t>Map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82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7" y="920301"/>
            <a:ext cx="10651127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200" dirty="0" smtClean="0"/>
              <a:t>Методы для </a:t>
            </a:r>
            <a:r>
              <a:rPr lang="ru-RU" sz="2200" dirty="0"/>
              <a:t>перебора </a:t>
            </a:r>
            <a:r>
              <a:rPr lang="ru-RU" sz="2200" dirty="0" err="1"/>
              <a:t>коллекциии</a:t>
            </a:r>
            <a:r>
              <a:rPr lang="ru-RU" sz="2200" dirty="0"/>
              <a:t> </a:t>
            </a:r>
            <a:r>
              <a:rPr lang="ru-RU" sz="2200" dirty="0" err="1" smtClean="0"/>
              <a:t>Map</a:t>
            </a:r>
            <a:r>
              <a:rPr lang="ru-RU" sz="2200" dirty="0" smtClean="0"/>
              <a:t>:</a:t>
            </a:r>
            <a:endParaRPr lang="ru-RU" sz="2200" dirty="0"/>
          </a:p>
          <a:p>
            <a:pPr>
              <a:lnSpc>
                <a:spcPct val="150000"/>
              </a:lnSpc>
            </a:pPr>
            <a:r>
              <a:rPr lang="ru-RU" sz="2200" dirty="0" smtClean="0"/>
              <a:t>•</a:t>
            </a:r>
            <a:r>
              <a:rPr lang="en-US" sz="2200" dirty="0" smtClean="0"/>
              <a:t> </a:t>
            </a:r>
            <a:r>
              <a:rPr lang="ru-RU" sz="2200" dirty="0" err="1" smtClean="0"/>
              <a:t>map.keys</a:t>
            </a:r>
            <a:r>
              <a:rPr lang="ru-RU" sz="2200" dirty="0"/>
              <a:t>() – возвращает итерируемый объект по ключам,</a:t>
            </a:r>
          </a:p>
          <a:p>
            <a:pPr>
              <a:lnSpc>
                <a:spcPct val="150000"/>
              </a:lnSpc>
            </a:pPr>
            <a:r>
              <a:rPr lang="ru-RU" sz="2200" dirty="0" smtClean="0"/>
              <a:t>•</a:t>
            </a:r>
            <a:r>
              <a:rPr lang="en-US" sz="2200" dirty="0" smtClean="0"/>
              <a:t> </a:t>
            </a:r>
            <a:r>
              <a:rPr lang="ru-RU" sz="2200" dirty="0" err="1" smtClean="0"/>
              <a:t>map.values</a:t>
            </a:r>
            <a:r>
              <a:rPr lang="ru-RU" sz="2200" dirty="0"/>
              <a:t>() – возвращает итерируемый объект по значениям,</a:t>
            </a:r>
          </a:p>
          <a:p>
            <a:pPr>
              <a:lnSpc>
                <a:spcPct val="150000"/>
              </a:lnSpc>
            </a:pPr>
            <a:r>
              <a:rPr lang="ru-RU" sz="2200" dirty="0" smtClean="0"/>
              <a:t>•</a:t>
            </a:r>
            <a:r>
              <a:rPr lang="en-US" sz="2200" dirty="0" smtClean="0"/>
              <a:t> </a:t>
            </a:r>
            <a:r>
              <a:rPr lang="ru-RU" sz="2200" dirty="0" err="1" smtClean="0"/>
              <a:t>map.entries</a:t>
            </a:r>
            <a:r>
              <a:rPr lang="ru-RU" sz="2200" dirty="0"/>
              <a:t>() – возвращает итерируемый объект по парам вида [ключ, значение], этот вариант используется по умолчанию в </a:t>
            </a:r>
            <a:r>
              <a:rPr lang="ru-RU" sz="2200" dirty="0" err="1"/>
              <a:t>for</a:t>
            </a:r>
            <a:r>
              <a:rPr lang="ru-RU" sz="2200" dirty="0"/>
              <a:t>..</a:t>
            </a:r>
            <a:r>
              <a:rPr lang="ru-RU" sz="2200" dirty="0" err="1"/>
              <a:t>of</a:t>
            </a:r>
            <a:r>
              <a:rPr lang="ru-RU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4170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en-US" dirty="0" smtClean="0"/>
              <a:t>Set</a:t>
            </a:r>
            <a:r>
              <a:rPr lang="en-US" dirty="0"/>
              <a:t>, Map, </a:t>
            </a:r>
            <a:r>
              <a:rPr lang="en-US" dirty="0" err="1"/>
              <a:t>WeakSet</a:t>
            </a:r>
            <a:r>
              <a:rPr lang="en-US" dirty="0"/>
              <a:t> </a:t>
            </a:r>
            <a:r>
              <a:rPr lang="ru-RU" dirty="0"/>
              <a:t>и</a:t>
            </a:r>
            <a:r>
              <a:rPr lang="en-US" dirty="0"/>
              <a:t> </a:t>
            </a:r>
            <a:r>
              <a:rPr lang="en-US" dirty="0" err="1" smtClean="0"/>
              <a:t>WeakMap</a:t>
            </a:r>
            <a:r>
              <a:rPr lang="ru-RU" dirty="0"/>
              <a:t>. </a:t>
            </a:r>
            <a:r>
              <a:rPr lang="ru-RU" sz="2400" dirty="0"/>
              <a:t>Перебор </a:t>
            </a:r>
            <a:r>
              <a:rPr lang="en-US" sz="2400" dirty="0"/>
              <a:t>Map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83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8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11607" y="920301"/>
            <a:ext cx="7107681" cy="5290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941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en-US" dirty="0" smtClean="0"/>
              <a:t>Set</a:t>
            </a:r>
            <a:r>
              <a:rPr lang="en-US" dirty="0"/>
              <a:t>, Map, </a:t>
            </a:r>
            <a:r>
              <a:rPr lang="en-US" dirty="0" err="1"/>
              <a:t>WeakSet</a:t>
            </a:r>
            <a:r>
              <a:rPr lang="en-US" dirty="0"/>
              <a:t> </a:t>
            </a:r>
            <a:r>
              <a:rPr lang="ru-RU" dirty="0"/>
              <a:t>и</a:t>
            </a:r>
            <a:r>
              <a:rPr lang="en-US" dirty="0"/>
              <a:t> </a:t>
            </a:r>
            <a:r>
              <a:rPr lang="en-US" dirty="0" err="1" smtClean="0"/>
              <a:t>WeakMap</a:t>
            </a:r>
            <a:r>
              <a:rPr lang="ru-RU" dirty="0"/>
              <a:t>. </a:t>
            </a:r>
            <a:r>
              <a:rPr lang="ru-RU" sz="2400" dirty="0"/>
              <a:t>Перебор </a:t>
            </a:r>
            <a:r>
              <a:rPr lang="en-US" sz="2400" dirty="0"/>
              <a:t>Map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84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20301"/>
            <a:ext cx="454643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Используется порядок </a:t>
            </a:r>
            <a:r>
              <a:rPr lang="ru-RU" sz="2200" dirty="0" smtClean="0"/>
              <a:t>вставки:</a:t>
            </a:r>
            <a:endParaRPr lang="ru-RU" sz="2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11608" y="1454424"/>
            <a:ext cx="7141011" cy="1033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393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en-US" dirty="0" smtClean="0"/>
              <a:t>Set</a:t>
            </a:r>
            <a:r>
              <a:rPr lang="en-US" dirty="0"/>
              <a:t>, Map, </a:t>
            </a:r>
            <a:r>
              <a:rPr lang="en-US" dirty="0" err="1"/>
              <a:t>WeakSet</a:t>
            </a:r>
            <a:r>
              <a:rPr lang="en-US" dirty="0"/>
              <a:t> </a:t>
            </a:r>
            <a:r>
              <a:rPr lang="ru-RU" dirty="0"/>
              <a:t>и</a:t>
            </a:r>
            <a:r>
              <a:rPr lang="en-US" dirty="0"/>
              <a:t> </a:t>
            </a:r>
            <a:r>
              <a:rPr lang="en-US" dirty="0" err="1" smtClean="0"/>
              <a:t>WeakMap</a:t>
            </a:r>
            <a:r>
              <a:rPr lang="ru-RU" dirty="0"/>
              <a:t>. </a:t>
            </a:r>
            <a:r>
              <a:rPr lang="en-US" sz="2400" dirty="0" smtClean="0"/>
              <a:t>Map </a:t>
            </a:r>
            <a:r>
              <a:rPr lang="ru-RU" sz="2400" dirty="0" smtClean="0"/>
              <a:t>из </a:t>
            </a:r>
            <a:r>
              <a:rPr lang="en-US" sz="2400" dirty="0" smtClean="0"/>
              <a:t>Object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85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11608" y="920301"/>
            <a:ext cx="1115067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Метод </a:t>
            </a:r>
            <a:r>
              <a:rPr lang="ru-RU" sz="2200" dirty="0" err="1" smtClean="0"/>
              <a:t>Object.entries</a:t>
            </a:r>
            <a:r>
              <a:rPr lang="ru-RU" sz="2200" dirty="0" smtClean="0"/>
              <a:t>(</a:t>
            </a:r>
            <a:r>
              <a:rPr lang="ru-RU" sz="2200" dirty="0" err="1" smtClean="0"/>
              <a:t>obj</a:t>
            </a:r>
            <a:r>
              <a:rPr lang="ru-RU" sz="2200" dirty="0" smtClean="0"/>
              <a:t>) позволяет создать </a:t>
            </a:r>
            <a:r>
              <a:rPr lang="ru-RU" sz="2200" dirty="0" err="1" smtClean="0"/>
              <a:t>Map</a:t>
            </a:r>
            <a:r>
              <a:rPr lang="ru-RU" sz="2200" dirty="0" smtClean="0"/>
              <a:t> </a:t>
            </a:r>
            <a:r>
              <a:rPr lang="ru-RU" sz="2200" dirty="0"/>
              <a:t>из </a:t>
            </a:r>
            <a:r>
              <a:rPr lang="ru-RU" sz="2200" dirty="0" smtClean="0"/>
              <a:t>уже существующего объекта. </a:t>
            </a:r>
            <a:endParaRPr lang="ru-RU" sz="22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11608" y="1689742"/>
            <a:ext cx="6780936" cy="1997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69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en-US" dirty="0" smtClean="0"/>
              <a:t>Set</a:t>
            </a:r>
            <a:r>
              <a:rPr lang="en-US" dirty="0"/>
              <a:t>, Map, </a:t>
            </a:r>
            <a:r>
              <a:rPr lang="en-US" dirty="0" err="1"/>
              <a:t>WeakSet</a:t>
            </a:r>
            <a:r>
              <a:rPr lang="en-US" dirty="0"/>
              <a:t> </a:t>
            </a:r>
            <a:r>
              <a:rPr lang="ru-RU" dirty="0"/>
              <a:t>и</a:t>
            </a:r>
            <a:r>
              <a:rPr lang="en-US" dirty="0"/>
              <a:t> </a:t>
            </a:r>
            <a:r>
              <a:rPr lang="en-US" dirty="0" err="1" smtClean="0"/>
              <a:t>WeakMap</a:t>
            </a:r>
            <a:r>
              <a:rPr lang="ru-RU" dirty="0"/>
              <a:t>. </a:t>
            </a:r>
            <a:r>
              <a:rPr lang="en-US" sz="2400" dirty="0"/>
              <a:t>Object </a:t>
            </a:r>
            <a:r>
              <a:rPr lang="ru-RU" sz="2400" dirty="0"/>
              <a:t>из </a:t>
            </a:r>
            <a:r>
              <a:rPr lang="en-US" sz="2400" dirty="0"/>
              <a:t>Map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86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7" y="787569"/>
            <a:ext cx="1037090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М</a:t>
            </a:r>
            <a:r>
              <a:rPr lang="ru-RU" sz="2200" dirty="0" smtClean="0"/>
              <a:t>етод </a:t>
            </a:r>
            <a:r>
              <a:rPr lang="ru-RU" sz="2200" dirty="0" err="1" smtClean="0"/>
              <a:t>Object.fromEntries</a:t>
            </a:r>
            <a:r>
              <a:rPr lang="ru-RU" sz="2200" dirty="0" smtClean="0"/>
              <a:t> </a:t>
            </a:r>
            <a:r>
              <a:rPr lang="ru-RU" sz="2200" dirty="0"/>
              <a:t>создаёт </a:t>
            </a:r>
            <a:r>
              <a:rPr lang="ru-RU" sz="2200" dirty="0" smtClean="0"/>
              <a:t>объект из массива </a:t>
            </a:r>
            <a:r>
              <a:rPr lang="ru-RU" sz="2200" dirty="0"/>
              <a:t>пар вида [ключ, значение</a:t>
            </a:r>
            <a:r>
              <a:rPr lang="ru-RU" sz="2200" dirty="0" smtClean="0"/>
              <a:t>]:</a:t>
            </a:r>
            <a:endParaRPr lang="ru-RU" sz="2200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11607" y="1844082"/>
            <a:ext cx="6685744" cy="268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143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en-US" dirty="0" smtClean="0"/>
              <a:t>Set</a:t>
            </a:r>
            <a:r>
              <a:rPr lang="en-US" dirty="0"/>
              <a:t>, Map, </a:t>
            </a:r>
            <a:r>
              <a:rPr lang="en-US" dirty="0" err="1"/>
              <a:t>WeakSet</a:t>
            </a:r>
            <a:r>
              <a:rPr lang="en-US" dirty="0"/>
              <a:t> </a:t>
            </a:r>
            <a:r>
              <a:rPr lang="ru-RU" dirty="0"/>
              <a:t>и</a:t>
            </a:r>
            <a:r>
              <a:rPr lang="en-US" dirty="0"/>
              <a:t> </a:t>
            </a:r>
            <a:r>
              <a:rPr lang="en-US" dirty="0" err="1" smtClean="0"/>
              <a:t>WeakMap</a:t>
            </a:r>
            <a:r>
              <a:rPr lang="ru-RU" dirty="0"/>
              <a:t>. </a:t>
            </a:r>
            <a:r>
              <a:rPr lang="en-US" sz="2400" dirty="0"/>
              <a:t>Set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87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11607" y="817065"/>
            <a:ext cx="1065112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 err="1" smtClean="0"/>
              <a:t>Set</a:t>
            </a:r>
            <a:r>
              <a:rPr lang="ru-RU" sz="2200" dirty="0" smtClean="0"/>
              <a:t> – коллекция (</a:t>
            </a:r>
            <a:r>
              <a:rPr lang="ru-RU" sz="2200" dirty="0"/>
              <a:t>без ключей), где каждое значение может появляться только один раз.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911607" y="1671435"/>
            <a:ext cx="10842858" cy="4928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sz="2200" dirty="0"/>
              <a:t>Его основные </a:t>
            </a:r>
            <a:r>
              <a:rPr lang="ru-RU" sz="2200" dirty="0" smtClean="0"/>
              <a:t>методы:</a:t>
            </a:r>
            <a:endParaRPr lang="ru-RU" sz="2200" dirty="0"/>
          </a:p>
          <a:p>
            <a:pPr>
              <a:lnSpc>
                <a:spcPct val="120000"/>
              </a:lnSpc>
            </a:pPr>
            <a:r>
              <a:rPr lang="ru-RU" sz="2200" dirty="0" smtClean="0"/>
              <a:t>• </a:t>
            </a:r>
            <a:r>
              <a:rPr lang="ru-RU" sz="2200" dirty="0" err="1" smtClean="0"/>
              <a:t>new</a:t>
            </a:r>
            <a:r>
              <a:rPr lang="ru-RU" sz="2200" dirty="0" smtClean="0"/>
              <a:t> </a:t>
            </a:r>
            <a:r>
              <a:rPr lang="ru-RU" sz="2200" dirty="0" err="1"/>
              <a:t>Set</a:t>
            </a:r>
            <a:r>
              <a:rPr lang="ru-RU" sz="2200" dirty="0"/>
              <a:t>(</a:t>
            </a:r>
            <a:r>
              <a:rPr lang="ru-RU" sz="2200" dirty="0" err="1"/>
              <a:t>iterable</a:t>
            </a:r>
            <a:r>
              <a:rPr lang="ru-RU" sz="2200" dirty="0"/>
              <a:t>) – создаёт </a:t>
            </a:r>
            <a:r>
              <a:rPr lang="ru-RU" sz="2200" dirty="0" err="1"/>
              <a:t>Set</a:t>
            </a:r>
            <a:r>
              <a:rPr lang="ru-RU" sz="2200" dirty="0"/>
              <a:t>, и если в качестве аргумента был предоставлен итерируемый объект (обычно это массив), то копирует его значения в новый </a:t>
            </a:r>
            <a:r>
              <a:rPr lang="ru-RU" sz="2200" dirty="0" err="1"/>
              <a:t>Set</a:t>
            </a:r>
            <a:r>
              <a:rPr lang="ru-RU" sz="2200" dirty="0"/>
              <a:t>.</a:t>
            </a:r>
          </a:p>
          <a:p>
            <a:pPr>
              <a:lnSpc>
                <a:spcPct val="120000"/>
              </a:lnSpc>
            </a:pPr>
            <a:r>
              <a:rPr lang="ru-RU" sz="2200" dirty="0" smtClean="0"/>
              <a:t>• </a:t>
            </a:r>
            <a:r>
              <a:rPr lang="ru-RU" sz="2200" dirty="0" err="1" smtClean="0"/>
              <a:t>set.add</a:t>
            </a:r>
            <a:r>
              <a:rPr lang="ru-RU" sz="2200" dirty="0" smtClean="0"/>
              <a:t>(</a:t>
            </a:r>
            <a:r>
              <a:rPr lang="ru-RU" sz="2200" dirty="0" err="1" smtClean="0"/>
              <a:t>value</a:t>
            </a:r>
            <a:r>
              <a:rPr lang="ru-RU" sz="2200" dirty="0"/>
              <a:t>) – добавляет значение (если оно уже есть, то ничего не делает), возвращает тот же объект </a:t>
            </a:r>
            <a:r>
              <a:rPr lang="ru-RU" sz="2200" dirty="0" err="1"/>
              <a:t>set</a:t>
            </a:r>
            <a:r>
              <a:rPr lang="ru-RU" sz="2200" dirty="0"/>
              <a:t>.</a:t>
            </a:r>
          </a:p>
          <a:p>
            <a:pPr>
              <a:lnSpc>
                <a:spcPct val="120000"/>
              </a:lnSpc>
            </a:pPr>
            <a:r>
              <a:rPr lang="ru-RU" sz="2200" dirty="0" smtClean="0"/>
              <a:t>• </a:t>
            </a:r>
            <a:r>
              <a:rPr lang="ru-RU" sz="2200" dirty="0" err="1" smtClean="0"/>
              <a:t>set.delete</a:t>
            </a:r>
            <a:r>
              <a:rPr lang="ru-RU" sz="2200" dirty="0" smtClean="0"/>
              <a:t>(</a:t>
            </a:r>
            <a:r>
              <a:rPr lang="ru-RU" sz="2200" dirty="0" err="1" smtClean="0"/>
              <a:t>value</a:t>
            </a:r>
            <a:r>
              <a:rPr lang="ru-RU" sz="2200" dirty="0"/>
              <a:t>) – удаляет значение, возвращает </a:t>
            </a:r>
            <a:r>
              <a:rPr lang="ru-RU" sz="2200" dirty="0" err="1"/>
              <a:t>true</a:t>
            </a:r>
            <a:r>
              <a:rPr lang="ru-RU" sz="2200" dirty="0"/>
              <a:t> если </a:t>
            </a:r>
            <a:r>
              <a:rPr lang="ru-RU" sz="2200" dirty="0" err="1"/>
              <a:t>value</a:t>
            </a:r>
            <a:r>
              <a:rPr lang="ru-RU" sz="2200" dirty="0"/>
              <a:t> было в множестве на момент вызова, иначе </a:t>
            </a:r>
            <a:r>
              <a:rPr lang="ru-RU" sz="2200" dirty="0" err="1"/>
              <a:t>false</a:t>
            </a:r>
            <a:r>
              <a:rPr lang="ru-RU" sz="2200" dirty="0"/>
              <a:t>.</a:t>
            </a:r>
          </a:p>
          <a:p>
            <a:pPr>
              <a:lnSpc>
                <a:spcPct val="120000"/>
              </a:lnSpc>
            </a:pPr>
            <a:r>
              <a:rPr lang="ru-RU" sz="2200" dirty="0" smtClean="0"/>
              <a:t>• </a:t>
            </a:r>
            <a:r>
              <a:rPr lang="ru-RU" sz="2200" dirty="0" err="1" smtClean="0"/>
              <a:t>set.has</a:t>
            </a:r>
            <a:r>
              <a:rPr lang="ru-RU" sz="2200" dirty="0" smtClean="0"/>
              <a:t>(</a:t>
            </a:r>
            <a:r>
              <a:rPr lang="ru-RU" sz="2200" dirty="0" err="1" smtClean="0"/>
              <a:t>value</a:t>
            </a:r>
            <a:r>
              <a:rPr lang="ru-RU" sz="2200" dirty="0"/>
              <a:t>) – возвращает </a:t>
            </a:r>
            <a:r>
              <a:rPr lang="ru-RU" sz="2200" dirty="0" err="1"/>
              <a:t>true</a:t>
            </a:r>
            <a:r>
              <a:rPr lang="ru-RU" sz="2200" dirty="0"/>
              <a:t>, если значение присутствует в множестве, иначе </a:t>
            </a:r>
            <a:r>
              <a:rPr lang="ru-RU" sz="2200" dirty="0" err="1"/>
              <a:t>false</a:t>
            </a:r>
            <a:r>
              <a:rPr lang="ru-RU" sz="2200" dirty="0"/>
              <a:t>.</a:t>
            </a:r>
          </a:p>
          <a:p>
            <a:pPr>
              <a:lnSpc>
                <a:spcPct val="120000"/>
              </a:lnSpc>
            </a:pPr>
            <a:r>
              <a:rPr lang="ru-RU" sz="2200" dirty="0" smtClean="0"/>
              <a:t>• </a:t>
            </a:r>
            <a:r>
              <a:rPr lang="ru-RU" sz="2200" dirty="0" err="1" smtClean="0"/>
              <a:t>set.clear</a:t>
            </a:r>
            <a:r>
              <a:rPr lang="ru-RU" sz="2200" dirty="0"/>
              <a:t>() – удаляет все имеющиеся значения.</a:t>
            </a:r>
          </a:p>
          <a:p>
            <a:pPr>
              <a:lnSpc>
                <a:spcPct val="120000"/>
              </a:lnSpc>
            </a:pPr>
            <a:r>
              <a:rPr lang="ru-RU" sz="2200" dirty="0" smtClean="0"/>
              <a:t>• </a:t>
            </a:r>
            <a:r>
              <a:rPr lang="ru-RU" sz="2200" dirty="0" err="1" smtClean="0"/>
              <a:t>set.size</a:t>
            </a:r>
            <a:r>
              <a:rPr lang="ru-RU" sz="2200" dirty="0" smtClean="0"/>
              <a:t> </a:t>
            </a:r>
            <a:r>
              <a:rPr lang="ru-RU" sz="2200" dirty="0"/>
              <a:t>– возвращает количество элементов в множестве.</a:t>
            </a:r>
          </a:p>
        </p:txBody>
      </p:sp>
    </p:spTree>
    <p:extLst>
      <p:ext uri="{BB962C8B-B14F-4D97-AF65-F5344CB8AC3E}">
        <p14:creationId xmlns:p14="http://schemas.microsoft.com/office/powerpoint/2010/main" val="2116296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en-US" dirty="0" smtClean="0"/>
              <a:t>Set</a:t>
            </a:r>
            <a:r>
              <a:rPr lang="en-US" dirty="0"/>
              <a:t>, Map, </a:t>
            </a:r>
            <a:r>
              <a:rPr lang="en-US" dirty="0" err="1"/>
              <a:t>WeakSet</a:t>
            </a:r>
            <a:r>
              <a:rPr lang="en-US" dirty="0"/>
              <a:t> </a:t>
            </a:r>
            <a:r>
              <a:rPr lang="ru-RU" dirty="0"/>
              <a:t>и</a:t>
            </a:r>
            <a:r>
              <a:rPr lang="en-US" dirty="0"/>
              <a:t> </a:t>
            </a:r>
            <a:r>
              <a:rPr lang="en-US" dirty="0" err="1" smtClean="0"/>
              <a:t>WeakMap</a:t>
            </a:r>
            <a:r>
              <a:rPr lang="ru-RU" dirty="0"/>
              <a:t>. </a:t>
            </a:r>
            <a:r>
              <a:rPr lang="en-US" sz="2400" dirty="0"/>
              <a:t>Set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88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8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11608" y="920301"/>
            <a:ext cx="5083577" cy="565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231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en-US" dirty="0" smtClean="0"/>
              <a:t>Set</a:t>
            </a:r>
            <a:r>
              <a:rPr lang="en-US" dirty="0"/>
              <a:t>, Map, </a:t>
            </a:r>
            <a:r>
              <a:rPr lang="en-US" dirty="0" err="1"/>
              <a:t>WeakSet</a:t>
            </a:r>
            <a:r>
              <a:rPr lang="en-US" dirty="0"/>
              <a:t> </a:t>
            </a:r>
            <a:r>
              <a:rPr lang="ru-RU" dirty="0"/>
              <a:t>и</a:t>
            </a:r>
            <a:r>
              <a:rPr lang="en-US" dirty="0"/>
              <a:t> </a:t>
            </a:r>
            <a:r>
              <a:rPr lang="en-US" dirty="0" err="1" smtClean="0"/>
              <a:t>WeakMap</a:t>
            </a:r>
            <a:r>
              <a:rPr lang="ru-RU" dirty="0"/>
              <a:t>. </a:t>
            </a:r>
            <a:r>
              <a:rPr lang="ru-RU" sz="2700" dirty="0"/>
              <a:t>Перебор объекта </a:t>
            </a:r>
            <a:r>
              <a:rPr lang="en-US" sz="2700" dirty="0"/>
              <a:t>Set</a:t>
            </a:r>
            <a:endParaRPr lang="ru-RU" sz="27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89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911608" y="920301"/>
            <a:ext cx="1081336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Для перебора </a:t>
            </a:r>
            <a:r>
              <a:rPr lang="ru-RU" sz="2200" dirty="0"/>
              <a:t>объекта </a:t>
            </a:r>
            <a:r>
              <a:rPr lang="ru-RU" sz="2200" dirty="0" err="1"/>
              <a:t>set</a:t>
            </a:r>
            <a:r>
              <a:rPr lang="ru-RU" sz="2200" dirty="0"/>
              <a:t> </a:t>
            </a:r>
            <a:r>
              <a:rPr lang="ru-RU" sz="2200" dirty="0" smtClean="0"/>
              <a:t>используются методы </a:t>
            </a:r>
            <a:r>
              <a:rPr lang="ru-RU" sz="2200" dirty="0" err="1" smtClean="0"/>
              <a:t>for</a:t>
            </a:r>
            <a:r>
              <a:rPr lang="ru-RU" sz="2200" dirty="0"/>
              <a:t>..</a:t>
            </a:r>
            <a:r>
              <a:rPr lang="ru-RU" sz="2200" dirty="0" err="1" smtClean="0"/>
              <a:t>of</a:t>
            </a:r>
            <a:r>
              <a:rPr lang="ru-RU" sz="2200" dirty="0" smtClean="0"/>
              <a:t>  </a:t>
            </a:r>
            <a:r>
              <a:rPr lang="ru-RU" sz="2200" dirty="0"/>
              <a:t>и </a:t>
            </a:r>
            <a:r>
              <a:rPr lang="ru-RU" sz="2200" dirty="0" smtClean="0"/>
              <a:t> </a:t>
            </a:r>
            <a:r>
              <a:rPr lang="ru-RU" sz="2200" dirty="0" err="1"/>
              <a:t>forEach</a:t>
            </a:r>
            <a:r>
              <a:rPr lang="ru-RU" sz="2200" dirty="0"/>
              <a:t>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11608" y="1512938"/>
            <a:ext cx="7979404" cy="2144662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911608" y="3819587"/>
            <a:ext cx="11280392" cy="2490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sz="2200" dirty="0" err="1"/>
              <a:t>Set</a:t>
            </a:r>
            <a:r>
              <a:rPr lang="ru-RU" sz="2200" dirty="0"/>
              <a:t> имеет те же встроенные методы, что и </a:t>
            </a:r>
            <a:r>
              <a:rPr lang="ru-RU" sz="2200" dirty="0" err="1"/>
              <a:t>Map</a:t>
            </a:r>
            <a:r>
              <a:rPr lang="ru-RU" sz="2200" dirty="0"/>
              <a:t>:</a:t>
            </a:r>
          </a:p>
          <a:p>
            <a:pPr>
              <a:lnSpc>
                <a:spcPct val="120000"/>
              </a:lnSpc>
            </a:pPr>
            <a:r>
              <a:rPr lang="ru-RU" sz="2200" dirty="0" smtClean="0"/>
              <a:t>• </a:t>
            </a:r>
            <a:r>
              <a:rPr lang="ru-RU" sz="2200" dirty="0" err="1" smtClean="0"/>
              <a:t>set.keys</a:t>
            </a:r>
            <a:r>
              <a:rPr lang="ru-RU" sz="2200" dirty="0"/>
              <a:t>() – возвращает перебираемый объект для значений,</a:t>
            </a:r>
          </a:p>
          <a:p>
            <a:pPr>
              <a:lnSpc>
                <a:spcPct val="120000"/>
              </a:lnSpc>
            </a:pPr>
            <a:r>
              <a:rPr lang="ru-RU" sz="2200" dirty="0" smtClean="0"/>
              <a:t>• </a:t>
            </a:r>
            <a:r>
              <a:rPr lang="ru-RU" sz="2200" dirty="0" err="1" smtClean="0"/>
              <a:t>set.values</a:t>
            </a:r>
            <a:r>
              <a:rPr lang="ru-RU" sz="2200" dirty="0"/>
              <a:t>() – то же самое, что и </a:t>
            </a:r>
            <a:r>
              <a:rPr lang="ru-RU" sz="2200" dirty="0" err="1"/>
              <a:t>set.keys</a:t>
            </a:r>
            <a:r>
              <a:rPr lang="ru-RU" sz="2200" dirty="0"/>
              <a:t>(), присутствует для обратной совместимости с </a:t>
            </a:r>
            <a:r>
              <a:rPr lang="ru-RU" sz="2200" dirty="0" err="1"/>
              <a:t>Map</a:t>
            </a:r>
            <a:r>
              <a:rPr lang="ru-RU" sz="2200" dirty="0"/>
              <a:t>,</a:t>
            </a:r>
          </a:p>
          <a:p>
            <a:pPr>
              <a:lnSpc>
                <a:spcPct val="120000"/>
              </a:lnSpc>
            </a:pPr>
            <a:r>
              <a:rPr lang="ru-RU" sz="2200" dirty="0" smtClean="0"/>
              <a:t>• </a:t>
            </a:r>
            <a:r>
              <a:rPr lang="ru-RU" sz="2200" dirty="0" err="1" smtClean="0"/>
              <a:t>set.entries</a:t>
            </a:r>
            <a:r>
              <a:rPr lang="ru-RU" sz="2200" dirty="0"/>
              <a:t>() – возвращает перебираемый объект для пар вида [значение, значение], присутствует для обратной совместимости с </a:t>
            </a:r>
            <a:r>
              <a:rPr lang="ru-RU" sz="2200" dirty="0" err="1"/>
              <a:t>Map</a:t>
            </a:r>
            <a:r>
              <a:rPr lang="ru-RU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4584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en-US" dirty="0" smtClean="0"/>
              <a:t>Set</a:t>
            </a:r>
            <a:r>
              <a:rPr lang="en-US" dirty="0"/>
              <a:t>, Map, </a:t>
            </a:r>
            <a:r>
              <a:rPr lang="en-US" dirty="0" err="1"/>
              <a:t>WeakSet</a:t>
            </a:r>
            <a:r>
              <a:rPr lang="en-US" dirty="0"/>
              <a:t> </a:t>
            </a:r>
            <a:r>
              <a:rPr lang="ru-RU" dirty="0"/>
              <a:t>и</a:t>
            </a:r>
            <a:r>
              <a:rPr lang="en-US" dirty="0"/>
              <a:t> </a:t>
            </a:r>
            <a:r>
              <a:rPr lang="en-US" dirty="0" err="1" smtClean="0"/>
              <a:t>WeakMap</a:t>
            </a:r>
            <a:r>
              <a:rPr lang="ru-RU" dirty="0"/>
              <a:t>. </a:t>
            </a:r>
            <a:r>
              <a:rPr lang="en-US" sz="2400" dirty="0" err="1"/>
              <a:t>WeakMap</a:t>
            </a:r>
            <a:r>
              <a:rPr lang="en-US" sz="2400" dirty="0"/>
              <a:t> 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90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7" y="920301"/>
            <a:ext cx="1065112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Движок </a:t>
            </a:r>
            <a:r>
              <a:rPr lang="ru-RU" sz="2200" dirty="0" err="1" smtClean="0"/>
              <a:t>JavaScript</a:t>
            </a:r>
            <a:r>
              <a:rPr lang="ru-RU" sz="2200" dirty="0" smtClean="0"/>
              <a:t> </a:t>
            </a:r>
            <a:r>
              <a:rPr lang="ru-RU" sz="2200" dirty="0"/>
              <a:t>хранит значения в памяти до тех пор, пока они </a:t>
            </a:r>
            <a:r>
              <a:rPr lang="ru-RU" sz="2200" dirty="0" smtClean="0"/>
              <a:t>могут быть использованы:</a:t>
            </a:r>
            <a:endParaRPr lang="ru-RU" sz="22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020097" y="1840601"/>
            <a:ext cx="4873126" cy="769441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3"/>
          <a:srcRect b="31697"/>
          <a:stretch/>
        </p:blipFill>
        <p:spPr bwMode="invGray">
          <a:xfrm>
            <a:off x="1020097" y="3011618"/>
            <a:ext cx="5056238" cy="198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763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en-US" dirty="0" smtClean="0"/>
              <a:t>Set</a:t>
            </a:r>
            <a:r>
              <a:rPr lang="en-US" dirty="0"/>
              <a:t>, Map, </a:t>
            </a:r>
            <a:r>
              <a:rPr lang="en-US" dirty="0" err="1"/>
              <a:t>WeakSet</a:t>
            </a:r>
            <a:r>
              <a:rPr lang="en-US" dirty="0"/>
              <a:t> </a:t>
            </a:r>
            <a:r>
              <a:rPr lang="ru-RU" dirty="0"/>
              <a:t>и</a:t>
            </a:r>
            <a:r>
              <a:rPr lang="en-US" dirty="0"/>
              <a:t> </a:t>
            </a:r>
            <a:r>
              <a:rPr lang="en-US" dirty="0" err="1" smtClean="0"/>
              <a:t>WeakMap</a:t>
            </a:r>
            <a:r>
              <a:rPr lang="ru-RU" dirty="0"/>
              <a:t>. </a:t>
            </a:r>
            <a:r>
              <a:rPr lang="en-US" sz="2400" dirty="0" err="1"/>
              <a:t>WeakMap</a:t>
            </a:r>
            <a:r>
              <a:rPr lang="en-US" sz="2400" dirty="0"/>
              <a:t> 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91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911608" y="1026313"/>
            <a:ext cx="997270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Ключи в </a:t>
            </a:r>
            <a:r>
              <a:rPr lang="ru-RU" sz="2200" dirty="0" err="1"/>
              <a:t>WeakMap</a:t>
            </a:r>
            <a:r>
              <a:rPr lang="ru-RU" sz="2200" dirty="0"/>
              <a:t> должны быть объектами, а не примитивными значениями: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11608" y="1901766"/>
            <a:ext cx="6610069" cy="165653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911608" y="4526215"/>
            <a:ext cx="4842079" cy="1867207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911608" y="3719094"/>
            <a:ext cx="1039409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Если нет ссылок на объект-ключ в </a:t>
            </a:r>
            <a:r>
              <a:rPr lang="en-US" sz="2200" dirty="0" err="1" smtClean="0"/>
              <a:t>WeakMap</a:t>
            </a:r>
            <a:r>
              <a:rPr lang="ru-RU" sz="2200" dirty="0" smtClean="0"/>
              <a:t>, </a:t>
            </a:r>
            <a:r>
              <a:rPr lang="ru-RU" sz="2200" dirty="0"/>
              <a:t>то он будет удалён из памяти </a:t>
            </a:r>
            <a:r>
              <a:rPr lang="ru-RU" sz="2200" dirty="0" smtClean="0"/>
              <a:t>автоматически</a:t>
            </a:r>
            <a:r>
              <a:rPr lang="ru-RU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4794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en-US" dirty="0" smtClean="0"/>
              <a:t>Set</a:t>
            </a:r>
            <a:r>
              <a:rPr lang="en-US" dirty="0"/>
              <a:t>, Map, </a:t>
            </a:r>
            <a:r>
              <a:rPr lang="en-US" dirty="0" err="1"/>
              <a:t>WeakSet</a:t>
            </a:r>
            <a:r>
              <a:rPr lang="en-US" dirty="0"/>
              <a:t> </a:t>
            </a:r>
            <a:r>
              <a:rPr lang="ru-RU" dirty="0"/>
              <a:t>и</a:t>
            </a:r>
            <a:r>
              <a:rPr lang="en-US" dirty="0"/>
              <a:t> </a:t>
            </a:r>
            <a:r>
              <a:rPr lang="en-US" dirty="0" err="1" smtClean="0"/>
              <a:t>WeakMap</a:t>
            </a:r>
            <a:r>
              <a:rPr lang="ru-RU" dirty="0"/>
              <a:t>. </a:t>
            </a:r>
            <a:r>
              <a:rPr lang="en-US" sz="2400" dirty="0" err="1"/>
              <a:t>WeakMap</a:t>
            </a:r>
            <a:r>
              <a:rPr lang="en-US" sz="2400" dirty="0"/>
              <a:t> 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92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7" y="1106495"/>
            <a:ext cx="10252921" cy="20846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sz="2200" dirty="0"/>
              <a:t>В </a:t>
            </a:r>
            <a:r>
              <a:rPr lang="en-US" sz="2200" dirty="0" err="1"/>
              <a:t>WeakMap</a:t>
            </a:r>
            <a:r>
              <a:rPr lang="en-US" sz="2200" dirty="0"/>
              <a:t> </a:t>
            </a:r>
            <a:r>
              <a:rPr lang="ru-RU" sz="2200" dirty="0"/>
              <a:t>присутствуют только следующие методы:</a:t>
            </a:r>
          </a:p>
          <a:p>
            <a:pPr>
              <a:lnSpc>
                <a:spcPct val="120000"/>
              </a:lnSpc>
            </a:pPr>
            <a:r>
              <a:rPr lang="ru-RU" sz="2200" dirty="0" smtClean="0"/>
              <a:t>•</a:t>
            </a:r>
            <a:r>
              <a:rPr lang="en-US" sz="2200" dirty="0" smtClean="0"/>
              <a:t> </a:t>
            </a:r>
            <a:r>
              <a:rPr lang="en-US" sz="2200" dirty="0" err="1" smtClean="0"/>
              <a:t>weakMap.get</a:t>
            </a:r>
            <a:r>
              <a:rPr lang="en-US" sz="2200" dirty="0" smtClean="0"/>
              <a:t>(key</a:t>
            </a:r>
            <a:r>
              <a:rPr lang="en-US" sz="2200" dirty="0"/>
              <a:t>)</a:t>
            </a:r>
          </a:p>
          <a:p>
            <a:pPr>
              <a:lnSpc>
                <a:spcPct val="120000"/>
              </a:lnSpc>
            </a:pPr>
            <a:r>
              <a:rPr lang="en-US" sz="2200" dirty="0" smtClean="0"/>
              <a:t>• </a:t>
            </a:r>
            <a:r>
              <a:rPr lang="en-US" sz="2200" dirty="0" err="1" smtClean="0"/>
              <a:t>weakMap.set</a:t>
            </a:r>
            <a:r>
              <a:rPr lang="en-US" sz="2200" dirty="0" smtClean="0"/>
              <a:t>(key</a:t>
            </a:r>
            <a:r>
              <a:rPr lang="en-US" sz="2200" dirty="0"/>
              <a:t>, value)</a:t>
            </a:r>
          </a:p>
          <a:p>
            <a:pPr>
              <a:lnSpc>
                <a:spcPct val="120000"/>
              </a:lnSpc>
            </a:pPr>
            <a:r>
              <a:rPr lang="en-US" sz="2200" dirty="0" smtClean="0"/>
              <a:t>• </a:t>
            </a:r>
            <a:r>
              <a:rPr lang="en-US" sz="2200" dirty="0" err="1" smtClean="0"/>
              <a:t>weakMap.delete</a:t>
            </a:r>
            <a:r>
              <a:rPr lang="en-US" sz="2200" dirty="0" smtClean="0"/>
              <a:t>(key</a:t>
            </a:r>
            <a:r>
              <a:rPr lang="en-US" sz="2200" dirty="0"/>
              <a:t>)</a:t>
            </a:r>
          </a:p>
          <a:p>
            <a:pPr>
              <a:lnSpc>
                <a:spcPct val="120000"/>
              </a:lnSpc>
            </a:pPr>
            <a:r>
              <a:rPr lang="en-US" sz="2200" dirty="0" smtClean="0"/>
              <a:t>• </a:t>
            </a:r>
            <a:r>
              <a:rPr lang="en-US" sz="2200" dirty="0" err="1" smtClean="0"/>
              <a:t>weakMap.has</a:t>
            </a:r>
            <a:r>
              <a:rPr lang="en-US" sz="2200" dirty="0" smtClean="0"/>
              <a:t>(key</a:t>
            </a:r>
            <a:r>
              <a:rPr lang="en-US" sz="2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74373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rmAutofit/>
          </a:bodyPr>
          <a:lstStyle/>
          <a:p>
            <a:r>
              <a:rPr lang="en-US" dirty="0" smtClean="0"/>
              <a:t>Set</a:t>
            </a:r>
            <a:r>
              <a:rPr lang="en-US" dirty="0"/>
              <a:t>, Map, </a:t>
            </a:r>
            <a:r>
              <a:rPr lang="en-US" dirty="0" err="1"/>
              <a:t>WeakSet</a:t>
            </a:r>
            <a:r>
              <a:rPr lang="en-US" dirty="0"/>
              <a:t> </a:t>
            </a:r>
            <a:r>
              <a:rPr lang="ru-RU" dirty="0"/>
              <a:t>и</a:t>
            </a:r>
            <a:r>
              <a:rPr lang="en-US" dirty="0"/>
              <a:t> </a:t>
            </a:r>
            <a:r>
              <a:rPr lang="en-US" dirty="0" err="1" smtClean="0"/>
              <a:t>WeakMap</a:t>
            </a:r>
            <a:r>
              <a:rPr lang="ru-RU" dirty="0"/>
              <a:t>. </a:t>
            </a:r>
            <a:r>
              <a:rPr lang="en-US" sz="2400" dirty="0" err="1"/>
              <a:t>WeakSet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93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911607" y="654836"/>
            <a:ext cx="10651127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Особенности коллекции </a:t>
            </a:r>
            <a:r>
              <a:rPr lang="ru-RU" sz="2200" dirty="0" err="1" smtClean="0"/>
              <a:t>WeakSet</a:t>
            </a:r>
            <a:r>
              <a:rPr lang="ru-RU" sz="2200" dirty="0" smtClean="0"/>
              <a:t>:</a:t>
            </a:r>
            <a:endParaRPr lang="ru-RU" sz="2200" dirty="0"/>
          </a:p>
          <a:p>
            <a:r>
              <a:rPr lang="ru-RU" sz="2200" dirty="0" smtClean="0"/>
              <a:t>•</a:t>
            </a:r>
            <a:r>
              <a:rPr lang="en-US" sz="2200" dirty="0" smtClean="0"/>
              <a:t> </a:t>
            </a:r>
            <a:r>
              <a:rPr lang="ru-RU" sz="2200" dirty="0" smtClean="0"/>
              <a:t>Аналогична </a:t>
            </a:r>
            <a:r>
              <a:rPr lang="ru-RU" sz="2200" dirty="0" err="1" smtClean="0"/>
              <a:t>Set</a:t>
            </a:r>
            <a:r>
              <a:rPr lang="ru-RU" sz="2200" dirty="0"/>
              <a:t>, но </a:t>
            </a:r>
            <a:r>
              <a:rPr lang="ru-RU" sz="2200" dirty="0" smtClean="0"/>
              <a:t>можно </a:t>
            </a:r>
            <a:r>
              <a:rPr lang="ru-RU" sz="2200" dirty="0"/>
              <a:t>добавлять в </a:t>
            </a:r>
            <a:r>
              <a:rPr lang="ru-RU" sz="2200" dirty="0" err="1"/>
              <a:t>WeakSet</a:t>
            </a:r>
            <a:r>
              <a:rPr lang="ru-RU" sz="2200" dirty="0"/>
              <a:t> только </a:t>
            </a:r>
            <a:r>
              <a:rPr lang="ru-RU" sz="2200" dirty="0" smtClean="0"/>
              <a:t>объекты.</a:t>
            </a:r>
            <a:endParaRPr lang="ru-RU" sz="2200" dirty="0"/>
          </a:p>
          <a:p>
            <a:r>
              <a:rPr lang="ru-RU" sz="2200" dirty="0" smtClean="0"/>
              <a:t>•</a:t>
            </a:r>
            <a:r>
              <a:rPr lang="en-US" sz="2200" dirty="0" smtClean="0"/>
              <a:t> </a:t>
            </a:r>
            <a:r>
              <a:rPr lang="ru-RU" sz="2200" dirty="0" smtClean="0"/>
              <a:t>Объект </a:t>
            </a:r>
            <a:r>
              <a:rPr lang="ru-RU" sz="2200" dirty="0"/>
              <a:t>присутствует в множестве только до тех пор, пока доступен где-то ещё.</a:t>
            </a:r>
          </a:p>
          <a:p>
            <a:r>
              <a:rPr lang="ru-RU" sz="2200" dirty="0" smtClean="0"/>
              <a:t>•</a:t>
            </a:r>
            <a:r>
              <a:rPr lang="en-US" sz="2200" dirty="0" smtClean="0"/>
              <a:t> </a:t>
            </a:r>
            <a:r>
              <a:rPr lang="ru-RU" sz="2200" dirty="0" smtClean="0"/>
              <a:t>Как </a:t>
            </a:r>
            <a:r>
              <a:rPr lang="ru-RU" sz="2200" dirty="0"/>
              <a:t>и </a:t>
            </a:r>
            <a:r>
              <a:rPr lang="ru-RU" sz="2200" dirty="0" err="1"/>
              <a:t>Set</a:t>
            </a:r>
            <a:r>
              <a:rPr lang="ru-RU" sz="2200" dirty="0"/>
              <a:t>, она поддерживает </a:t>
            </a:r>
            <a:r>
              <a:rPr lang="ru-RU" sz="2200" dirty="0" err="1"/>
              <a:t>add</a:t>
            </a:r>
            <a:r>
              <a:rPr lang="ru-RU" sz="2200" dirty="0"/>
              <a:t>, </a:t>
            </a:r>
            <a:r>
              <a:rPr lang="ru-RU" sz="2200" dirty="0" err="1"/>
              <a:t>has</a:t>
            </a:r>
            <a:r>
              <a:rPr lang="ru-RU" sz="2200" dirty="0"/>
              <a:t> и </a:t>
            </a:r>
            <a:r>
              <a:rPr lang="ru-RU" sz="2200" dirty="0" err="1"/>
              <a:t>delete</a:t>
            </a:r>
            <a:r>
              <a:rPr lang="ru-RU" sz="2200" dirty="0"/>
              <a:t>, но не </a:t>
            </a:r>
            <a:r>
              <a:rPr lang="ru-RU" sz="2200" dirty="0" err="1"/>
              <a:t>size</a:t>
            </a:r>
            <a:r>
              <a:rPr lang="ru-RU" sz="2200" dirty="0"/>
              <a:t>, </a:t>
            </a:r>
            <a:r>
              <a:rPr lang="ru-RU" sz="2200" dirty="0" err="1"/>
              <a:t>keys</a:t>
            </a:r>
            <a:r>
              <a:rPr lang="ru-RU" sz="2200" dirty="0"/>
              <a:t>() и не является перебираемой.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11606" y="2525576"/>
            <a:ext cx="5607180" cy="393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032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Autofit/>
          </a:bodyPr>
          <a:lstStyle/>
          <a:p>
            <a:pPr lvl="0"/>
            <a:r>
              <a:rPr lang="ru-RU" dirty="0"/>
              <a:t>Деструктурирующее </a:t>
            </a:r>
            <a:r>
              <a:rPr lang="ru-RU" dirty="0" smtClean="0"/>
              <a:t>присваивание</a:t>
            </a:r>
            <a:r>
              <a:rPr lang="ru-RU" dirty="0"/>
              <a:t>. </a:t>
            </a:r>
            <a:r>
              <a:rPr lang="ru-RU" sz="2400" dirty="0"/>
              <a:t>Деструктуризация массива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94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solidFill>
                  <a:schemeClr val="bg1"/>
                </a:solidFill>
              </a:rPr>
              <a:t>9</a:t>
            </a:r>
            <a:endParaRPr lang="ru-RU" sz="3000" b="1" dirty="0">
              <a:solidFill>
                <a:schemeClr val="bg1"/>
              </a:solidFill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11608" y="1151449"/>
            <a:ext cx="5149979" cy="1857114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911608" y="3239711"/>
            <a:ext cx="1090185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Удобно использовать </a:t>
            </a:r>
            <a:r>
              <a:rPr lang="ru-RU" sz="2200" dirty="0"/>
              <a:t>в сочетании со split или другими методами, возвращающими массив: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911608" y="4092818"/>
            <a:ext cx="8134970" cy="434939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911608" y="4711864"/>
            <a:ext cx="644920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Пропускайте элементы, используя </a:t>
            </a:r>
            <a:r>
              <a:rPr lang="ru-RU" sz="2200" dirty="0" smtClean="0"/>
              <a:t>запятые</a:t>
            </a:r>
            <a:r>
              <a:rPr lang="en-US" sz="2200" dirty="0"/>
              <a:t>:</a:t>
            </a:r>
            <a:endParaRPr lang="ru-RU" sz="2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invGray">
          <a:xfrm>
            <a:off x="233180" y="5142750"/>
            <a:ext cx="11784005" cy="638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888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Autofit/>
          </a:bodyPr>
          <a:lstStyle/>
          <a:p>
            <a:pPr lvl="0"/>
            <a:r>
              <a:rPr lang="ru-RU" dirty="0"/>
              <a:t>Деструктурирующее </a:t>
            </a:r>
            <a:r>
              <a:rPr lang="ru-RU" dirty="0" smtClean="0"/>
              <a:t>присваивание</a:t>
            </a:r>
            <a:r>
              <a:rPr lang="ru-RU" dirty="0"/>
              <a:t>. </a:t>
            </a:r>
            <a:r>
              <a:rPr lang="ru-RU" sz="2400" dirty="0"/>
              <a:t>Деструктуризация массива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95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solidFill>
                  <a:schemeClr val="bg1"/>
                </a:solidFill>
              </a:rPr>
              <a:t>9</a:t>
            </a:r>
            <a:endParaRPr lang="ru-RU" sz="3000" b="1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911607" y="1188545"/>
            <a:ext cx="1037090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Работает с любым перебираемым объектом с правой </a:t>
            </a:r>
            <a:r>
              <a:rPr lang="ru-RU" sz="2200" dirty="0" smtClean="0"/>
              <a:t>стороны</a:t>
            </a:r>
            <a:r>
              <a:rPr lang="en-US" sz="2200" dirty="0"/>
              <a:t>:</a:t>
            </a:r>
            <a:endParaRPr lang="ru-RU" sz="2200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11607" y="1687650"/>
            <a:ext cx="6604732" cy="657343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>
          <a:xfrm>
            <a:off x="911607" y="2617773"/>
            <a:ext cx="668324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Присваивайте чему угодно с левой </a:t>
            </a:r>
            <a:r>
              <a:rPr lang="ru-RU" sz="2200" dirty="0" smtClean="0"/>
              <a:t>стороны</a:t>
            </a:r>
            <a:r>
              <a:rPr lang="en-US" sz="2200" dirty="0"/>
              <a:t>:</a:t>
            </a:r>
            <a:endParaRPr lang="ru-RU" sz="22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911607" y="3086471"/>
            <a:ext cx="8098262" cy="96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389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Autofit/>
          </a:bodyPr>
          <a:lstStyle/>
          <a:p>
            <a:pPr lvl="0"/>
            <a:r>
              <a:rPr lang="ru-RU" dirty="0"/>
              <a:t>Деструктурирующее </a:t>
            </a:r>
            <a:r>
              <a:rPr lang="ru-RU" dirty="0" smtClean="0"/>
              <a:t>присваивание</a:t>
            </a:r>
            <a:r>
              <a:rPr lang="ru-RU" dirty="0"/>
              <a:t>. </a:t>
            </a:r>
            <a:r>
              <a:rPr lang="ru-RU" sz="2400" dirty="0"/>
              <a:t>Деструктуризация массива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96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solidFill>
                  <a:schemeClr val="bg1"/>
                </a:solidFill>
              </a:rPr>
              <a:t>9</a:t>
            </a:r>
            <a:endParaRPr lang="ru-RU" sz="30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11607" y="1262287"/>
            <a:ext cx="1037090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Использование </a:t>
            </a:r>
            <a:r>
              <a:rPr lang="en-US" sz="2200" dirty="0" err="1"/>
              <a:t>Object.entries</a:t>
            </a:r>
            <a:r>
              <a:rPr lang="en-US" sz="2200" dirty="0"/>
              <a:t>(</a:t>
            </a:r>
            <a:r>
              <a:rPr lang="en-US" sz="2200" dirty="0" err="1"/>
              <a:t>obj</a:t>
            </a:r>
            <a:r>
              <a:rPr lang="en-US" sz="2200" dirty="0" smtClean="0"/>
              <a:t>)</a:t>
            </a:r>
            <a:r>
              <a:rPr lang="ru-RU" sz="2200" dirty="0" smtClean="0"/>
              <a:t> с </a:t>
            </a:r>
            <a:r>
              <a:rPr lang="ru-RU" sz="2200" dirty="0"/>
              <a:t>деструктуризацией для цикличного перебора ключей и значений </a:t>
            </a:r>
            <a:r>
              <a:rPr lang="ru-RU" sz="2200" dirty="0" smtClean="0"/>
              <a:t>объекта:</a:t>
            </a:r>
            <a:endParaRPr lang="ru-RU" sz="22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11607" y="2166904"/>
            <a:ext cx="7349802" cy="2773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642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Autofit/>
          </a:bodyPr>
          <a:lstStyle/>
          <a:p>
            <a:pPr lvl="0"/>
            <a:r>
              <a:rPr lang="ru-RU" dirty="0"/>
              <a:t>Деструктурирующее </a:t>
            </a:r>
            <a:r>
              <a:rPr lang="ru-RU" dirty="0" smtClean="0"/>
              <a:t>присваивание</a:t>
            </a:r>
            <a:r>
              <a:rPr lang="ru-RU" dirty="0"/>
              <a:t>. </a:t>
            </a:r>
            <a:r>
              <a:rPr lang="ru-RU" sz="2400" dirty="0"/>
              <a:t>Деструктуризация массива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97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solidFill>
                  <a:schemeClr val="bg1"/>
                </a:solidFill>
              </a:rPr>
              <a:t>9</a:t>
            </a:r>
            <a:endParaRPr lang="ru-RU" sz="3000" b="1" dirty="0">
              <a:solidFill>
                <a:schemeClr val="bg1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11608" y="1420453"/>
            <a:ext cx="5356457" cy="260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560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Autofit/>
          </a:bodyPr>
          <a:lstStyle/>
          <a:p>
            <a:pPr lvl="0"/>
            <a:r>
              <a:rPr lang="ru-RU" dirty="0"/>
              <a:t>Деструктурирующее </a:t>
            </a:r>
            <a:r>
              <a:rPr lang="ru-RU" dirty="0" smtClean="0"/>
              <a:t>присваивание</a:t>
            </a:r>
            <a:r>
              <a:rPr lang="ru-RU" dirty="0"/>
              <a:t>. </a:t>
            </a:r>
            <a:r>
              <a:rPr lang="ru-RU" sz="2400" dirty="0"/>
              <a:t>Деструктуризация массива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98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solidFill>
                  <a:schemeClr val="bg1"/>
                </a:solidFill>
              </a:rPr>
              <a:t>9</a:t>
            </a:r>
            <a:endParaRPr lang="ru-RU" sz="30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1297548"/>
            <a:ext cx="368081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Остальные значения «…»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11607" y="1870130"/>
            <a:ext cx="7834187" cy="291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901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Autofit/>
          </a:bodyPr>
          <a:lstStyle/>
          <a:p>
            <a:pPr lvl="0"/>
            <a:r>
              <a:rPr lang="ru-RU" dirty="0"/>
              <a:t>Деструктурирующее </a:t>
            </a:r>
            <a:r>
              <a:rPr lang="ru-RU" dirty="0" smtClean="0"/>
              <a:t>присваивание</a:t>
            </a:r>
            <a:r>
              <a:rPr lang="ru-RU" dirty="0"/>
              <a:t>. </a:t>
            </a:r>
            <a:r>
              <a:rPr lang="ru-RU" sz="2400" dirty="0"/>
              <a:t>Деструктуризация массива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99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solidFill>
                  <a:schemeClr val="bg1"/>
                </a:solidFill>
              </a:rPr>
              <a:t>9</a:t>
            </a:r>
            <a:endParaRPr lang="ru-RU" sz="3000" b="1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911608" y="1177016"/>
            <a:ext cx="1075436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Если в массиве меньше значений, чем в присваивании, то </a:t>
            </a:r>
            <a:r>
              <a:rPr lang="ru-RU" sz="2200" dirty="0" smtClean="0"/>
              <a:t>отсутствующие </a:t>
            </a:r>
            <a:r>
              <a:rPr lang="ru-RU" sz="2200" dirty="0"/>
              <a:t>значения считаются неопределёнными: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11607" y="2202037"/>
            <a:ext cx="5148607" cy="1352324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911607" y="3852482"/>
            <a:ext cx="371608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/>
              <a:t>Значения по умолчанию:</a:t>
            </a:r>
            <a:endParaRPr lang="ru-RU" sz="2200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888140" y="4283369"/>
            <a:ext cx="8919538" cy="134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155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Autofit/>
          </a:bodyPr>
          <a:lstStyle/>
          <a:p>
            <a:pPr lvl="0"/>
            <a:r>
              <a:rPr lang="ru-RU" dirty="0"/>
              <a:t>Деструктурирующее </a:t>
            </a:r>
            <a:r>
              <a:rPr lang="ru-RU" dirty="0" smtClean="0"/>
              <a:t>присваивание</a:t>
            </a:r>
            <a:r>
              <a:rPr lang="ru-RU" dirty="0"/>
              <a:t>. </a:t>
            </a:r>
            <a:r>
              <a:rPr lang="ru-RU" sz="2400" dirty="0"/>
              <a:t>Деструктуризация массива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100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solidFill>
                  <a:schemeClr val="bg1"/>
                </a:solidFill>
              </a:rPr>
              <a:t>9</a:t>
            </a:r>
            <a:endParaRPr lang="ru-RU" sz="3000" b="1" dirty="0">
              <a:solidFill>
                <a:schemeClr val="bg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911608" y="1242017"/>
            <a:ext cx="887775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/>
              <a:t>Значения по умолчанию могут быть результатом вычислений:</a:t>
            </a:r>
            <a:endParaRPr lang="ru-RU" sz="22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11608" y="1746643"/>
            <a:ext cx="10496354" cy="12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705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Autofit/>
          </a:bodyPr>
          <a:lstStyle/>
          <a:p>
            <a:pPr lvl="0"/>
            <a:r>
              <a:rPr lang="ru-RU" dirty="0"/>
              <a:t>Деструктурирующее </a:t>
            </a:r>
            <a:r>
              <a:rPr lang="ru-RU" dirty="0" smtClean="0"/>
              <a:t>присваивание</a:t>
            </a:r>
            <a:r>
              <a:rPr lang="ru-RU" dirty="0"/>
              <a:t>. </a:t>
            </a:r>
            <a:r>
              <a:rPr lang="ru-RU" sz="2400" dirty="0"/>
              <a:t>Деструктуризация </a:t>
            </a:r>
            <a:r>
              <a:rPr lang="ru-RU" sz="2400" dirty="0" smtClean="0"/>
              <a:t>объекта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101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solidFill>
                  <a:schemeClr val="bg1"/>
                </a:solidFill>
              </a:rPr>
              <a:t>9</a:t>
            </a:r>
            <a:endParaRPr lang="ru-RU" sz="3000" b="1" dirty="0">
              <a:solidFill>
                <a:schemeClr val="bg1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11608" y="1504706"/>
            <a:ext cx="557075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0" i="0" u="none" strike="noStrike" cap="none" normalizeH="0" baseline="0" dirty="0" smtClean="0">
                <a:ln>
                  <a:noFill/>
                </a:ln>
                <a:solidFill>
                  <a:srgbClr val="0077AA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let</a:t>
            </a:r>
            <a:r>
              <a:rPr kumimoji="0" lang="en-US" altLang="ru-RU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kumimoji="0" lang="en-US" altLang="ru-RU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r>
              <a:rPr kumimoji="0" lang="en-US" altLang="ru-RU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var1</a:t>
            </a:r>
            <a:r>
              <a:rPr kumimoji="0" lang="en-US" altLang="ru-RU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kumimoji="0" lang="en-US" altLang="ru-RU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var2</a:t>
            </a:r>
            <a:r>
              <a:rPr kumimoji="0" lang="en-US" altLang="ru-RU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r>
              <a:rPr kumimoji="0" lang="en-US" altLang="ru-RU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kumimoji="0" lang="en-US" altLang="ru-RU" sz="2000" b="0" i="0" u="none" strike="noStrike" cap="none" normalizeH="0" baseline="0" dirty="0" smtClean="0">
                <a:ln>
                  <a:noFill/>
                </a:ln>
                <a:solidFill>
                  <a:srgbClr val="A67F5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kumimoji="0" lang="en-US" altLang="ru-RU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kumimoji="0" lang="en-US" altLang="ru-RU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r>
              <a:rPr kumimoji="0" lang="en-US" altLang="ru-RU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var1</a:t>
            </a:r>
            <a:r>
              <a:rPr kumimoji="0" lang="en-US" altLang="ru-RU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  <a:r>
              <a:rPr kumimoji="0" lang="en-US" altLang="ru-RU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…</a:t>
            </a:r>
            <a:r>
              <a:rPr kumimoji="0" lang="en-US" altLang="ru-RU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kumimoji="0" lang="en-US" altLang="ru-RU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var2</a:t>
            </a:r>
            <a:r>
              <a:rPr kumimoji="0" lang="en-US" altLang="ru-RU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  <a:r>
              <a:rPr kumimoji="0" lang="en-US" altLang="ru-RU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…</a:t>
            </a:r>
            <a:r>
              <a:rPr kumimoji="0" lang="en-US" altLang="ru-RU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kumimoji="0" lang="en-US" alt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911608" y="1087151"/>
            <a:ext cx="181331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Синтаксис: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34224" y="1935727"/>
            <a:ext cx="5957382" cy="3358949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557640" y="6015237"/>
            <a:ext cx="10651127" cy="389866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911608" y="5509851"/>
            <a:ext cx="419217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Порядок не имеет </a:t>
            </a:r>
            <a:r>
              <a:rPr lang="ru-RU" sz="2200" dirty="0" smtClean="0"/>
              <a:t>значения: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437913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Autofit/>
          </a:bodyPr>
          <a:lstStyle/>
          <a:p>
            <a:pPr lvl="0"/>
            <a:r>
              <a:rPr lang="ru-RU" dirty="0"/>
              <a:t>Деструктурирующее </a:t>
            </a:r>
            <a:r>
              <a:rPr lang="ru-RU" dirty="0" smtClean="0"/>
              <a:t>присваивание</a:t>
            </a:r>
            <a:r>
              <a:rPr lang="ru-RU" dirty="0"/>
              <a:t>. </a:t>
            </a:r>
            <a:r>
              <a:rPr lang="ru-RU" sz="2400" dirty="0"/>
              <a:t>Деструктуризация </a:t>
            </a:r>
            <a:r>
              <a:rPr lang="ru-RU" sz="2400" dirty="0" smtClean="0"/>
              <a:t>объекта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102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solidFill>
                  <a:schemeClr val="bg1"/>
                </a:solidFill>
              </a:rPr>
              <a:t>9</a:t>
            </a:r>
            <a:endParaRPr lang="ru-RU" sz="30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11607" y="1291786"/>
            <a:ext cx="1065112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Можно </a:t>
            </a:r>
            <a:r>
              <a:rPr lang="ru-RU" sz="2200" dirty="0"/>
              <a:t>присвоить свойство объекта переменной с другим </a:t>
            </a:r>
            <a:r>
              <a:rPr lang="ru-RU" sz="2200" dirty="0" smtClean="0"/>
              <a:t>названием:</a:t>
            </a:r>
            <a:endParaRPr lang="ru-RU" sz="2200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11607" y="1918891"/>
            <a:ext cx="6964032" cy="345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232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Autofit/>
          </a:bodyPr>
          <a:lstStyle/>
          <a:p>
            <a:pPr lvl="0"/>
            <a:r>
              <a:rPr lang="ru-RU" dirty="0"/>
              <a:t>Деструктурирующее </a:t>
            </a:r>
            <a:r>
              <a:rPr lang="ru-RU" dirty="0" smtClean="0"/>
              <a:t>присваивание</a:t>
            </a:r>
            <a:r>
              <a:rPr lang="ru-RU" dirty="0"/>
              <a:t>. </a:t>
            </a:r>
            <a:r>
              <a:rPr lang="ru-RU" sz="2400" dirty="0"/>
              <a:t>Деструктуризация </a:t>
            </a:r>
            <a:r>
              <a:rPr lang="ru-RU" sz="2400" dirty="0" smtClean="0"/>
              <a:t>объекта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103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solidFill>
                  <a:schemeClr val="bg1"/>
                </a:solidFill>
              </a:rPr>
              <a:t>9</a:t>
            </a:r>
            <a:endParaRPr lang="ru-RU" sz="30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911608" y="1268050"/>
            <a:ext cx="371608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/>
              <a:t>Значения по умолчанию:</a:t>
            </a:r>
            <a:endParaRPr lang="ru-RU" sz="22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11608" y="1838815"/>
            <a:ext cx="7493078" cy="270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184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Autofit/>
          </a:bodyPr>
          <a:lstStyle/>
          <a:p>
            <a:pPr lvl="0"/>
            <a:r>
              <a:rPr lang="ru-RU" dirty="0"/>
              <a:t>Деструктурирующее </a:t>
            </a:r>
            <a:r>
              <a:rPr lang="ru-RU" dirty="0" smtClean="0"/>
              <a:t>присваивание</a:t>
            </a:r>
            <a:r>
              <a:rPr lang="ru-RU" dirty="0"/>
              <a:t>. </a:t>
            </a:r>
            <a:r>
              <a:rPr lang="ru-RU" sz="2400" dirty="0"/>
              <a:t>Деструктуризация </a:t>
            </a:r>
            <a:r>
              <a:rPr lang="ru-RU" sz="2400" dirty="0" smtClean="0"/>
              <a:t>объекта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104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solidFill>
                  <a:schemeClr val="bg1"/>
                </a:solidFill>
              </a:rPr>
              <a:t>9</a:t>
            </a:r>
            <a:endParaRPr lang="ru-RU" sz="30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1223805"/>
            <a:ext cx="324640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Остаток объекта </a:t>
            </a:r>
            <a:r>
              <a:rPr lang="ru-RU" sz="2200" dirty="0" smtClean="0"/>
              <a:t>«…»:</a:t>
            </a:r>
            <a:endParaRPr lang="ru-RU" sz="22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11609" y="1654692"/>
            <a:ext cx="7303244" cy="3285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770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Autofit/>
          </a:bodyPr>
          <a:lstStyle/>
          <a:p>
            <a:pPr lvl="0"/>
            <a:r>
              <a:rPr lang="ru-RU" dirty="0"/>
              <a:t>Деструктурирующее </a:t>
            </a:r>
            <a:r>
              <a:rPr lang="ru-RU" dirty="0" smtClean="0"/>
              <a:t>присваивание</a:t>
            </a:r>
            <a:r>
              <a:rPr lang="ru-RU" dirty="0"/>
              <a:t>. </a:t>
            </a:r>
            <a:r>
              <a:rPr lang="ru-RU" sz="2400" dirty="0"/>
              <a:t>Деструктуризация </a:t>
            </a:r>
            <a:r>
              <a:rPr lang="ru-RU" sz="2400" dirty="0" smtClean="0"/>
              <a:t>объекта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105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solidFill>
                  <a:schemeClr val="bg1"/>
                </a:solidFill>
              </a:rPr>
              <a:t>9</a:t>
            </a:r>
            <a:endParaRPr lang="ru-RU" sz="30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782152" y="1218042"/>
            <a:ext cx="1128012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Чтобы показать </a:t>
            </a:r>
            <a:r>
              <a:rPr lang="ru-RU" sz="2200" dirty="0" err="1"/>
              <a:t>JavaScript</a:t>
            </a:r>
            <a:r>
              <a:rPr lang="ru-RU" sz="2200" dirty="0"/>
              <a:t>, что </a:t>
            </a:r>
            <a:r>
              <a:rPr lang="en-US" sz="2200" dirty="0" smtClean="0"/>
              <a:t>{ }</a:t>
            </a:r>
            <a:r>
              <a:rPr lang="ru-RU" sz="2200" dirty="0" smtClean="0"/>
              <a:t> </a:t>
            </a:r>
            <a:r>
              <a:rPr lang="ru-RU" sz="2200" dirty="0"/>
              <a:t>не блок кода, мы можем заключить выражение в скобки (...):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782152" y="2029124"/>
            <a:ext cx="10157685" cy="153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981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Autofit/>
          </a:bodyPr>
          <a:lstStyle/>
          <a:p>
            <a:pPr lvl="0"/>
            <a:r>
              <a:rPr lang="ru-RU" dirty="0"/>
              <a:t>Деструктурирующее </a:t>
            </a:r>
            <a:r>
              <a:rPr lang="ru-RU" dirty="0" smtClean="0"/>
              <a:t>присваивание</a:t>
            </a:r>
            <a:r>
              <a:rPr lang="ru-RU" dirty="0"/>
              <a:t>. </a:t>
            </a:r>
            <a:r>
              <a:rPr lang="ru-RU" sz="2400" dirty="0"/>
              <a:t>Вложенная деструктуризация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106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solidFill>
                  <a:schemeClr val="bg1"/>
                </a:solidFill>
              </a:rPr>
              <a:t>9</a:t>
            </a:r>
            <a:endParaRPr lang="ru-RU" sz="3000" b="1" dirty="0">
              <a:solidFill>
                <a:schemeClr val="bg1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b="25674"/>
          <a:stretch/>
        </p:blipFill>
        <p:spPr bwMode="invGray">
          <a:xfrm>
            <a:off x="911607" y="1088000"/>
            <a:ext cx="4678032" cy="5299467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 t="73695"/>
          <a:stretch/>
        </p:blipFill>
        <p:spPr bwMode="invGray">
          <a:xfrm>
            <a:off x="6141304" y="1088000"/>
            <a:ext cx="4716982" cy="1891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902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Autofit/>
          </a:bodyPr>
          <a:lstStyle/>
          <a:p>
            <a:pPr lvl="0"/>
            <a:r>
              <a:rPr lang="ru-RU" dirty="0"/>
              <a:t>Деструктурирующее </a:t>
            </a:r>
            <a:r>
              <a:rPr lang="ru-RU" dirty="0" smtClean="0"/>
              <a:t>присваивание</a:t>
            </a:r>
            <a:r>
              <a:rPr lang="ru-RU" dirty="0"/>
              <a:t>. </a:t>
            </a:r>
            <a:r>
              <a:rPr lang="ru-RU" sz="2400" dirty="0"/>
              <a:t>Умные параметры функций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412233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107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solidFill>
                  <a:schemeClr val="bg1"/>
                </a:solidFill>
              </a:rPr>
              <a:t>9</a:t>
            </a:r>
            <a:endParaRPr lang="ru-RU" sz="30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911608" y="1312295"/>
            <a:ext cx="893385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/>
              <a:t>Плохой способ </a:t>
            </a:r>
            <a:r>
              <a:rPr lang="ru-RU" sz="2200" dirty="0"/>
              <a:t>писать </a:t>
            </a:r>
            <a:r>
              <a:rPr lang="ru-RU" sz="2200" dirty="0" smtClean="0"/>
              <a:t>функции</a:t>
            </a:r>
            <a:r>
              <a:rPr lang="en-US" sz="2200" dirty="0" smtClean="0"/>
              <a:t> </a:t>
            </a:r>
            <a:r>
              <a:rPr lang="ru-RU" sz="2200" dirty="0" smtClean="0"/>
              <a:t>с множеством параметров:</a:t>
            </a:r>
            <a:endParaRPr lang="ru-RU" sz="22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292172" y="1831106"/>
            <a:ext cx="11421845" cy="971088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911608" y="3172182"/>
            <a:ext cx="494718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/>
              <a:t>Неудобный вызов такой функции:</a:t>
            </a:r>
            <a:endParaRPr lang="ru-RU" sz="22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911608" y="3723242"/>
            <a:ext cx="9854716" cy="46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047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Autofit/>
          </a:bodyPr>
          <a:lstStyle/>
          <a:p>
            <a:pPr lvl="0"/>
            <a:r>
              <a:rPr lang="ru-RU" dirty="0"/>
              <a:t>Деструктурирующее </a:t>
            </a:r>
            <a:r>
              <a:rPr lang="ru-RU" dirty="0" smtClean="0"/>
              <a:t>присваивание</a:t>
            </a:r>
            <a:r>
              <a:rPr lang="ru-RU" dirty="0"/>
              <a:t>. </a:t>
            </a:r>
            <a:r>
              <a:rPr lang="ru-RU" sz="2400" dirty="0"/>
              <a:t>Умные параметры функций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412233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108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solidFill>
                  <a:schemeClr val="bg1"/>
                </a:solidFill>
              </a:rPr>
              <a:t>9</a:t>
            </a:r>
            <a:endParaRPr lang="ru-RU" sz="30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11607" y="1182780"/>
            <a:ext cx="1065112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Можно передать </a:t>
            </a:r>
            <a:r>
              <a:rPr lang="ru-RU" sz="2200" dirty="0"/>
              <a:t>параметры как объект, и функция </a:t>
            </a:r>
            <a:r>
              <a:rPr lang="ru-RU" sz="2200" dirty="0" smtClean="0"/>
              <a:t>деструктурирует </a:t>
            </a:r>
            <a:r>
              <a:rPr lang="ru-RU" sz="2200" dirty="0"/>
              <a:t>его в переменные: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469154" y="1992825"/>
            <a:ext cx="11435323" cy="321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457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Autofit/>
          </a:bodyPr>
          <a:lstStyle/>
          <a:p>
            <a:pPr lvl="0"/>
            <a:r>
              <a:rPr lang="ru-RU" dirty="0"/>
              <a:t>Деструктурирующее </a:t>
            </a:r>
            <a:r>
              <a:rPr lang="ru-RU" dirty="0" smtClean="0"/>
              <a:t>присваивание</a:t>
            </a:r>
            <a:r>
              <a:rPr lang="ru-RU" dirty="0"/>
              <a:t>. </a:t>
            </a:r>
            <a:r>
              <a:rPr lang="ru-RU" sz="2400" dirty="0"/>
              <a:t>Умные параметры функций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412233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109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solidFill>
                  <a:schemeClr val="bg1"/>
                </a:solidFill>
              </a:rPr>
              <a:t>9</a:t>
            </a:r>
            <a:endParaRPr lang="ru-RU" sz="30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911607" y="1218041"/>
            <a:ext cx="1050062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Более сложное </a:t>
            </a:r>
            <a:r>
              <a:rPr lang="ru-RU" sz="2200" dirty="0" err="1"/>
              <a:t>деструктурирование</a:t>
            </a:r>
            <a:r>
              <a:rPr lang="ru-RU" sz="2200" dirty="0"/>
              <a:t> с вложенными объектами и двоеточием: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11607" y="1837237"/>
            <a:ext cx="7332741" cy="473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270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Autofit/>
          </a:bodyPr>
          <a:lstStyle/>
          <a:p>
            <a:pPr lvl="0"/>
            <a:r>
              <a:rPr lang="ru-RU" dirty="0" smtClean="0"/>
              <a:t>Дата и время</a:t>
            </a:r>
            <a:r>
              <a:rPr lang="ru-RU" dirty="0"/>
              <a:t>. </a:t>
            </a:r>
            <a:r>
              <a:rPr lang="ru-RU" sz="2400" dirty="0"/>
              <a:t>Создание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412233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110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50432" y="44244"/>
            <a:ext cx="6726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solidFill>
                  <a:schemeClr val="bg1"/>
                </a:solidFill>
              </a:rPr>
              <a:t>10</a:t>
            </a:r>
            <a:endParaRPr lang="ru-RU" sz="30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75633" y="607598"/>
            <a:ext cx="1022342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 err="1"/>
              <a:t>new</a:t>
            </a:r>
            <a:r>
              <a:rPr lang="ru-RU" sz="2200" b="1" dirty="0"/>
              <a:t> </a:t>
            </a:r>
            <a:r>
              <a:rPr lang="ru-RU" sz="2200" b="1" dirty="0" err="1"/>
              <a:t>Date</a:t>
            </a:r>
            <a:r>
              <a:rPr lang="ru-RU" sz="2200" b="1" dirty="0" smtClean="0"/>
              <a:t>()  </a:t>
            </a:r>
            <a:r>
              <a:rPr lang="ru-RU" sz="2200" dirty="0"/>
              <a:t>– создать объект </a:t>
            </a:r>
            <a:r>
              <a:rPr lang="ru-RU" sz="2200" dirty="0" err="1"/>
              <a:t>Date</a:t>
            </a:r>
            <a:r>
              <a:rPr lang="ru-RU" sz="2200" dirty="0"/>
              <a:t> с текущими датой и временем: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675632" y="1099225"/>
            <a:ext cx="3931587" cy="714834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675631" y="1919045"/>
            <a:ext cx="1150653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 err="1"/>
              <a:t>new</a:t>
            </a:r>
            <a:r>
              <a:rPr lang="ru-RU" sz="2200" b="1" dirty="0"/>
              <a:t> </a:t>
            </a:r>
            <a:r>
              <a:rPr lang="ru-RU" sz="2200" b="1" dirty="0" err="1" smtClean="0"/>
              <a:t>Date</a:t>
            </a:r>
            <a:r>
              <a:rPr lang="ru-RU" sz="2200" b="1" dirty="0" smtClean="0"/>
              <a:t>(</a:t>
            </a:r>
            <a:r>
              <a:rPr lang="ru-RU" sz="2200" b="1" dirty="0" err="1" smtClean="0"/>
              <a:t>milliseconds</a:t>
            </a:r>
            <a:r>
              <a:rPr lang="ru-RU" sz="2200" b="1" dirty="0" smtClean="0"/>
              <a:t>) </a:t>
            </a:r>
            <a:r>
              <a:rPr lang="ru-RU" sz="2200" dirty="0" smtClean="0"/>
              <a:t>-- создать </a:t>
            </a:r>
            <a:r>
              <a:rPr lang="ru-RU" sz="2200" dirty="0"/>
              <a:t>объект </a:t>
            </a:r>
            <a:r>
              <a:rPr lang="ru-RU" sz="2200" dirty="0" err="1"/>
              <a:t>Date</a:t>
            </a:r>
            <a:r>
              <a:rPr lang="ru-RU" sz="2200" dirty="0"/>
              <a:t> с временем, равным количеству миллисекунд (тысячная доля секунды), прошедших с 1 января 1970 года UTC+0.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675630" y="2791070"/>
            <a:ext cx="7621033" cy="2267640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546177" y="5198078"/>
            <a:ext cx="11016557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 err="1" smtClean="0"/>
              <a:t>Таймстамп</a:t>
            </a:r>
            <a:r>
              <a:rPr lang="ru-RU" sz="2200" b="1" dirty="0" smtClean="0"/>
              <a:t> (англ. </a:t>
            </a:r>
            <a:r>
              <a:rPr lang="ru-RU" sz="2200" b="1" dirty="0" err="1"/>
              <a:t>timestamp</a:t>
            </a:r>
            <a:r>
              <a:rPr lang="ru-RU" sz="2200" b="1" dirty="0" smtClean="0"/>
              <a:t>) </a:t>
            </a:r>
            <a:r>
              <a:rPr lang="ru-RU" sz="2200" dirty="0" smtClean="0"/>
              <a:t>-- целое </a:t>
            </a:r>
            <a:r>
              <a:rPr lang="ru-RU" sz="2200" dirty="0"/>
              <a:t>число, представляющее собой количество миллисекунд, прошедших с начала 1970 </a:t>
            </a:r>
            <a:r>
              <a:rPr lang="ru-RU" sz="2200" dirty="0" smtClean="0"/>
              <a:t>года</a:t>
            </a:r>
            <a:r>
              <a:rPr lang="ru-RU" sz="2200" dirty="0"/>
              <a:t>.</a:t>
            </a:r>
          </a:p>
          <a:p>
            <a:r>
              <a:rPr lang="ru-RU" sz="2200" dirty="0" smtClean="0"/>
              <a:t>Можно </a:t>
            </a:r>
            <a:r>
              <a:rPr lang="ru-RU" sz="2200" dirty="0"/>
              <a:t>получить дату с помощью </a:t>
            </a:r>
            <a:r>
              <a:rPr lang="ru-RU" sz="2200" dirty="0" err="1"/>
              <a:t>new</a:t>
            </a:r>
            <a:r>
              <a:rPr lang="ru-RU" sz="2200" dirty="0"/>
              <a:t> </a:t>
            </a:r>
            <a:r>
              <a:rPr lang="ru-RU" sz="2200" dirty="0" err="1"/>
              <a:t>Date</a:t>
            </a:r>
            <a:r>
              <a:rPr lang="ru-RU" sz="2200" dirty="0"/>
              <a:t>(</a:t>
            </a:r>
            <a:r>
              <a:rPr lang="ru-RU" sz="2200" dirty="0" err="1"/>
              <a:t>timestamp</a:t>
            </a:r>
            <a:r>
              <a:rPr lang="ru-RU" sz="2200" dirty="0"/>
              <a:t>) и преобразовать существующий объект </a:t>
            </a:r>
            <a:r>
              <a:rPr lang="ru-RU" sz="2200" dirty="0" err="1"/>
              <a:t>Date</a:t>
            </a:r>
            <a:r>
              <a:rPr lang="ru-RU" sz="2200" dirty="0"/>
              <a:t> в </a:t>
            </a:r>
            <a:r>
              <a:rPr lang="ru-RU" sz="2200" dirty="0" err="1"/>
              <a:t>таймстамп</a:t>
            </a:r>
            <a:r>
              <a:rPr lang="ru-RU" sz="2200" dirty="0"/>
              <a:t>, используя метод </a:t>
            </a:r>
            <a:r>
              <a:rPr lang="ru-RU" sz="2200" dirty="0" err="1"/>
              <a:t>date.getTime</a:t>
            </a:r>
            <a:r>
              <a:rPr lang="ru-RU" sz="2200" dirty="0" smtClean="0"/>
              <a:t>().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598102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Autofit/>
          </a:bodyPr>
          <a:lstStyle/>
          <a:p>
            <a:pPr lvl="0"/>
            <a:r>
              <a:rPr lang="ru-RU" dirty="0" smtClean="0"/>
              <a:t>Дата и время</a:t>
            </a:r>
            <a:r>
              <a:rPr lang="ru-RU" dirty="0"/>
              <a:t>. </a:t>
            </a:r>
            <a:r>
              <a:rPr lang="ru-RU" sz="2400" dirty="0"/>
              <a:t>Получение компонентов даты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412233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111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50432" y="44244"/>
            <a:ext cx="6726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solidFill>
                  <a:schemeClr val="bg1"/>
                </a:solidFill>
              </a:rPr>
              <a:t>10</a:t>
            </a:r>
            <a:endParaRPr lang="ru-RU" sz="30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870641" y="920301"/>
            <a:ext cx="1101655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 err="1"/>
              <a:t>new</a:t>
            </a:r>
            <a:r>
              <a:rPr lang="ru-RU" sz="2200" b="1" dirty="0"/>
              <a:t> </a:t>
            </a:r>
            <a:r>
              <a:rPr lang="ru-RU" sz="2200" b="1" dirty="0" err="1"/>
              <a:t>Date</a:t>
            </a:r>
            <a:r>
              <a:rPr lang="ru-RU" sz="2200" b="1" dirty="0"/>
              <a:t>(</a:t>
            </a:r>
            <a:r>
              <a:rPr lang="ru-RU" sz="2200" b="1" dirty="0" err="1"/>
              <a:t>datestring</a:t>
            </a:r>
            <a:r>
              <a:rPr lang="ru-RU" sz="2200" b="1" dirty="0" smtClean="0"/>
              <a:t>) </a:t>
            </a:r>
            <a:r>
              <a:rPr lang="ru-RU" sz="2200" dirty="0" smtClean="0"/>
              <a:t>-- если </a:t>
            </a:r>
            <a:r>
              <a:rPr lang="ru-RU" sz="2200" dirty="0"/>
              <a:t>аргумент всего один, и это строка, то из неё </a:t>
            </a:r>
            <a:r>
              <a:rPr lang="ru-RU" sz="2200" dirty="0" smtClean="0"/>
              <a:t>считывается </a:t>
            </a:r>
            <a:r>
              <a:rPr lang="ru-RU" sz="2200" dirty="0"/>
              <a:t>дата.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870641" y="1750677"/>
            <a:ext cx="5839875" cy="1256876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870641" y="3358220"/>
            <a:ext cx="1081008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 err="1"/>
              <a:t>new</a:t>
            </a:r>
            <a:r>
              <a:rPr lang="ru-RU" sz="2200" b="1" dirty="0"/>
              <a:t> </a:t>
            </a:r>
            <a:r>
              <a:rPr lang="ru-RU" sz="2200" b="1" dirty="0" err="1"/>
              <a:t>Date</a:t>
            </a:r>
            <a:r>
              <a:rPr lang="ru-RU" sz="2200" b="1" dirty="0"/>
              <a:t>(</a:t>
            </a:r>
            <a:r>
              <a:rPr lang="ru-RU" sz="2200" b="1" dirty="0" err="1"/>
              <a:t>year</a:t>
            </a:r>
            <a:r>
              <a:rPr lang="ru-RU" sz="2200" b="1" dirty="0"/>
              <a:t>, </a:t>
            </a:r>
            <a:r>
              <a:rPr lang="ru-RU" sz="2200" b="1" dirty="0" err="1"/>
              <a:t>month</a:t>
            </a:r>
            <a:r>
              <a:rPr lang="ru-RU" sz="2200" b="1" dirty="0"/>
              <a:t>, </a:t>
            </a:r>
            <a:r>
              <a:rPr lang="ru-RU" sz="2200" b="1" dirty="0" err="1"/>
              <a:t>date</a:t>
            </a:r>
            <a:r>
              <a:rPr lang="ru-RU" sz="2200" b="1" dirty="0"/>
              <a:t>, </a:t>
            </a:r>
            <a:r>
              <a:rPr lang="ru-RU" sz="2200" b="1" dirty="0" err="1"/>
              <a:t>hours</a:t>
            </a:r>
            <a:r>
              <a:rPr lang="ru-RU" sz="2200" b="1" dirty="0"/>
              <a:t>, </a:t>
            </a:r>
            <a:r>
              <a:rPr lang="ru-RU" sz="2200" b="1" dirty="0" err="1"/>
              <a:t>minutes</a:t>
            </a:r>
            <a:r>
              <a:rPr lang="ru-RU" sz="2200" b="1" dirty="0"/>
              <a:t>, </a:t>
            </a:r>
            <a:r>
              <a:rPr lang="ru-RU" sz="2200" b="1" dirty="0" err="1"/>
              <a:t>seconds</a:t>
            </a:r>
            <a:r>
              <a:rPr lang="ru-RU" sz="2200" b="1" dirty="0"/>
              <a:t>, </a:t>
            </a:r>
            <a:r>
              <a:rPr lang="ru-RU" sz="2200" b="1" dirty="0" err="1"/>
              <a:t>ms</a:t>
            </a:r>
            <a:r>
              <a:rPr lang="ru-RU" sz="2200" b="1" dirty="0" smtClean="0"/>
              <a:t>) </a:t>
            </a:r>
            <a:r>
              <a:rPr lang="ru-RU" sz="2200" dirty="0" smtClean="0"/>
              <a:t>-- создать </a:t>
            </a:r>
            <a:r>
              <a:rPr lang="ru-RU" sz="2200" dirty="0"/>
              <a:t>объект </a:t>
            </a:r>
            <a:r>
              <a:rPr lang="ru-RU" sz="2200" dirty="0" err="1"/>
              <a:t>Date</a:t>
            </a:r>
            <a:r>
              <a:rPr lang="ru-RU" sz="2200" dirty="0"/>
              <a:t> с заданными компонентами в местной временной зоне. 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870642" y="4204543"/>
            <a:ext cx="8376598" cy="149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750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Autofit/>
          </a:bodyPr>
          <a:lstStyle/>
          <a:p>
            <a:pPr lvl="0"/>
            <a:r>
              <a:rPr lang="ru-RU" dirty="0" smtClean="0"/>
              <a:t>Дата и время</a:t>
            </a:r>
            <a:r>
              <a:rPr lang="ru-RU" dirty="0"/>
              <a:t>. </a:t>
            </a:r>
            <a:r>
              <a:rPr lang="ru-RU" sz="2400" dirty="0"/>
              <a:t>Получение компонентов даты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412233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112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50432" y="44244"/>
            <a:ext cx="6726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solidFill>
                  <a:schemeClr val="bg1"/>
                </a:solidFill>
              </a:rPr>
              <a:t>10</a:t>
            </a:r>
            <a:endParaRPr lang="ru-RU" sz="30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42742"/>
            <a:ext cx="10500625" cy="25299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sz="2200" b="1" dirty="0" err="1"/>
              <a:t>getFullYear</a:t>
            </a:r>
            <a:r>
              <a:rPr lang="ru-RU" sz="2200" b="1" dirty="0" smtClean="0"/>
              <a:t>() </a:t>
            </a:r>
            <a:r>
              <a:rPr lang="ru-RU" sz="2200" dirty="0" smtClean="0"/>
              <a:t>-- получить </a:t>
            </a:r>
            <a:r>
              <a:rPr lang="ru-RU" sz="2200" dirty="0"/>
              <a:t>год (4 цифры</a:t>
            </a:r>
            <a:r>
              <a:rPr lang="ru-RU" sz="2200" dirty="0" smtClean="0"/>
              <a:t>).</a:t>
            </a:r>
            <a:endParaRPr lang="ru-RU" sz="2200" dirty="0"/>
          </a:p>
          <a:p>
            <a:pPr>
              <a:lnSpc>
                <a:spcPct val="120000"/>
              </a:lnSpc>
            </a:pPr>
            <a:r>
              <a:rPr lang="ru-RU" sz="2200" b="1" dirty="0" err="1"/>
              <a:t>getMonth</a:t>
            </a:r>
            <a:r>
              <a:rPr lang="ru-RU" sz="2200" b="1" dirty="0" smtClean="0"/>
              <a:t>() </a:t>
            </a:r>
            <a:r>
              <a:rPr lang="ru-RU" sz="2200" dirty="0" smtClean="0"/>
              <a:t>-- получить </a:t>
            </a:r>
            <a:r>
              <a:rPr lang="ru-RU" sz="2200" dirty="0"/>
              <a:t>месяц, от 0 до 11.</a:t>
            </a:r>
          </a:p>
          <a:p>
            <a:pPr>
              <a:lnSpc>
                <a:spcPct val="120000"/>
              </a:lnSpc>
            </a:pPr>
            <a:r>
              <a:rPr lang="ru-RU" sz="2200" b="1" dirty="0" err="1"/>
              <a:t>getDate</a:t>
            </a:r>
            <a:r>
              <a:rPr lang="ru-RU" sz="2200" b="1" dirty="0" smtClean="0"/>
              <a:t>() </a:t>
            </a:r>
            <a:r>
              <a:rPr lang="ru-RU" sz="2200" dirty="0" smtClean="0"/>
              <a:t>-- получить </a:t>
            </a:r>
            <a:r>
              <a:rPr lang="ru-RU" sz="2200" dirty="0"/>
              <a:t>день месяца, от 1 до </a:t>
            </a:r>
            <a:r>
              <a:rPr lang="ru-RU" sz="2200" dirty="0" smtClean="0"/>
              <a:t>31.</a:t>
            </a:r>
            <a:endParaRPr lang="ru-RU" sz="2200" dirty="0"/>
          </a:p>
          <a:p>
            <a:pPr>
              <a:lnSpc>
                <a:spcPct val="120000"/>
              </a:lnSpc>
            </a:pPr>
            <a:r>
              <a:rPr lang="ru-RU" sz="2200" b="1" dirty="0" err="1"/>
              <a:t>getHours</a:t>
            </a:r>
            <a:r>
              <a:rPr lang="ru-RU" sz="2200" b="1" dirty="0"/>
              <a:t>(), </a:t>
            </a:r>
            <a:r>
              <a:rPr lang="ru-RU" sz="2200" b="1" dirty="0" err="1"/>
              <a:t>getMinutes</a:t>
            </a:r>
            <a:r>
              <a:rPr lang="ru-RU" sz="2200" b="1" dirty="0"/>
              <a:t>(), </a:t>
            </a:r>
            <a:r>
              <a:rPr lang="ru-RU" sz="2200" b="1" dirty="0" err="1"/>
              <a:t>getSeconds</a:t>
            </a:r>
            <a:r>
              <a:rPr lang="ru-RU" sz="2200" b="1" dirty="0"/>
              <a:t>(), </a:t>
            </a:r>
            <a:r>
              <a:rPr lang="ru-RU" sz="2200" b="1" dirty="0" err="1"/>
              <a:t>getMilliseconds</a:t>
            </a:r>
            <a:r>
              <a:rPr lang="ru-RU" sz="2200" b="1" dirty="0" smtClean="0"/>
              <a:t>() </a:t>
            </a:r>
            <a:r>
              <a:rPr lang="ru-RU" sz="2200" dirty="0" smtClean="0"/>
              <a:t>-- получить</a:t>
            </a:r>
            <a:r>
              <a:rPr lang="ru-RU" sz="2200" dirty="0"/>
              <a:t>, соответственно, часы, минуты, секунды или </a:t>
            </a:r>
            <a:r>
              <a:rPr lang="ru-RU" sz="2200" dirty="0" smtClean="0"/>
              <a:t>миллисекунды.</a:t>
            </a:r>
          </a:p>
          <a:p>
            <a:pPr>
              <a:lnSpc>
                <a:spcPct val="120000"/>
              </a:lnSpc>
            </a:pPr>
            <a:r>
              <a:rPr lang="ru-RU" sz="2200" b="1" dirty="0" err="1"/>
              <a:t>getDay</a:t>
            </a:r>
            <a:r>
              <a:rPr lang="ru-RU" sz="2200" b="1" dirty="0" smtClean="0"/>
              <a:t>() </a:t>
            </a:r>
            <a:r>
              <a:rPr lang="ru-RU" sz="2200" dirty="0" smtClean="0"/>
              <a:t>-- получить </a:t>
            </a:r>
            <a:r>
              <a:rPr lang="ru-RU" sz="2200" dirty="0"/>
              <a:t>день недели от 0 (воскресенье) до 6 (суббота</a:t>
            </a:r>
            <a:r>
              <a:rPr lang="ru-RU" sz="2200" dirty="0" smtClean="0"/>
              <a:t>).</a:t>
            </a:r>
            <a:endParaRPr lang="ru-RU" sz="22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911607" y="3799550"/>
            <a:ext cx="1065112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Существуют методы, </a:t>
            </a:r>
            <a:r>
              <a:rPr lang="ru-RU" sz="2200" dirty="0"/>
              <a:t>возвращающие день, месяц, год для временной зоны UTC+0: </a:t>
            </a:r>
            <a:r>
              <a:rPr lang="ru-RU" sz="2200" dirty="0" err="1"/>
              <a:t>getUTCFullYear</a:t>
            </a:r>
            <a:r>
              <a:rPr lang="ru-RU" sz="2200" dirty="0"/>
              <a:t>(), </a:t>
            </a:r>
            <a:r>
              <a:rPr lang="ru-RU" sz="2200" dirty="0" err="1"/>
              <a:t>getUTCMonth</a:t>
            </a:r>
            <a:r>
              <a:rPr lang="ru-RU" sz="2200" dirty="0"/>
              <a:t>(), </a:t>
            </a:r>
            <a:r>
              <a:rPr lang="ru-RU" sz="2200" dirty="0" err="1"/>
              <a:t>getUTCDay</a:t>
            </a:r>
            <a:r>
              <a:rPr lang="ru-RU" sz="2200" dirty="0"/>
              <a:t>().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911606" y="4664441"/>
            <a:ext cx="10651127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 err="1"/>
              <a:t>getTime</a:t>
            </a:r>
            <a:r>
              <a:rPr lang="ru-RU" sz="2200" b="1" dirty="0" smtClean="0"/>
              <a:t>() </a:t>
            </a:r>
            <a:r>
              <a:rPr lang="ru-RU" sz="2200" dirty="0" smtClean="0"/>
              <a:t>-- для </a:t>
            </a:r>
            <a:r>
              <a:rPr lang="ru-RU" sz="2200" dirty="0"/>
              <a:t>заданной даты возвращает </a:t>
            </a:r>
            <a:r>
              <a:rPr lang="ru-RU" sz="2200" dirty="0" err="1"/>
              <a:t>таймстамп</a:t>
            </a:r>
            <a:r>
              <a:rPr lang="ru-RU" sz="2200" dirty="0"/>
              <a:t> – количество миллисекунд, прошедших с 1 января 1970 года UTC+0.</a:t>
            </a:r>
          </a:p>
          <a:p>
            <a:r>
              <a:rPr lang="ru-RU" sz="2200" b="1" dirty="0" err="1"/>
              <a:t>getTimezoneOffset</a:t>
            </a:r>
            <a:r>
              <a:rPr lang="ru-RU" sz="2200" b="1" dirty="0" smtClean="0"/>
              <a:t>() </a:t>
            </a:r>
            <a:r>
              <a:rPr lang="ru-RU" sz="2200" dirty="0" smtClean="0"/>
              <a:t>-- возвращает </a:t>
            </a:r>
            <a:r>
              <a:rPr lang="ru-RU" sz="2200" dirty="0"/>
              <a:t>разницу в минутах между местной временной зоной и </a:t>
            </a:r>
            <a:r>
              <a:rPr lang="ru-RU" sz="2200" dirty="0" smtClean="0"/>
              <a:t>UTC.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846310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Autofit/>
          </a:bodyPr>
          <a:lstStyle/>
          <a:p>
            <a:pPr lvl="0"/>
            <a:r>
              <a:rPr lang="ru-RU" dirty="0" smtClean="0"/>
              <a:t>Дата и время</a:t>
            </a:r>
            <a:r>
              <a:rPr lang="ru-RU" dirty="0"/>
              <a:t>. </a:t>
            </a:r>
            <a:r>
              <a:rPr lang="ru-RU" sz="2400" dirty="0"/>
              <a:t>Установка компонентов даты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412233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113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50432" y="44244"/>
            <a:ext cx="6726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solidFill>
                  <a:schemeClr val="bg1"/>
                </a:solidFill>
              </a:rPr>
              <a:t>10</a:t>
            </a:r>
            <a:endParaRPr lang="ru-RU" sz="30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911607" y="669580"/>
            <a:ext cx="10739615" cy="3785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ru-RU" sz="2200" dirty="0" smtClean="0"/>
              <a:t>Методы позволяют </a:t>
            </a:r>
            <a:r>
              <a:rPr lang="ru-RU" sz="2200" dirty="0"/>
              <a:t>установить компоненты даты и времени:</a:t>
            </a:r>
          </a:p>
          <a:p>
            <a:pPr>
              <a:lnSpc>
                <a:spcPct val="110000"/>
              </a:lnSpc>
            </a:pPr>
            <a:r>
              <a:rPr lang="ru-RU" sz="2200" dirty="0"/>
              <a:t>•	</a:t>
            </a:r>
            <a:r>
              <a:rPr lang="en-US" sz="2200" dirty="0" err="1"/>
              <a:t>setFullYear</a:t>
            </a:r>
            <a:r>
              <a:rPr lang="en-US" sz="2200" dirty="0"/>
              <a:t>(year, [month], [date])</a:t>
            </a:r>
          </a:p>
          <a:p>
            <a:pPr>
              <a:lnSpc>
                <a:spcPct val="110000"/>
              </a:lnSpc>
            </a:pPr>
            <a:r>
              <a:rPr lang="en-US" sz="2200" dirty="0"/>
              <a:t>•	</a:t>
            </a:r>
            <a:r>
              <a:rPr lang="en-US" sz="2200" dirty="0" err="1"/>
              <a:t>setMonth</a:t>
            </a:r>
            <a:r>
              <a:rPr lang="en-US" sz="2200" dirty="0"/>
              <a:t>(month, [date])</a:t>
            </a:r>
          </a:p>
          <a:p>
            <a:pPr>
              <a:lnSpc>
                <a:spcPct val="110000"/>
              </a:lnSpc>
            </a:pPr>
            <a:r>
              <a:rPr lang="en-US" sz="2200" dirty="0"/>
              <a:t>•	</a:t>
            </a:r>
            <a:r>
              <a:rPr lang="en-US" sz="2200" dirty="0" err="1"/>
              <a:t>setDate</a:t>
            </a:r>
            <a:r>
              <a:rPr lang="en-US" sz="2200" dirty="0"/>
              <a:t>(date)</a:t>
            </a:r>
          </a:p>
          <a:p>
            <a:pPr>
              <a:lnSpc>
                <a:spcPct val="110000"/>
              </a:lnSpc>
            </a:pPr>
            <a:r>
              <a:rPr lang="en-US" sz="2200" dirty="0"/>
              <a:t>•	</a:t>
            </a:r>
            <a:r>
              <a:rPr lang="en-US" sz="2200" dirty="0" err="1"/>
              <a:t>setHours</a:t>
            </a:r>
            <a:r>
              <a:rPr lang="en-US" sz="2200" dirty="0"/>
              <a:t>(hour, [min], [sec], [</a:t>
            </a:r>
            <a:r>
              <a:rPr lang="en-US" sz="2200" dirty="0" err="1"/>
              <a:t>ms</a:t>
            </a:r>
            <a:r>
              <a:rPr lang="en-US" sz="2200" dirty="0"/>
              <a:t>])</a:t>
            </a:r>
          </a:p>
          <a:p>
            <a:pPr>
              <a:lnSpc>
                <a:spcPct val="110000"/>
              </a:lnSpc>
            </a:pPr>
            <a:r>
              <a:rPr lang="en-US" sz="2200" dirty="0"/>
              <a:t>•	</a:t>
            </a:r>
            <a:r>
              <a:rPr lang="en-US" sz="2200" dirty="0" err="1"/>
              <a:t>setMinutes</a:t>
            </a:r>
            <a:r>
              <a:rPr lang="en-US" sz="2200" dirty="0"/>
              <a:t>(min, [sec], [</a:t>
            </a:r>
            <a:r>
              <a:rPr lang="en-US" sz="2200" dirty="0" err="1"/>
              <a:t>ms</a:t>
            </a:r>
            <a:r>
              <a:rPr lang="en-US" sz="2200" dirty="0"/>
              <a:t>])</a:t>
            </a:r>
          </a:p>
          <a:p>
            <a:pPr>
              <a:lnSpc>
                <a:spcPct val="110000"/>
              </a:lnSpc>
            </a:pPr>
            <a:r>
              <a:rPr lang="en-US" sz="2200" dirty="0"/>
              <a:t>•	</a:t>
            </a:r>
            <a:r>
              <a:rPr lang="en-US" sz="2200" dirty="0" err="1"/>
              <a:t>setSeconds</a:t>
            </a:r>
            <a:r>
              <a:rPr lang="en-US" sz="2200" dirty="0"/>
              <a:t>(sec, [</a:t>
            </a:r>
            <a:r>
              <a:rPr lang="en-US" sz="2200" dirty="0" err="1"/>
              <a:t>ms</a:t>
            </a:r>
            <a:r>
              <a:rPr lang="en-US" sz="2200" dirty="0"/>
              <a:t>])</a:t>
            </a:r>
          </a:p>
          <a:p>
            <a:pPr>
              <a:lnSpc>
                <a:spcPct val="110000"/>
              </a:lnSpc>
            </a:pPr>
            <a:r>
              <a:rPr lang="en-US" sz="2200" dirty="0"/>
              <a:t>•	</a:t>
            </a:r>
            <a:r>
              <a:rPr lang="en-US" sz="2200" dirty="0" err="1"/>
              <a:t>setMilliseconds</a:t>
            </a:r>
            <a:r>
              <a:rPr lang="en-US" sz="2200" dirty="0"/>
              <a:t>(</a:t>
            </a:r>
            <a:r>
              <a:rPr lang="en-US" sz="2200" dirty="0" err="1"/>
              <a:t>ms</a:t>
            </a:r>
            <a:r>
              <a:rPr lang="en-US" sz="2200" dirty="0"/>
              <a:t>)</a:t>
            </a:r>
          </a:p>
          <a:p>
            <a:pPr>
              <a:lnSpc>
                <a:spcPct val="110000"/>
              </a:lnSpc>
            </a:pPr>
            <a:r>
              <a:rPr lang="en-US" sz="2200" dirty="0"/>
              <a:t>•	</a:t>
            </a:r>
            <a:r>
              <a:rPr lang="en-US" sz="2200" dirty="0" err="1"/>
              <a:t>setTime</a:t>
            </a:r>
            <a:r>
              <a:rPr lang="en-US" sz="2200" dirty="0"/>
              <a:t>(milliseconds) (</a:t>
            </a:r>
            <a:r>
              <a:rPr lang="ru-RU" sz="2200" dirty="0"/>
              <a:t>устанавливает дату в виде целого количества миллисекунд, прошедших с 01.01.1970 </a:t>
            </a:r>
            <a:r>
              <a:rPr lang="en-US" sz="2200" dirty="0"/>
              <a:t>UTC)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11607" y="4550184"/>
            <a:ext cx="4545296" cy="212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299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Autofit/>
          </a:bodyPr>
          <a:lstStyle/>
          <a:p>
            <a:pPr lvl="0"/>
            <a:r>
              <a:rPr lang="ru-RU" dirty="0" smtClean="0"/>
              <a:t>Дата и время</a:t>
            </a:r>
            <a:r>
              <a:rPr lang="ru-RU" dirty="0"/>
              <a:t>. </a:t>
            </a:r>
            <a:r>
              <a:rPr lang="ru-RU" sz="2400" dirty="0" err="1"/>
              <a:t>Автоисправление</a:t>
            </a:r>
            <a:r>
              <a:rPr lang="ru-RU" sz="2400" dirty="0"/>
              <a:t> даты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412233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114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50432" y="44244"/>
            <a:ext cx="6726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solidFill>
                  <a:schemeClr val="bg1"/>
                </a:solidFill>
              </a:rPr>
              <a:t>10</a:t>
            </a:r>
            <a:endParaRPr lang="ru-RU" sz="3000" b="1" dirty="0">
              <a:solidFill>
                <a:schemeClr val="bg1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11608" y="920300"/>
            <a:ext cx="5152314" cy="92324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926358" y="2633313"/>
            <a:ext cx="5089286" cy="1213824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926358" y="2108713"/>
            <a:ext cx="659026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/>
              <a:t>Увеличить дату </a:t>
            </a:r>
            <a:r>
              <a:rPr lang="ru-RU" sz="2200" dirty="0"/>
              <a:t>«28 февраля 2016» на два </a:t>
            </a:r>
            <a:r>
              <a:rPr lang="ru-RU" sz="2200" dirty="0" smtClean="0"/>
              <a:t>дня:</a:t>
            </a:r>
            <a:endParaRPr lang="ru-RU" sz="22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911607" y="3940850"/>
            <a:ext cx="106511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Получить дату </a:t>
            </a:r>
            <a:r>
              <a:rPr lang="ru-RU" sz="2200" dirty="0"/>
              <a:t>«спустя 70 секунд с текущего момента»: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invGray">
          <a:xfrm>
            <a:off x="926358" y="4468808"/>
            <a:ext cx="6379478" cy="1304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061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Autofit/>
          </a:bodyPr>
          <a:lstStyle/>
          <a:p>
            <a:pPr lvl="0"/>
            <a:r>
              <a:rPr lang="ru-RU" dirty="0" smtClean="0"/>
              <a:t>Дата и время</a:t>
            </a:r>
            <a:r>
              <a:rPr lang="ru-RU" dirty="0"/>
              <a:t>. </a:t>
            </a:r>
            <a:r>
              <a:rPr lang="ru-RU" sz="2400" dirty="0" err="1"/>
              <a:t>Автоисправление</a:t>
            </a:r>
            <a:r>
              <a:rPr lang="ru-RU" sz="2400" dirty="0"/>
              <a:t> даты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412233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115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50432" y="44244"/>
            <a:ext cx="6726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solidFill>
                  <a:schemeClr val="bg1"/>
                </a:solidFill>
              </a:rPr>
              <a:t>10</a:t>
            </a:r>
            <a:endParaRPr lang="ru-RU" sz="30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911607" y="920301"/>
            <a:ext cx="889606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Можно установить </a:t>
            </a:r>
            <a:r>
              <a:rPr lang="ru-RU" sz="2200" dirty="0"/>
              <a:t>нулевые или </a:t>
            </a:r>
            <a:r>
              <a:rPr lang="ru-RU" sz="2200" dirty="0" smtClean="0"/>
              <a:t>отрицательные значения:</a:t>
            </a:r>
            <a:endParaRPr lang="ru-RU" sz="22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11607" y="1534016"/>
            <a:ext cx="7273748" cy="218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580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Autofit/>
          </a:bodyPr>
          <a:lstStyle/>
          <a:p>
            <a:pPr lvl="0"/>
            <a:r>
              <a:rPr lang="ru-RU" dirty="0" smtClean="0"/>
              <a:t>Дата и время</a:t>
            </a:r>
            <a:r>
              <a:rPr lang="ru-RU" dirty="0"/>
              <a:t>. </a:t>
            </a:r>
            <a:r>
              <a:rPr lang="ru-RU" sz="2400" dirty="0" smtClean="0"/>
              <a:t>Разность дат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412233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116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50432" y="44244"/>
            <a:ext cx="6726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solidFill>
                  <a:schemeClr val="bg1"/>
                </a:solidFill>
              </a:rPr>
              <a:t>10</a:t>
            </a:r>
            <a:endParaRPr lang="ru-RU" sz="3000" b="1" dirty="0">
              <a:solidFill>
                <a:schemeClr val="bg1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11608" y="1412668"/>
            <a:ext cx="3940611" cy="737883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870641" y="861309"/>
            <a:ext cx="583685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/>
              <a:t>Преобразование объекта </a:t>
            </a:r>
            <a:r>
              <a:rPr lang="ru-RU" sz="2200" dirty="0" err="1"/>
              <a:t>Date</a:t>
            </a:r>
            <a:r>
              <a:rPr lang="ru-RU" sz="2200" dirty="0"/>
              <a:t> </a:t>
            </a:r>
            <a:r>
              <a:rPr lang="ru-RU" sz="2200" dirty="0" smtClean="0"/>
              <a:t>в число:</a:t>
            </a:r>
            <a:endParaRPr lang="ru-RU" sz="22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911608" y="2418424"/>
            <a:ext cx="328647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/>
              <a:t>Даты можно вычитать:</a:t>
            </a:r>
            <a:endParaRPr lang="ru-RU" sz="2200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911608" y="2849312"/>
            <a:ext cx="8556858" cy="249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974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Autofit/>
          </a:bodyPr>
          <a:lstStyle/>
          <a:p>
            <a:pPr lvl="0"/>
            <a:r>
              <a:rPr lang="ru-RU" dirty="0" smtClean="0"/>
              <a:t>Дата и время</a:t>
            </a:r>
            <a:r>
              <a:rPr lang="ru-RU" dirty="0"/>
              <a:t>. </a:t>
            </a:r>
            <a:r>
              <a:rPr lang="en-US" sz="2400" dirty="0" err="1"/>
              <a:t>Date.now</a:t>
            </a:r>
            <a:r>
              <a:rPr lang="en-US" sz="2400" dirty="0"/>
              <a:t>()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412233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117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50432" y="44244"/>
            <a:ext cx="6726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solidFill>
                  <a:schemeClr val="bg1"/>
                </a:solidFill>
              </a:rPr>
              <a:t>10</a:t>
            </a:r>
            <a:endParaRPr lang="ru-RU" sz="30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911608" y="920301"/>
            <a:ext cx="1078058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Метод </a:t>
            </a:r>
            <a:r>
              <a:rPr lang="ru-RU" sz="2200" dirty="0" err="1" smtClean="0"/>
              <a:t>Date.now</a:t>
            </a:r>
            <a:r>
              <a:rPr lang="ru-RU" sz="2200" dirty="0" smtClean="0"/>
              <a:t>() возвращает </a:t>
            </a:r>
            <a:r>
              <a:rPr lang="ru-RU" sz="2200" dirty="0"/>
              <a:t>текущий </a:t>
            </a:r>
            <a:r>
              <a:rPr lang="ru-RU" sz="2200" dirty="0" err="1" smtClean="0"/>
              <a:t>таймстамп</a:t>
            </a:r>
            <a:r>
              <a:rPr lang="ru-RU" sz="2200" dirty="0" smtClean="0"/>
              <a:t>, </a:t>
            </a:r>
            <a:r>
              <a:rPr lang="ru-RU" sz="2200" dirty="0"/>
              <a:t>не </a:t>
            </a:r>
            <a:r>
              <a:rPr lang="ru-RU" sz="2200" dirty="0" smtClean="0"/>
              <a:t>создавая </a:t>
            </a:r>
            <a:r>
              <a:rPr lang="ru-RU" sz="2200" dirty="0"/>
              <a:t>промежуточный объект </a:t>
            </a:r>
            <a:r>
              <a:rPr lang="ru-RU" sz="2200" dirty="0" err="1" smtClean="0"/>
              <a:t>Date</a:t>
            </a:r>
            <a:r>
              <a:rPr lang="ru-RU" sz="2200" dirty="0" smtClean="0"/>
              <a:t>.</a:t>
            </a:r>
            <a:endParaRPr lang="ru-RU" sz="22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11607" y="1840602"/>
            <a:ext cx="8315965" cy="242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54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Autofit/>
          </a:bodyPr>
          <a:lstStyle/>
          <a:p>
            <a:pPr lvl="0"/>
            <a:r>
              <a:rPr lang="ru-RU" dirty="0" smtClean="0"/>
              <a:t>Дата и время</a:t>
            </a:r>
            <a:r>
              <a:rPr lang="ru-RU" dirty="0"/>
              <a:t>. </a:t>
            </a:r>
            <a:r>
              <a:rPr lang="ru-RU" sz="2400" dirty="0"/>
              <a:t>Разбор строки с датой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412233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118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50432" y="44244"/>
            <a:ext cx="6726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solidFill>
                  <a:schemeClr val="bg1"/>
                </a:solidFill>
              </a:rPr>
              <a:t>10</a:t>
            </a:r>
            <a:endParaRPr lang="ru-RU" sz="30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11607" y="920301"/>
            <a:ext cx="1050062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Метод </a:t>
            </a:r>
            <a:r>
              <a:rPr lang="ru-RU" sz="2200" dirty="0" err="1"/>
              <a:t>Date.parse</a:t>
            </a:r>
            <a:r>
              <a:rPr lang="ru-RU" sz="2200" dirty="0"/>
              <a:t>(</a:t>
            </a:r>
            <a:r>
              <a:rPr lang="ru-RU" sz="2200" dirty="0" err="1"/>
              <a:t>str</a:t>
            </a:r>
            <a:r>
              <a:rPr lang="ru-RU" sz="2200" dirty="0"/>
              <a:t>) считывает дату из строки</a:t>
            </a:r>
            <a:r>
              <a:rPr lang="ru-RU" sz="2200" dirty="0" smtClean="0"/>
              <a:t>.  Формат </a:t>
            </a:r>
            <a:r>
              <a:rPr lang="ru-RU" sz="2200" dirty="0"/>
              <a:t>строки должен быть следующим: </a:t>
            </a:r>
            <a:r>
              <a:rPr lang="ru-RU" sz="2200" dirty="0" err="1" smtClean="0"/>
              <a:t>YYYY-MM-DDTHH:mm:ss.sssZ</a:t>
            </a:r>
            <a:r>
              <a:rPr lang="ru-RU" sz="2200" dirty="0" smtClean="0"/>
              <a:t>. </a:t>
            </a:r>
            <a:endParaRPr lang="ru-RU" sz="22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11607" y="1840601"/>
            <a:ext cx="10355650" cy="1610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1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Autofit/>
          </a:bodyPr>
          <a:lstStyle/>
          <a:p>
            <a:pPr lvl="0"/>
            <a:r>
              <a:rPr lang="ru-RU" dirty="0"/>
              <a:t>Регулярные </a:t>
            </a:r>
            <a:r>
              <a:rPr lang="ru-RU" dirty="0" smtClean="0"/>
              <a:t>выражения (РВ). </a:t>
            </a:r>
            <a:r>
              <a:rPr lang="ru-RU" sz="2400" dirty="0" smtClean="0"/>
              <a:t>Создание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412233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119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50432" y="44244"/>
            <a:ext cx="6726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solidFill>
                  <a:schemeClr val="bg1"/>
                </a:solidFill>
              </a:rPr>
              <a:t>13</a:t>
            </a:r>
            <a:endParaRPr lang="ru-RU" sz="30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870640" y="920301"/>
            <a:ext cx="995467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Способы создания РВ:</a:t>
            </a:r>
            <a:endParaRPr lang="ru-RU" sz="2200" dirty="0"/>
          </a:p>
          <a:p>
            <a:r>
              <a:rPr lang="en-US" sz="2200" dirty="0" smtClean="0"/>
              <a:t>1. </a:t>
            </a:r>
            <a:r>
              <a:rPr lang="ru-RU" sz="2200" dirty="0" smtClean="0"/>
              <a:t>Используя </a:t>
            </a:r>
            <a:r>
              <a:rPr lang="ru-RU" sz="2200" dirty="0"/>
              <a:t>литерал регулярного </a:t>
            </a:r>
            <a:r>
              <a:rPr lang="ru-RU" sz="2200" dirty="0" smtClean="0"/>
              <a:t>выражени</a:t>
            </a:r>
            <a:r>
              <a:rPr lang="ru-RU" sz="2200" dirty="0"/>
              <a:t>я</a:t>
            </a:r>
            <a:r>
              <a:rPr lang="ru-RU" sz="2200" dirty="0" smtClean="0"/>
              <a:t>:</a:t>
            </a:r>
            <a:endParaRPr lang="ru-RU" sz="22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11608" y="1779458"/>
            <a:ext cx="3294250" cy="418052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911608" y="2486403"/>
            <a:ext cx="874858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2. Вызывая </a:t>
            </a:r>
            <a:r>
              <a:rPr lang="ru-RU" sz="2200" dirty="0"/>
              <a:t>функцию конструктор объекта </a:t>
            </a:r>
            <a:r>
              <a:rPr lang="ru-RU" sz="2200" dirty="0" err="1" smtClean="0"/>
              <a:t>RegExp</a:t>
            </a:r>
            <a:r>
              <a:rPr lang="ru-RU" sz="2200" dirty="0" smtClean="0"/>
              <a:t>:</a:t>
            </a:r>
            <a:endParaRPr lang="ru-RU" sz="2200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911608" y="3060015"/>
            <a:ext cx="5030460" cy="42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070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Autofit/>
          </a:bodyPr>
          <a:lstStyle/>
          <a:p>
            <a:pPr lvl="0"/>
            <a:r>
              <a:rPr lang="ru-RU" dirty="0"/>
              <a:t>Регулярные </a:t>
            </a:r>
            <a:r>
              <a:rPr lang="ru-RU" dirty="0" smtClean="0"/>
              <a:t>выражения (РВ</a:t>
            </a:r>
            <a:r>
              <a:rPr lang="ru-RU" dirty="0"/>
              <a:t>). </a:t>
            </a:r>
            <a:r>
              <a:rPr lang="ru-RU" sz="2400" dirty="0" smtClean="0"/>
              <a:t>Шаблон</a:t>
            </a:r>
            <a:r>
              <a:rPr lang="en-US" sz="2400" dirty="0" smtClean="0"/>
              <a:t> </a:t>
            </a:r>
            <a:r>
              <a:rPr lang="ru-RU" sz="2400" dirty="0" smtClean="0"/>
              <a:t>РВ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412233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120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50432" y="44244"/>
            <a:ext cx="6726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solidFill>
                  <a:schemeClr val="bg1"/>
                </a:solidFill>
              </a:rPr>
              <a:t>13</a:t>
            </a:r>
            <a:endParaRPr lang="ru-RU" sz="30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20301"/>
            <a:ext cx="1128039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Примеры шаблонов регулярных выражений: /</a:t>
            </a:r>
            <a:r>
              <a:rPr lang="ru-RU" sz="2200" dirty="0" err="1"/>
              <a:t>abc</a:t>
            </a:r>
            <a:r>
              <a:rPr lang="ru-RU" sz="2200" dirty="0"/>
              <a:t>/, </a:t>
            </a:r>
            <a:r>
              <a:rPr lang="ru-RU" sz="2200" dirty="0" smtClean="0"/>
              <a:t>/</a:t>
            </a:r>
            <a:r>
              <a:rPr lang="ru-RU" sz="2200" dirty="0" err="1"/>
              <a:t>ab</a:t>
            </a:r>
            <a:r>
              <a:rPr lang="ru-RU" sz="2200" dirty="0"/>
              <a:t>*c</a:t>
            </a:r>
            <a:r>
              <a:rPr lang="ru-RU" sz="2200" dirty="0" smtClean="0"/>
              <a:t>/, </a:t>
            </a:r>
          </a:p>
          <a:p>
            <a:r>
              <a:rPr lang="ru-RU" sz="2200" dirty="0" smtClean="0"/>
              <a:t>/</a:t>
            </a:r>
            <a:r>
              <a:rPr lang="ru-RU" sz="2200" dirty="0" err="1"/>
              <a:t>Chapter</a:t>
            </a:r>
            <a:r>
              <a:rPr lang="ru-RU" sz="2200" dirty="0"/>
              <a:t> (\d+)\.\d*/. 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911608" y="1840602"/>
            <a:ext cx="702307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>
                <a:hlinkClick r:id="rId2" action="ppaction://hlinkfile"/>
              </a:rPr>
              <a:t>Специальные символы в регулярных выражения</a:t>
            </a:r>
            <a:endParaRPr lang="ru-RU" sz="2200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911607" y="2474639"/>
            <a:ext cx="10105437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/a+/ соответствует 'a' в "</a:t>
            </a:r>
            <a:r>
              <a:rPr lang="ru-RU" sz="2200" dirty="0" err="1"/>
              <a:t>candy</a:t>
            </a:r>
            <a:r>
              <a:rPr lang="ru-RU" sz="2200" dirty="0"/>
              <a:t>" и всем символам 'a' в "</a:t>
            </a:r>
            <a:r>
              <a:rPr lang="ru-RU" sz="2200" dirty="0" err="1"/>
              <a:t>caaaaaaandy</a:t>
            </a:r>
            <a:r>
              <a:rPr lang="ru-RU" sz="2200" dirty="0" smtClean="0"/>
              <a:t>".</a:t>
            </a:r>
          </a:p>
          <a:p>
            <a:endParaRPr lang="ru-RU" sz="2200" dirty="0" smtClean="0"/>
          </a:p>
          <a:p>
            <a:r>
              <a:rPr lang="ru-RU" sz="2200" dirty="0"/>
              <a:t>/t$/ не соответствует 't' в строке "</a:t>
            </a:r>
            <a:r>
              <a:rPr lang="ru-RU" sz="2200" dirty="0" err="1"/>
              <a:t>eater</a:t>
            </a:r>
            <a:r>
              <a:rPr lang="ru-RU" sz="2200" dirty="0"/>
              <a:t>", но соответствует строке "</a:t>
            </a:r>
            <a:r>
              <a:rPr lang="ru-RU" sz="2200" dirty="0" err="1"/>
              <a:t>eat</a:t>
            </a:r>
            <a:r>
              <a:rPr lang="ru-RU" sz="2200" dirty="0" smtClean="0"/>
              <a:t>".</a:t>
            </a:r>
          </a:p>
          <a:p>
            <a:endParaRPr lang="ru-RU" sz="2200" dirty="0"/>
          </a:p>
          <a:p>
            <a:r>
              <a:rPr lang="ru-RU" sz="2200" dirty="0"/>
              <a:t>/a{2}/ не соответствует 'a' в "</a:t>
            </a:r>
            <a:r>
              <a:rPr lang="ru-RU" sz="2200" dirty="0" err="1"/>
              <a:t>candy</a:t>
            </a:r>
            <a:r>
              <a:rPr lang="ru-RU" sz="2200" dirty="0"/>
              <a:t>," но соответствует всем а в "</a:t>
            </a:r>
            <a:r>
              <a:rPr lang="ru-RU" sz="2200" dirty="0" err="1"/>
              <a:t>caandy</a:t>
            </a:r>
            <a:r>
              <a:rPr lang="ru-RU" sz="2200" dirty="0"/>
              <a:t>," первым двум а в "</a:t>
            </a:r>
            <a:r>
              <a:rPr lang="ru-RU" sz="2200" dirty="0" err="1" smtClean="0"/>
              <a:t>caaandy</a:t>
            </a:r>
            <a:r>
              <a:rPr lang="ru-RU" sz="2200" dirty="0"/>
              <a:t> "</a:t>
            </a:r>
            <a:r>
              <a:rPr lang="ru-RU" sz="2200" dirty="0" smtClean="0"/>
              <a:t>.</a:t>
            </a:r>
          </a:p>
          <a:p>
            <a:endParaRPr lang="ru-RU" sz="2200" dirty="0" smtClean="0"/>
          </a:p>
          <a:p>
            <a:r>
              <a:rPr lang="ru-RU" sz="2200" dirty="0" smtClean="0"/>
              <a:t>[</a:t>
            </a:r>
            <a:r>
              <a:rPr lang="ru-RU" sz="2200" dirty="0" err="1"/>
              <a:t>abcd</a:t>
            </a:r>
            <a:r>
              <a:rPr lang="ru-RU" sz="2200" dirty="0"/>
              <a:t>] эквивалентна [a-d]. Они соответствуют 'b' в "</a:t>
            </a:r>
            <a:r>
              <a:rPr lang="ru-RU" sz="2200" dirty="0" err="1"/>
              <a:t>brisket</a:t>
            </a:r>
            <a:r>
              <a:rPr lang="ru-RU" sz="2200" dirty="0"/>
              <a:t>" и 'c' в "</a:t>
            </a:r>
            <a:r>
              <a:rPr lang="ru-RU" sz="2200" dirty="0" err="1" smtClean="0"/>
              <a:t>city</a:t>
            </a:r>
            <a:r>
              <a:rPr lang="ru-RU" sz="2200" dirty="0" smtClean="0"/>
              <a:t>«</a:t>
            </a:r>
          </a:p>
          <a:p>
            <a:endParaRPr lang="ru-RU" sz="2200" dirty="0" smtClean="0"/>
          </a:p>
          <a:p>
            <a:r>
              <a:rPr lang="ru-RU" sz="2200" dirty="0"/>
              <a:t>/\</a:t>
            </a:r>
            <a:r>
              <a:rPr lang="ru-RU" sz="2200" dirty="0" err="1"/>
              <a:t>bmoo</a:t>
            </a:r>
            <a:r>
              <a:rPr lang="ru-RU" sz="2200" dirty="0"/>
              <a:t>/ соответствует '</a:t>
            </a:r>
            <a:r>
              <a:rPr lang="ru-RU" sz="2200" dirty="0" err="1"/>
              <a:t>moo</a:t>
            </a:r>
            <a:r>
              <a:rPr lang="ru-RU" sz="2200" dirty="0"/>
              <a:t>' в слове "</a:t>
            </a:r>
            <a:r>
              <a:rPr lang="ru-RU" sz="2200" dirty="0" err="1"/>
              <a:t>moon</a:t>
            </a:r>
            <a:r>
              <a:rPr lang="ru-RU" sz="2200" dirty="0"/>
              <a:t>" </a:t>
            </a:r>
          </a:p>
        </p:txBody>
      </p:sp>
    </p:spTree>
    <p:extLst>
      <p:ext uri="{BB962C8B-B14F-4D97-AF65-F5344CB8AC3E}">
        <p14:creationId xmlns:p14="http://schemas.microsoft.com/office/powerpoint/2010/main" val="2029931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Autofit/>
          </a:bodyPr>
          <a:lstStyle/>
          <a:p>
            <a:r>
              <a:rPr lang="ru-RU" dirty="0"/>
              <a:t>Регулярные </a:t>
            </a:r>
            <a:r>
              <a:rPr lang="ru-RU" dirty="0" smtClean="0"/>
              <a:t>выражения (РВ). </a:t>
            </a:r>
            <a:r>
              <a:rPr lang="ru-RU" sz="2400" spc="-5" dirty="0"/>
              <a:t>Методы пользующиеся регулярными выражениями</a:t>
            </a: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dirty="0" smtClean="0"/>
              <a:t> 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412233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121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50432" y="44244"/>
            <a:ext cx="6726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solidFill>
                  <a:schemeClr val="bg1"/>
                </a:solidFill>
              </a:rPr>
              <a:t>13</a:t>
            </a:r>
            <a:endParaRPr lang="ru-RU" sz="30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799514"/>
              </p:ext>
            </p:extLst>
          </p:nvPr>
        </p:nvGraphicFramePr>
        <p:xfrm>
          <a:off x="406069" y="1126773"/>
          <a:ext cx="11164528" cy="522484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378488">
                  <a:extLst>
                    <a:ext uri="{9D8B030D-6E8A-4147-A177-3AD203B41FA5}">
                      <a16:colId xmlns:a16="http://schemas.microsoft.com/office/drawing/2014/main" val="1222844662"/>
                    </a:ext>
                  </a:extLst>
                </a:gridCol>
                <a:gridCol w="9786040">
                  <a:extLst>
                    <a:ext uri="{9D8B030D-6E8A-4147-A177-3AD203B41FA5}">
                      <a16:colId xmlns:a16="http://schemas.microsoft.com/office/drawing/2014/main" val="11228635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b="1" spc="-5" dirty="0">
                          <a:effectLst/>
                        </a:rPr>
                        <a:t>Метод</a:t>
                      </a:r>
                      <a:endParaRPr lang="ru-RU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1905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b="1" spc="-5" dirty="0">
                          <a:effectLst/>
                        </a:rPr>
                        <a:t>Описание</a:t>
                      </a:r>
                      <a:endParaRPr lang="ru-RU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19050" marB="38100" anchor="ctr"/>
                </a:tc>
                <a:extLst>
                  <a:ext uri="{0D108BD9-81ED-4DB2-BD59-A6C34878D82A}">
                    <a16:rowId xmlns:a16="http://schemas.microsoft.com/office/drawing/2014/main" val="944526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u="none" spc="-5" dirty="0">
                          <a:effectLst/>
                        </a:rPr>
                        <a:t>exec</a:t>
                      </a:r>
                      <a:endParaRPr lang="ru-RU" sz="200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spc="-5" dirty="0">
                          <a:effectLst/>
                        </a:rPr>
                        <a:t>Метод </a:t>
                      </a:r>
                      <a:r>
                        <a:rPr lang="ru-RU" sz="2000" spc="-5" dirty="0" err="1" smtClean="0">
                          <a:effectLst/>
                        </a:rPr>
                        <a:t>RegExp</a:t>
                      </a:r>
                      <a:r>
                        <a:rPr lang="ru-RU" sz="2000" spc="-5" dirty="0" smtClean="0">
                          <a:effectLst/>
                        </a:rPr>
                        <a:t>, который выполняет </a:t>
                      </a:r>
                      <a:r>
                        <a:rPr lang="ru-RU" sz="2000" spc="-5" dirty="0">
                          <a:effectLst/>
                        </a:rPr>
                        <a:t>поиск совпадения в  </a:t>
                      </a:r>
                      <a:r>
                        <a:rPr lang="ru-RU" sz="2000" spc="-5" dirty="0" smtClean="0">
                          <a:effectLst/>
                        </a:rPr>
                        <a:t>строке. Он возвращает </a:t>
                      </a:r>
                      <a:r>
                        <a:rPr lang="ru-RU" sz="2000" spc="-5" dirty="0">
                          <a:effectLst/>
                        </a:rPr>
                        <a:t>массив данных.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7150" marB="57150" anchor="ctr"/>
                </a:tc>
                <a:extLst>
                  <a:ext uri="{0D108BD9-81ED-4DB2-BD59-A6C34878D82A}">
                    <a16:rowId xmlns:a16="http://schemas.microsoft.com/office/drawing/2014/main" val="1470859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u="none" spc="-5" dirty="0">
                          <a:effectLst/>
                        </a:rPr>
                        <a:t>test</a:t>
                      </a:r>
                      <a:endParaRPr lang="ru-RU" sz="200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spc="-5" dirty="0">
                          <a:effectLst/>
                        </a:rPr>
                        <a:t>Метод </a:t>
                      </a:r>
                      <a:r>
                        <a:rPr lang="ru-RU" sz="2000" spc="-5" dirty="0" err="1" smtClean="0">
                          <a:effectLst/>
                        </a:rPr>
                        <a:t>RegExp</a:t>
                      </a:r>
                      <a:r>
                        <a:rPr lang="ru-RU" sz="2000" spc="-5" dirty="0" smtClean="0">
                          <a:effectLst/>
                        </a:rPr>
                        <a:t>, который тестирует </a:t>
                      </a:r>
                      <a:r>
                        <a:rPr lang="ru-RU" sz="2000" spc="-5" dirty="0">
                          <a:effectLst/>
                        </a:rPr>
                        <a:t>совпадение в </a:t>
                      </a:r>
                      <a:r>
                        <a:rPr lang="ru-RU" sz="2000" spc="-5" dirty="0" smtClean="0">
                          <a:effectLst/>
                        </a:rPr>
                        <a:t>строке. </a:t>
                      </a:r>
                      <a:r>
                        <a:rPr lang="ru-RU" sz="2000" spc="-5" dirty="0" err="1" smtClean="0">
                          <a:effectLst/>
                        </a:rPr>
                        <a:t>Возвращет</a:t>
                      </a:r>
                      <a:r>
                        <a:rPr lang="ru-RU" sz="2000" spc="-5" dirty="0" smtClean="0">
                          <a:effectLst/>
                        </a:rPr>
                        <a:t> </a:t>
                      </a:r>
                      <a:r>
                        <a:rPr lang="ru-RU" sz="2000" spc="-5" dirty="0">
                          <a:effectLst/>
                        </a:rPr>
                        <a:t>либо истину либо ложь.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7150" marB="57150" anchor="ctr"/>
                </a:tc>
                <a:extLst>
                  <a:ext uri="{0D108BD9-81ED-4DB2-BD59-A6C34878D82A}">
                    <a16:rowId xmlns:a16="http://schemas.microsoft.com/office/drawing/2014/main" val="3013275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u="none" spc="-5" dirty="0">
                          <a:effectLst/>
                        </a:rPr>
                        <a:t>match</a:t>
                      </a:r>
                      <a:endParaRPr lang="ru-RU" sz="200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spc="-5" dirty="0">
                          <a:effectLst/>
                        </a:rPr>
                        <a:t>Метод </a:t>
                      </a:r>
                      <a:r>
                        <a:rPr lang="ru-RU" sz="2000" spc="-5" dirty="0" err="1" smtClean="0">
                          <a:effectLst/>
                        </a:rPr>
                        <a:t>String</a:t>
                      </a:r>
                      <a:r>
                        <a:rPr lang="ru-RU" sz="2000" spc="-5" dirty="0" smtClean="0">
                          <a:effectLst/>
                        </a:rPr>
                        <a:t>, который выполняет </a:t>
                      </a:r>
                      <a:r>
                        <a:rPr lang="ru-RU" sz="2000" spc="-5" dirty="0">
                          <a:effectLst/>
                        </a:rPr>
                        <a:t>поиск совпадения в </a:t>
                      </a:r>
                      <a:r>
                        <a:rPr lang="ru-RU" sz="2000" spc="-5" dirty="0" smtClean="0">
                          <a:effectLst/>
                        </a:rPr>
                        <a:t>строке. Он </a:t>
                      </a:r>
                      <a:r>
                        <a:rPr lang="ru-RU" sz="2000" spc="-5" dirty="0" err="1" smtClean="0">
                          <a:effectLst/>
                        </a:rPr>
                        <a:t>возвращет</a:t>
                      </a:r>
                      <a:r>
                        <a:rPr lang="ru-RU" sz="2000" spc="-5" dirty="0" smtClean="0">
                          <a:effectLst/>
                        </a:rPr>
                        <a:t> </a:t>
                      </a:r>
                      <a:r>
                        <a:rPr lang="ru-RU" sz="2000" spc="-5" dirty="0">
                          <a:effectLst/>
                        </a:rPr>
                        <a:t>массив данных либо </a:t>
                      </a:r>
                      <a:r>
                        <a:rPr lang="ru-RU" sz="2000" spc="-5" dirty="0" err="1">
                          <a:effectLst/>
                        </a:rPr>
                        <a:t>null</a:t>
                      </a:r>
                      <a:r>
                        <a:rPr lang="ru-RU" sz="2000" spc="-5" dirty="0">
                          <a:effectLst/>
                        </a:rPr>
                        <a:t> если совпадения отсутствуют.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7150" marB="57150" anchor="ctr"/>
                </a:tc>
                <a:extLst>
                  <a:ext uri="{0D108BD9-81ED-4DB2-BD59-A6C34878D82A}">
                    <a16:rowId xmlns:a16="http://schemas.microsoft.com/office/drawing/2014/main" val="400633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u="none" spc="-5" dirty="0">
                          <a:effectLst/>
                        </a:rPr>
                        <a:t>search</a:t>
                      </a:r>
                      <a:endParaRPr lang="ru-RU" sz="200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spc="-5" dirty="0">
                          <a:effectLst/>
                        </a:rPr>
                        <a:t>Метод </a:t>
                      </a:r>
                      <a:r>
                        <a:rPr lang="ru-RU" sz="2000" spc="-5" dirty="0" err="1" smtClean="0">
                          <a:effectLst/>
                        </a:rPr>
                        <a:t>String</a:t>
                      </a:r>
                      <a:r>
                        <a:rPr lang="ru-RU" sz="2000" spc="-5" dirty="0" smtClean="0">
                          <a:effectLst/>
                        </a:rPr>
                        <a:t>,</a:t>
                      </a:r>
                      <a:r>
                        <a:rPr lang="ru-RU" sz="2000" spc="-5" dirty="0">
                          <a:effectLst/>
                        </a:rPr>
                        <a:t> который тестирует на совпадение в строке. Он </a:t>
                      </a:r>
                      <a:r>
                        <a:rPr lang="ru-RU" sz="2000" spc="-5" dirty="0" err="1">
                          <a:effectLst/>
                        </a:rPr>
                        <a:t>возвращет</a:t>
                      </a:r>
                      <a:r>
                        <a:rPr lang="ru-RU" sz="2000" spc="-5" dirty="0">
                          <a:effectLst/>
                        </a:rPr>
                        <a:t> индекс совпадения, или -1 если совпадений не будет найдено.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7150" marB="57150" anchor="ctr"/>
                </a:tc>
                <a:extLst>
                  <a:ext uri="{0D108BD9-81ED-4DB2-BD59-A6C34878D82A}">
                    <a16:rowId xmlns:a16="http://schemas.microsoft.com/office/drawing/2014/main" val="1620649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u="none" spc="-5" dirty="0">
                          <a:effectLst/>
                        </a:rPr>
                        <a:t>replace</a:t>
                      </a:r>
                      <a:endParaRPr lang="ru-RU" sz="200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spc="-5">
                          <a:effectLst/>
                        </a:rPr>
                        <a:t>Метод String, который выполняет поиск совпадения в строке, и заменяет совпавшую подстроку другой подстрокой переданной как аргумент в этот метод.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7150" marB="57150" anchor="ctr"/>
                </a:tc>
                <a:extLst>
                  <a:ext uri="{0D108BD9-81ED-4DB2-BD59-A6C34878D82A}">
                    <a16:rowId xmlns:a16="http://schemas.microsoft.com/office/drawing/2014/main" val="2027426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u="none" spc="-5" dirty="0">
                          <a:effectLst/>
                        </a:rPr>
                        <a:t>split</a:t>
                      </a:r>
                      <a:endParaRPr lang="ru-RU" sz="200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spc="-5" dirty="0">
                          <a:effectLst/>
                        </a:rPr>
                        <a:t>Метод </a:t>
                      </a:r>
                      <a:r>
                        <a:rPr lang="ru-RU" sz="2000" spc="-5" dirty="0" err="1">
                          <a:effectLst/>
                        </a:rPr>
                        <a:t>String</a:t>
                      </a:r>
                      <a:r>
                        <a:rPr lang="ru-RU" sz="2000" spc="-5" dirty="0">
                          <a:effectLst/>
                        </a:rPr>
                        <a:t>, который использует регулярное выражение или </a:t>
                      </a:r>
                      <a:r>
                        <a:rPr lang="ru-RU" sz="2000" spc="-5" dirty="0" err="1">
                          <a:effectLst/>
                        </a:rPr>
                        <a:t>фиксированую</a:t>
                      </a:r>
                      <a:r>
                        <a:rPr lang="ru-RU" sz="2000" spc="-5" dirty="0">
                          <a:effectLst/>
                        </a:rPr>
                        <a:t> строку чтобы разбить строку на массив подстрок.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7150" marB="57150" anchor="ctr"/>
                </a:tc>
                <a:extLst>
                  <a:ext uri="{0D108BD9-81ED-4DB2-BD59-A6C34878D82A}">
                    <a16:rowId xmlns:a16="http://schemas.microsoft.com/office/drawing/2014/main" val="3390938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0879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Autofit/>
          </a:bodyPr>
          <a:lstStyle/>
          <a:p>
            <a:r>
              <a:rPr lang="ru-RU" dirty="0"/>
              <a:t>Регулярные </a:t>
            </a:r>
            <a:r>
              <a:rPr lang="ru-RU" dirty="0" smtClean="0"/>
              <a:t>выражения (РВ). </a:t>
            </a:r>
            <a:r>
              <a:rPr lang="ru-RU" sz="2400" spc="-5" dirty="0"/>
              <a:t>Методы пользующиеся регулярными выражениями</a:t>
            </a: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dirty="0" smtClean="0"/>
              <a:t> 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412233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122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50432" y="44244"/>
            <a:ext cx="6726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solidFill>
                  <a:schemeClr val="bg1"/>
                </a:solidFill>
              </a:rPr>
              <a:t>13</a:t>
            </a:r>
            <a:endParaRPr lang="ru-RU" sz="30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1365525"/>
            <a:ext cx="960399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Использование метода </a:t>
            </a:r>
            <a:r>
              <a:rPr lang="ru-RU" sz="2200" dirty="0"/>
              <a:t>exec </a:t>
            </a:r>
            <a:r>
              <a:rPr lang="ru-RU" sz="2200" dirty="0" smtClean="0"/>
              <a:t>для поиска совпадений </a:t>
            </a:r>
            <a:r>
              <a:rPr lang="ru-RU" sz="2200" dirty="0"/>
              <a:t>в </a:t>
            </a:r>
            <a:r>
              <a:rPr lang="ru-RU" sz="2200" dirty="0" smtClean="0"/>
              <a:t>строке:</a:t>
            </a:r>
            <a:endParaRPr lang="ru-RU" sz="22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911608" y="1961842"/>
            <a:ext cx="6449564" cy="1238558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911608" y="3498277"/>
            <a:ext cx="106511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Получить </a:t>
            </a:r>
            <a:r>
              <a:rPr lang="ru-RU" sz="2200" dirty="0"/>
              <a:t>регулярное выражение из </a:t>
            </a:r>
            <a:r>
              <a:rPr lang="ru-RU" sz="2200" dirty="0" smtClean="0"/>
              <a:t>строки: </a:t>
            </a:r>
            <a:endParaRPr lang="ru-RU" sz="2200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invGray">
          <a:xfrm>
            <a:off x="911608" y="4012728"/>
            <a:ext cx="5935882" cy="69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071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651127" cy="920301"/>
          </a:xfrm>
        </p:spPr>
        <p:txBody>
          <a:bodyPr>
            <a:noAutofit/>
          </a:bodyPr>
          <a:lstStyle/>
          <a:p>
            <a:r>
              <a:rPr lang="ru-RU" dirty="0"/>
              <a:t>Регулярные </a:t>
            </a:r>
            <a:r>
              <a:rPr lang="ru-RU" dirty="0" smtClean="0"/>
              <a:t>выражения (РВ). </a:t>
            </a:r>
            <a:r>
              <a:rPr lang="ru-RU" sz="2400" spc="-5" dirty="0"/>
              <a:t>Методы пользующиеся регулярными выражениями</a:t>
            </a: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dirty="0" smtClean="0"/>
              <a:t> </a:t>
            </a:r>
            <a:endParaRPr lang="ru-RU" sz="2400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412233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123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50432" y="44244"/>
            <a:ext cx="6726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 smtClean="0">
                <a:solidFill>
                  <a:schemeClr val="bg1"/>
                </a:solidFill>
              </a:rPr>
              <a:t>13</a:t>
            </a:r>
            <a:endParaRPr lang="ru-RU" sz="30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911607" y="1289699"/>
            <a:ext cx="1091659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/>
              <a:t>Используя </a:t>
            </a:r>
            <a:r>
              <a:rPr lang="ru-RU" sz="2200" dirty="0"/>
              <a:t>метод replace</a:t>
            </a:r>
            <a:r>
              <a:rPr lang="ru-RU" sz="2200" dirty="0" smtClean="0"/>
              <a:t>() можно </a:t>
            </a:r>
            <a:r>
              <a:rPr lang="ru-RU" sz="2200" dirty="0"/>
              <a:t>поменять местами слова (символы) в строке. </a:t>
            </a:r>
            <a:endParaRPr lang="ru-RU" sz="2200" dirty="0" smtClean="0"/>
          </a:p>
          <a:p>
            <a:r>
              <a:rPr lang="ru-RU" sz="2200" dirty="0" smtClean="0"/>
              <a:t>$</a:t>
            </a:r>
            <a:r>
              <a:rPr lang="ru-RU" sz="2200" dirty="0"/>
              <a:t>1 и $2 </a:t>
            </a:r>
            <a:r>
              <a:rPr lang="ru-RU" sz="2200" dirty="0" smtClean="0"/>
              <a:t>обозначают первое </a:t>
            </a:r>
            <a:r>
              <a:rPr lang="ru-RU" sz="2200" dirty="0"/>
              <a:t>и </a:t>
            </a:r>
            <a:r>
              <a:rPr lang="ru-RU" sz="2200" dirty="0" smtClean="0"/>
              <a:t>второе совпадение </a:t>
            </a:r>
            <a:r>
              <a:rPr lang="ru-RU" sz="2200" dirty="0"/>
              <a:t>скобочного выражения.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invGray">
          <a:xfrm>
            <a:off x="1014873" y="2537029"/>
            <a:ext cx="6083119" cy="125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759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1603</TotalTime>
  <Words>4107</Words>
  <Application>Microsoft Office PowerPoint</Application>
  <PresentationFormat>Широкоэкранный</PresentationFormat>
  <Paragraphs>773</Paragraphs>
  <Slides>123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123</vt:i4>
      </vt:variant>
    </vt:vector>
  </HeadingPairs>
  <TitlesOfParts>
    <vt:vector size="129" baseType="lpstr">
      <vt:lpstr>Arial</vt:lpstr>
      <vt:lpstr>Calibri</vt:lpstr>
      <vt:lpstr>Calibri Light</vt:lpstr>
      <vt:lpstr>Courier New</vt:lpstr>
      <vt:lpstr>Times New Roman</vt:lpstr>
      <vt:lpstr>Тема Office</vt:lpstr>
      <vt:lpstr>Тема 2  Структуры данных</vt:lpstr>
      <vt:lpstr>Вопросы:</vt:lpstr>
      <vt:lpstr>Методы примитивов</vt:lpstr>
      <vt:lpstr>Методы примитивов</vt:lpstr>
      <vt:lpstr>Числа.</vt:lpstr>
      <vt:lpstr>Числа. Шестнадцатеричные, двоичные и восьмеричные числа</vt:lpstr>
      <vt:lpstr>Числа. Округление</vt:lpstr>
      <vt:lpstr>Числа. Округление</vt:lpstr>
      <vt:lpstr>Числа. Округление</vt:lpstr>
      <vt:lpstr>Числа. Проверка: isFinite и isNaN</vt:lpstr>
      <vt:lpstr>Числа. Проверка: isFinite и isNaN</vt:lpstr>
      <vt:lpstr>Числа. parseInt и parseFloat</vt:lpstr>
      <vt:lpstr>Числа. Другие математические функции</vt:lpstr>
      <vt:lpstr>Строки. Кавычки</vt:lpstr>
      <vt:lpstr>Строки. Кавычки</vt:lpstr>
      <vt:lpstr>Строки. Спецсимволы</vt:lpstr>
      <vt:lpstr>Строки</vt:lpstr>
      <vt:lpstr>Строки</vt:lpstr>
      <vt:lpstr>Строки. Поиск подстроки </vt:lpstr>
      <vt:lpstr>Строки. Поиск подстроки </vt:lpstr>
      <vt:lpstr>Строки. Поиск подстроки </vt:lpstr>
      <vt:lpstr>Строки. Получение подстроки</vt:lpstr>
      <vt:lpstr>Строки. Получение подстроки</vt:lpstr>
      <vt:lpstr>Строки. Сравнение строк</vt:lpstr>
      <vt:lpstr>Строки. Сравнение строк</vt:lpstr>
      <vt:lpstr>Строки. Сравнение строк</vt:lpstr>
      <vt:lpstr>Строки. Заполнение строки</vt:lpstr>
      <vt:lpstr>Массивы. Объявление </vt:lpstr>
      <vt:lpstr>Массивы. Объявление</vt:lpstr>
      <vt:lpstr>Массивы. Объявление</vt:lpstr>
      <vt:lpstr>Массивы. Методы pop/push, shift/unshift</vt:lpstr>
      <vt:lpstr>Массивы. Методы pop/push, shift/unshift</vt:lpstr>
      <vt:lpstr>Массивы. Внутреннее устройство массива</vt:lpstr>
      <vt:lpstr>Массивы. Перебор элементов</vt:lpstr>
      <vt:lpstr>Массивы. Свойство length </vt:lpstr>
      <vt:lpstr>Массивы. </vt:lpstr>
      <vt:lpstr>Массивы. </vt:lpstr>
      <vt:lpstr>Методы массивов. Добавление/удаление элементов </vt:lpstr>
      <vt:lpstr>Методы массивов. Добавление/удаление элементов </vt:lpstr>
      <vt:lpstr>Методы массивов. Добавление/удаление элементов </vt:lpstr>
      <vt:lpstr>Методы массивов. Добавление/удаление элементов </vt:lpstr>
      <vt:lpstr>Методы массивов. Перебор массива</vt:lpstr>
      <vt:lpstr>Методы массивов. Поиск в массиве</vt:lpstr>
      <vt:lpstr>Методы массивов. Поиск в массиве</vt:lpstr>
      <vt:lpstr>Методы массивов. Поиск в массиве</vt:lpstr>
      <vt:lpstr>Методы массивов. Преобразование массива</vt:lpstr>
      <vt:lpstr>Методы массивов. Преобразование массива</vt:lpstr>
      <vt:lpstr>Методы массивов. Преобразование массива</vt:lpstr>
      <vt:lpstr>Методы массивов. Преобразование массива</vt:lpstr>
      <vt:lpstr>Методы массивов. Преобразование массива</vt:lpstr>
      <vt:lpstr>Методы массивов. Преобразование массива</vt:lpstr>
      <vt:lpstr>Методы массивов. Преобразование массива</vt:lpstr>
      <vt:lpstr>Методы массивов. Преобразование массива</vt:lpstr>
      <vt:lpstr>Объекты. Литералы и свойства</vt:lpstr>
      <vt:lpstr>Объекты. Квадратные скобки</vt:lpstr>
      <vt:lpstr>Объекты. Квадратные скобки</vt:lpstr>
      <vt:lpstr>Объекты. Вычисляемые свойства</vt:lpstr>
      <vt:lpstr>Объекты. Вычисляемые свойства</vt:lpstr>
      <vt:lpstr>Объекты. Короткие свойства</vt:lpstr>
      <vt:lpstr>Объекты. Проверка существования свойства</vt:lpstr>
      <vt:lpstr>Объекты. Цикл «for…in»</vt:lpstr>
      <vt:lpstr>Объекты. Цикл «for…in»</vt:lpstr>
      <vt:lpstr>Объекты. Цикл «for…in»</vt:lpstr>
      <vt:lpstr>Объекты. Копирование по ссылке</vt:lpstr>
      <vt:lpstr>Объекты. Копирование по ссылке</vt:lpstr>
      <vt:lpstr>Объекты. Сравнение объектов</vt:lpstr>
      <vt:lpstr>Объекты. Объекты-константы</vt:lpstr>
      <vt:lpstr>Объекты. Клонирование и объединение объектов</vt:lpstr>
      <vt:lpstr>Объекты. Клонирование и объединение объектов</vt:lpstr>
      <vt:lpstr>Объекты. Клонирование и объединение объектов</vt:lpstr>
      <vt:lpstr>Тип данных Symbol</vt:lpstr>
      <vt:lpstr>Тип данных Symbol</vt:lpstr>
      <vt:lpstr>Тип данных Symbol. «Скрытые» свойства</vt:lpstr>
      <vt:lpstr>Тип данных Symbol. Символы в литеральном объекте</vt:lpstr>
      <vt:lpstr>Тип данных Symbol. Символы и цикл for…in</vt:lpstr>
      <vt:lpstr>Тип данных Symbol. Символы и цикл for…in</vt:lpstr>
      <vt:lpstr>Тип данных Symbol. Глобальные символы</vt:lpstr>
      <vt:lpstr>Тип данных Symbol. Системные символы</vt:lpstr>
      <vt:lpstr>Set, Map, WeakSet и WeakMap. Map</vt:lpstr>
      <vt:lpstr>Set, Map, WeakSet и WeakMap. Map</vt:lpstr>
      <vt:lpstr>Set, Map, WeakSet и WeakMap. Map</vt:lpstr>
      <vt:lpstr>Set, Map, WeakSet и WeakMap. Перебор Map</vt:lpstr>
      <vt:lpstr>Set, Map, WeakSet и WeakMap. Перебор Map</vt:lpstr>
      <vt:lpstr>Set, Map, WeakSet и WeakMap. Перебор Map</vt:lpstr>
      <vt:lpstr>Set, Map, WeakSet и WeakMap. Map из Object</vt:lpstr>
      <vt:lpstr>Set, Map, WeakSet и WeakMap. Object из Map</vt:lpstr>
      <vt:lpstr>Set, Map, WeakSet и WeakMap. Set</vt:lpstr>
      <vt:lpstr>Set, Map, WeakSet и WeakMap. Set</vt:lpstr>
      <vt:lpstr>Set, Map, WeakSet и WeakMap. Перебор объекта Set</vt:lpstr>
      <vt:lpstr>Set, Map, WeakSet и WeakMap. WeakMap </vt:lpstr>
      <vt:lpstr>Set, Map, WeakSet и WeakMap. WeakMap </vt:lpstr>
      <vt:lpstr>Set, Map, WeakSet и WeakMap. WeakMap </vt:lpstr>
      <vt:lpstr>Set, Map, WeakSet и WeakMap. WeakSet</vt:lpstr>
      <vt:lpstr>Деструктурирующее присваивание. Деструктуризация массива</vt:lpstr>
      <vt:lpstr>Деструктурирующее присваивание. Деструктуризация массива</vt:lpstr>
      <vt:lpstr>Деструктурирующее присваивание. Деструктуризация массива</vt:lpstr>
      <vt:lpstr>Деструктурирующее присваивание. Деструктуризация массива</vt:lpstr>
      <vt:lpstr>Деструктурирующее присваивание. Деструктуризация массива</vt:lpstr>
      <vt:lpstr>Деструктурирующее присваивание. Деструктуризация массива</vt:lpstr>
      <vt:lpstr>Деструктурирующее присваивание. Деструктуризация массива</vt:lpstr>
      <vt:lpstr>Деструктурирующее присваивание. Деструктуризация объекта</vt:lpstr>
      <vt:lpstr>Деструктурирующее присваивание. Деструктуризация объекта</vt:lpstr>
      <vt:lpstr>Деструктурирующее присваивание. Деструктуризация объекта</vt:lpstr>
      <vt:lpstr>Деструктурирующее присваивание. Деструктуризация объекта</vt:lpstr>
      <vt:lpstr>Деструктурирующее присваивание. Деструктуризация объекта</vt:lpstr>
      <vt:lpstr>Деструктурирующее присваивание. Вложенная деструктуризация</vt:lpstr>
      <vt:lpstr>Деструктурирующее присваивание. Умные параметры функций</vt:lpstr>
      <vt:lpstr>Деструктурирующее присваивание. Умные параметры функций</vt:lpstr>
      <vt:lpstr>Деструктурирующее присваивание. Умные параметры функций</vt:lpstr>
      <vt:lpstr>Дата и время. Создание</vt:lpstr>
      <vt:lpstr>Дата и время. Получение компонентов даты</vt:lpstr>
      <vt:lpstr>Дата и время. Получение компонентов даты</vt:lpstr>
      <vt:lpstr>Дата и время. Установка компонентов даты</vt:lpstr>
      <vt:lpstr>Дата и время. Автоисправление даты</vt:lpstr>
      <vt:lpstr>Дата и время. Автоисправление даты</vt:lpstr>
      <vt:lpstr>Дата и время. Разность дат</vt:lpstr>
      <vt:lpstr>Дата и время. Date.now()</vt:lpstr>
      <vt:lpstr>Дата и время. Разбор строки с датой</vt:lpstr>
      <vt:lpstr>Регулярные выражения (РВ). Создание</vt:lpstr>
      <vt:lpstr>Регулярные выражения (РВ). Шаблон РВ</vt:lpstr>
      <vt:lpstr>Регулярные выражения (РВ). Методы пользующиеся регулярными выражениями  </vt:lpstr>
      <vt:lpstr>Регулярные выражения (РВ). Методы пользующиеся регулярными выражениями  </vt:lpstr>
      <vt:lpstr>Регулярные выражения (РВ). Методы пользующиеся регулярными выражениями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1  Основы JavaScript</dc:title>
  <dc:creator>Marina</dc:creator>
  <cp:lastModifiedBy>Пользователь</cp:lastModifiedBy>
  <cp:revision>373</cp:revision>
  <dcterms:created xsi:type="dcterms:W3CDTF">2019-08-27T10:51:56Z</dcterms:created>
  <dcterms:modified xsi:type="dcterms:W3CDTF">2022-09-27T10:56:37Z</dcterms:modified>
</cp:coreProperties>
</file>