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25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7BCA8-9609-48FB-A57C-8E4114581D3F}" type="datetimeFigureOut">
              <a:rPr lang="ru-RU" smtClean="0"/>
              <a:t>31.10.2019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3FD08-5A85-4EC1-9946-EF0EC000D9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21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98354-2AEC-407C-892D-4CC4E97FF2F9}" type="datetime1">
              <a:rPr lang="ru-RU" smtClean="0"/>
              <a:t>31.10.2019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946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EBA85-E22D-4185-966F-897334710B0B}" type="datetime1">
              <a:rPr lang="ru-RU" smtClean="0"/>
              <a:t>31.10.2019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25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8926-D772-474E-A9C2-09038EBAF6E6}" type="datetime1">
              <a:rPr lang="ru-RU" smtClean="0"/>
              <a:t>31.10.2019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11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F255-A88D-4F36-A012-2562321C7166}" type="datetime1">
              <a:rPr lang="ru-RU" smtClean="0"/>
              <a:t>31.10.2019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311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01B-A206-4541-BE7E-3C62D08E63F7}" type="datetime1">
              <a:rPr lang="ru-RU" smtClean="0"/>
              <a:t>31.10.2019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560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5D306-E1D0-45BB-8675-D1C6E29D8416}" type="datetime1">
              <a:rPr lang="ru-RU" smtClean="0"/>
              <a:t>31.10.2019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772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C369-94CB-471C-98AD-11B8FD1EF56F}" type="datetime1">
              <a:rPr lang="ru-RU" smtClean="0"/>
              <a:t>31.10.2019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152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52CB-2BFD-42E6-946B-FC9BB9688A05}" type="datetime1">
              <a:rPr lang="ru-RU" smtClean="0"/>
              <a:t>31.10.2019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304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B6E6-77FC-4419-81B9-B1F57FA0389E}" type="datetime1">
              <a:rPr lang="ru-RU" smtClean="0"/>
              <a:t>31.10.2019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06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0AA0-92A9-425C-AF3E-472E303BD54F}" type="datetime1">
              <a:rPr lang="ru-RU" smtClean="0"/>
              <a:t>31.10.2019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18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6919D-1CF5-4750-AEE7-67D2474F6498}" type="datetime1">
              <a:rPr lang="ru-RU" smtClean="0"/>
              <a:t>31.10.2019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105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F138-F241-483A-88EE-E8589650ADFC}" type="datetime1">
              <a:rPr lang="ru-RU" smtClean="0"/>
              <a:t>31.10.2019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082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1D71-566F-42F4-AA36-CCAD6E26C50B}" type="datetime1">
              <a:rPr lang="ru-RU" smtClean="0"/>
              <a:t>31.10.2019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9708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3291-9C75-4C4D-AC8E-6DE8F71E7659}" type="datetime1">
              <a:rPr lang="ru-RU" smtClean="0"/>
              <a:t>31.10.2019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339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06DA-CB2E-4815-94B7-3E256E026906}" type="datetime1">
              <a:rPr lang="ru-RU" smtClean="0"/>
              <a:t>31.10.2019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051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B45-4AE3-4BCA-91EA-B3A8E720DE60}" type="datetime1">
              <a:rPr lang="ru-RU" smtClean="0"/>
              <a:t>31.10.2019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462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AA82E-8907-4CCF-BB04-ADAC7456905B}" type="datetime1">
              <a:rPr lang="ru-RU" smtClean="0"/>
              <a:t>31.10.2019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61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67014" y="766915"/>
            <a:ext cx="10100754" cy="2625213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Тема </a:t>
            </a:r>
            <a:r>
              <a:rPr lang="ru-RU" b="1" dirty="0" smtClean="0"/>
              <a:t>8 </a:t>
            </a:r>
            <a:br>
              <a:rPr lang="ru-RU" b="1" dirty="0" smtClean="0"/>
            </a:br>
            <a:r>
              <a:rPr lang="ru-RU" b="1" dirty="0"/>
              <a:t>Формы, элементы управления. Анимация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1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Вопросы: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728577"/>
            <a:ext cx="920791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1.	Свойства и методы формы. </a:t>
            </a:r>
          </a:p>
          <a:p>
            <a:r>
              <a:rPr lang="ru-RU" sz="2200" dirty="0"/>
              <a:t>2.	Фокусировка элемента. </a:t>
            </a:r>
          </a:p>
          <a:p>
            <a:r>
              <a:rPr lang="ru-RU" sz="2200" dirty="0"/>
              <a:t>3.	Изменение значений элемента. </a:t>
            </a:r>
          </a:p>
          <a:p>
            <a:r>
              <a:rPr lang="ru-RU" sz="2200" dirty="0"/>
              <a:t>4.	Формы: отправка, событие и метод </a:t>
            </a:r>
            <a:r>
              <a:rPr lang="ru-RU" sz="2200" dirty="0" err="1"/>
              <a:t>submit</a:t>
            </a:r>
            <a:r>
              <a:rPr lang="ru-RU" sz="2200" dirty="0"/>
              <a:t>. </a:t>
            </a:r>
          </a:p>
          <a:p>
            <a:r>
              <a:rPr lang="en-US" sz="2200" dirty="0" smtClean="0"/>
              <a:t>5</a:t>
            </a:r>
            <a:r>
              <a:rPr lang="ru-RU" sz="2200" dirty="0" smtClean="0"/>
              <a:t>.</a:t>
            </a:r>
            <a:r>
              <a:rPr lang="ru-RU" sz="2200" dirty="0"/>
              <a:t>	</a:t>
            </a:r>
            <a:r>
              <a:rPr lang="ru-RU" sz="2200" dirty="0" err="1"/>
              <a:t>JavaScript</a:t>
            </a:r>
            <a:r>
              <a:rPr lang="ru-RU" sz="2200" dirty="0"/>
              <a:t>-анимация.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</a:t>
            </a:fld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7221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и методы формы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5626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Формы в документе входят в специальную коллекцию </a:t>
            </a:r>
            <a:r>
              <a:rPr lang="ru-RU" b="1" dirty="0" err="1"/>
              <a:t>document.forms</a:t>
            </a:r>
            <a:r>
              <a:rPr lang="ru-RU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1435033"/>
            <a:ext cx="103414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document.forms.my - </a:t>
            </a:r>
            <a:r>
              <a:rPr lang="ru-RU" dirty="0"/>
              <a:t>форма с именем "</a:t>
            </a:r>
            <a:r>
              <a:rPr lang="en-US" dirty="0"/>
              <a:t>my" (name="my")</a:t>
            </a:r>
          </a:p>
          <a:p>
            <a:r>
              <a:rPr lang="en-US" dirty="0" err="1"/>
              <a:t>document.forms</a:t>
            </a:r>
            <a:r>
              <a:rPr lang="en-US" dirty="0"/>
              <a:t>[0] - </a:t>
            </a:r>
            <a:r>
              <a:rPr lang="ru-RU" dirty="0"/>
              <a:t>первая форма в документе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4" y="2324995"/>
            <a:ext cx="10754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После того, как </a:t>
            </a:r>
            <a:r>
              <a:rPr lang="ru-RU" dirty="0"/>
              <a:t>мы </a:t>
            </a:r>
            <a:r>
              <a:rPr lang="ru-RU" dirty="0" smtClean="0"/>
              <a:t>получили </a:t>
            </a:r>
            <a:r>
              <a:rPr lang="ru-RU" dirty="0"/>
              <a:t>форму, любой элемент доступен в именованной коллекции </a:t>
            </a:r>
            <a:r>
              <a:rPr lang="ru-RU" b="1" dirty="0" err="1"/>
              <a:t>form.elements</a:t>
            </a:r>
            <a:r>
              <a:rPr lang="ru-RU" dirty="0"/>
              <a:t>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3116726"/>
            <a:ext cx="4899258" cy="347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0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и методы формы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118086" y="920301"/>
            <a:ext cx="98399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Может быть несколько элементов с одним и тем же </a:t>
            </a:r>
            <a:r>
              <a:rPr lang="ru-RU" dirty="0" smtClean="0"/>
              <a:t>именем, они хранятся в коллекции </a:t>
            </a:r>
            <a:r>
              <a:rPr lang="ru-RU" b="1" dirty="0" err="1"/>
              <a:t>form.elements</a:t>
            </a:r>
            <a:r>
              <a:rPr lang="ru-RU" b="1" dirty="0"/>
              <a:t>[</a:t>
            </a:r>
            <a:r>
              <a:rPr lang="ru-RU" b="1" dirty="0" err="1"/>
              <a:t>name</a:t>
            </a:r>
            <a:r>
              <a:rPr lang="ru-RU" b="1" dirty="0" smtClean="0"/>
              <a:t>]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12032"/>
            <a:ext cx="6551075" cy="344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12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и методы формы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533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Форма </a:t>
            </a:r>
            <a:r>
              <a:rPr lang="ru-RU" dirty="0"/>
              <a:t>может содержать один или несколько элементов &lt;</a:t>
            </a:r>
            <a:r>
              <a:rPr lang="ru-RU" dirty="0" err="1"/>
              <a:t>fieldset</a:t>
            </a:r>
            <a:r>
              <a:rPr lang="ru-RU" dirty="0"/>
              <a:t>&gt; внутри </a:t>
            </a:r>
            <a:r>
              <a:rPr lang="ru-RU" dirty="0" smtClean="0"/>
              <a:t>себя (отдельная область с элементами управления – «</a:t>
            </a:r>
            <a:r>
              <a:rPr lang="ru-RU" dirty="0" err="1" smtClean="0"/>
              <a:t>подформа</a:t>
            </a:r>
            <a:r>
              <a:rPr lang="ru-RU" dirty="0" smtClean="0"/>
              <a:t>»). 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11301"/>
            <a:ext cx="9060576" cy="437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39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и методы формы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07101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Можно получить </a:t>
            </a:r>
            <a:r>
              <a:rPr lang="ru-RU" dirty="0"/>
              <a:t>доступ к элементу через </a:t>
            </a:r>
            <a:r>
              <a:rPr lang="en-US" dirty="0"/>
              <a:t>form[index/name</a:t>
            </a:r>
            <a:r>
              <a:rPr lang="en-US" dirty="0" smtClean="0"/>
              <a:t>].</a:t>
            </a:r>
            <a:r>
              <a:rPr lang="ru-RU" dirty="0" smtClean="0"/>
              <a:t> Например, вместо </a:t>
            </a:r>
            <a:r>
              <a:rPr lang="en-US" dirty="0" err="1"/>
              <a:t>form.elements.login</a:t>
            </a:r>
            <a:r>
              <a:rPr lang="en-US" dirty="0"/>
              <a:t> </a:t>
            </a:r>
            <a:r>
              <a:rPr lang="ru-RU" dirty="0" smtClean="0"/>
              <a:t>использовать </a:t>
            </a:r>
            <a:r>
              <a:rPr lang="en-US" dirty="0" err="1" smtClean="0"/>
              <a:t>form.login</a:t>
            </a:r>
            <a:r>
              <a:rPr lang="en-US" dirty="0"/>
              <a:t>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12032"/>
            <a:ext cx="7062014" cy="349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2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и методы формы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802316"/>
            <a:ext cx="9677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любого элемента форма доступна через </a:t>
            </a:r>
            <a:r>
              <a:rPr lang="ru-RU" dirty="0" err="1"/>
              <a:t>element.form</a:t>
            </a:r>
            <a:r>
              <a:rPr lang="ru-RU" dirty="0"/>
              <a:t>. </a:t>
            </a: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1118084" y="1223658"/>
            <a:ext cx="7206119" cy="2419197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268" y="3655149"/>
            <a:ext cx="5708732" cy="304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99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и методы формы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105773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К значению элементов </a:t>
            </a:r>
            <a:r>
              <a:rPr lang="ru-RU" b="1" dirty="0" err="1"/>
              <a:t>input</a:t>
            </a:r>
            <a:r>
              <a:rPr lang="ru-RU" dirty="0"/>
              <a:t> и </a:t>
            </a:r>
            <a:r>
              <a:rPr lang="ru-RU" b="1" dirty="0" err="1" smtClean="0"/>
              <a:t>textarea</a:t>
            </a:r>
            <a:r>
              <a:rPr lang="ru-RU" dirty="0" smtClean="0"/>
              <a:t> можно </a:t>
            </a:r>
            <a:r>
              <a:rPr lang="ru-RU" dirty="0"/>
              <a:t>получить доступ через свойство </a:t>
            </a:r>
            <a:r>
              <a:rPr lang="ru-RU" dirty="0" err="1"/>
              <a:t>input.value</a:t>
            </a:r>
            <a:r>
              <a:rPr lang="ru-RU" dirty="0"/>
              <a:t> (строка) или </a:t>
            </a:r>
            <a:r>
              <a:rPr lang="ru-RU" dirty="0" err="1"/>
              <a:t>input.checked</a:t>
            </a:r>
            <a:r>
              <a:rPr lang="ru-RU" dirty="0"/>
              <a:t> (булево значение) для </a:t>
            </a:r>
            <a:r>
              <a:rPr lang="ru-RU" dirty="0" err="1"/>
              <a:t>чекбоксов</a:t>
            </a:r>
            <a:r>
              <a:rPr lang="ru-RU" dirty="0"/>
              <a:t>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338" y="1712032"/>
            <a:ext cx="5056247" cy="119340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8084" y="3050832"/>
            <a:ext cx="1094419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Элемент </a:t>
            </a:r>
            <a:r>
              <a:rPr lang="ru-RU" b="1" dirty="0"/>
              <a:t>&lt;</a:t>
            </a:r>
            <a:r>
              <a:rPr lang="en-US" b="1" dirty="0"/>
              <a:t>select&gt; </a:t>
            </a:r>
            <a:r>
              <a:rPr lang="ru-RU" dirty="0"/>
              <a:t>имеет 3 важных свойства:</a:t>
            </a:r>
          </a:p>
          <a:p>
            <a:r>
              <a:rPr lang="ru-RU" dirty="0" smtClean="0"/>
              <a:t>1. </a:t>
            </a:r>
            <a:r>
              <a:rPr lang="en-US" dirty="0" err="1" smtClean="0"/>
              <a:t>select.options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коллекция из элементов &lt;</a:t>
            </a:r>
            <a:r>
              <a:rPr lang="en-US" dirty="0"/>
              <a:t>option&gt;,</a:t>
            </a:r>
          </a:p>
          <a:p>
            <a:r>
              <a:rPr lang="en-US" dirty="0"/>
              <a:t>2</a:t>
            </a:r>
            <a:r>
              <a:rPr lang="en-US" dirty="0" smtClean="0"/>
              <a:t>.</a:t>
            </a:r>
            <a:r>
              <a:rPr lang="ru-RU" dirty="0" smtClean="0"/>
              <a:t> </a:t>
            </a:r>
            <a:r>
              <a:rPr lang="en-US" dirty="0" err="1" smtClean="0"/>
              <a:t>select.value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значение выбранного в данный момент &lt;</a:t>
            </a:r>
            <a:r>
              <a:rPr lang="en-US" dirty="0"/>
              <a:t>option&gt;,</a:t>
            </a:r>
          </a:p>
          <a:p>
            <a:r>
              <a:rPr lang="en-US" dirty="0"/>
              <a:t>3</a:t>
            </a:r>
            <a:r>
              <a:rPr lang="en-US" dirty="0" smtClean="0"/>
              <a:t>.</a:t>
            </a:r>
            <a:r>
              <a:rPr lang="ru-RU" dirty="0" smtClean="0"/>
              <a:t> </a:t>
            </a:r>
            <a:r>
              <a:rPr lang="en-US" dirty="0" err="1" smtClean="0"/>
              <a:t>select.selectedIndex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номер выбранного &lt;</a:t>
            </a:r>
            <a:r>
              <a:rPr lang="en-US" dirty="0"/>
              <a:t>option</a:t>
            </a:r>
            <a:r>
              <a:rPr lang="en-US" dirty="0" smtClean="0"/>
              <a:t>&gt;.</a:t>
            </a:r>
            <a:endParaRPr lang="ru-RU" dirty="0" smtClean="0"/>
          </a:p>
          <a:p>
            <a:endParaRPr lang="en-US" dirty="0"/>
          </a:p>
          <a:p>
            <a:r>
              <a:rPr lang="ru-RU" dirty="0"/>
              <a:t>Имеется три способа задать значение для &lt;</a:t>
            </a:r>
            <a:r>
              <a:rPr lang="en-US" dirty="0"/>
              <a:t>select&gt;:</a:t>
            </a:r>
          </a:p>
          <a:p>
            <a:r>
              <a:rPr lang="en-US" dirty="0" smtClean="0"/>
              <a:t>1.</a:t>
            </a:r>
            <a:r>
              <a:rPr lang="ru-RU" dirty="0" smtClean="0"/>
              <a:t> Найти </a:t>
            </a:r>
            <a:r>
              <a:rPr lang="ru-RU" dirty="0"/>
              <a:t>необходимый &lt;</a:t>
            </a:r>
            <a:r>
              <a:rPr lang="en-US" dirty="0"/>
              <a:t>option&gt; </a:t>
            </a:r>
            <a:r>
              <a:rPr lang="ru-RU" dirty="0"/>
              <a:t>и установить в </a:t>
            </a:r>
            <a:r>
              <a:rPr lang="en-US" dirty="0" err="1"/>
              <a:t>option.selected</a:t>
            </a:r>
            <a:r>
              <a:rPr lang="en-US" dirty="0"/>
              <a:t> </a:t>
            </a:r>
            <a:r>
              <a:rPr lang="ru-RU" dirty="0"/>
              <a:t>значение </a:t>
            </a:r>
            <a:r>
              <a:rPr lang="en-US" dirty="0"/>
              <a:t>true.</a:t>
            </a:r>
          </a:p>
          <a:p>
            <a:r>
              <a:rPr lang="en-US" dirty="0"/>
              <a:t>2</a:t>
            </a:r>
            <a:r>
              <a:rPr lang="en-US" dirty="0" smtClean="0"/>
              <a:t>.</a:t>
            </a:r>
            <a:r>
              <a:rPr lang="ru-RU" dirty="0" smtClean="0"/>
              <a:t> Установить </a:t>
            </a:r>
            <a:r>
              <a:rPr lang="ru-RU" dirty="0"/>
              <a:t>в </a:t>
            </a:r>
            <a:r>
              <a:rPr lang="en-US" dirty="0" err="1"/>
              <a:t>select.value</a:t>
            </a:r>
            <a:r>
              <a:rPr lang="en-US" dirty="0"/>
              <a:t> </a:t>
            </a:r>
            <a:r>
              <a:rPr lang="ru-RU" dirty="0"/>
              <a:t>значение нужного нам &lt;</a:t>
            </a:r>
            <a:r>
              <a:rPr lang="en-US" dirty="0"/>
              <a:t>option&gt;.</a:t>
            </a:r>
          </a:p>
          <a:p>
            <a:r>
              <a:rPr lang="en-US" dirty="0"/>
              <a:t>3</a:t>
            </a:r>
            <a:r>
              <a:rPr lang="en-US" dirty="0" smtClean="0"/>
              <a:t>.</a:t>
            </a:r>
            <a:r>
              <a:rPr lang="ru-RU" dirty="0" smtClean="0"/>
              <a:t> Установить </a:t>
            </a:r>
            <a:r>
              <a:rPr lang="ru-RU" dirty="0"/>
              <a:t>в </a:t>
            </a:r>
            <a:r>
              <a:rPr lang="en-US" dirty="0" err="1"/>
              <a:t>select.selectedIndex</a:t>
            </a:r>
            <a:r>
              <a:rPr lang="en-US" dirty="0"/>
              <a:t> </a:t>
            </a:r>
            <a:r>
              <a:rPr lang="ru-RU" dirty="0"/>
              <a:t>номер &lt;</a:t>
            </a:r>
            <a:r>
              <a:rPr lang="en-US" dirty="0"/>
              <a:t>option&gt;.</a:t>
            </a:r>
          </a:p>
        </p:txBody>
      </p:sp>
    </p:spTree>
    <p:extLst>
      <p:ext uri="{BB962C8B-B14F-4D97-AF65-F5344CB8AC3E}">
        <p14:creationId xmlns:p14="http://schemas.microsoft.com/office/powerpoint/2010/main" val="340062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и методы формы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5444946" cy="292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13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и методы формы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4593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отличие от большинства других элементов управления, </a:t>
            </a:r>
            <a:r>
              <a:rPr lang="ru-RU" b="1" dirty="0"/>
              <a:t>&lt;</a:t>
            </a:r>
            <a:r>
              <a:rPr lang="ru-RU" b="1" dirty="0" err="1"/>
              <a:t>select</a:t>
            </a:r>
            <a:r>
              <a:rPr lang="ru-RU" b="1" dirty="0"/>
              <a:t> </a:t>
            </a:r>
            <a:r>
              <a:rPr lang="ru-RU" b="1" dirty="0" err="1"/>
              <a:t>multiple</a:t>
            </a:r>
            <a:r>
              <a:rPr lang="ru-RU" b="1" dirty="0"/>
              <a:t>&gt;</a:t>
            </a:r>
            <a:r>
              <a:rPr lang="ru-RU" dirty="0"/>
              <a:t> позволяет </a:t>
            </a:r>
            <a:r>
              <a:rPr lang="ru-RU" dirty="0" smtClean="0"/>
              <a:t>выбрать </a:t>
            </a:r>
            <a:r>
              <a:rPr lang="ru-RU" dirty="0"/>
              <a:t>несколько вариантов. </a:t>
            </a:r>
            <a:r>
              <a:rPr lang="ru-RU" dirty="0" smtClean="0"/>
              <a:t>В </a:t>
            </a:r>
            <a:r>
              <a:rPr lang="ru-RU" dirty="0" err="1" smtClean="0"/>
              <a:t>select.options</a:t>
            </a:r>
            <a:r>
              <a:rPr lang="ru-RU" dirty="0" smtClean="0"/>
              <a:t> хранятся </a:t>
            </a:r>
            <a:r>
              <a:rPr lang="ru-RU" dirty="0"/>
              <a:t>все выбранные значения.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12032"/>
            <a:ext cx="6447837" cy="35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282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и методы формы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60688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Элемент &lt;</a:t>
            </a:r>
            <a:r>
              <a:rPr lang="en-US" dirty="0"/>
              <a:t>option&gt; </a:t>
            </a:r>
            <a:r>
              <a:rPr lang="ru-RU" dirty="0"/>
              <a:t>редко используется сам по </a:t>
            </a:r>
            <a:r>
              <a:rPr lang="ru-RU" dirty="0" smtClean="0"/>
              <a:t>себе. Синтаксис </a:t>
            </a:r>
            <a:r>
              <a:rPr lang="ru-RU" dirty="0"/>
              <a:t>для создания </a:t>
            </a:r>
            <a:r>
              <a:rPr lang="ru-RU" dirty="0" smtClean="0"/>
              <a:t>элемента</a:t>
            </a:r>
          </a:p>
          <a:p>
            <a:endParaRPr lang="ru-RU" dirty="0"/>
          </a:p>
          <a:p>
            <a:r>
              <a:rPr lang="en-US" dirty="0"/>
              <a:t>option = new Option(text, value, </a:t>
            </a:r>
            <a:r>
              <a:rPr lang="en-US" dirty="0" err="1"/>
              <a:t>defaultSelected</a:t>
            </a:r>
            <a:r>
              <a:rPr lang="en-US" dirty="0"/>
              <a:t>, selected</a:t>
            </a:r>
            <a:r>
              <a:rPr lang="en-US" dirty="0" smtClean="0"/>
              <a:t>);</a:t>
            </a:r>
            <a:endParaRPr lang="ru-RU" dirty="0" smtClean="0"/>
          </a:p>
          <a:p>
            <a:endParaRPr lang="en-US" dirty="0"/>
          </a:p>
          <a:p>
            <a:r>
              <a:rPr lang="ru-RU" dirty="0"/>
              <a:t>Параметры:</a:t>
            </a:r>
          </a:p>
          <a:p>
            <a:r>
              <a:rPr lang="ru-RU" dirty="0" smtClean="0"/>
              <a:t>• </a:t>
            </a:r>
            <a:r>
              <a:rPr lang="en-US" dirty="0" smtClean="0"/>
              <a:t>text </a:t>
            </a:r>
            <a:r>
              <a:rPr lang="en-US" dirty="0"/>
              <a:t>– </a:t>
            </a:r>
            <a:r>
              <a:rPr lang="ru-RU" dirty="0"/>
              <a:t>текст внутри</a:t>
            </a:r>
          </a:p>
          <a:p>
            <a:r>
              <a:rPr lang="ru-RU" dirty="0" smtClean="0"/>
              <a:t>• </a:t>
            </a:r>
            <a:r>
              <a:rPr lang="en-US" dirty="0" smtClean="0"/>
              <a:t>value </a:t>
            </a:r>
            <a:r>
              <a:rPr lang="en-US" dirty="0"/>
              <a:t>– </a:t>
            </a:r>
            <a:r>
              <a:rPr lang="ru-RU" dirty="0"/>
              <a:t>значение,</a:t>
            </a:r>
          </a:p>
          <a:p>
            <a:r>
              <a:rPr lang="ru-RU" dirty="0" smtClean="0"/>
              <a:t>• </a:t>
            </a:r>
            <a:r>
              <a:rPr lang="en-US" dirty="0" err="1" smtClean="0"/>
              <a:t>defaultSelected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если </a:t>
            </a:r>
            <a:r>
              <a:rPr lang="en-US" dirty="0"/>
              <a:t>true, </a:t>
            </a:r>
            <a:r>
              <a:rPr lang="ru-RU" dirty="0"/>
              <a:t>то ставится </a:t>
            </a:r>
            <a:r>
              <a:rPr lang="en-US" dirty="0"/>
              <a:t>HTML-</a:t>
            </a:r>
            <a:r>
              <a:rPr lang="ru-RU" dirty="0"/>
              <a:t>атрибут </a:t>
            </a:r>
            <a:r>
              <a:rPr lang="en-US" dirty="0"/>
              <a:t>selected,</a:t>
            </a:r>
          </a:p>
          <a:p>
            <a:r>
              <a:rPr lang="en-US" dirty="0" smtClean="0"/>
              <a:t>•</a:t>
            </a:r>
            <a:r>
              <a:rPr lang="ru-RU" dirty="0" smtClean="0"/>
              <a:t> </a:t>
            </a:r>
            <a:r>
              <a:rPr lang="en-US" dirty="0" smtClean="0"/>
              <a:t>selected </a:t>
            </a:r>
            <a:r>
              <a:rPr lang="en-US" dirty="0"/>
              <a:t>– </a:t>
            </a:r>
            <a:r>
              <a:rPr lang="ru-RU" dirty="0"/>
              <a:t>если </a:t>
            </a:r>
            <a:r>
              <a:rPr lang="en-US" dirty="0"/>
              <a:t>true, </a:t>
            </a:r>
            <a:r>
              <a:rPr lang="ru-RU" dirty="0" smtClean="0"/>
              <a:t>то</a:t>
            </a:r>
            <a:r>
              <a:rPr lang="en-US" dirty="0" smtClean="0"/>
              <a:t> </a:t>
            </a:r>
            <a:r>
              <a:rPr lang="ru-RU" dirty="0"/>
              <a:t>элемент &lt;</a:t>
            </a:r>
            <a:r>
              <a:rPr lang="en-US" dirty="0"/>
              <a:t>option&gt; </a:t>
            </a:r>
            <a:r>
              <a:rPr lang="ru-RU" dirty="0"/>
              <a:t>будет выбранным.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3743990"/>
            <a:ext cx="7750289" cy="1211468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8085" y="5193824"/>
            <a:ext cx="95892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Элементы &lt;</a:t>
            </a:r>
            <a:r>
              <a:rPr lang="ru-RU" dirty="0" err="1"/>
              <a:t>option</a:t>
            </a:r>
            <a:r>
              <a:rPr lang="ru-RU" dirty="0"/>
              <a:t>&gt; имеют дополнительные свойства:</a:t>
            </a:r>
          </a:p>
          <a:p>
            <a:r>
              <a:rPr lang="ru-RU" dirty="0" err="1" smtClean="0"/>
              <a:t>selected</a:t>
            </a:r>
            <a:r>
              <a:rPr lang="ru-RU" dirty="0" smtClean="0"/>
              <a:t> -- выбрана </a:t>
            </a:r>
            <a:r>
              <a:rPr lang="ru-RU" dirty="0"/>
              <a:t>ли опция.</a:t>
            </a:r>
          </a:p>
          <a:p>
            <a:r>
              <a:rPr lang="ru-RU" dirty="0" err="1" smtClean="0"/>
              <a:t>index</a:t>
            </a:r>
            <a:r>
              <a:rPr lang="ru-RU" dirty="0" smtClean="0"/>
              <a:t> -- номер </a:t>
            </a:r>
            <a:r>
              <a:rPr lang="ru-RU" dirty="0"/>
              <a:t>опции среди других в списке &lt;</a:t>
            </a:r>
            <a:r>
              <a:rPr lang="ru-RU" dirty="0" err="1"/>
              <a:t>select</a:t>
            </a:r>
            <a:r>
              <a:rPr lang="ru-RU" dirty="0"/>
              <a:t>&gt;.</a:t>
            </a:r>
          </a:p>
          <a:p>
            <a:r>
              <a:rPr lang="ru-RU" dirty="0" err="1" smtClean="0"/>
              <a:t>text</a:t>
            </a:r>
            <a:r>
              <a:rPr lang="ru-RU" dirty="0" smtClean="0"/>
              <a:t> -- содержимое </a:t>
            </a:r>
            <a:r>
              <a:rPr lang="ru-RU" dirty="0"/>
              <a:t>опции (то, что видит посетитель).</a:t>
            </a:r>
          </a:p>
        </p:txBody>
      </p:sp>
    </p:spTree>
    <p:extLst>
      <p:ext uri="{BB962C8B-B14F-4D97-AF65-F5344CB8AC3E}">
        <p14:creationId xmlns:p14="http://schemas.microsoft.com/office/powerpoint/2010/main" val="2102571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Фокусировка </a:t>
            </a:r>
            <a:r>
              <a:rPr lang="ru-RU" dirty="0"/>
              <a:t>элемента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12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11538" y="638076"/>
            <a:ext cx="41626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HTML-атрибут </a:t>
            </a:r>
            <a:r>
              <a:rPr lang="ru-RU" b="1" dirty="0" err="1" smtClean="0"/>
              <a:t>autofocus</a:t>
            </a:r>
            <a:r>
              <a:rPr lang="ru-RU" dirty="0" smtClean="0"/>
              <a:t> </a:t>
            </a:r>
            <a:r>
              <a:rPr lang="ru-RU" dirty="0"/>
              <a:t>устанавливает фокус на элемент, когда страница </a:t>
            </a:r>
            <a:r>
              <a:rPr lang="ru-RU" dirty="0" smtClean="0"/>
              <a:t>загружается.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311538" y="2179934"/>
            <a:ext cx="33181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Событие </a:t>
            </a:r>
            <a:r>
              <a:rPr lang="ru-RU" b="1" dirty="0" err="1"/>
              <a:t>focus</a:t>
            </a:r>
            <a:r>
              <a:rPr lang="ru-RU" dirty="0"/>
              <a:t> вызывается в момент фокусировки, а </a:t>
            </a:r>
            <a:r>
              <a:rPr lang="ru-RU" b="1" dirty="0" err="1"/>
              <a:t>blur</a:t>
            </a:r>
            <a:r>
              <a:rPr lang="ru-RU" dirty="0"/>
              <a:t> – когда элемент теряет фокус.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66" y="655922"/>
            <a:ext cx="7630739" cy="5988681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 rotWithShape="1">
          <a:blip r:embed="rId3"/>
          <a:srcRect r="52418" b="25974"/>
          <a:stretch/>
        </p:blipFill>
        <p:spPr>
          <a:xfrm>
            <a:off x="6670424" y="4479183"/>
            <a:ext cx="4412559" cy="672525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 rotWithShape="1">
          <a:blip r:embed="rId4"/>
          <a:srcRect r="50998"/>
          <a:stretch/>
        </p:blipFill>
        <p:spPr>
          <a:xfrm>
            <a:off x="6670424" y="5644097"/>
            <a:ext cx="4471553" cy="89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684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Фокусировка </a:t>
            </a:r>
            <a:r>
              <a:rPr lang="ru-RU" dirty="0"/>
              <a:t>элемента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99874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Методы </a:t>
            </a:r>
            <a:r>
              <a:rPr lang="ru-RU" b="1" dirty="0" err="1"/>
              <a:t>elem.focus</a:t>
            </a:r>
            <a:r>
              <a:rPr lang="ru-RU" b="1" dirty="0"/>
              <a:t>() </a:t>
            </a:r>
            <a:r>
              <a:rPr lang="ru-RU" dirty="0"/>
              <a:t>и </a:t>
            </a:r>
            <a:r>
              <a:rPr lang="ru-RU" b="1" dirty="0" err="1"/>
              <a:t>elem.blur</a:t>
            </a:r>
            <a:r>
              <a:rPr lang="ru-RU" b="1" dirty="0"/>
              <a:t>() </a:t>
            </a:r>
            <a:r>
              <a:rPr lang="ru-RU" dirty="0"/>
              <a:t>устанавливают/снимают фокус.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66" y="1435032"/>
            <a:ext cx="7775192" cy="5155137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 rotWithShape="1">
          <a:blip r:embed="rId3"/>
          <a:srcRect r="7450" b="26455"/>
          <a:stretch/>
        </p:blipFill>
        <p:spPr>
          <a:xfrm>
            <a:off x="4031589" y="1435032"/>
            <a:ext cx="7899854" cy="614994"/>
          </a:xfrm>
          <a:prstGeom prst="rect">
            <a:avLst/>
          </a:prstGeom>
        </p:spPr>
      </p:pic>
      <p:pic>
        <p:nvPicPr>
          <p:cNvPr id="16" name="Рисунок 15"/>
          <p:cNvPicPr/>
          <p:nvPr/>
        </p:nvPicPr>
        <p:blipFill rotWithShape="1">
          <a:blip r:embed="rId4"/>
          <a:srcRect r="7652" b="28001"/>
          <a:stretch/>
        </p:blipFill>
        <p:spPr>
          <a:xfrm>
            <a:off x="4031590" y="2195425"/>
            <a:ext cx="7944098" cy="6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04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Фокусировка </a:t>
            </a:r>
            <a:r>
              <a:rPr lang="ru-RU" dirty="0"/>
              <a:t>элемента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724869" cy="4081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 smtClean="0"/>
              <a:t>Поддержка </a:t>
            </a:r>
            <a:r>
              <a:rPr lang="ru-RU" dirty="0" err="1"/>
              <a:t>focus</a:t>
            </a:r>
            <a:r>
              <a:rPr lang="ru-RU" dirty="0"/>
              <a:t>/</a:t>
            </a:r>
            <a:r>
              <a:rPr lang="ru-RU" dirty="0" err="1"/>
              <a:t>blur</a:t>
            </a:r>
            <a:r>
              <a:rPr lang="ru-RU" dirty="0"/>
              <a:t> гарантирована для элементов, с которыми посетитель может взаимодействовать: &lt;</a:t>
            </a:r>
            <a:r>
              <a:rPr lang="ru-RU" dirty="0" err="1"/>
              <a:t>button</a:t>
            </a:r>
            <a:r>
              <a:rPr lang="ru-RU" dirty="0"/>
              <a:t>&gt;, &lt;</a:t>
            </a:r>
            <a:r>
              <a:rPr lang="ru-RU" dirty="0" err="1"/>
              <a:t>input</a:t>
            </a:r>
            <a:r>
              <a:rPr lang="ru-RU" dirty="0"/>
              <a:t>&gt;, &lt;</a:t>
            </a:r>
            <a:r>
              <a:rPr lang="ru-RU" dirty="0" err="1"/>
              <a:t>select</a:t>
            </a:r>
            <a:r>
              <a:rPr lang="ru-RU" dirty="0"/>
              <a:t>&gt;, &lt;a&gt; и т.д.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Элементы </a:t>
            </a:r>
            <a:r>
              <a:rPr lang="ru-RU" dirty="0"/>
              <a:t>форматирования &lt;</a:t>
            </a:r>
            <a:r>
              <a:rPr lang="ru-RU" dirty="0" err="1"/>
              <a:t>div</a:t>
            </a:r>
            <a:r>
              <a:rPr lang="ru-RU" dirty="0"/>
              <a:t>&gt;, &lt;</a:t>
            </a:r>
            <a:r>
              <a:rPr lang="ru-RU" dirty="0" err="1"/>
              <a:t>span</a:t>
            </a:r>
            <a:r>
              <a:rPr lang="ru-RU" dirty="0"/>
              <a:t>&gt;, &lt;</a:t>
            </a:r>
            <a:r>
              <a:rPr lang="ru-RU" dirty="0" err="1"/>
              <a:t>table</a:t>
            </a:r>
            <a:r>
              <a:rPr lang="ru-RU" dirty="0"/>
              <a:t>&gt; – по умолчанию не могут получить фокус. Метод </a:t>
            </a:r>
            <a:r>
              <a:rPr lang="ru-RU" dirty="0" err="1"/>
              <a:t>elem.focus</a:t>
            </a:r>
            <a:r>
              <a:rPr lang="ru-RU" dirty="0"/>
              <a:t>() не работает для них, и события </a:t>
            </a:r>
            <a:r>
              <a:rPr lang="ru-RU" dirty="0" err="1"/>
              <a:t>focus</a:t>
            </a:r>
            <a:r>
              <a:rPr lang="ru-RU" dirty="0"/>
              <a:t>/</a:t>
            </a:r>
            <a:r>
              <a:rPr lang="ru-RU" dirty="0" err="1"/>
              <a:t>blur</a:t>
            </a:r>
            <a:r>
              <a:rPr lang="ru-RU" dirty="0"/>
              <a:t> никогда не срабатывают</a:t>
            </a:r>
            <a:r>
              <a:rPr lang="ru-RU" dirty="0" smtClean="0"/>
              <a:t>.</a:t>
            </a: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Это можно изменить HTML-атрибутом </a:t>
            </a:r>
            <a:r>
              <a:rPr lang="ru-RU" dirty="0" err="1" smtClean="0"/>
              <a:t>tabindex</a:t>
            </a:r>
            <a:r>
              <a:rPr lang="ru-RU" dirty="0" smtClean="0"/>
              <a:t>: задает порядковый </a:t>
            </a:r>
            <a:r>
              <a:rPr lang="ru-RU" dirty="0"/>
              <a:t>номер элемента, когда клавиша </a:t>
            </a:r>
            <a:r>
              <a:rPr lang="ru-RU" dirty="0" err="1"/>
              <a:t>Tab</a:t>
            </a:r>
            <a:r>
              <a:rPr lang="ru-RU" dirty="0"/>
              <a:t> используется для переключения между элементами</a:t>
            </a:r>
            <a:r>
              <a:rPr lang="ru-RU" dirty="0" smtClean="0"/>
              <a:t>.</a:t>
            </a: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r>
              <a:rPr lang="ru-RU" dirty="0" smtClean="0"/>
              <a:t>Есть </a:t>
            </a:r>
            <a:r>
              <a:rPr lang="ru-RU" dirty="0"/>
              <a:t>два специальных значения: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dirty="0" err="1" smtClean="0"/>
              <a:t>tabindex</a:t>
            </a:r>
            <a:r>
              <a:rPr lang="ru-RU" dirty="0"/>
              <a:t>="0" делает элемент последним.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dirty="0" err="1" smtClean="0"/>
              <a:t>tabindex</a:t>
            </a:r>
            <a:r>
              <a:rPr lang="ru-RU" dirty="0"/>
              <a:t>="-1" значит, что </a:t>
            </a:r>
            <a:r>
              <a:rPr lang="ru-RU" dirty="0" err="1"/>
              <a:t>Tab</a:t>
            </a:r>
            <a:r>
              <a:rPr lang="ru-RU" dirty="0"/>
              <a:t> игнорирует этот элемент.</a:t>
            </a:r>
          </a:p>
        </p:txBody>
      </p:sp>
    </p:spTree>
    <p:extLst>
      <p:ext uri="{BB962C8B-B14F-4D97-AF65-F5344CB8AC3E}">
        <p14:creationId xmlns:p14="http://schemas.microsoft.com/office/powerpoint/2010/main" val="4064509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Фокусировка </a:t>
            </a:r>
            <a:r>
              <a:rPr lang="ru-RU" dirty="0"/>
              <a:t>элемента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06" y="1435033"/>
            <a:ext cx="6020133" cy="324038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941106" y="920301"/>
            <a:ext cx="100464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Любой элемент поддерживает фокусировку, если имеет </a:t>
            </a:r>
            <a:r>
              <a:rPr lang="ru-RU" dirty="0" err="1"/>
              <a:t>tabindex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0188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Фокусировка </a:t>
            </a:r>
            <a:r>
              <a:rPr lang="ru-RU" dirty="0"/>
              <a:t>элемента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42210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События </a:t>
            </a:r>
            <a:r>
              <a:rPr lang="ru-RU" b="1" dirty="0" err="1"/>
              <a:t>focus</a:t>
            </a:r>
            <a:r>
              <a:rPr lang="ru-RU" dirty="0"/>
              <a:t> и </a:t>
            </a:r>
            <a:r>
              <a:rPr lang="ru-RU" b="1" dirty="0" err="1"/>
              <a:t>blur</a:t>
            </a:r>
            <a:r>
              <a:rPr lang="ru-RU" dirty="0"/>
              <a:t> не всплывают.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435033"/>
            <a:ext cx="7581753" cy="1794864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 rotWithShape="1">
          <a:blip r:embed="rId3"/>
          <a:srcRect r="45285" b="-4430"/>
          <a:stretch/>
        </p:blipFill>
        <p:spPr>
          <a:xfrm>
            <a:off x="1118085" y="3684923"/>
            <a:ext cx="5754663" cy="695347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4"/>
          <a:stretch>
            <a:fillRect/>
          </a:stretch>
        </p:blipFill>
        <p:spPr>
          <a:xfrm>
            <a:off x="1118085" y="4597171"/>
            <a:ext cx="4943502" cy="74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70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Фокусировка </a:t>
            </a:r>
            <a:r>
              <a:rPr lang="ru-RU" dirty="0"/>
              <a:t>элемента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17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0316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focus</a:t>
            </a:r>
            <a:r>
              <a:rPr lang="ru-RU" b="1" dirty="0" smtClean="0"/>
              <a:t>/</a:t>
            </a:r>
            <a:r>
              <a:rPr lang="ru-RU" b="1" dirty="0" err="1" smtClean="0"/>
              <a:t>blur</a:t>
            </a:r>
            <a:r>
              <a:rPr lang="ru-RU" dirty="0" smtClean="0"/>
              <a:t> </a:t>
            </a:r>
            <a:r>
              <a:rPr lang="ru-RU" dirty="0"/>
              <a:t>не всплывают, но передаются вниз на фазе </a:t>
            </a:r>
            <a:r>
              <a:rPr lang="ru-RU" dirty="0" smtClean="0"/>
              <a:t>погружения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435033"/>
            <a:ext cx="10285250" cy="3018980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118084" y="4599310"/>
            <a:ext cx="10750767" cy="680615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4"/>
          <a:stretch>
            <a:fillRect/>
          </a:stretch>
        </p:blipFill>
        <p:spPr>
          <a:xfrm>
            <a:off x="1118084" y="5366229"/>
            <a:ext cx="10750768" cy="68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71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Фокусировка </a:t>
            </a:r>
            <a:r>
              <a:rPr lang="ru-RU" dirty="0"/>
              <a:t>элемента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18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97514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События </a:t>
            </a:r>
            <a:r>
              <a:rPr lang="ru-RU" b="1" dirty="0" err="1" smtClean="0"/>
              <a:t>focusin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b="1" dirty="0" err="1"/>
              <a:t>focusout</a:t>
            </a:r>
            <a:r>
              <a:rPr lang="ru-RU" dirty="0"/>
              <a:t> – такие же, как и </a:t>
            </a:r>
            <a:r>
              <a:rPr lang="ru-RU" dirty="0" err="1"/>
              <a:t>focus</a:t>
            </a:r>
            <a:r>
              <a:rPr lang="ru-RU" dirty="0"/>
              <a:t>/</a:t>
            </a:r>
            <a:r>
              <a:rPr lang="ru-RU" dirty="0" err="1"/>
              <a:t>blur</a:t>
            </a:r>
            <a:r>
              <a:rPr lang="ru-RU" dirty="0"/>
              <a:t>, но они </a:t>
            </a:r>
            <a:r>
              <a:rPr lang="ru-RU" dirty="0" smtClean="0"/>
              <a:t>всплывают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435032"/>
            <a:ext cx="10552065" cy="3151715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 rotWithShape="1">
          <a:blip r:embed="rId3"/>
          <a:srcRect b="30786"/>
          <a:stretch/>
        </p:blipFill>
        <p:spPr>
          <a:xfrm>
            <a:off x="1118085" y="4837001"/>
            <a:ext cx="5931644" cy="649399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4"/>
          <a:stretch>
            <a:fillRect/>
          </a:stretch>
        </p:blipFill>
        <p:spPr>
          <a:xfrm>
            <a:off x="1118084" y="5486400"/>
            <a:ext cx="10311915" cy="65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60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Изменение </a:t>
            </a:r>
            <a:r>
              <a:rPr lang="ru-RU" dirty="0"/>
              <a:t>значений элемента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19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3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164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Событие </a:t>
            </a:r>
            <a:r>
              <a:rPr lang="ru-RU" b="1" dirty="0" err="1"/>
              <a:t>change</a:t>
            </a:r>
            <a:r>
              <a:rPr lang="ru-RU" dirty="0"/>
              <a:t> срабатывает по окончании изменения элемента.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906983"/>
            <a:ext cx="7269421" cy="673986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118085" y="2735620"/>
            <a:ext cx="3932849" cy="641762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4"/>
          <a:stretch>
            <a:fillRect/>
          </a:stretch>
        </p:blipFill>
        <p:spPr>
          <a:xfrm>
            <a:off x="5573929" y="2731713"/>
            <a:ext cx="3932849" cy="641762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8085" y="1361290"/>
            <a:ext cx="99579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текстовых &lt;</a:t>
            </a:r>
            <a:r>
              <a:rPr lang="ru-RU" dirty="0" err="1"/>
              <a:t>input</a:t>
            </a:r>
            <a:r>
              <a:rPr lang="ru-RU" dirty="0"/>
              <a:t>&gt; </a:t>
            </a:r>
            <a:r>
              <a:rPr lang="en-US" dirty="0" smtClean="0"/>
              <a:t>-- </a:t>
            </a:r>
            <a:r>
              <a:rPr lang="ru-RU" dirty="0" smtClean="0"/>
              <a:t>при </a:t>
            </a:r>
            <a:r>
              <a:rPr lang="ru-RU" dirty="0"/>
              <a:t>потере фокуса.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118085" y="3569109"/>
            <a:ext cx="99579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других элементов: </a:t>
            </a:r>
            <a:r>
              <a:rPr lang="ru-RU" dirty="0" err="1"/>
              <a:t>select</a:t>
            </a:r>
            <a:r>
              <a:rPr lang="ru-RU" dirty="0"/>
              <a:t>, </a:t>
            </a:r>
            <a:r>
              <a:rPr lang="ru-RU" dirty="0" err="1"/>
              <a:t>input</a:t>
            </a:r>
            <a:r>
              <a:rPr lang="ru-RU" dirty="0"/>
              <a:t> </a:t>
            </a:r>
            <a:r>
              <a:rPr lang="ru-RU" dirty="0" err="1"/>
              <a:t>type</a:t>
            </a:r>
            <a:r>
              <a:rPr lang="ru-RU" dirty="0"/>
              <a:t>=</a:t>
            </a:r>
            <a:r>
              <a:rPr lang="ru-RU" dirty="0" err="1"/>
              <a:t>checkbox</a:t>
            </a:r>
            <a:r>
              <a:rPr lang="ru-RU" dirty="0"/>
              <a:t>/</a:t>
            </a:r>
            <a:r>
              <a:rPr lang="ru-RU" dirty="0" err="1"/>
              <a:t>radio</a:t>
            </a:r>
            <a:r>
              <a:rPr lang="ru-RU" dirty="0"/>
              <a:t> </a:t>
            </a:r>
            <a:r>
              <a:rPr lang="en-US" dirty="0" smtClean="0"/>
              <a:t>-- </a:t>
            </a:r>
            <a:r>
              <a:rPr lang="ru-RU" dirty="0" smtClean="0"/>
              <a:t>сразу </a:t>
            </a:r>
            <a:r>
              <a:rPr lang="ru-RU" dirty="0"/>
              <a:t>после изменения значения: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085" y="4210870"/>
            <a:ext cx="7000220" cy="1801411"/>
          </a:xfrm>
          <a:prstGeom prst="rect">
            <a:avLst/>
          </a:prstGeom>
        </p:spPr>
      </p:pic>
      <p:pic>
        <p:nvPicPr>
          <p:cNvPr id="16" name="Рисунок 15"/>
          <p:cNvPicPr/>
          <p:nvPr/>
        </p:nvPicPr>
        <p:blipFill>
          <a:blip r:embed="rId6"/>
          <a:stretch>
            <a:fillRect/>
          </a:stretch>
        </p:blipFill>
        <p:spPr>
          <a:xfrm>
            <a:off x="8307832" y="4210870"/>
            <a:ext cx="3500855" cy="180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89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Изменение </a:t>
            </a:r>
            <a:r>
              <a:rPr lang="ru-RU" dirty="0"/>
              <a:t>значений элемента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20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3</a:t>
            </a:r>
            <a:endParaRPr lang="ru-RU" sz="3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99727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Событие </a:t>
            </a:r>
            <a:r>
              <a:rPr lang="ru-RU" b="1" dirty="0" err="1"/>
              <a:t>input</a:t>
            </a:r>
            <a:r>
              <a:rPr lang="ru-RU" dirty="0"/>
              <a:t> срабатывает каждый раз при изменении значения.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435032"/>
            <a:ext cx="9152034" cy="1765367"/>
          </a:xfrm>
          <a:prstGeom prst="rect">
            <a:avLst/>
          </a:prstGeom>
        </p:spPr>
      </p:pic>
      <p:pic>
        <p:nvPicPr>
          <p:cNvPr id="16" name="Рисунок 15"/>
          <p:cNvPicPr/>
          <p:nvPr/>
        </p:nvPicPr>
        <p:blipFill>
          <a:blip r:embed="rId3"/>
          <a:stretch>
            <a:fillRect/>
          </a:stretch>
        </p:blipFill>
        <p:spPr>
          <a:xfrm>
            <a:off x="1118085" y="3458497"/>
            <a:ext cx="3807876" cy="1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19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Изменение </a:t>
            </a:r>
            <a:r>
              <a:rPr lang="ru-RU" dirty="0"/>
              <a:t>значений элемента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21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3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164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События </a:t>
            </a:r>
            <a:r>
              <a:rPr lang="ru-RU" b="1" dirty="0" err="1"/>
              <a:t>cut</a:t>
            </a:r>
            <a:r>
              <a:rPr lang="ru-RU" dirty="0"/>
              <a:t>, </a:t>
            </a:r>
            <a:r>
              <a:rPr lang="ru-RU" b="1" dirty="0" err="1"/>
              <a:t>copy</a:t>
            </a:r>
            <a:r>
              <a:rPr lang="ru-RU" dirty="0"/>
              <a:t>, </a:t>
            </a:r>
            <a:r>
              <a:rPr lang="ru-RU" b="1" dirty="0" err="1" smtClean="0"/>
              <a:t>paste</a:t>
            </a:r>
            <a:r>
              <a:rPr lang="en-US" dirty="0" smtClean="0"/>
              <a:t> </a:t>
            </a:r>
            <a:r>
              <a:rPr lang="ru-RU" dirty="0" smtClean="0"/>
              <a:t>происходят </a:t>
            </a:r>
            <a:r>
              <a:rPr lang="ru-RU" dirty="0"/>
              <a:t>при вырезании/копировании/вставке данных.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435033"/>
            <a:ext cx="10002199" cy="1964178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1118084" y="3616430"/>
            <a:ext cx="4279826" cy="16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2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Формы</a:t>
            </a:r>
            <a:r>
              <a:rPr lang="ru-RU" dirty="0"/>
              <a:t>: отправка, событие и метод </a:t>
            </a:r>
            <a:r>
              <a:rPr lang="ru-RU" dirty="0" err="1"/>
              <a:t>submit</a:t>
            </a:r>
            <a:r>
              <a:rPr lang="ru-RU" dirty="0"/>
              <a:t>.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22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4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957449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отправке формы срабатывает событие </a:t>
            </a:r>
            <a:r>
              <a:rPr lang="ru-RU" b="1" dirty="0" err="1" smtClean="0"/>
              <a:t>submit</a:t>
            </a:r>
            <a:r>
              <a:rPr lang="en-US" dirty="0" smtClean="0"/>
              <a:t>.</a:t>
            </a:r>
            <a:endParaRPr lang="ru-RU" dirty="0" smtClean="0"/>
          </a:p>
          <a:p>
            <a:endParaRPr lang="en-US" dirty="0" smtClean="0"/>
          </a:p>
          <a:p>
            <a:r>
              <a:rPr lang="ru-RU" dirty="0"/>
              <a:t>Д</a:t>
            </a:r>
            <a:r>
              <a:rPr lang="ru-RU" dirty="0" smtClean="0"/>
              <a:t>ва способа </a:t>
            </a:r>
            <a:r>
              <a:rPr lang="ru-RU" dirty="0"/>
              <a:t>отправить форму:</a:t>
            </a:r>
          </a:p>
          <a:p>
            <a:r>
              <a:rPr lang="ru-RU" dirty="0" smtClean="0"/>
              <a:t>1. Первый </a:t>
            </a:r>
            <a:r>
              <a:rPr lang="ru-RU" dirty="0"/>
              <a:t>– нажать кнопку &lt;</a:t>
            </a:r>
            <a:r>
              <a:rPr lang="ru-RU" dirty="0" err="1"/>
              <a:t>input</a:t>
            </a:r>
            <a:r>
              <a:rPr lang="ru-RU" dirty="0"/>
              <a:t> </a:t>
            </a:r>
            <a:r>
              <a:rPr lang="ru-RU" dirty="0" err="1"/>
              <a:t>type</a:t>
            </a:r>
            <a:r>
              <a:rPr lang="ru-RU" dirty="0"/>
              <a:t>="</a:t>
            </a:r>
            <a:r>
              <a:rPr lang="ru-RU" dirty="0" err="1"/>
              <a:t>submit</a:t>
            </a:r>
            <a:r>
              <a:rPr lang="ru-RU" dirty="0"/>
              <a:t>"&gt; или &lt;</a:t>
            </a:r>
            <a:r>
              <a:rPr lang="ru-RU" dirty="0" err="1"/>
              <a:t>input</a:t>
            </a:r>
            <a:r>
              <a:rPr lang="ru-RU" dirty="0"/>
              <a:t> </a:t>
            </a:r>
            <a:r>
              <a:rPr lang="ru-RU" dirty="0" err="1"/>
              <a:t>type</a:t>
            </a:r>
            <a:r>
              <a:rPr lang="ru-RU" dirty="0"/>
              <a:t>="</a:t>
            </a:r>
            <a:r>
              <a:rPr lang="ru-RU" dirty="0" err="1"/>
              <a:t>image</a:t>
            </a:r>
            <a:r>
              <a:rPr lang="ru-RU" dirty="0"/>
              <a:t>"&gt;.</a:t>
            </a:r>
          </a:p>
          <a:p>
            <a:r>
              <a:rPr lang="ru-RU" dirty="0"/>
              <a:t>2</a:t>
            </a:r>
            <a:r>
              <a:rPr lang="ru-RU" dirty="0" smtClean="0"/>
              <a:t>. Второй </a:t>
            </a:r>
            <a:r>
              <a:rPr lang="ru-RU" dirty="0"/>
              <a:t>– нажать </a:t>
            </a:r>
            <a:r>
              <a:rPr lang="ru-RU" dirty="0" err="1"/>
              <a:t>Enter</a:t>
            </a:r>
            <a:r>
              <a:rPr lang="ru-RU" dirty="0"/>
              <a:t>, находясь на каком-нибудь поле.</a:t>
            </a:r>
          </a:p>
          <a:p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66" y="2533858"/>
            <a:ext cx="11413402" cy="118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35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Формы</a:t>
            </a:r>
            <a:r>
              <a:rPr lang="ru-RU" dirty="0"/>
              <a:t>: отправка, событие и метод </a:t>
            </a:r>
            <a:r>
              <a:rPr lang="ru-RU" dirty="0" err="1"/>
              <a:t>submit</a:t>
            </a:r>
            <a:r>
              <a:rPr lang="ru-RU" dirty="0"/>
              <a:t>.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4</a:t>
            </a:r>
            <a:endParaRPr lang="ru-RU" sz="36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118086" y="912453"/>
            <a:ext cx="10944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отправке формы по нажатию </a:t>
            </a:r>
            <a:r>
              <a:rPr lang="ru-RU" dirty="0" err="1"/>
              <a:t>Enter</a:t>
            </a:r>
            <a:r>
              <a:rPr lang="ru-RU" dirty="0"/>
              <a:t> в текстовом поле, генерируется событие </a:t>
            </a:r>
            <a:r>
              <a:rPr lang="ru-RU" dirty="0" err="1"/>
              <a:t>click</a:t>
            </a:r>
            <a:r>
              <a:rPr lang="ru-RU" dirty="0"/>
              <a:t> на кнопке &lt;</a:t>
            </a:r>
            <a:r>
              <a:rPr lang="ru-RU" dirty="0" err="1"/>
              <a:t>input</a:t>
            </a:r>
            <a:r>
              <a:rPr lang="ru-RU" dirty="0"/>
              <a:t> </a:t>
            </a:r>
            <a:r>
              <a:rPr lang="ru-RU" dirty="0" err="1"/>
              <a:t>type</a:t>
            </a:r>
            <a:r>
              <a:rPr lang="ru-RU" dirty="0"/>
              <a:t>="</a:t>
            </a:r>
            <a:r>
              <a:rPr lang="ru-RU" dirty="0" err="1"/>
              <a:t>submit</a:t>
            </a:r>
            <a:r>
              <a:rPr lang="ru-RU" dirty="0"/>
              <a:t>"&gt;.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696335"/>
            <a:ext cx="10555663" cy="1223845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>
          <a:blip r:embed="rId3"/>
          <a:stretch>
            <a:fillRect/>
          </a:stretch>
        </p:blipFill>
        <p:spPr>
          <a:xfrm>
            <a:off x="1118085" y="3270293"/>
            <a:ext cx="7528548" cy="209812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6" name="Рисунок 15"/>
          <p:cNvPicPr/>
          <p:nvPr/>
        </p:nvPicPr>
        <p:blipFill>
          <a:blip r:embed="rId4"/>
          <a:stretch>
            <a:fillRect/>
          </a:stretch>
        </p:blipFill>
        <p:spPr>
          <a:xfrm>
            <a:off x="3550674" y="4319353"/>
            <a:ext cx="7613855" cy="212189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510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Формы</a:t>
            </a:r>
            <a:r>
              <a:rPr lang="ru-RU" dirty="0"/>
              <a:t>: отправка, событие и метод </a:t>
            </a:r>
            <a:r>
              <a:rPr lang="ru-RU" dirty="0" err="1"/>
              <a:t>submit</a:t>
            </a:r>
            <a:r>
              <a:rPr lang="ru-RU" dirty="0"/>
              <a:t>.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4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0316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Метод </a:t>
            </a:r>
            <a:r>
              <a:rPr lang="ru-RU" b="1" dirty="0" err="1" smtClean="0"/>
              <a:t>form.submit</a:t>
            </a:r>
            <a:r>
              <a:rPr lang="ru-RU" b="1" dirty="0" smtClean="0"/>
              <a:t>() </a:t>
            </a:r>
            <a:r>
              <a:rPr lang="ru-RU" dirty="0" smtClean="0"/>
              <a:t>отправляет </a:t>
            </a:r>
            <a:r>
              <a:rPr lang="ru-RU" dirty="0"/>
              <a:t>форму на </a:t>
            </a:r>
            <a:r>
              <a:rPr lang="ru-RU" dirty="0" smtClean="0"/>
              <a:t>сервер.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7229502" cy="263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55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82153" y="774901"/>
            <a:ext cx="107658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</a:t>
            </a:r>
            <a:r>
              <a:rPr lang="ru-RU" dirty="0" smtClean="0"/>
              <a:t>зменение </a:t>
            </a:r>
            <a:r>
              <a:rPr lang="ru-RU" dirty="0" err="1"/>
              <a:t>style.left</a:t>
            </a:r>
            <a:r>
              <a:rPr lang="ru-RU" dirty="0"/>
              <a:t> от 0px до 100px – двигает элемент</a:t>
            </a:r>
            <a:r>
              <a:rPr lang="ru-RU" dirty="0" smtClean="0"/>
              <a:t>. Чтобы изменения выглядели </a:t>
            </a:r>
            <a:r>
              <a:rPr lang="ru-RU" dirty="0"/>
              <a:t>плавными</a:t>
            </a:r>
            <a:r>
              <a:rPr lang="ru-RU" dirty="0" smtClean="0"/>
              <a:t> необходимо изменять </a:t>
            </a:r>
            <a:r>
              <a:rPr lang="ru-RU" dirty="0" err="1"/>
              <a:t>style.left</a:t>
            </a:r>
            <a:r>
              <a:rPr lang="ru-RU" dirty="0" smtClean="0"/>
              <a:t> с </a:t>
            </a:r>
            <a:r>
              <a:rPr lang="ru-RU" dirty="0"/>
              <a:t>помощью </a:t>
            </a:r>
            <a:r>
              <a:rPr lang="ru-RU" dirty="0" err="1" smtClean="0"/>
              <a:t>setInterval</a:t>
            </a:r>
            <a:r>
              <a:rPr lang="ru-RU" dirty="0" smtClean="0"/>
              <a:t> на </a:t>
            </a:r>
            <a:r>
              <a:rPr lang="ru-RU" dirty="0"/>
              <a:t>2px с небольшими интервалами </a:t>
            </a:r>
            <a:r>
              <a:rPr lang="ru-RU" dirty="0" smtClean="0"/>
              <a:t>времени: 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53" y="1695203"/>
            <a:ext cx="6105344" cy="469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19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pic>
        <p:nvPicPr>
          <p:cNvPr id="2" name="2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8085" y="949879"/>
            <a:ext cx="8822327" cy="257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12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27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613474"/>
            <a:ext cx="7372065" cy="39230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8085" y="781801"/>
            <a:ext cx="106658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Метод </a:t>
            </a:r>
            <a:r>
              <a:rPr lang="en-US" b="1" dirty="0" err="1" smtClean="0"/>
              <a:t>requestAnimationFrame</a:t>
            </a:r>
            <a:r>
              <a:rPr lang="en-US" dirty="0" smtClean="0"/>
              <a:t> </a:t>
            </a:r>
            <a:r>
              <a:rPr lang="ru-RU" dirty="0" smtClean="0"/>
              <a:t>планирует </a:t>
            </a:r>
            <a:r>
              <a:rPr lang="ru-RU" dirty="0"/>
              <a:t>запуск функции </a:t>
            </a:r>
            <a:r>
              <a:rPr lang="ru-RU" dirty="0" err="1"/>
              <a:t>callback</a:t>
            </a:r>
            <a:r>
              <a:rPr lang="ru-RU" dirty="0"/>
              <a:t> на ближайшее время, когда браузер сочтёт возможным осуществить </a:t>
            </a:r>
            <a:r>
              <a:rPr lang="ru-RU" dirty="0" smtClean="0"/>
              <a:t>анимацию.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118084" y="2196942"/>
            <a:ext cx="10002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Значение </a:t>
            </a:r>
            <a:r>
              <a:rPr lang="ru-RU" dirty="0" err="1"/>
              <a:t>requestId</a:t>
            </a:r>
            <a:r>
              <a:rPr lang="ru-RU" dirty="0"/>
              <a:t> может быть использовано для отмены анимации: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3" y="2735873"/>
            <a:ext cx="5371207" cy="395426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118082" y="3389104"/>
            <a:ext cx="104741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Функция </a:t>
            </a:r>
            <a:r>
              <a:rPr lang="ru-RU" dirty="0" err="1"/>
              <a:t>callback</a:t>
            </a:r>
            <a:r>
              <a:rPr lang="ru-RU" dirty="0"/>
              <a:t> имеет один аргумент – время прошедшее с момента начала загрузки страницы в </a:t>
            </a:r>
            <a:r>
              <a:rPr lang="ru-RU" dirty="0" smtClean="0"/>
              <a:t>миллисекундах, которое может </a:t>
            </a:r>
            <a:r>
              <a:rPr lang="ru-RU" dirty="0"/>
              <a:t>быть получено с помощью вызова </a:t>
            </a:r>
            <a:r>
              <a:rPr lang="ru-RU" b="1" dirty="0" err="1"/>
              <a:t>performance.now</a:t>
            </a:r>
            <a:r>
              <a:rPr lang="ru-RU" b="1" dirty="0"/>
              <a:t>()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81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28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10635738" cy="297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75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29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6477333" cy="466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5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30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9441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Функция </a:t>
            </a:r>
            <a:r>
              <a:rPr lang="ru-RU" b="1" dirty="0" err="1"/>
              <a:t>animate</a:t>
            </a:r>
            <a:r>
              <a:rPr lang="ru-RU" dirty="0"/>
              <a:t> имеет три аргумента, которые описывают анимацию:</a:t>
            </a:r>
          </a:p>
          <a:p>
            <a:r>
              <a:rPr lang="ru-RU" b="1" dirty="0" err="1" smtClean="0"/>
              <a:t>duration</a:t>
            </a:r>
            <a:r>
              <a:rPr lang="ru-RU" dirty="0" smtClean="0"/>
              <a:t> -- продолжительность </a:t>
            </a:r>
            <a:r>
              <a:rPr lang="ru-RU" dirty="0"/>
              <a:t>анимации. </a:t>
            </a:r>
          </a:p>
          <a:p>
            <a:r>
              <a:rPr lang="ru-RU" b="1" dirty="0" err="1"/>
              <a:t>timing</a:t>
            </a:r>
            <a:r>
              <a:rPr lang="ru-RU" b="1" dirty="0"/>
              <a:t>(</a:t>
            </a:r>
            <a:r>
              <a:rPr lang="ru-RU" b="1" dirty="0" err="1"/>
              <a:t>timeFraction</a:t>
            </a:r>
            <a:r>
              <a:rPr lang="ru-RU" b="1" dirty="0" smtClean="0"/>
              <a:t>)</a:t>
            </a:r>
            <a:r>
              <a:rPr lang="ru-RU" dirty="0" smtClean="0"/>
              <a:t> -- функция </a:t>
            </a:r>
            <a:r>
              <a:rPr lang="ru-RU" dirty="0"/>
              <a:t>расчёта времени, как CSS-свойство </a:t>
            </a:r>
            <a:r>
              <a:rPr lang="ru-RU" dirty="0" err="1"/>
              <a:t>transition-timing-function</a:t>
            </a:r>
            <a:r>
              <a:rPr lang="ru-RU" dirty="0"/>
              <a:t>, </a:t>
            </a:r>
            <a:r>
              <a:rPr lang="ru-RU" dirty="0" smtClean="0"/>
              <a:t>вычисляет </a:t>
            </a:r>
            <a:r>
              <a:rPr lang="ru-RU" dirty="0"/>
              <a:t>прогресс анимации </a:t>
            </a:r>
            <a:r>
              <a:rPr lang="ru-RU" dirty="0" smtClean="0"/>
              <a:t>в </a:t>
            </a:r>
            <a:r>
              <a:rPr lang="ru-RU" dirty="0"/>
              <a:t>зависимости от прошедшего времени (0 в начале, 1 в конце).</a:t>
            </a:r>
          </a:p>
          <a:p>
            <a:r>
              <a:rPr lang="ru-RU" dirty="0"/>
              <a:t>Например, линейная функция значит, что анимация идёт с одной и той же скоростью: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794" y="2820027"/>
            <a:ext cx="4589541" cy="888298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8908948" y="2794753"/>
            <a:ext cx="2639040" cy="2352188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18084" y="3808100"/>
            <a:ext cx="75097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draw</a:t>
            </a:r>
            <a:r>
              <a:rPr lang="ru-RU" b="1" dirty="0"/>
              <a:t>(</a:t>
            </a:r>
            <a:r>
              <a:rPr lang="ru-RU" b="1" dirty="0" err="1"/>
              <a:t>progress</a:t>
            </a:r>
            <a:r>
              <a:rPr lang="ru-RU" b="1" dirty="0" smtClean="0"/>
              <a:t>)</a:t>
            </a:r>
            <a:r>
              <a:rPr lang="ru-RU" dirty="0" smtClean="0"/>
              <a:t> -- функция </a:t>
            </a:r>
            <a:r>
              <a:rPr lang="ru-RU" dirty="0" err="1"/>
              <a:t>отрисовки</a:t>
            </a:r>
            <a:r>
              <a:rPr lang="ru-RU" dirty="0"/>
              <a:t>, которая получает аргументом значение прогресса анимации и </a:t>
            </a:r>
            <a:r>
              <a:rPr lang="ru-RU" dirty="0" err="1"/>
              <a:t>отрисовывает</a:t>
            </a:r>
            <a:r>
              <a:rPr lang="ru-RU" dirty="0"/>
              <a:t> его. Значение </a:t>
            </a:r>
            <a:r>
              <a:rPr lang="ru-RU" dirty="0" err="1"/>
              <a:t>progress</a:t>
            </a:r>
            <a:r>
              <a:rPr lang="ru-RU" dirty="0"/>
              <a:t>=0 </a:t>
            </a:r>
            <a:r>
              <a:rPr lang="ru-RU" dirty="0" smtClean="0"/>
              <a:t>-- анимация </a:t>
            </a:r>
            <a:r>
              <a:rPr lang="ru-RU" dirty="0"/>
              <a:t>находится в начале, </a:t>
            </a:r>
            <a:r>
              <a:rPr lang="ru-RU" dirty="0" err="1" smtClean="0"/>
              <a:t>progress</a:t>
            </a:r>
            <a:r>
              <a:rPr lang="ru-RU" dirty="0" smtClean="0"/>
              <a:t>=1 </a:t>
            </a:r>
            <a:r>
              <a:rPr lang="ru-RU" dirty="0"/>
              <a:t>– в конце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821" y="5137901"/>
            <a:ext cx="5703193" cy="95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7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31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pic>
        <p:nvPicPr>
          <p:cNvPr id="2" name="3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82152" y="920301"/>
            <a:ext cx="10826273" cy="80526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82152" y="2133564"/>
            <a:ext cx="71229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Анимация свойства </a:t>
            </a:r>
            <a:r>
              <a:rPr lang="ru-RU" dirty="0" err="1"/>
              <a:t>width</a:t>
            </a:r>
            <a:r>
              <a:rPr lang="ru-RU" dirty="0"/>
              <a:t> от 0 до 100%.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5"/>
          <a:srcRect b="57756"/>
          <a:stretch/>
        </p:blipFill>
        <p:spPr>
          <a:xfrm>
            <a:off x="782152" y="2699627"/>
            <a:ext cx="7122983" cy="318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0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32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/>
          <a:srcRect t="43619"/>
          <a:stretch/>
        </p:blipFill>
        <p:spPr>
          <a:xfrm>
            <a:off x="1004636" y="920301"/>
            <a:ext cx="7062732" cy="421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2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5183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мы хотим ускорить анимацию, мы можем возвести </a:t>
            </a:r>
            <a:r>
              <a:rPr lang="ru-RU" dirty="0" err="1"/>
              <a:t>progress</a:t>
            </a:r>
            <a:r>
              <a:rPr lang="ru-RU" dirty="0"/>
              <a:t> в степень n.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085" y="1435032"/>
            <a:ext cx="5307932" cy="939457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6884703" y="1435032"/>
            <a:ext cx="2996715" cy="2827336"/>
          </a:xfrm>
          <a:prstGeom prst="rect">
            <a:avLst/>
          </a:prstGeom>
        </p:spPr>
      </p:pic>
      <p:pic>
        <p:nvPicPr>
          <p:cNvPr id="5" name="3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8086" y="4838791"/>
            <a:ext cx="9500754" cy="82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5096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График для </a:t>
            </a:r>
            <a:r>
              <a:rPr lang="ru-RU" dirty="0"/>
              <a:t>функции </a:t>
            </a:r>
            <a:r>
              <a:rPr lang="ru-RU" dirty="0" err="1"/>
              <a:t>progress</a:t>
            </a:r>
            <a:r>
              <a:rPr lang="ru-RU" dirty="0"/>
              <a:t> в степени 5:</a:t>
            </a:r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6687625" y="920301"/>
            <a:ext cx="3105304" cy="2946735"/>
          </a:xfrm>
          <a:prstGeom prst="rect">
            <a:avLst/>
          </a:prstGeom>
        </p:spPr>
      </p:pic>
      <p:pic>
        <p:nvPicPr>
          <p:cNvPr id="3" name="3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8085" y="4132518"/>
            <a:ext cx="8890101" cy="80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87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Дуга: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086" y="1435032"/>
            <a:ext cx="6270856" cy="885633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 rotWithShape="1">
          <a:blip r:embed="rId5"/>
          <a:srcRect r="53310" b="26403"/>
          <a:stretch/>
        </p:blipFill>
        <p:spPr>
          <a:xfrm>
            <a:off x="7832931" y="1435032"/>
            <a:ext cx="3036630" cy="2703465"/>
          </a:xfrm>
          <a:prstGeom prst="rect">
            <a:avLst/>
          </a:prstGeom>
        </p:spPr>
      </p:pic>
      <p:pic>
        <p:nvPicPr>
          <p:cNvPr id="5" name="3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8085" y="4472038"/>
            <a:ext cx="9085001" cy="79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03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32512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Обратно: выстрел из </a:t>
            </a:r>
            <a:r>
              <a:rPr lang="ru-RU" dirty="0" smtClean="0"/>
              <a:t>лука.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337" y="1435033"/>
            <a:ext cx="8533392" cy="89521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231337" y="2621045"/>
            <a:ext cx="23759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График для </a:t>
            </a:r>
            <a:r>
              <a:rPr lang="en-US" dirty="0"/>
              <a:t>x = 1.5:</a:t>
            </a:r>
            <a:endParaRPr lang="ru-RU" dirty="0"/>
          </a:p>
        </p:txBody>
      </p:sp>
      <p:pic>
        <p:nvPicPr>
          <p:cNvPr id="10" name="Рисунок 9"/>
          <p:cNvPicPr/>
          <p:nvPr/>
        </p:nvPicPr>
        <p:blipFill>
          <a:blip r:embed="rId5"/>
          <a:stretch>
            <a:fillRect/>
          </a:stretch>
        </p:blipFill>
        <p:spPr>
          <a:xfrm>
            <a:off x="4369297" y="2475645"/>
            <a:ext cx="2737878" cy="2436153"/>
          </a:xfrm>
          <a:prstGeom prst="rect">
            <a:avLst/>
          </a:prstGeom>
        </p:spPr>
      </p:pic>
      <p:pic>
        <p:nvPicPr>
          <p:cNvPr id="8" name="3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31337" y="5564391"/>
            <a:ext cx="8533392" cy="73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9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37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Отскоки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086" y="1435033"/>
            <a:ext cx="10412738" cy="1942348"/>
          </a:xfrm>
          <a:prstGeom prst="rect">
            <a:avLst/>
          </a:prstGeom>
        </p:spPr>
      </p:pic>
      <p:pic>
        <p:nvPicPr>
          <p:cNvPr id="5" name="3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8086" y="4037513"/>
            <a:ext cx="9500753" cy="62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4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38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2799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Эластичная анимация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87" y="1435033"/>
            <a:ext cx="11132554" cy="86571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6" y="2630801"/>
            <a:ext cx="23759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График для </a:t>
            </a:r>
            <a:r>
              <a:rPr lang="en-US" dirty="0"/>
              <a:t>x = 1.5:</a:t>
            </a:r>
            <a:endParaRPr lang="ru-RU" dirty="0"/>
          </a:p>
        </p:txBody>
      </p:sp>
      <p:pic>
        <p:nvPicPr>
          <p:cNvPr id="10" name="Рисунок 9"/>
          <p:cNvPicPr/>
          <p:nvPr/>
        </p:nvPicPr>
        <p:blipFill>
          <a:blip r:embed="rId5"/>
          <a:stretch>
            <a:fillRect/>
          </a:stretch>
        </p:blipFill>
        <p:spPr>
          <a:xfrm>
            <a:off x="3650389" y="2370671"/>
            <a:ext cx="2314575" cy="3171825"/>
          </a:xfrm>
          <a:prstGeom prst="rect">
            <a:avLst/>
          </a:prstGeom>
        </p:spPr>
      </p:pic>
      <p:pic>
        <p:nvPicPr>
          <p:cNvPr id="8" name="3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34750" y="5674064"/>
            <a:ext cx="7708226" cy="76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0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39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99874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Прямое использование </a:t>
            </a:r>
            <a:r>
              <a:rPr lang="ru-RU" dirty="0"/>
              <a:t>функций расчёта времени</a:t>
            </a:r>
            <a:r>
              <a:rPr lang="ru-RU" dirty="0" smtClean="0"/>
              <a:t> </a:t>
            </a:r>
            <a:r>
              <a:rPr lang="ru-RU" dirty="0"/>
              <a:t>называется «</a:t>
            </a:r>
            <a:r>
              <a:rPr lang="ru-RU" b="1" dirty="0" err="1"/>
              <a:t>easeIn</a:t>
            </a:r>
            <a:r>
              <a:rPr lang="ru-RU" dirty="0" smtClean="0"/>
              <a:t>».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1435033"/>
            <a:ext cx="99874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Преобразование </a:t>
            </a:r>
            <a:r>
              <a:rPr lang="ru-RU" dirty="0"/>
              <a:t>функции, которое </a:t>
            </a:r>
            <a:r>
              <a:rPr lang="ru-RU" dirty="0" smtClean="0"/>
              <a:t>показывает </a:t>
            </a:r>
            <a:r>
              <a:rPr lang="ru-RU" dirty="0"/>
              <a:t>анимацию в обратном режиме, называется «</a:t>
            </a:r>
            <a:r>
              <a:rPr lang="ru-RU" b="1" dirty="0" err="1"/>
              <a:t>easeOut</a:t>
            </a:r>
            <a:r>
              <a:rPr lang="ru-RU" dirty="0"/>
              <a:t>».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118085" y="2226764"/>
            <a:ext cx="104888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режиме «</a:t>
            </a:r>
            <a:r>
              <a:rPr lang="ru-RU" dirty="0" err="1"/>
              <a:t>easeOut</a:t>
            </a:r>
            <a:r>
              <a:rPr lang="ru-RU" dirty="0"/>
              <a:t>» </a:t>
            </a:r>
            <a:r>
              <a:rPr lang="ru-RU" dirty="0" err="1"/>
              <a:t>timing</a:t>
            </a:r>
            <a:r>
              <a:rPr lang="ru-RU" dirty="0"/>
              <a:t> функции оборачиваются функцией </a:t>
            </a:r>
            <a:r>
              <a:rPr lang="ru-RU" dirty="0" err="1"/>
              <a:t>timingEaseOut</a:t>
            </a:r>
            <a:r>
              <a:rPr lang="ru-RU" dirty="0"/>
              <a:t>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132" y="2799000"/>
            <a:ext cx="8289819" cy="386652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257131" y="3339901"/>
            <a:ext cx="103498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Функци</a:t>
            </a:r>
            <a:r>
              <a:rPr lang="ru-RU" dirty="0"/>
              <a:t>я</a:t>
            </a:r>
            <a:r>
              <a:rPr lang="ru-RU" dirty="0" smtClean="0"/>
              <a:t> </a:t>
            </a:r>
            <a:r>
              <a:rPr lang="ru-RU" dirty="0" err="1" smtClean="0"/>
              <a:t>makeEaseOut</a:t>
            </a:r>
            <a:r>
              <a:rPr lang="ru-RU" dirty="0" smtClean="0"/>
              <a:t> принимает </a:t>
            </a:r>
            <a:r>
              <a:rPr lang="ru-RU" dirty="0"/>
              <a:t>функцию расчёта времени и </a:t>
            </a:r>
            <a:r>
              <a:rPr lang="ru-RU" dirty="0" smtClean="0"/>
              <a:t>возвращает </a:t>
            </a:r>
            <a:r>
              <a:rPr lang="ru-RU" dirty="0"/>
              <a:t>преобразованный </a:t>
            </a:r>
            <a:r>
              <a:rPr lang="ru-RU" dirty="0" smtClean="0"/>
              <a:t>вариант: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131" y="4174794"/>
            <a:ext cx="5713022" cy="147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4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40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477" y="1353082"/>
            <a:ext cx="10595955" cy="417234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968477" y="694224"/>
            <a:ext cx="104615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Преобразуем функцию </a:t>
            </a:r>
            <a:r>
              <a:rPr lang="ru-RU" dirty="0" err="1" smtClean="0"/>
              <a:t>bounce</a:t>
            </a:r>
            <a:r>
              <a:rPr lang="ru-RU" dirty="0" smtClean="0"/>
              <a:t>, таким </a:t>
            </a:r>
            <a:r>
              <a:rPr lang="ru-RU" dirty="0"/>
              <a:t>образом</a:t>
            </a:r>
            <a:r>
              <a:rPr lang="ru-RU" dirty="0" smtClean="0"/>
              <a:t>, что </a:t>
            </a:r>
            <a:r>
              <a:rPr lang="ru-RU" dirty="0"/>
              <a:t>отскоки будут не в начале функции, а в </a:t>
            </a:r>
            <a:r>
              <a:rPr lang="ru-RU" dirty="0" smtClean="0"/>
              <a:t>конце:</a:t>
            </a:r>
            <a:endParaRPr lang="ru-RU" dirty="0"/>
          </a:p>
        </p:txBody>
      </p:sp>
      <p:pic>
        <p:nvPicPr>
          <p:cNvPr id="5" name="4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8477" y="5757395"/>
            <a:ext cx="8146026" cy="66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2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41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782153" y="1435032"/>
            <a:ext cx="3450634" cy="312403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82153" y="920301"/>
            <a:ext cx="110847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 графике выше красным цветом обозначена обычная функция и синим – после </a:t>
            </a:r>
            <a:r>
              <a:rPr lang="ru-RU" dirty="0" err="1"/>
              <a:t>easeOut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0603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42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782153" y="920301"/>
            <a:ext cx="110018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Можно применить </a:t>
            </a:r>
            <a:r>
              <a:rPr lang="ru-RU" dirty="0"/>
              <a:t>эффект дважды – в начале и конце </a:t>
            </a:r>
            <a:r>
              <a:rPr lang="ru-RU" dirty="0" smtClean="0"/>
              <a:t>анимации, такая </a:t>
            </a:r>
            <a:r>
              <a:rPr lang="ru-RU" dirty="0"/>
              <a:t>трансформация называется «</a:t>
            </a:r>
            <a:r>
              <a:rPr lang="ru-RU" b="1" dirty="0" err="1"/>
              <a:t>easeInOut</a:t>
            </a:r>
            <a:r>
              <a:rPr lang="ru-RU" dirty="0"/>
              <a:t>».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53" y="1712032"/>
            <a:ext cx="7535938" cy="2894903"/>
          </a:xfrm>
          <a:prstGeom prst="rect">
            <a:avLst/>
          </a:prstGeom>
        </p:spPr>
      </p:pic>
      <p:pic>
        <p:nvPicPr>
          <p:cNvPr id="5" name="4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2153" y="4988847"/>
            <a:ext cx="8789016" cy="63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59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10311914" cy="6295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JavaScript-</a:t>
            </a:r>
            <a:r>
              <a:rPr lang="ru-RU" dirty="0"/>
              <a:t>анимация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5</a:t>
            </a:r>
            <a:endParaRPr lang="ru-RU" sz="36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82152" y="920301"/>
            <a:ext cx="106478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Функция «</a:t>
            </a:r>
            <a:r>
              <a:rPr lang="ru-RU" dirty="0" err="1"/>
              <a:t>easeInOut</a:t>
            </a:r>
            <a:r>
              <a:rPr lang="ru-RU" dirty="0"/>
              <a:t>» объединяет два графика в один: </a:t>
            </a:r>
            <a:r>
              <a:rPr lang="ru-RU" dirty="0" err="1"/>
              <a:t>easeIn</a:t>
            </a:r>
            <a:r>
              <a:rPr lang="ru-RU" dirty="0"/>
              <a:t> </a:t>
            </a:r>
            <a:r>
              <a:rPr lang="ru-RU" dirty="0" smtClean="0"/>
              <a:t>для </a:t>
            </a:r>
            <a:r>
              <a:rPr lang="ru-RU" dirty="0"/>
              <a:t>первой половины анимации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 smtClean="0"/>
              <a:t>easeOut</a:t>
            </a:r>
            <a:r>
              <a:rPr lang="ru-RU" dirty="0" smtClean="0"/>
              <a:t> – </a:t>
            </a:r>
            <a:r>
              <a:rPr lang="ru-RU" dirty="0"/>
              <a:t>для второй </a:t>
            </a:r>
            <a:r>
              <a:rPr lang="ru-RU" dirty="0" smtClean="0"/>
              <a:t>половины. Например, </a:t>
            </a:r>
            <a:r>
              <a:rPr lang="ru-RU" dirty="0"/>
              <a:t>графики </a:t>
            </a:r>
            <a:r>
              <a:rPr lang="ru-RU" dirty="0" err="1"/>
              <a:t>easeIn</a:t>
            </a:r>
            <a:r>
              <a:rPr lang="ru-RU" dirty="0"/>
              <a:t>, </a:t>
            </a:r>
            <a:r>
              <a:rPr lang="ru-RU" dirty="0" err="1"/>
              <a:t>easeOut</a:t>
            </a:r>
            <a:r>
              <a:rPr lang="ru-RU" dirty="0"/>
              <a:t> и </a:t>
            </a:r>
            <a:r>
              <a:rPr lang="ru-RU" dirty="0" err="1"/>
              <a:t>easeInOut</a:t>
            </a:r>
            <a:r>
              <a:rPr lang="ru-RU" dirty="0"/>
              <a:t> для функции </a:t>
            </a:r>
            <a:r>
              <a:rPr lang="ru-RU" dirty="0" err="1"/>
              <a:t>circ</a:t>
            </a:r>
            <a:r>
              <a:rPr lang="ru-RU" dirty="0"/>
              <a:t>:</a:t>
            </a:r>
          </a:p>
        </p:txBody>
      </p:sp>
      <p:pic>
        <p:nvPicPr>
          <p:cNvPr id="11" name="Рисунок 10"/>
          <p:cNvPicPr/>
          <p:nvPr/>
        </p:nvPicPr>
        <p:blipFill>
          <a:blip r:embed="rId2"/>
          <a:stretch>
            <a:fillRect/>
          </a:stretch>
        </p:blipFill>
        <p:spPr>
          <a:xfrm>
            <a:off x="782152" y="1998512"/>
            <a:ext cx="3863590" cy="315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6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920</TotalTime>
  <Words>1208</Words>
  <Application>Microsoft Office PowerPoint</Application>
  <PresentationFormat>Широкоэкранный</PresentationFormat>
  <Paragraphs>216</Paragraphs>
  <Slides>43</Slides>
  <Notes>0</Notes>
  <HiddenSlides>0</HiddenSlides>
  <MMClips>10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8" baseType="lpstr">
      <vt:lpstr>Arial</vt:lpstr>
      <vt:lpstr>Calibri</vt:lpstr>
      <vt:lpstr>Century Gothic</vt:lpstr>
      <vt:lpstr>Wingdings 3</vt:lpstr>
      <vt:lpstr>Легкий дым</vt:lpstr>
      <vt:lpstr>Тема 8  Формы, элементы управления. Анимация</vt:lpstr>
      <vt:lpstr>Вопросы:</vt:lpstr>
      <vt:lpstr>Свойства и методы формы</vt:lpstr>
      <vt:lpstr>Свойства и методы формы</vt:lpstr>
      <vt:lpstr>Свойства и методы формы</vt:lpstr>
      <vt:lpstr>Свойства и методы формы</vt:lpstr>
      <vt:lpstr>Свойства и методы формы</vt:lpstr>
      <vt:lpstr>Свойства и методы формы</vt:lpstr>
      <vt:lpstr>Свойства и методы формы</vt:lpstr>
      <vt:lpstr>Свойства и методы формы</vt:lpstr>
      <vt:lpstr>Свойства и методы формы</vt:lpstr>
      <vt:lpstr>Фокусировка элемента</vt:lpstr>
      <vt:lpstr>Фокусировка элемента</vt:lpstr>
      <vt:lpstr>Фокусировка элемента</vt:lpstr>
      <vt:lpstr>Фокусировка элемента</vt:lpstr>
      <vt:lpstr>Фокусировка элемента</vt:lpstr>
      <vt:lpstr>Фокусировка элемента</vt:lpstr>
      <vt:lpstr>Фокусировка элемента</vt:lpstr>
      <vt:lpstr>Изменение значений элемента</vt:lpstr>
      <vt:lpstr>Изменение значений элемента</vt:lpstr>
      <vt:lpstr>Изменение значений элемента</vt:lpstr>
      <vt:lpstr>Формы: отправка, событие и метод submit.</vt:lpstr>
      <vt:lpstr>Формы: отправка, событие и метод submit.</vt:lpstr>
      <vt:lpstr>Формы: отправка, событие и метод submit.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  <vt:lpstr>JavaScript-анимация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  Основы JavaScript</dc:title>
  <dc:creator>Marina</dc:creator>
  <cp:lastModifiedBy>Marina</cp:lastModifiedBy>
  <cp:revision>192</cp:revision>
  <dcterms:created xsi:type="dcterms:W3CDTF">2019-08-27T10:51:56Z</dcterms:created>
  <dcterms:modified xsi:type="dcterms:W3CDTF">2019-10-31T14:04:52Z</dcterms:modified>
</cp:coreProperties>
</file>