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66" r:id="rId1"/>
  </p:sldMasterIdLst>
  <p:notesMasterIdLst>
    <p:notesMasterId r:id="rId6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3" r:id="rId48"/>
    <p:sldId id="304" r:id="rId49"/>
    <p:sldId id="302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1" r:id="rId66"/>
    <p:sldId id="322" r:id="rId67"/>
    <p:sldId id="323" r:id="rId6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6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F7BCA8-9609-48FB-A57C-8E4114581D3F}" type="datetimeFigureOut">
              <a:rPr lang="ru-RU" smtClean="0"/>
              <a:t>28.09.2023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3FD08-5A85-4EC1-9946-EF0EC000D9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8210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E4EE4-77E4-4EFC-9949-F8C4E5135281}" type="datetime1">
              <a:rPr lang="ru-RU" smtClean="0"/>
              <a:t>28.09.2023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5669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038D-3527-4CDB-BCAF-0E44AA49A012}" type="datetime1">
              <a:rPr lang="ru-RU" smtClean="0"/>
              <a:t>28.09.2023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838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DBA11-E01F-484D-A3C3-CCFEDF82FC92}" type="datetime1">
              <a:rPr lang="ru-RU" smtClean="0"/>
              <a:t>28.09.2023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3066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4E665-7FDA-4F33-9E34-32DC6FC73E19}" type="datetime1">
              <a:rPr lang="ru-RU" smtClean="0"/>
              <a:t>28.09.2023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02309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251EE-3E80-4396-8A15-1AB53507CB0C}" type="datetime1">
              <a:rPr lang="ru-RU" smtClean="0"/>
              <a:t>28.09.2023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78081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FD4E6-C795-4F07-8543-EC55F5A02AA7}" type="datetime1">
              <a:rPr lang="ru-RU" smtClean="0"/>
              <a:t>28.09.2023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4476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FCE18-756D-400C-8E94-CDF9E55F8E11}" type="datetime1">
              <a:rPr lang="ru-RU" smtClean="0"/>
              <a:t>28.09.2023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4901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D2062-941E-49C9-A7FC-23BD0BE7279D}" type="datetime1">
              <a:rPr lang="ru-RU" smtClean="0"/>
              <a:t>28.09.2023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55976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3EB1D-FDFE-4E72-9606-B6CDD4DE8343}" type="datetime1">
              <a:rPr lang="ru-RU" smtClean="0"/>
              <a:t>28.09.2023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682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1239E-EE19-4F16-87C2-8C2D31AD6675}" type="datetime1">
              <a:rPr lang="ru-RU" smtClean="0"/>
              <a:t>28.09.2023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929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DCDD6-19F5-46C1-B57E-30B5ED2055CB}" type="datetime1">
              <a:rPr lang="ru-RU" smtClean="0"/>
              <a:t>28.09.2023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4947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EE1A6-7808-4FB1-9678-22ED060FE8AB}" type="datetime1">
              <a:rPr lang="ru-RU" smtClean="0"/>
              <a:t>28.09.2023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3184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microsoft.com/office/2007/relationships/hdphoto" Target="../media/hdphoto2.wdp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67014" y="766915"/>
            <a:ext cx="10100754" cy="2625213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Тема 3 </a:t>
            </a:r>
            <a:br>
              <a:rPr lang="ru-RU" b="1" dirty="0"/>
            </a:br>
            <a:r>
              <a:rPr lang="ru-RU" b="1" dirty="0"/>
              <a:t>Функции и замыкания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014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Вопросы: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118085" y="920301"/>
            <a:ext cx="10023891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1. Глобальный объект. </a:t>
            </a:r>
          </a:p>
          <a:p>
            <a:r>
              <a:rPr lang="ru-RU" dirty="0"/>
              <a:t>2. Замыкания, внутренняя работа функции. </a:t>
            </a:r>
          </a:p>
          <a:p>
            <a:r>
              <a:rPr lang="ru-RU" dirty="0"/>
              <a:t>3. </a:t>
            </a:r>
            <a:r>
              <a:rPr lang="ru-RU" dirty="0" err="1"/>
              <a:t>new</a:t>
            </a:r>
            <a:r>
              <a:rPr lang="ru-RU" dirty="0"/>
              <a:t> </a:t>
            </a:r>
            <a:r>
              <a:rPr lang="ru-RU" dirty="0" err="1"/>
              <a:t>Function</a:t>
            </a:r>
            <a:r>
              <a:rPr lang="ru-RU" dirty="0"/>
              <a:t>. </a:t>
            </a:r>
          </a:p>
          <a:p>
            <a:r>
              <a:rPr lang="ru-RU" dirty="0"/>
              <a:t>4. Объект функции, NFE.</a:t>
            </a:r>
          </a:p>
          <a:p>
            <a:r>
              <a:rPr lang="ru-RU" dirty="0"/>
              <a:t>5. Остаточные параметры и оператор расширения.</a:t>
            </a:r>
          </a:p>
          <a:p>
            <a:r>
              <a:rPr lang="ru-RU" dirty="0"/>
              <a:t>6. </a:t>
            </a:r>
            <a:r>
              <a:rPr lang="ru-RU" dirty="0" err="1"/>
              <a:t>Каррирование</a:t>
            </a:r>
            <a:r>
              <a:rPr lang="ru-RU" dirty="0"/>
              <a:t>.</a:t>
            </a:r>
          </a:p>
          <a:p>
            <a:r>
              <a:rPr lang="ru-RU" dirty="0"/>
              <a:t>7. Генераторы.</a:t>
            </a:r>
          </a:p>
          <a:p>
            <a:r>
              <a:rPr lang="ru-RU" dirty="0"/>
              <a:t>8. </a:t>
            </a:r>
            <a:r>
              <a:rPr lang="ru-RU" dirty="0" err="1"/>
              <a:t>Колбэки</a:t>
            </a:r>
            <a:r>
              <a:rPr lang="ru-RU" dirty="0"/>
              <a:t>.</a:t>
            </a:r>
          </a:p>
          <a:p>
            <a:r>
              <a:rPr lang="ru-RU" dirty="0"/>
              <a:t>9. </a:t>
            </a:r>
            <a:r>
              <a:rPr lang="ru-RU" dirty="0" err="1"/>
              <a:t>Promise</a:t>
            </a:r>
            <a:r>
              <a:rPr lang="ru-RU" dirty="0"/>
              <a:t>.</a:t>
            </a:r>
          </a:p>
          <a:p>
            <a:r>
              <a:rPr lang="ru-RU" dirty="0"/>
              <a:t>10. </a:t>
            </a:r>
            <a:r>
              <a:rPr lang="ru-RU" dirty="0" err="1"/>
              <a:t>Промисификация</a:t>
            </a:r>
            <a:r>
              <a:rPr lang="ru-RU" dirty="0"/>
              <a:t>.</a:t>
            </a:r>
          </a:p>
          <a:p>
            <a:r>
              <a:rPr lang="ru-RU" dirty="0"/>
              <a:t>11. </a:t>
            </a:r>
            <a:r>
              <a:rPr lang="ru-RU" dirty="0" err="1"/>
              <a:t>Async</a:t>
            </a:r>
            <a:r>
              <a:rPr lang="ru-RU" dirty="0"/>
              <a:t>/</a:t>
            </a:r>
            <a:r>
              <a:rPr lang="ru-RU" dirty="0" err="1"/>
              <a:t>await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219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pPr lvl="0"/>
            <a:r>
              <a:rPr lang="ru-RU" dirty="0"/>
              <a:t>Глобальный объект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5" y="920301"/>
            <a:ext cx="1082810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В браузере глобальный объект называется </a:t>
            </a:r>
            <a:r>
              <a:rPr lang="ru-RU" sz="2200" b="1" dirty="0" err="1"/>
              <a:t>window</a:t>
            </a:r>
            <a:r>
              <a:rPr lang="ru-RU" sz="2200" dirty="0"/>
              <a:t>, в Node.js — </a:t>
            </a:r>
            <a:r>
              <a:rPr lang="ru-RU" sz="2200" b="1" dirty="0" err="1"/>
              <a:t>global</a:t>
            </a:r>
            <a:r>
              <a:rPr lang="ru-RU" sz="2200" dirty="0"/>
              <a:t>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5" y="1496588"/>
            <a:ext cx="1016442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 err="1"/>
              <a:t>globalThis</a:t>
            </a:r>
            <a:r>
              <a:rPr lang="ru-RU" sz="2200" dirty="0"/>
              <a:t> -- стандартизированное имя для глобального объекта.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18085" y="2072875"/>
            <a:ext cx="4017471" cy="71457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118085" y="2971326"/>
            <a:ext cx="1065112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В браузере глобальные функции и переменные, объявленные с помощью </a:t>
            </a:r>
            <a:r>
              <a:rPr lang="ru-RU" sz="2200" b="1" dirty="0" err="1"/>
              <a:t>var</a:t>
            </a:r>
            <a:r>
              <a:rPr lang="ru-RU" sz="2200" dirty="0"/>
              <a:t> (не </a:t>
            </a:r>
            <a:r>
              <a:rPr lang="ru-RU" sz="2200" dirty="0" err="1"/>
              <a:t>let</a:t>
            </a:r>
            <a:r>
              <a:rPr lang="ru-RU" sz="2200" dirty="0"/>
              <a:t>/</a:t>
            </a:r>
            <a:r>
              <a:rPr lang="ru-RU" sz="2200" dirty="0" err="1"/>
              <a:t>const</a:t>
            </a:r>
            <a:r>
              <a:rPr lang="ru-RU" sz="2200" dirty="0"/>
              <a:t>!), становятся свойствами </a:t>
            </a:r>
            <a:r>
              <a:rPr lang="ru-RU" sz="2200" b="1" dirty="0"/>
              <a:t>глобального</a:t>
            </a:r>
            <a:r>
              <a:rPr lang="ru-RU" sz="2200" dirty="0"/>
              <a:t> объекта: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764125" y="3831296"/>
            <a:ext cx="4161839" cy="71482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invGray">
          <a:xfrm>
            <a:off x="764125" y="4838929"/>
            <a:ext cx="5149352" cy="706466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invGray">
          <a:xfrm>
            <a:off x="6104435" y="3802983"/>
            <a:ext cx="5754353" cy="1742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17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pPr lvl="0"/>
            <a:r>
              <a:rPr lang="ru-RU" dirty="0"/>
              <a:t>Глобальный объект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1118085" y="920301"/>
            <a:ext cx="1073961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Глобальный объект можно использовать, чтобы проверить поддержку современных возможностей языка.</a:t>
            </a: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18085" y="1835142"/>
            <a:ext cx="5506932" cy="90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592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pPr lvl="0"/>
            <a:r>
              <a:rPr lang="ru-RU" dirty="0"/>
              <a:t>Замыкания, внутренняя работа функции. 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6" y="920301"/>
            <a:ext cx="3988341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Какое значение </a:t>
            </a:r>
            <a:r>
              <a:rPr lang="ru-RU" sz="2200" dirty="0" err="1"/>
              <a:t>name</a:t>
            </a:r>
            <a:r>
              <a:rPr lang="ru-RU" sz="2200" dirty="0"/>
              <a:t> будет использовать функция при выполнении?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18086" y="2407755"/>
            <a:ext cx="3988341" cy="245921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6016374" y="2628979"/>
            <a:ext cx="4247385" cy="3388363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6016374" y="895027"/>
            <a:ext cx="6096000" cy="144655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200" dirty="0"/>
              <a:t>Получит ли возвращаемая функция доступ к внешним переменным из места своего создания или места выполнения или из обоих?</a:t>
            </a:r>
          </a:p>
        </p:txBody>
      </p:sp>
    </p:spTree>
    <p:extLst>
      <p:ext uri="{BB962C8B-B14F-4D97-AF65-F5344CB8AC3E}">
        <p14:creationId xmlns:p14="http://schemas.microsoft.com/office/powerpoint/2010/main" val="3308737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pPr lvl="0"/>
            <a:r>
              <a:rPr lang="ru-RU" dirty="0"/>
              <a:t>Замыкания, внутренняя работа функции. </a:t>
            </a:r>
            <a:r>
              <a:rPr lang="ru-RU" sz="2700" dirty="0"/>
              <a:t>Лексическое окружение (</a:t>
            </a:r>
            <a:r>
              <a:rPr lang="en-US" sz="2700" dirty="0" err="1"/>
              <a:t>LexicalEnvironment</a:t>
            </a:r>
            <a:r>
              <a:rPr lang="ru-RU" sz="2700" dirty="0"/>
              <a:t>)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1118086" y="1806110"/>
            <a:ext cx="10503643" cy="20846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sz="2200" dirty="0"/>
              <a:t>Объект лексического окружения состоит из двух частей:</a:t>
            </a:r>
          </a:p>
          <a:p>
            <a:pPr>
              <a:lnSpc>
                <a:spcPct val="120000"/>
              </a:lnSpc>
            </a:pPr>
            <a:r>
              <a:rPr lang="ru-RU" sz="2200" dirty="0"/>
              <a:t>1. </a:t>
            </a:r>
            <a:r>
              <a:rPr lang="ru-RU" sz="2200" dirty="0" err="1"/>
              <a:t>Environment</a:t>
            </a:r>
            <a:r>
              <a:rPr lang="ru-RU" sz="2200" dirty="0"/>
              <a:t> </a:t>
            </a:r>
            <a:r>
              <a:rPr lang="ru-RU" sz="2200" dirty="0" err="1"/>
              <a:t>Record</a:t>
            </a:r>
            <a:r>
              <a:rPr lang="ru-RU" sz="2200" dirty="0"/>
              <a:t> – объект, в котором как свойства хранятся все локальные переменные (в том числе </a:t>
            </a:r>
            <a:r>
              <a:rPr lang="ru-RU" sz="2200" dirty="0" err="1"/>
              <a:t>this</a:t>
            </a:r>
            <a:r>
              <a:rPr lang="ru-RU" sz="2200" dirty="0"/>
              <a:t>).</a:t>
            </a:r>
          </a:p>
          <a:p>
            <a:pPr>
              <a:lnSpc>
                <a:spcPct val="120000"/>
              </a:lnSpc>
            </a:pPr>
            <a:r>
              <a:rPr lang="ru-RU" sz="2200" dirty="0"/>
              <a:t>2. Ссылка на внешнее лексическое окружение – то есть то, которое соответствует внешнему коду.</a:t>
            </a:r>
          </a:p>
        </p:txBody>
      </p:sp>
    </p:spTree>
    <p:extLst>
      <p:ext uri="{BB962C8B-B14F-4D97-AF65-F5344CB8AC3E}">
        <p14:creationId xmlns:p14="http://schemas.microsoft.com/office/powerpoint/2010/main" val="2133245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pPr lvl="0"/>
            <a:r>
              <a:rPr lang="ru-RU" dirty="0"/>
              <a:t>Замыкания, внутренняя работа функции. </a:t>
            </a:r>
            <a:r>
              <a:rPr lang="ru-RU" sz="2700" dirty="0"/>
              <a:t>Лексическое окружение (</a:t>
            </a:r>
            <a:r>
              <a:rPr lang="en-US" sz="2700" dirty="0" err="1"/>
              <a:t>LexicalEnvironment</a:t>
            </a:r>
            <a:r>
              <a:rPr lang="ru-RU" sz="2700" dirty="0"/>
              <a:t>)</a:t>
            </a:r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2</a:t>
            </a:r>
          </a:p>
        </p:txBody>
      </p:sp>
      <p:pic>
        <p:nvPicPr>
          <p:cNvPr id="9" name="Рисунок 8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778" y="3650178"/>
            <a:ext cx="8880887" cy="2918769"/>
          </a:xfrm>
          <a:prstGeom prst="rect">
            <a:avLst/>
          </a:prstGeom>
        </p:spPr>
      </p:pic>
      <p:pic>
        <p:nvPicPr>
          <p:cNvPr id="11" name="Рисунок 10"/>
          <p:cNvPicPr/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778" y="1396551"/>
            <a:ext cx="9058302" cy="1942361"/>
          </a:xfrm>
          <a:prstGeom prst="rect">
            <a:avLst/>
          </a:prstGeom>
        </p:spPr>
      </p:pic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</a:t>
            </a:fld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346455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pPr lvl="0"/>
            <a:r>
              <a:rPr lang="ru-RU" dirty="0"/>
              <a:t>Замыкания, внутренняя работа функции. </a:t>
            </a:r>
            <a:r>
              <a:rPr lang="ru-RU" sz="2700" dirty="0"/>
              <a:t>Лексическое окружение (</a:t>
            </a:r>
            <a:r>
              <a:rPr lang="en-US" sz="2700" dirty="0" err="1"/>
              <a:t>LexicalEnvironment</a:t>
            </a:r>
            <a:r>
              <a:rPr lang="ru-RU" sz="2700" dirty="0"/>
              <a:t>)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2</a:t>
            </a:r>
          </a:p>
        </p:txBody>
      </p:sp>
      <p:pic>
        <p:nvPicPr>
          <p:cNvPr id="10" name="Рисунок 9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8086" y="2220247"/>
            <a:ext cx="9504168" cy="2823702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248815" y="1504325"/>
            <a:ext cx="304282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/>
              <a:t>Function Declaration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1356200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pPr lvl="0"/>
            <a:r>
              <a:rPr lang="ru-RU" dirty="0"/>
              <a:t>Замыкания, внутренняя работа функции. </a:t>
            </a:r>
            <a:r>
              <a:rPr lang="ru-RU" sz="2700" dirty="0"/>
              <a:t>Лексическое окружение (</a:t>
            </a:r>
            <a:r>
              <a:rPr lang="en-US" sz="2700" dirty="0" err="1"/>
              <a:t>LexicalEnvironment</a:t>
            </a:r>
            <a:r>
              <a:rPr lang="ru-RU" sz="2700" dirty="0"/>
              <a:t>)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9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2</a:t>
            </a:r>
          </a:p>
        </p:txBody>
      </p:sp>
      <p:pic>
        <p:nvPicPr>
          <p:cNvPr id="9" name="Рисунок 8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8085" y="2281032"/>
            <a:ext cx="10553127" cy="2394207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118085" y="1518772"/>
            <a:ext cx="713047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Внутреннее и внешнее лексическое окружение:</a:t>
            </a:r>
          </a:p>
        </p:txBody>
      </p:sp>
    </p:spTree>
    <p:extLst>
      <p:ext uri="{BB962C8B-B14F-4D97-AF65-F5344CB8AC3E}">
        <p14:creationId xmlns:p14="http://schemas.microsoft.com/office/powerpoint/2010/main" val="975175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pPr lvl="0"/>
            <a:r>
              <a:rPr lang="ru-RU" dirty="0"/>
              <a:t>Замыкания, внутренняя работа функции. </a:t>
            </a:r>
            <a:r>
              <a:rPr lang="ru-RU" sz="2700" dirty="0"/>
              <a:t>Вложенные функции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10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2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18086" y="1440425"/>
            <a:ext cx="5969745" cy="255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753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pPr lvl="0"/>
            <a:r>
              <a:rPr lang="ru-RU" dirty="0"/>
              <a:t>Замыкания, внутренняя работа функции. </a:t>
            </a:r>
            <a:r>
              <a:rPr lang="ru-RU" sz="2700" dirty="0"/>
              <a:t>Вложенные функции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11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5" y="1362981"/>
            <a:ext cx="1059213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Вложенная функция может быть возвращена в качестве свойства нового объекта или сама по себе, и затем использована в любом месте. 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18085" y="2681287"/>
            <a:ext cx="4840263" cy="2443477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6414151" y="2681286"/>
            <a:ext cx="4705214" cy="3895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946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pPr lvl="0"/>
            <a:r>
              <a:rPr lang="ru-RU" dirty="0"/>
              <a:t>Замыкания, внутренняя работа функции. </a:t>
            </a:r>
            <a:r>
              <a:rPr lang="ru-RU" sz="2700" dirty="0"/>
              <a:t>Вложенные функции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12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2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18087" y="1430440"/>
            <a:ext cx="4810766" cy="419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368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pPr lvl="0"/>
            <a:r>
              <a:rPr lang="ru-RU" dirty="0"/>
              <a:t>Замыкания, внутренняя работа функции. </a:t>
            </a:r>
            <a:r>
              <a:rPr lang="ru-RU" sz="2700" dirty="0"/>
              <a:t>Вложенные функции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13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5" y="1359761"/>
            <a:ext cx="1034141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[[</a:t>
            </a:r>
            <a:r>
              <a:rPr lang="ru-RU" sz="2200" dirty="0" err="1"/>
              <a:t>Environment</a:t>
            </a:r>
            <a:r>
              <a:rPr lang="ru-RU" sz="2200" dirty="0"/>
              <a:t>]] -- скрытое свойство, которое ссылается на лексическое окружение места, где они были созданы.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5749" y="2479111"/>
            <a:ext cx="9654276" cy="225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764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pPr lvl="0"/>
            <a:r>
              <a:rPr lang="ru-RU" dirty="0"/>
              <a:t>Замыкания, внутренняя работа функции. </a:t>
            </a:r>
            <a:r>
              <a:rPr lang="ru-RU" sz="2700" dirty="0"/>
              <a:t>Вложенные функции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14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2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7142" y="1335806"/>
            <a:ext cx="10982847" cy="2778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84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pPr lvl="0"/>
            <a:r>
              <a:rPr lang="ru-RU" dirty="0"/>
              <a:t>Замыкания, внутренняя работа функции. </a:t>
            </a:r>
            <a:r>
              <a:rPr lang="ru-RU" sz="2700" dirty="0"/>
              <a:t>Вложенные функции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15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2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2153" y="1439042"/>
            <a:ext cx="10735516" cy="254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4826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pPr lvl="0"/>
            <a:r>
              <a:rPr lang="ru-RU" dirty="0"/>
              <a:t>Замыкания, внутренняя работа функции. </a:t>
            </a:r>
            <a:r>
              <a:rPr lang="ru-RU" sz="2700" dirty="0"/>
              <a:t>Вложенные функции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16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2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8086" y="1324282"/>
            <a:ext cx="10519744" cy="280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138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pPr lvl="0"/>
            <a:r>
              <a:rPr lang="ru-RU" dirty="0"/>
              <a:t>Замыкания, внутренняя работа функции. </a:t>
            </a:r>
            <a:r>
              <a:rPr lang="ru-RU" sz="2700" dirty="0"/>
              <a:t>Вложенные функции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17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2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8086" y="1457940"/>
            <a:ext cx="10325504" cy="287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2906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pPr lvl="0"/>
            <a:r>
              <a:rPr lang="ru-RU" dirty="0"/>
              <a:t>Замыкания, внутренняя работа функции. </a:t>
            </a:r>
            <a:r>
              <a:rPr lang="ru-RU" sz="2700" dirty="0"/>
              <a:t>Вложенные функции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18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2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8085" y="1293249"/>
            <a:ext cx="10524551" cy="3175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025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pPr lvl="0"/>
            <a:r>
              <a:rPr lang="ru-RU" dirty="0"/>
              <a:t>Замыкания, внутренняя работа функции. </a:t>
            </a:r>
            <a:r>
              <a:rPr lang="ru-RU" sz="2700" dirty="0"/>
              <a:t>Вложенные функции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19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2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8085" y="1440733"/>
            <a:ext cx="10524551" cy="3175511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118084" y="5114289"/>
            <a:ext cx="986946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/>
              <a:t>Замыкание</a:t>
            </a:r>
            <a:r>
              <a:rPr lang="ru-RU" sz="2200" dirty="0"/>
              <a:t> – это функция, которая запоминает свои внешние переменные и может получить к ним доступ. </a:t>
            </a:r>
          </a:p>
        </p:txBody>
      </p:sp>
    </p:spTree>
    <p:extLst>
      <p:ext uri="{BB962C8B-B14F-4D97-AF65-F5344CB8AC3E}">
        <p14:creationId xmlns:p14="http://schemas.microsoft.com/office/powerpoint/2010/main" val="25547605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pPr lvl="0"/>
            <a:r>
              <a:rPr lang="ru-RU" dirty="0"/>
              <a:t>Замыкания, внутренняя работа функции. </a:t>
            </a:r>
            <a:r>
              <a:rPr lang="ru-RU" sz="2700" dirty="0"/>
              <a:t>Блоки кода и циклы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20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1380273"/>
            <a:ext cx="99284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Лексическое окружение существует для любых блоков кода {...}.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8086" y="2024216"/>
            <a:ext cx="10240914" cy="260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7023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pPr lvl="0"/>
            <a:r>
              <a:rPr lang="ru-RU" dirty="0"/>
              <a:t>Замыкания, внутренняя работа функции. </a:t>
            </a:r>
            <a:r>
              <a:rPr lang="ru-RU" sz="2700" dirty="0"/>
              <a:t>Блоки кода и циклы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21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2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18086" y="1363150"/>
            <a:ext cx="6290671" cy="185199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1118086" y="4334574"/>
            <a:ext cx="4884508" cy="194086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118085" y="3480231"/>
            <a:ext cx="1016442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Можно использовать блок кода для изоляции всего скрипта или какой-то его части.</a:t>
            </a:r>
          </a:p>
        </p:txBody>
      </p:sp>
    </p:spTree>
    <p:extLst>
      <p:ext uri="{BB962C8B-B14F-4D97-AF65-F5344CB8AC3E}">
        <p14:creationId xmlns:p14="http://schemas.microsoft.com/office/powerpoint/2010/main" val="35048192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03338" y="-31578"/>
            <a:ext cx="8911687" cy="629503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new Function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22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3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920301"/>
            <a:ext cx="537839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Синтаксис для объявления функции:</a:t>
            </a: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1118086" y="1473509"/>
            <a:ext cx="1017917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let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ru-RU" sz="2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func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A67F59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Function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([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arg1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arg2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A67F59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...</a:t>
            </a:r>
            <a:r>
              <a:rPr kumimoji="0" lang="en-US" altLang="ru-RU" sz="2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argN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],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ru-RU" sz="2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functionBody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kumimoji="0" lang="en-US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03338" y="2666462"/>
            <a:ext cx="7627709" cy="724948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1118086" y="2122764"/>
            <a:ext cx="465383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Функция с двумя аргументами: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1118086" y="3749086"/>
            <a:ext cx="375936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Функция без аргументов</a:t>
            </a:r>
            <a:r>
              <a:rPr lang="en-US" sz="2200" dirty="0"/>
              <a:t>:</a:t>
            </a:r>
            <a:endParaRPr lang="ru-RU" sz="2200" dirty="0"/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1118086" y="4271537"/>
            <a:ext cx="6622306" cy="713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784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03338" y="-31578"/>
            <a:ext cx="8911687" cy="629503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new Function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23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3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1065513" y="920301"/>
            <a:ext cx="1060688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Функция не имеет доступа к внешним переменным, только к глобальным</a:t>
            </a:r>
            <a:r>
              <a:rPr lang="en-US" sz="2200" dirty="0"/>
              <a:t>:</a:t>
            </a:r>
            <a:endParaRPr lang="ru-RU" sz="22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03338" y="1838253"/>
            <a:ext cx="6382943" cy="260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8096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03338" y="-31578"/>
            <a:ext cx="8911687" cy="629503"/>
          </a:xfrm>
        </p:spPr>
        <p:txBody>
          <a:bodyPr>
            <a:noAutofit/>
          </a:bodyPr>
          <a:lstStyle/>
          <a:p>
            <a:pPr lvl="0"/>
            <a:r>
              <a:rPr lang="ru-RU" dirty="0"/>
              <a:t>Объект функции, NFE</a:t>
            </a:r>
            <a:r>
              <a:rPr lang="en-US" dirty="0"/>
              <a:t>. </a:t>
            </a:r>
            <a:r>
              <a:rPr lang="ru-RU" sz="2400" dirty="0"/>
              <a:t>Свойство «</a:t>
            </a:r>
            <a:r>
              <a:rPr lang="en-US" sz="2400" dirty="0"/>
              <a:t>name»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24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4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103338" y="920301"/>
            <a:ext cx="665278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Имя функции доступно как свойство «</a:t>
            </a:r>
            <a:r>
              <a:rPr lang="ru-RU" sz="2200" dirty="0" err="1"/>
              <a:t>name</a:t>
            </a:r>
            <a:r>
              <a:rPr lang="ru-RU" sz="2200" dirty="0"/>
              <a:t>»: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351166" y="1493120"/>
            <a:ext cx="4421946" cy="1559796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5280533" y="1493120"/>
            <a:ext cx="4421946" cy="1559796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invGray">
          <a:xfrm>
            <a:off x="351166" y="3410411"/>
            <a:ext cx="5158096" cy="1500802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invGray">
          <a:xfrm>
            <a:off x="5833853" y="3410411"/>
            <a:ext cx="5350852" cy="316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1854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03338" y="-31578"/>
            <a:ext cx="8911687" cy="629503"/>
          </a:xfrm>
        </p:spPr>
        <p:txBody>
          <a:bodyPr>
            <a:noAutofit/>
          </a:bodyPr>
          <a:lstStyle/>
          <a:p>
            <a:pPr lvl="0"/>
            <a:r>
              <a:rPr lang="ru-RU" dirty="0"/>
              <a:t>Объект функции, NFE</a:t>
            </a:r>
            <a:r>
              <a:rPr lang="en-US" dirty="0"/>
              <a:t>. </a:t>
            </a:r>
            <a:r>
              <a:rPr lang="ru-RU" sz="2400" dirty="0"/>
              <a:t>Свойство «</a:t>
            </a:r>
            <a:r>
              <a:rPr lang="en-US" sz="2400" dirty="0"/>
              <a:t>length»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25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4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103338" y="920301"/>
            <a:ext cx="901427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Свойство «</a:t>
            </a:r>
            <a:r>
              <a:rPr lang="ru-RU" sz="2200" dirty="0" err="1"/>
              <a:t>length</a:t>
            </a:r>
            <a:r>
              <a:rPr lang="ru-RU" sz="2200" dirty="0"/>
              <a:t>» содержит количество параметров функции в её объявлении: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03338" y="1689742"/>
            <a:ext cx="4837385" cy="208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2321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03338" y="-31578"/>
            <a:ext cx="10710120" cy="629503"/>
          </a:xfrm>
        </p:spPr>
        <p:txBody>
          <a:bodyPr>
            <a:noAutofit/>
          </a:bodyPr>
          <a:lstStyle/>
          <a:p>
            <a:pPr lvl="0"/>
            <a:r>
              <a:rPr lang="ru-RU" dirty="0"/>
              <a:t>Объект функции, NFE</a:t>
            </a:r>
            <a:r>
              <a:rPr lang="en-US" dirty="0"/>
              <a:t>. </a:t>
            </a:r>
            <a:r>
              <a:rPr lang="ru-RU" sz="2400" dirty="0"/>
              <a:t>Пользовательские свойства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26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4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103338" y="920301"/>
            <a:ext cx="669766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Можно добавить свои собственные свойства: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03338" y="1477602"/>
            <a:ext cx="6300352" cy="2997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2463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03338" y="-31578"/>
            <a:ext cx="10710120" cy="629503"/>
          </a:xfrm>
        </p:spPr>
        <p:txBody>
          <a:bodyPr>
            <a:noAutofit/>
          </a:bodyPr>
          <a:lstStyle/>
          <a:p>
            <a:pPr lvl="0"/>
            <a:r>
              <a:rPr lang="ru-RU" dirty="0"/>
              <a:t>Объект функции, NFE</a:t>
            </a:r>
            <a:r>
              <a:rPr lang="en-US" dirty="0"/>
              <a:t>. </a:t>
            </a:r>
            <a:r>
              <a:rPr lang="en-US" sz="2400" dirty="0"/>
              <a:t>Named Function Expression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27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4</a:t>
            </a:r>
            <a:endParaRPr lang="ru-RU" sz="3600" b="1" dirty="0">
              <a:solidFill>
                <a:schemeClr val="bg1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212593" y="920300"/>
            <a:ext cx="5461705" cy="1601673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212592" y="2844348"/>
            <a:ext cx="968646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Имя функции позволяет ссылаться на себя же: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1212592" y="3275235"/>
            <a:ext cx="5461706" cy="3091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7081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03338" y="-31578"/>
            <a:ext cx="10710120" cy="629503"/>
          </a:xfrm>
        </p:spPr>
        <p:txBody>
          <a:bodyPr>
            <a:noAutofit/>
          </a:bodyPr>
          <a:lstStyle/>
          <a:p>
            <a:pPr lvl="0"/>
            <a:r>
              <a:rPr lang="ru-RU" dirty="0"/>
              <a:t>Объект функции, NFE</a:t>
            </a:r>
            <a:r>
              <a:rPr lang="en-US" dirty="0"/>
              <a:t>. </a:t>
            </a:r>
            <a:r>
              <a:rPr lang="en-US" sz="2400" dirty="0"/>
              <a:t>Named Function Expression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28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4</a:t>
            </a:r>
            <a:endParaRPr lang="ru-RU" sz="3600" b="1" dirty="0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03338" y="1555539"/>
            <a:ext cx="4893546" cy="3698054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103338" y="856102"/>
            <a:ext cx="992611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Вложенный вызов по имени переменной может привести к ошибке:</a:t>
            </a:r>
          </a:p>
        </p:txBody>
      </p:sp>
    </p:spTree>
    <p:extLst>
      <p:ext uri="{BB962C8B-B14F-4D97-AF65-F5344CB8AC3E}">
        <p14:creationId xmlns:p14="http://schemas.microsoft.com/office/powerpoint/2010/main" val="39376631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79684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ru-RU" sz="3400" dirty="0"/>
              <a:t>Остаточные параметры и оператор расширения.</a:t>
            </a:r>
            <a:br>
              <a:rPr lang="ru-RU" sz="3400" dirty="0"/>
            </a:br>
            <a:r>
              <a:rPr lang="ru-RU" sz="2400" dirty="0"/>
              <a:t>Остаточные параметры (...)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29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796843" y="1259519"/>
            <a:ext cx="1095762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Многие встроенные функции </a:t>
            </a:r>
            <a:r>
              <a:rPr lang="ru-RU" sz="2200" dirty="0" err="1"/>
              <a:t>JavaScript</a:t>
            </a:r>
            <a:r>
              <a:rPr lang="ru-RU" sz="2200" dirty="0"/>
              <a:t> поддерживают произвольное количество аргументов: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938980" y="2073700"/>
            <a:ext cx="10815483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• </a:t>
            </a:r>
            <a:r>
              <a:rPr lang="ru-RU" sz="2200" dirty="0" err="1"/>
              <a:t>Math.max</a:t>
            </a:r>
            <a:r>
              <a:rPr lang="ru-RU" sz="2200" dirty="0"/>
              <a:t>(arg1, arg2, ..., </a:t>
            </a:r>
            <a:r>
              <a:rPr lang="ru-RU" sz="2200" dirty="0" err="1"/>
              <a:t>argN</a:t>
            </a:r>
            <a:r>
              <a:rPr lang="ru-RU" sz="2200" dirty="0"/>
              <a:t>) – вычисляет максимальное число из переданных.</a:t>
            </a:r>
          </a:p>
          <a:p>
            <a:r>
              <a:rPr lang="ru-RU" sz="2200" dirty="0"/>
              <a:t>• </a:t>
            </a:r>
            <a:r>
              <a:rPr lang="ru-RU" sz="2200" dirty="0" err="1"/>
              <a:t>Object.assign</a:t>
            </a:r>
            <a:r>
              <a:rPr lang="ru-RU" sz="2200" dirty="0"/>
              <a:t>(</a:t>
            </a:r>
            <a:r>
              <a:rPr lang="ru-RU" sz="2200" dirty="0" err="1"/>
              <a:t>dest</a:t>
            </a:r>
            <a:r>
              <a:rPr lang="ru-RU" sz="2200" dirty="0"/>
              <a:t>, src1, ..., </a:t>
            </a:r>
            <a:r>
              <a:rPr lang="ru-RU" sz="2200" dirty="0" err="1"/>
              <a:t>srcN</a:t>
            </a:r>
            <a:r>
              <a:rPr lang="ru-RU" sz="2200" dirty="0"/>
              <a:t>) – копирует свойства из исходных объектов src1..N в целевой объект </a:t>
            </a:r>
            <a:r>
              <a:rPr lang="ru-RU" sz="2200" dirty="0" err="1"/>
              <a:t>dest</a:t>
            </a:r>
            <a:r>
              <a:rPr lang="ru-RU" sz="2200" dirty="0"/>
              <a:t>.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38980" y="3806067"/>
            <a:ext cx="5004620" cy="171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9080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79684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ru-RU" sz="3400" dirty="0"/>
              <a:t>Остаточные параметры и оператор расширения.</a:t>
            </a:r>
            <a:br>
              <a:rPr lang="ru-RU" sz="3400" dirty="0"/>
            </a:br>
            <a:r>
              <a:rPr lang="ru-RU" sz="2400" dirty="0"/>
              <a:t>Остаточные параметры (...)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30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796844" y="1297547"/>
            <a:ext cx="602440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Поместим все аргументы в массив </a:t>
            </a:r>
            <a:r>
              <a:rPr lang="ru-RU" sz="2200" dirty="0" err="1"/>
              <a:t>args</a:t>
            </a:r>
            <a:r>
              <a:rPr lang="ru-RU" sz="2200" dirty="0"/>
              <a:t>: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796844" y="1752368"/>
            <a:ext cx="5664014" cy="273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560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79684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ru-RU" sz="3400" dirty="0"/>
              <a:t>Остаточные параметры и оператор расширения.</a:t>
            </a:r>
            <a:br>
              <a:rPr lang="ru-RU" sz="3400" dirty="0"/>
            </a:br>
            <a:r>
              <a:rPr lang="ru-RU" sz="2400" dirty="0"/>
              <a:t>Остаточные параметры (...)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31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796844" y="1218042"/>
            <a:ext cx="1100186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Можно записать первые несколько параметров в переменные, а остальные в массив.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796844" y="2172381"/>
            <a:ext cx="8173996" cy="306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1970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79684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ru-RU" sz="3400" dirty="0"/>
              <a:t>Остаточные параметры и оператор расширения.</a:t>
            </a:r>
            <a:br>
              <a:rPr lang="ru-RU" sz="3400" dirty="0"/>
            </a:br>
            <a:r>
              <a:rPr lang="ru-RU" sz="2400" dirty="0"/>
              <a:t>Остаточные параметры (...)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32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796844" y="1017331"/>
            <a:ext cx="558037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...</a:t>
            </a:r>
            <a:r>
              <a:rPr lang="ru-RU" sz="2200" dirty="0" err="1"/>
              <a:t>rest</a:t>
            </a:r>
            <a:r>
              <a:rPr lang="ru-RU" sz="2200" dirty="0"/>
              <a:t> должен всегда быть последним: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796844" y="1529166"/>
            <a:ext cx="5526874" cy="1022312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796844" y="2812081"/>
            <a:ext cx="1078064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Все аргументы функции находятся в </a:t>
            </a:r>
            <a:r>
              <a:rPr lang="ru-RU" sz="2200" dirty="0" err="1"/>
              <a:t>псевдомассиве</a:t>
            </a:r>
            <a:r>
              <a:rPr lang="ru-RU" sz="2200" dirty="0"/>
              <a:t> </a:t>
            </a:r>
            <a:r>
              <a:rPr lang="ru-RU" sz="2200" dirty="0" err="1"/>
              <a:t>arguments</a:t>
            </a:r>
            <a:r>
              <a:rPr lang="ru-RU" sz="2200" dirty="0"/>
              <a:t> под своими порядковыми номерами.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902570" y="3761447"/>
            <a:ext cx="4910055" cy="281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8847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79684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ru-RU" sz="3400" dirty="0"/>
              <a:t>Остаточные параметры и оператор расширения.</a:t>
            </a:r>
            <a:br>
              <a:rPr lang="ru-RU" sz="3400" dirty="0"/>
            </a:br>
            <a:r>
              <a:rPr lang="ru-RU" sz="2400" dirty="0"/>
              <a:t>Оператор расширения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33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5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782153" y="1166659"/>
            <a:ext cx="5459200" cy="41141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796845" y="1824436"/>
            <a:ext cx="5220498" cy="698182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782153" y="2754872"/>
            <a:ext cx="1100180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Когда оператор расширения используется при вызове функции, он преобразует перебираемый объект </a:t>
            </a:r>
            <a:r>
              <a:rPr lang="ru-RU" sz="2200" dirty="0" err="1"/>
              <a:t>arr</a:t>
            </a:r>
            <a:r>
              <a:rPr lang="ru-RU" sz="2200" dirty="0"/>
              <a:t> в список аргументов.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invGray">
          <a:xfrm>
            <a:off x="796844" y="3656515"/>
            <a:ext cx="5220499" cy="698182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invGray">
          <a:xfrm>
            <a:off x="782153" y="4599983"/>
            <a:ext cx="8104220" cy="128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710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79684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ru-RU" sz="3400" dirty="0"/>
              <a:t>Остаточные параметры и оператор расширения.</a:t>
            </a:r>
            <a:br>
              <a:rPr lang="ru-RU" sz="3400" dirty="0"/>
            </a:br>
            <a:r>
              <a:rPr lang="ru-RU" sz="2400" dirty="0"/>
              <a:t>Оператор расширения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34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796843" y="1173796"/>
            <a:ext cx="1048566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Оператор расширения можно использовать и для слияния массивов: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796842" y="1684851"/>
            <a:ext cx="6026645" cy="1633538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796842" y="3472019"/>
            <a:ext cx="743184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Можно преобразовать строку в массив символов: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796842" y="4009676"/>
            <a:ext cx="5567194" cy="754058"/>
          </a:xfrm>
          <a:prstGeom prst="rect">
            <a:avLst/>
          </a:prstGeom>
        </p:spPr>
      </p:pic>
      <p:sp>
        <p:nvSpPr>
          <p:cNvPr id="17" name="Прямоугольник 16"/>
          <p:cNvSpPr/>
          <p:nvPr/>
        </p:nvSpPr>
        <p:spPr>
          <a:xfrm>
            <a:off x="856008" y="4948533"/>
            <a:ext cx="1042650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err="1"/>
              <a:t>Array.from</a:t>
            </a:r>
            <a:r>
              <a:rPr lang="ru-RU" sz="2200" dirty="0"/>
              <a:t> преобразует перебираемый объект в массив:</a:t>
            </a: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invGray">
          <a:xfrm>
            <a:off x="782152" y="5498816"/>
            <a:ext cx="6553997" cy="71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9440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7058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ru-RU" dirty="0" err="1"/>
              <a:t>Каррирование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35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870583" y="920301"/>
            <a:ext cx="10913377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 err="1"/>
              <a:t>Каррирование</a:t>
            </a:r>
            <a:r>
              <a:rPr lang="ru-RU" sz="2200" dirty="0"/>
              <a:t> или </a:t>
            </a:r>
            <a:r>
              <a:rPr lang="ru-RU" sz="2200" dirty="0" err="1"/>
              <a:t>карринг</a:t>
            </a:r>
            <a:r>
              <a:rPr lang="ru-RU" sz="2200" dirty="0"/>
              <a:t> (</a:t>
            </a:r>
            <a:r>
              <a:rPr lang="ru-RU" sz="2200" dirty="0" err="1"/>
              <a:t>currying</a:t>
            </a:r>
            <a:r>
              <a:rPr lang="ru-RU" sz="2200" dirty="0"/>
              <a:t>) в функциональном программирование — это преобразование функции с множеством аргументов в набор вложенных функций с одним аргументом.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870583" y="2308391"/>
            <a:ext cx="711765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b="1" dirty="0"/>
              <a:t>Арность</a:t>
            </a:r>
            <a:r>
              <a:rPr lang="ru-RU" sz="2200" dirty="0"/>
              <a:t> — это количество аргументов функции.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870583" y="2814826"/>
            <a:ext cx="3893146" cy="2067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2900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7058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ru-RU" dirty="0" err="1"/>
              <a:t>Каррирование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36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7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870583" y="1496118"/>
            <a:ext cx="4674810" cy="1584155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870584" y="968556"/>
            <a:ext cx="460895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Тернарная  (3-арная) функция: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870584" y="3364347"/>
            <a:ext cx="393889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err="1"/>
              <a:t>Каррированная</a:t>
            </a:r>
            <a:r>
              <a:rPr lang="ru-RU" sz="2200" dirty="0"/>
              <a:t> функция: 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870583" y="3930060"/>
            <a:ext cx="4792963" cy="2411746"/>
          </a:xfrm>
          <a:prstGeom prst="rect">
            <a:avLst/>
          </a:prstGeom>
        </p:spPr>
      </p:pic>
      <p:sp>
        <p:nvSpPr>
          <p:cNvPr id="14" name="Прямоугольник 13"/>
          <p:cNvSpPr/>
          <p:nvPr/>
        </p:nvSpPr>
        <p:spPr>
          <a:xfrm>
            <a:off x="6130409" y="3393843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200" dirty="0"/>
              <a:t>Распишем конструкцию вида </a:t>
            </a:r>
            <a:r>
              <a:rPr lang="ru-RU" sz="2200" dirty="0" err="1"/>
              <a:t>multiply</a:t>
            </a:r>
            <a:r>
              <a:rPr lang="ru-RU" sz="2200" dirty="0"/>
              <a:t>(1)(2)(3):</a:t>
            </a: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invGray">
          <a:xfrm>
            <a:off x="6271468" y="4366487"/>
            <a:ext cx="4389719" cy="132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1027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7058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ru-RU" dirty="0" err="1"/>
              <a:t>Каррирование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37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7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870584" y="920301"/>
            <a:ext cx="4552253" cy="146893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5945904" y="920300"/>
            <a:ext cx="5022008" cy="2368589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870584" y="3465560"/>
            <a:ext cx="502894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Частичное применение функций</a:t>
            </a:r>
            <a:r>
              <a:rPr lang="en-US" sz="2200" dirty="0"/>
              <a:t>:</a:t>
            </a:r>
            <a:endParaRPr lang="ru-RU" sz="2200" dirty="0"/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invGray">
          <a:xfrm>
            <a:off x="870583" y="3896447"/>
            <a:ext cx="4335597" cy="2810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3633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7058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ru-RU" dirty="0"/>
              <a:t>Генераторы</a:t>
            </a:r>
            <a:r>
              <a:rPr lang="en-US" dirty="0"/>
              <a:t>. </a:t>
            </a:r>
            <a:r>
              <a:rPr lang="ru-RU" sz="2400" dirty="0"/>
              <a:t>Функция-генератор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38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8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870583" y="1362755"/>
            <a:ext cx="1103136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Для объявления генератора используется специальная синтаксическая конструкция: </a:t>
            </a:r>
            <a:r>
              <a:rPr lang="ru-RU" sz="2200" dirty="0" err="1"/>
              <a:t>function</a:t>
            </a:r>
            <a:r>
              <a:rPr lang="ru-RU" sz="2200" dirty="0"/>
              <a:t>*, которая называется «функция-генератор».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782153" y="2519867"/>
            <a:ext cx="4763301" cy="1488532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870583" y="4787151"/>
            <a:ext cx="106921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err="1"/>
              <a:t>function</a:t>
            </a:r>
            <a:r>
              <a:rPr lang="ru-RU" sz="2200" dirty="0"/>
              <a:t>* f(…) или </a:t>
            </a:r>
            <a:r>
              <a:rPr lang="ru-RU" sz="2200" dirty="0" err="1"/>
              <a:t>function</a:t>
            </a:r>
            <a:r>
              <a:rPr lang="ru-RU" sz="2200" dirty="0"/>
              <a:t> *f(…) --  оба синтаксиса корректны.</a:t>
            </a:r>
          </a:p>
        </p:txBody>
      </p:sp>
    </p:spTree>
    <p:extLst>
      <p:ext uri="{BB962C8B-B14F-4D97-AF65-F5344CB8AC3E}">
        <p14:creationId xmlns:p14="http://schemas.microsoft.com/office/powerpoint/2010/main" val="38252248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7058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ru-RU" dirty="0"/>
              <a:t>Генераторы</a:t>
            </a:r>
            <a:r>
              <a:rPr lang="en-US" dirty="0"/>
              <a:t>. </a:t>
            </a:r>
            <a:r>
              <a:rPr lang="ru-RU" sz="2400" dirty="0"/>
              <a:t>Функция-генератор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39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8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870584" y="1044283"/>
            <a:ext cx="1050035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/>
              <a:t>Функция-генератор возвращает специальный объект, так называемый «генератор».</a:t>
            </a:r>
            <a:endParaRPr lang="ru-RU" sz="22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870584" y="2027772"/>
            <a:ext cx="6057973" cy="242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785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7058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ru-RU" dirty="0"/>
              <a:t>Генераторы</a:t>
            </a:r>
            <a:r>
              <a:rPr lang="en-US" dirty="0"/>
              <a:t>. </a:t>
            </a:r>
            <a:r>
              <a:rPr lang="ru-RU" sz="2400" dirty="0"/>
              <a:t>Функция-генератор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40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8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870583" y="631125"/>
            <a:ext cx="1089862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Создаём генератор и получаем первое из возвращаемых им значений: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 b="47787"/>
          <a:stretch/>
        </p:blipFill>
        <p:spPr bwMode="invGray">
          <a:xfrm>
            <a:off x="870583" y="1140494"/>
            <a:ext cx="5449601" cy="2900564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2"/>
          <a:srcRect t="61770" b="26814"/>
          <a:stretch/>
        </p:blipFill>
        <p:spPr bwMode="invGray">
          <a:xfrm>
            <a:off x="870583" y="4041058"/>
            <a:ext cx="5449601" cy="634181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2"/>
          <a:srcRect t="82743" b="6372"/>
          <a:stretch/>
        </p:blipFill>
        <p:spPr bwMode="invGray">
          <a:xfrm>
            <a:off x="870583" y="4675240"/>
            <a:ext cx="5449601" cy="604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2056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7058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ru-RU" dirty="0"/>
              <a:t>Генераторы</a:t>
            </a:r>
            <a:r>
              <a:rPr lang="en-US" dirty="0"/>
              <a:t>. </a:t>
            </a:r>
            <a:r>
              <a:rPr lang="ru-RU" sz="2400" dirty="0"/>
              <a:t>Перебор генераторов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41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8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70584" y="920301"/>
            <a:ext cx="1061841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Возвращаемые генератором значения можно перебирать через </a:t>
            </a:r>
            <a:r>
              <a:rPr lang="ru-RU" sz="2200" dirty="0" err="1"/>
              <a:t>for</a:t>
            </a:r>
            <a:r>
              <a:rPr lang="ru-RU" sz="2200" dirty="0"/>
              <a:t>..</a:t>
            </a:r>
            <a:r>
              <a:rPr lang="ru-RU" sz="2200" dirty="0" err="1"/>
              <a:t>of</a:t>
            </a:r>
            <a:r>
              <a:rPr lang="ru-RU" sz="2200" dirty="0"/>
              <a:t>: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870584" y="1500649"/>
            <a:ext cx="5478222" cy="3277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8349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7058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ru-RU" dirty="0"/>
              <a:t>Генераторы</a:t>
            </a:r>
            <a:r>
              <a:rPr lang="en-US" dirty="0"/>
              <a:t>. </a:t>
            </a:r>
            <a:r>
              <a:rPr lang="ru-RU" sz="2400" dirty="0"/>
              <a:t>Перебор генераторов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42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8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800695" y="920301"/>
            <a:ext cx="1076204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Генераторы являются перебираемыми объектами, соответственно, можно использовать всю связанную с ними функциональность, например оператор расширения ...: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870584" y="2185066"/>
            <a:ext cx="6389380" cy="24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9382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7058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ru-RU" dirty="0"/>
              <a:t>Генераторы</a:t>
            </a:r>
            <a:r>
              <a:rPr lang="en-US" dirty="0"/>
              <a:t>. </a:t>
            </a:r>
            <a:r>
              <a:rPr lang="ru-RU" sz="2400" dirty="0"/>
              <a:t>Композиция генераторов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43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8</a:t>
            </a:r>
            <a:endParaRPr lang="ru-RU" sz="3600" b="1" dirty="0">
              <a:solidFill>
                <a:schemeClr val="bg1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870584" y="920300"/>
            <a:ext cx="6842918" cy="565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0663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7058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ru-RU" dirty="0"/>
              <a:t>Генераторы</a:t>
            </a:r>
            <a:r>
              <a:rPr lang="en-US" dirty="0"/>
              <a:t>. 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44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8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870583" y="920301"/>
            <a:ext cx="1066265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err="1"/>
              <a:t>yield</a:t>
            </a:r>
            <a:r>
              <a:rPr lang="ru-RU" sz="2200" dirty="0"/>
              <a:t> не только возвращает результат во внешний код, но и может передавать значение извне в генератор.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870583" y="1825656"/>
            <a:ext cx="5869241" cy="240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6262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7058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ru-RU" dirty="0"/>
              <a:t>Генераторы</a:t>
            </a:r>
            <a:r>
              <a:rPr lang="en-US" dirty="0"/>
              <a:t>. 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45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5780" y="0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8</a:t>
            </a:r>
            <a:endParaRPr lang="ru-RU" sz="3600" b="1" dirty="0">
              <a:solidFill>
                <a:schemeClr val="bg1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870584" y="920301"/>
            <a:ext cx="5651466" cy="4979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4194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7058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ru-RU" dirty="0" err="1"/>
              <a:t>Колбэки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46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58434" y="16828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782153" y="920301"/>
            <a:ext cx="693330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Функция загружает на страницу новый скрипт</a:t>
            </a:r>
            <a:r>
              <a:rPr lang="en-US" sz="2200" dirty="0"/>
              <a:t>:</a:t>
            </a:r>
            <a:endParaRPr lang="ru-RU" sz="2200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782153" y="1523777"/>
            <a:ext cx="7974966" cy="2576275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782152" y="4331167"/>
            <a:ext cx="1086907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Вызов</a:t>
            </a:r>
            <a:r>
              <a:rPr lang="en-US" sz="2200" dirty="0"/>
              <a:t> </a:t>
            </a:r>
            <a:r>
              <a:rPr lang="ru-RU" sz="2200" dirty="0"/>
              <a:t>функции </a:t>
            </a:r>
            <a:r>
              <a:rPr lang="en-US" sz="2200" dirty="0" err="1"/>
              <a:t>newFunction</a:t>
            </a:r>
            <a:r>
              <a:rPr lang="en-US" sz="2200" dirty="0"/>
              <a:t>()</a:t>
            </a:r>
            <a:r>
              <a:rPr lang="ru-RU" sz="2200" dirty="0"/>
              <a:t> из </a:t>
            </a:r>
            <a:r>
              <a:rPr lang="en-US" sz="2200" dirty="0"/>
              <a:t>'/my/script.js'</a:t>
            </a:r>
            <a:r>
              <a:rPr lang="ru-RU" sz="2200" dirty="0"/>
              <a:t> после </a:t>
            </a:r>
            <a:r>
              <a:rPr lang="ru-RU" sz="2200" dirty="0" err="1"/>
              <a:t>loadScript</a:t>
            </a:r>
            <a:r>
              <a:rPr lang="ru-RU" sz="2200" dirty="0"/>
              <a:t>(…) не осуществится: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782152" y="5331723"/>
            <a:ext cx="5087706" cy="81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5094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7058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ru-RU" dirty="0" err="1"/>
              <a:t>Колбэки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47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58434" y="16828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870584" y="920301"/>
            <a:ext cx="1085438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Передадим функцию </a:t>
            </a:r>
            <a:r>
              <a:rPr lang="ru-RU" sz="2200" dirty="0" err="1"/>
              <a:t>callback</a:t>
            </a:r>
            <a:r>
              <a:rPr lang="ru-RU" sz="2200" dirty="0"/>
              <a:t> вторым аргументом в </a:t>
            </a:r>
            <a:r>
              <a:rPr lang="ru-RU" sz="2200" dirty="0" err="1"/>
              <a:t>loadScript</a:t>
            </a:r>
            <a:r>
              <a:rPr lang="ru-RU" sz="2200" dirty="0"/>
              <a:t>, чтобы вызвать ее, когда скрипт загрузится: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870584" y="1963712"/>
            <a:ext cx="7651489" cy="381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3731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7058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ru-RU" dirty="0" err="1"/>
              <a:t>Колбэки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48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58434" y="16828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870584" y="920301"/>
            <a:ext cx="274786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err="1"/>
              <a:t>Колбэк</a:t>
            </a:r>
            <a:r>
              <a:rPr lang="ru-RU" sz="2200" dirty="0"/>
              <a:t> в </a:t>
            </a:r>
            <a:r>
              <a:rPr lang="ru-RU" sz="2200" dirty="0" err="1"/>
              <a:t>колбэке</a:t>
            </a:r>
            <a:r>
              <a:rPr lang="ru-RU" sz="2200" dirty="0"/>
              <a:t>: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870584" y="1625158"/>
            <a:ext cx="7747581" cy="263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0050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7058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ru-RU" dirty="0" err="1"/>
              <a:t>Промис</a:t>
            </a:r>
            <a:r>
              <a:rPr lang="ru-RU" dirty="0"/>
              <a:t> (</a:t>
            </a:r>
            <a:r>
              <a:rPr lang="en-US" dirty="0"/>
              <a:t>Promise</a:t>
            </a:r>
            <a:r>
              <a:rPr lang="ru-RU" dirty="0"/>
              <a:t>)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49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125702" y="16828"/>
            <a:ext cx="700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10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870584" y="846561"/>
            <a:ext cx="433323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Синтаксис создания </a:t>
            </a:r>
            <a:r>
              <a:rPr lang="en-US" sz="2200" b="1" dirty="0"/>
              <a:t>Promise</a:t>
            </a:r>
            <a:r>
              <a:rPr lang="en-US" sz="2200" dirty="0"/>
              <a:t>:</a:t>
            </a:r>
            <a:endParaRPr lang="ru-RU" sz="22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870584" y="1377274"/>
            <a:ext cx="7980696" cy="982472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870583" y="2592306"/>
            <a:ext cx="1154755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Функция-исполнитель вызывает один из </a:t>
            </a:r>
            <a:r>
              <a:rPr lang="ru-RU" sz="2200" dirty="0" err="1"/>
              <a:t>колбэков</a:t>
            </a:r>
            <a:r>
              <a:rPr lang="ru-RU" sz="2200" dirty="0"/>
              <a:t>:</a:t>
            </a:r>
          </a:p>
          <a:p>
            <a:r>
              <a:rPr lang="ru-RU" sz="2200" dirty="0"/>
              <a:t>• </a:t>
            </a:r>
            <a:r>
              <a:rPr lang="ru-RU" sz="2200" b="1" dirty="0" err="1"/>
              <a:t>resolve</a:t>
            </a:r>
            <a:r>
              <a:rPr lang="ru-RU" sz="2200" b="1" dirty="0"/>
              <a:t> (</a:t>
            </a:r>
            <a:r>
              <a:rPr lang="ru-RU" sz="2200" b="1" dirty="0" err="1"/>
              <a:t>value</a:t>
            </a:r>
            <a:r>
              <a:rPr lang="ru-RU" sz="2200" b="1" dirty="0"/>
              <a:t>)</a:t>
            </a:r>
            <a:r>
              <a:rPr lang="ru-RU" sz="2200" dirty="0"/>
              <a:t> — если работа завершилась успешно, с результатом </a:t>
            </a:r>
            <a:r>
              <a:rPr lang="ru-RU" sz="2200" b="1" dirty="0" err="1"/>
              <a:t>value</a:t>
            </a:r>
            <a:r>
              <a:rPr lang="ru-RU" sz="2200" dirty="0"/>
              <a:t>.</a:t>
            </a:r>
          </a:p>
          <a:p>
            <a:r>
              <a:rPr lang="ru-RU" sz="2200" dirty="0"/>
              <a:t>• </a:t>
            </a:r>
            <a:r>
              <a:rPr lang="ru-RU" sz="2200" b="1" dirty="0" err="1"/>
              <a:t>reject</a:t>
            </a:r>
            <a:r>
              <a:rPr lang="ru-RU" sz="2200" b="1" dirty="0"/>
              <a:t> (</a:t>
            </a:r>
            <a:r>
              <a:rPr lang="ru-RU" sz="2200" b="1" dirty="0" err="1"/>
              <a:t>error</a:t>
            </a:r>
            <a:r>
              <a:rPr lang="ru-RU" sz="2200" b="1" dirty="0"/>
              <a:t>) </a:t>
            </a:r>
            <a:r>
              <a:rPr lang="ru-RU" sz="2200" dirty="0"/>
              <a:t>— если произошла ошибка, </a:t>
            </a:r>
            <a:r>
              <a:rPr lang="ru-RU" sz="2200" b="1" dirty="0" err="1"/>
              <a:t>error</a:t>
            </a:r>
            <a:r>
              <a:rPr lang="ru-RU" sz="2200" dirty="0"/>
              <a:t> – объект ошибки. 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870583" y="3768592"/>
            <a:ext cx="11235743" cy="29361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sz="2200" dirty="0"/>
              <a:t>Конструктор </a:t>
            </a:r>
            <a:r>
              <a:rPr lang="en-US" sz="2200" dirty="0"/>
              <a:t>new Promise </a:t>
            </a:r>
            <a:r>
              <a:rPr lang="ru-RU" sz="2200" dirty="0"/>
              <a:t>возвращает объект </a:t>
            </a:r>
            <a:r>
              <a:rPr lang="en-US" sz="2200" b="1" dirty="0"/>
              <a:t>promise</a:t>
            </a:r>
            <a:r>
              <a:rPr lang="en-US" sz="2200" dirty="0"/>
              <a:t>,</a:t>
            </a:r>
            <a:r>
              <a:rPr lang="ru-RU" sz="2200" dirty="0"/>
              <a:t> у которого</a:t>
            </a:r>
            <a:r>
              <a:rPr lang="en-US" sz="2200" dirty="0"/>
              <a:t> </a:t>
            </a:r>
            <a:r>
              <a:rPr lang="ru-RU" sz="2200" dirty="0"/>
              <a:t>есть внутренние свойства:</a:t>
            </a:r>
          </a:p>
          <a:p>
            <a:pPr>
              <a:lnSpc>
                <a:spcPct val="120000"/>
              </a:lnSpc>
            </a:pPr>
            <a:r>
              <a:rPr lang="ru-RU" sz="2200" dirty="0"/>
              <a:t>• </a:t>
            </a:r>
            <a:r>
              <a:rPr lang="en-US" sz="2200" b="1" dirty="0"/>
              <a:t>state</a:t>
            </a:r>
            <a:r>
              <a:rPr lang="en-US" sz="2200" dirty="0"/>
              <a:t> («</a:t>
            </a:r>
            <a:r>
              <a:rPr lang="ru-RU" sz="2200" dirty="0"/>
              <a:t>состояние») — вначале "</a:t>
            </a:r>
            <a:r>
              <a:rPr lang="en-US" sz="2200" b="1" dirty="0"/>
              <a:t>pending</a:t>
            </a:r>
            <a:r>
              <a:rPr lang="en-US" sz="2200" dirty="0"/>
              <a:t>" («</a:t>
            </a:r>
            <a:r>
              <a:rPr lang="ru-RU" sz="2200" dirty="0"/>
              <a:t>ожидание»), потом меняется на "</a:t>
            </a:r>
            <a:r>
              <a:rPr lang="en-US" sz="2200" b="1" dirty="0"/>
              <a:t>fulfilled</a:t>
            </a:r>
            <a:r>
              <a:rPr lang="en-US" sz="2200" dirty="0"/>
              <a:t>" («</a:t>
            </a:r>
            <a:r>
              <a:rPr lang="ru-RU" sz="2200" dirty="0"/>
              <a:t>выполнено успешно») при вызове </a:t>
            </a:r>
            <a:r>
              <a:rPr lang="en-US" sz="2200" dirty="0"/>
              <a:t>resolve </a:t>
            </a:r>
            <a:r>
              <a:rPr lang="ru-RU" sz="2200" dirty="0"/>
              <a:t>или на "</a:t>
            </a:r>
            <a:r>
              <a:rPr lang="en-US" sz="2200" b="1" dirty="0"/>
              <a:t>rejected</a:t>
            </a:r>
            <a:r>
              <a:rPr lang="en-US" sz="2200" dirty="0"/>
              <a:t>" («</a:t>
            </a:r>
            <a:r>
              <a:rPr lang="ru-RU" sz="2200" dirty="0"/>
              <a:t>выполнено с ошибкой») при вызове </a:t>
            </a:r>
            <a:r>
              <a:rPr lang="en-US" sz="2200" dirty="0"/>
              <a:t>reject.</a:t>
            </a:r>
          </a:p>
          <a:p>
            <a:pPr>
              <a:lnSpc>
                <a:spcPct val="120000"/>
              </a:lnSpc>
            </a:pPr>
            <a:r>
              <a:rPr lang="en-US" sz="2200" dirty="0"/>
              <a:t>•</a:t>
            </a:r>
            <a:r>
              <a:rPr lang="ru-RU" sz="2200" dirty="0"/>
              <a:t> </a:t>
            </a:r>
            <a:r>
              <a:rPr lang="en-US" sz="2200" b="1" dirty="0"/>
              <a:t>result</a:t>
            </a:r>
            <a:r>
              <a:rPr lang="en-US" sz="2200" dirty="0"/>
              <a:t> («</a:t>
            </a:r>
            <a:r>
              <a:rPr lang="ru-RU" sz="2200" dirty="0"/>
              <a:t>результат») — вначале </a:t>
            </a:r>
            <a:r>
              <a:rPr lang="en-US" sz="2200" b="1" dirty="0"/>
              <a:t>undefined</a:t>
            </a:r>
            <a:r>
              <a:rPr lang="en-US" sz="2200" dirty="0"/>
              <a:t>, </a:t>
            </a:r>
            <a:r>
              <a:rPr lang="ru-RU" sz="2200" dirty="0"/>
              <a:t>далее изменяется на </a:t>
            </a:r>
            <a:r>
              <a:rPr lang="en-US" sz="2200" b="1" dirty="0"/>
              <a:t>value</a:t>
            </a:r>
            <a:r>
              <a:rPr lang="en-US" sz="2200" dirty="0"/>
              <a:t> </a:t>
            </a:r>
            <a:r>
              <a:rPr lang="ru-RU" sz="2200" dirty="0"/>
              <a:t>при вызове </a:t>
            </a:r>
            <a:r>
              <a:rPr lang="en-US" sz="2200" dirty="0"/>
              <a:t>resolve(value) </a:t>
            </a:r>
            <a:r>
              <a:rPr lang="ru-RU" sz="2200" dirty="0"/>
              <a:t>или на </a:t>
            </a:r>
            <a:r>
              <a:rPr lang="en-US" sz="2200" b="1" dirty="0"/>
              <a:t>error</a:t>
            </a:r>
            <a:r>
              <a:rPr lang="en-US" sz="2200" dirty="0"/>
              <a:t> </a:t>
            </a:r>
            <a:r>
              <a:rPr lang="ru-RU" sz="2200" dirty="0"/>
              <a:t>при вызове </a:t>
            </a:r>
            <a:r>
              <a:rPr lang="en-US" sz="2200" dirty="0"/>
              <a:t>reject(error).</a:t>
            </a:r>
          </a:p>
        </p:txBody>
      </p:sp>
    </p:spTree>
    <p:extLst>
      <p:ext uri="{BB962C8B-B14F-4D97-AF65-F5344CB8AC3E}">
        <p14:creationId xmlns:p14="http://schemas.microsoft.com/office/powerpoint/2010/main" val="13224863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7058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ru-RU" dirty="0" err="1"/>
              <a:t>Промис</a:t>
            </a:r>
            <a:r>
              <a:rPr lang="ru-RU" dirty="0"/>
              <a:t> (</a:t>
            </a:r>
            <a:r>
              <a:rPr lang="en-US" dirty="0"/>
              <a:t>Promise</a:t>
            </a:r>
            <a:r>
              <a:rPr lang="ru-RU" dirty="0"/>
              <a:t>)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50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125702" y="16828"/>
            <a:ext cx="700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10</a:t>
            </a:r>
            <a:endParaRPr lang="ru-RU" sz="3600" b="1" dirty="0">
              <a:solidFill>
                <a:schemeClr val="bg1"/>
              </a:solidFill>
            </a:endParaRPr>
          </a:p>
        </p:txBody>
      </p:sp>
      <p:pic>
        <p:nvPicPr>
          <p:cNvPr id="11" name="Рисунок 10"/>
          <p:cNvPicPr/>
          <p:nvPr/>
        </p:nvPicPr>
        <p:blipFill>
          <a:blip r:embed="rId2"/>
          <a:stretch>
            <a:fillRect/>
          </a:stretch>
        </p:blipFill>
        <p:spPr>
          <a:xfrm>
            <a:off x="870584" y="1173110"/>
            <a:ext cx="8686372" cy="432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7124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7058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ru-RU" dirty="0" err="1"/>
              <a:t>Промис</a:t>
            </a:r>
            <a:r>
              <a:rPr lang="ru-RU" dirty="0"/>
              <a:t> (</a:t>
            </a:r>
            <a:r>
              <a:rPr lang="en-US" dirty="0"/>
              <a:t>Promise</a:t>
            </a:r>
            <a:r>
              <a:rPr lang="ru-RU" dirty="0"/>
              <a:t>)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51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125702" y="16828"/>
            <a:ext cx="700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10</a:t>
            </a:r>
            <a:endParaRPr lang="ru-RU" sz="3600" b="1" dirty="0">
              <a:solidFill>
                <a:schemeClr val="bg1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74776" y="1731468"/>
            <a:ext cx="8464110" cy="1055983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3"/>
          <a:stretch>
            <a:fillRect/>
          </a:stretch>
        </p:blipFill>
        <p:spPr>
          <a:xfrm>
            <a:off x="974776" y="3341639"/>
            <a:ext cx="9039379" cy="2320454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974776" y="1041359"/>
            <a:ext cx="662873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Функция-исполнитель выполнилась успешно:</a:t>
            </a:r>
          </a:p>
        </p:txBody>
      </p:sp>
    </p:spTree>
    <p:extLst>
      <p:ext uri="{BB962C8B-B14F-4D97-AF65-F5344CB8AC3E}">
        <p14:creationId xmlns:p14="http://schemas.microsoft.com/office/powerpoint/2010/main" val="30358591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7058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ru-RU" dirty="0" err="1"/>
              <a:t>Промис</a:t>
            </a:r>
            <a:r>
              <a:rPr lang="ru-RU" dirty="0"/>
              <a:t> (</a:t>
            </a:r>
            <a:r>
              <a:rPr lang="en-US" dirty="0"/>
              <a:t>Promise</a:t>
            </a:r>
            <a:r>
              <a:rPr lang="ru-RU" dirty="0"/>
              <a:t>)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52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125702" y="16828"/>
            <a:ext cx="700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10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974776" y="1041359"/>
            <a:ext cx="689804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Функция-исполнитель выполнилась с ошибкой: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870584" y="1557711"/>
            <a:ext cx="9323912" cy="1126495"/>
          </a:xfrm>
          <a:prstGeom prst="rect">
            <a:avLst/>
          </a:prstGeom>
        </p:spPr>
      </p:pic>
      <p:pic>
        <p:nvPicPr>
          <p:cNvPr id="12" name="Рисунок 11"/>
          <p:cNvPicPr/>
          <p:nvPr/>
        </p:nvPicPr>
        <p:blipFill>
          <a:blip r:embed="rId3"/>
          <a:stretch>
            <a:fillRect/>
          </a:stretch>
        </p:blipFill>
        <p:spPr>
          <a:xfrm>
            <a:off x="974776" y="3336518"/>
            <a:ext cx="9236712" cy="237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2153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7058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ru-RU" dirty="0" err="1"/>
              <a:t>Промис</a:t>
            </a:r>
            <a:r>
              <a:rPr lang="ru-RU" dirty="0"/>
              <a:t> (</a:t>
            </a:r>
            <a:r>
              <a:rPr lang="en-US" dirty="0"/>
              <a:t>Promise</a:t>
            </a:r>
            <a:r>
              <a:rPr lang="ru-RU" dirty="0"/>
              <a:t>)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53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125702" y="16828"/>
            <a:ext cx="700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10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70584" y="920301"/>
            <a:ext cx="1085438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Состояние </a:t>
            </a:r>
            <a:r>
              <a:rPr lang="ru-RU" sz="2200" dirty="0" err="1"/>
              <a:t>промиса</a:t>
            </a:r>
            <a:r>
              <a:rPr lang="ru-RU" sz="2200" dirty="0"/>
              <a:t> может быть изменено только один раз. Все последующие вызовы </a:t>
            </a:r>
            <a:r>
              <a:rPr lang="ru-RU" sz="2200" dirty="0" err="1"/>
              <a:t>resolve</a:t>
            </a:r>
            <a:r>
              <a:rPr lang="ru-RU" sz="2200" dirty="0"/>
              <a:t> и </a:t>
            </a:r>
            <a:r>
              <a:rPr lang="ru-RU" sz="2200" dirty="0" err="1"/>
              <a:t>reject</a:t>
            </a:r>
            <a:r>
              <a:rPr lang="ru-RU" sz="2200" dirty="0"/>
              <a:t> будут проигнорированы: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97053" y="1963712"/>
            <a:ext cx="9086278" cy="2077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3474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7058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ru-RU" dirty="0" err="1"/>
              <a:t>Промис</a:t>
            </a:r>
            <a:r>
              <a:rPr lang="ru-RU" dirty="0"/>
              <a:t> (</a:t>
            </a:r>
            <a:r>
              <a:rPr lang="en-US" dirty="0"/>
              <a:t>Promise</a:t>
            </a:r>
            <a:r>
              <a:rPr lang="ru-RU" dirty="0"/>
              <a:t>)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54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125702" y="16828"/>
            <a:ext cx="700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10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833916" y="920301"/>
            <a:ext cx="11068031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Объект </a:t>
            </a:r>
            <a:r>
              <a:rPr lang="ru-RU" sz="2200" dirty="0" err="1"/>
              <a:t>Promise</a:t>
            </a:r>
            <a:r>
              <a:rPr lang="ru-RU" sz="2200" dirty="0"/>
              <a:t> служит связывает функцию-исполнителя и функции-потребителей, которые получат либо результат, либо ошибку. Функции-потребители могут быть зарегистрированы с помощью методов </a:t>
            </a:r>
            <a:r>
              <a:rPr lang="ru-RU" sz="2200" b="1" dirty="0"/>
              <a:t>.</a:t>
            </a:r>
            <a:r>
              <a:rPr lang="ru-RU" sz="2200" b="1" dirty="0" err="1"/>
              <a:t>then</a:t>
            </a:r>
            <a:r>
              <a:rPr lang="ru-RU" sz="2200" b="1" dirty="0"/>
              <a:t>, .</a:t>
            </a:r>
            <a:r>
              <a:rPr lang="ru-RU" sz="2200" b="1" dirty="0" err="1"/>
              <a:t>catch</a:t>
            </a:r>
            <a:r>
              <a:rPr lang="ru-RU" sz="2200" dirty="0"/>
              <a:t> и </a:t>
            </a:r>
            <a:r>
              <a:rPr lang="ru-RU" sz="2200" b="1" dirty="0"/>
              <a:t>.</a:t>
            </a:r>
            <a:r>
              <a:rPr lang="ru-RU" sz="2200" b="1" dirty="0" err="1"/>
              <a:t>finally</a:t>
            </a:r>
            <a:r>
              <a:rPr lang="ru-RU" sz="2200" dirty="0"/>
              <a:t>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870584" y="2640821"/>
            <a:ext cx="6096000" cy="4308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200" dirty="0"/>
              <a:t>Метод  .</a:t>
            </a:r>
            <a:r>
              <a:rPr lang="en-US" sz="2200" dirty="0"/>
              <a:t>then.</a:t>
            </a:r>
            <a:r>
              <a:rPr lang="ru-RU" sz="2200" dirty="0"/>
              <a:t> Синтаксис: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870584" y="3103166"/>
            <a:ext cx="9851494" cy="140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2765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7058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ru-RU" dirty="0" err="1"/>
              <a:t>Промис</a:t>
            </a:r>
            <a:r>
              <a:rPr lang="ru-RU" dirty="0"/>
              <a:t> (</a:t>
            </a:r>
            <a:r>
              <a:rPr lang="en-US" dirty="0"/>
              <a:t>Promise</a:t>
            </a:r>
            <a:r>
              <a:rPr lang="ru-RU" dirty="0"/>
              <a:t>)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55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125702" y="16828"/>
            <a:ext cx="700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10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70584" y="920301"/>
            <a:ext cx="478528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Успешно выполненный </a:t>
            </a:r>
            <a:r>
              <a:rPr lang="ru-RU" sz="2200" dirty="0" err="1"/>
              <a:t>промис</a:t>
            </a:r>
            <a:r>
              <a:rPr lang="ru-RU" sz="2200" dirty="0"/>
              <a:t>: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870584" y="1457171"/>
            <a:ext cx="8922345" cy="2643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8118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7058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ru-RU" dirty="0" err="1"/>
              <a:t>Промис</a:t>
            </a:r>
            <a:r>
              <a:rPr lang="ru-RU" dirty="0"/>
              <a:t> (</a:t>
            </a:r>
            <a:r>
              <a:rPr lang="en-US" dirty="0"/>
              <a:t>Promise</a:t>
            </a:r>
            <a:r>
              <a:rPr lang="ru-RU" dirty="0"/>
              <a:t>)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56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125702" y="16828"/>
            <a:ext cx="700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10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870584" y="846561"/>
            <a:ext cx="309091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Ошибка в </a:t>
            </a:r>
            <a:r>
              <a:rPr lang="ru-RU" sz="2200" dirty="0" err="1"/>
              <a:t>промисе</a:t>
            </a:r>
            <a:r>
              <a:rPr lang="ru-RU" sz="2200" dirty="0"/>
              <a:t> 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870584" y="1277448"/>
            <a:ext cx="8804358" cy="2588547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870584" y="4228241"/>
            <a:ext cx="675697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В </a:t>
            </a:r>
            <a:r>
              <a:rPr lang="ru-RU" sz="2200" dirty="0" err="1"/>
              <a:t>then</a:t>
            </a:r>
            <a:r>
              <a:rPr lang="ru-RU" sz="2200" dirty="0"/>
              <a:t> можно передать только одну функцию: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870584" y="4831019"/>
            <a:ext cx="6788403" cy="1614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8848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7058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ru-RU" dirty="0" err="1"/>
              <a:t>Промис</a:t>
            </a:r>
            <a:r>
              <a:rPr lang="ru-RU" dirty="0"/>
              <a:t> (</a:t>
            </a:r>
            <a:r>
              <a:rPr lang="en-US" dirty="0"/>
              <a:t>Promise</a:t>
            </a:r>
            <a:r>
              <a:rPr lang="ru-RU" dirty="0"/>
              <a:t>)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57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125702" y="16828"/>
            <a:ext cx="700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10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70584" y="920301"/>
            <a:ext cx="1086913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Чтобы обработать только ошибку можно использовать метод .</a:t>
            </a:r>
            <a:r>
              <a:rPr lang="ru-RU" sz="2200" b="1" dirty="0" err="1"/>
              <a:t>catch</a:t>
            </a:r>
            <a:r>
              <a:rPr lang="ru-RU" sz="2200" dirty="0"/>
              <a:t>(</a:t>
            </a:r>
            <a:r>
              <a:rPr lang="ru-RU" sz="2200" dirty="0" err="1"/>
              <a:t>errorHandlingFunction</a:t>
            </a:r>
            <a:r>
              <a:rPr lang="ru-RU" sz="2200" dirty="0"/>
              <a:t>):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870584" y="1963711"/>
            <a:ext cx="8616062" cy="190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54463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7058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ru-RU" dirty="0" err="1"/>
              <a:t>Промис</a:t>
            </a:r>
            <a:r>
              <a:rPr lang="ru-RU" dirty="0"/>
              <a:t> (</a:t>
            </a:r>
            <a:r>
              <a:rPr lang="en-US" dirty="0"/>
              <a:t>Promise</a:t>
            </a:r>
            <a:r>
              <a:rPr lang="ru-RU" dirty="0"/>
              <a:t>)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58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125702" y="16828"/>
            <a:ext cx="700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10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870584" y="920301"/>
            <a:ext cx="10942874" cy="374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sz="2200" dirty="0"/>
              <a:t>Вызов </a:t>
            </a:r>
            <a:r>
              <a:rPr lang="ru-RU" sz="2200" b="1" dirty="0"/>
              <a:t>.</a:t>
            </a:r>
            <a:r>
              <a:rPr lang="ru-RU" sz="2200" b="1" dirty="0" err="1"/>
              <a:t>finally</a:t>
            </a:r>
            <a:r>
              <a:rPr lang="ru-RU" sz="2200" b="1" dirty="0"/>
              <a:t>(f) </a:t>
            </a:r>
            <a:r>
              <a:rPr lang="ru-RU" sz="2200" dirty="0"/>
              <a:t>похож на .</a:t>
            </a:r>
            <a:r>
              <a:rPr lang="ru-RU" sz="2200" dirty="0" err="1"/>
              <a:t>then</a:t>
            </a:r>
            <a:r>
              <a:rPr lang="ru-RU" sz="2200" dirty="0"/>
              <a:t>(f, f), в том смысле, что f выполнится в любом случае, когда </a:t>
            </a:r>
            <a:r>
              <a:rPr lang="ru-RU" sz="2200" dirty="0" err="1"/>
              <a:t>промис</a:t>
            </a:r>
            <a:r>
              <a:rPr lang="ru-RU" sz="2200" dirty="0"/>
              <a:t> завершится: успешно или с ошибкой.</a:t>
            </a:r>
          </a:p>
          <a:p>
            <a:pPr>
              <a:lnSpc>
                <a:spcPct val="120000"/>
              </a:lnSpc>
            </a:pPr>
            <a:r>
              <a:rPr lang="ru-RU" sz="2200" dirty="0"/>
              <a:t>Существует несколько важных отличий: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ru-RU" sz="2200" dirty="0"/>
              <a:t>Обработчик, вызываемый из </a:t>
            </a:r>
            <a:r>
              <a:rPr lang="ru-RU" sz="2200" dirty="0" err="1"/>
              <a:t>finally</a:t>
            </a:r>
            <a:r>
              <a:rPr lang="ru-RU" sz="2200" dirty="0"/>
              <a:t>, не имеет аргументов. В </a:t>
            </a:r>
            <a:r>
              <a:rPr lang="ru-RU" sz="2200" dirty="0" err="1"/>
              <a:t>finally</a:t>
            </a:r>
            <a:r>
              <a:rPr lang="ru-RU" sz="2200" dirty="0"/>
              <a:t> мы не знаем, как был завершён </a:t>
            </a:r>
            <a:r>
              <a:rPr lang="ru-RU" sz="2200" dirty="0" err="1"/>
              <a:t>промис</a:t>
            </a:r>
            <a:r>
              <a:rPr lang="ru-RU" sz="2200" dirty="0"/>
              <a:t>. 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ru-RU" sz="2200" dirty="0"/>
              <a:t>Обработчик </a:t>
            </a:r>
            <a:r>
              <a:rPr lang="ru-RU" sz="2200" dirty="0" err="1"/>
              <a:t>finally</a:t>
            </a:r>
            <a:r>
              <a:rPr lang="ru-RU" sz="2200" dirty="0"/>
              <a:t> «пропускает» результат или ошибку дальше, к последующим обработчикам.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ru-RU" sz="2200" dirty="0"/>
              <a:t>Вызов .</a:t>
            </a:r>
            <a:r>
              <a:rPr lang="ru-RU" sz="2200" dirty="0" err="1"/>
              <a:t>finally</a:t>
            </a:r>
            <a:r>
              <a:rPr lang="ru-RU" sz="2200" dirty="0"/>
              <a:t>(f) удобнее, чем .</a:t>
            </a:r>
            <a:r>
              <a:rPr lang="ru-RU" sz="2200" dirty="0" err="1"/>
              <a:t>then</a:t>
            </a:r>
            <a:r>
              <a:rPr lang="ru-RU" sz="2200" dirty="0"/>
              <a:t>(f, f) – не надо дублировать функции </a:t>
            </a:r>
            <a:r>
              <a:rPr lang="en-US" sz="2200" dirty="0"/>
              <a:t>f.</a:t>
            </a:r>
            <a:endParaRPr lang="ru-RU" sz="2200" dirty="0"/>
          </a:p>
          <a:p>
            <a:pPr>
              <a:lnSpc>
                <a:spcPct val="120000"/>
              </a:lnSpc>
            </a:pP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293098951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7058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ru-RU" dirty="0" err="1"/>
              <a:t>Промис</a:t>
            </a:r>
            <a:r>
              <a:rPr lang="ru-RU" dirty="0"/>
              <a:t> (</a:t>
            </a:r>
            <a:r>
              <a:rPr lang="en-US" dirty="0"/>
              <a:t>Promise</a:t>
            </a:r>
            <a:r>
              <a:rPr lang="ru-RU" dirty="0"/>
              <a:t>)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59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125702" y="16828"/>
            <a:ext cx="700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10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70584" y="920301"/>
            <a:ext cx="599875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Результат передается через </a:t>
            </a:r>
            <a:r>
              <a:rPr lang="ru-RU" sz="2200" dirty="0" err="1"/>
              <a:t>finally</a:t>
            </a:r>
            <a:r>
              <a:rPr lang="ru-RU" sz="2200" dirty="0"/>
              <a:t> к </a:t>
            </a:r>
            <a:r>
              <a:rPr lang="ru-RU" sz="2200" dirty="0" err="1"/>
              <a:t>then</a:t>
            </a:r>
            <a:r>
              <a:rPr lang="ru-RU" sz="2200" dirty="0"/>
              <a:t>: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769033" y="3314810"/>
            <a:ext cx="841716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 </a:t>
            </a:r>
            <a:r>
              <a:rPr lang="ru-RU" sz="2200" dirty="0"/>
              <a:t>Ошибка из </a:t>
            </a:r>
            <a:r>
              <a:rPr lang="ru-RU" sz="2200" dirty="0" err="1"/>
              <a:t>промиса</a:t>
            </a:r>
            <a:r>
              <a:rPr lang="ru-RU" sz="2200" dirty="0"/>
              <a:t> проходит через </a:t>
            </a:r>
            <a:r>
              <a:rPr lang="ru-RU" sz="2200" dirty="0" err="1"/>
              <a:t>finally</a:t>
            </a:r>
            <a:r>
              <a:rPr lang="ru-RU" sz="2200" dirty="0"/>
              <a:t> к </a:t>
            </a:r>
            <a:r>
              <a:rPr lang="ru-RU" sz="2200" dirty="0" err="1"/>
              <a:t>catch</a:t>
            </a:r>
            <a:r>
              <a:rPr lang="ru-RU" sz="2200" dirty="0"/>
              <a:t>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09711" y="1383570"/>
            <a:ext cx="6862689" cy="161661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909711" y="3883345"/>
            <a:ext cx="6611966" cy="1557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8490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7058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ru-RU" dirty="0" err="1"/>
              <a:t>Промис</a:t>
            </a:r>
            <a:r>
              <a:rPr lang="ru-RU" dirty="0"/>
              <a:t> (</a:t>
            </a:r>
            <a:r>
              <a:rPr lang="en-US" dirty="0"/>
              <a:t>Promise</a:t>
            </a:r>
            <a:r>
              <a:rPr lang="ru-RU" dirty="0"/>
              <a:t>)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60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125702" y="16828"/>
            <a:ext cx="700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10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868261" y="1063842"/>
            <a:ext cx="594425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Функция </a:t>
            </a:r>
            <a:r>
              <a:rPr lang="ru-RU" sz="2200" dirty="0" err="1"/>
              <a:t>loadScript</a:t>
            </a:r>
            <a:r>
              <a:rPr lang="ru-RU" sz="2200" dirty="0"/>
              <a:t> для загрузки скрипта: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868261" y="1663730"/>
            <a:ext cx="10937978" cy="2628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89213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7058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ru-RU" dirty="0" err="1"/>
              <a:t>Промис</a:t>
            </a:r>
            <a:r>
              <a:rPr lang="ru-RU" dirty="0"/>
              <a:t> (</a:t>
            </a:r>
            <a:r>
              <a:rPr lang="en-US" dirty="0"/>
              <a:t>Promise</a:t>
            </a:r>
            <a:r>
              <a:rPr lang="ru-RU" dirty="0"/>
              <a:t>)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61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125702" y="16828"/>
            <a:ext cx="700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10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49132" y="782417"/>
            <a:ext cx="606448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Реализация </a:t>
            </a:r>
            <a:r>
              <a:rPr lang="ru-RU" sz="2200" dirty="0" err="1"/>
              <a:t>loadScript</a:t>
            </a:r>
            <a:r>
              <a:rPr lang="ru-RU" sz="2200" dirty="0"/>
              <a:t>, используя </a:t>
            </a:r>
            <a:r>
              <a:rPr lang="en-US" sz="2200" dirty="0"/>
              <a:t>Promise</a:t>
            </a:r>
            <a:r>
              <a:rPr lang="ru-RU" sz="2200" dirty="0"/>
              <a:t>: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649132" y="1332562"/>
            <a:ext cx="10393806" cy="536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6678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7058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ru-RU" dirty="0" err="1"/>
              <a:t>Промисификация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62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125702" y="16828"/>
            <a:ext cx="700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1</a:t>
            </a:r>
            <a:r>
              <a:rPr lang="ru-RU" sz="36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859392" y="993503"/>
            <a:ext cx="49263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Функция </a:t>
            </a:r>
            <a:r>
              <a:rPr lang="en-US" sz="2200" dirty="0" err="1"/>
              <a:t>loadScript</a:t>
            </a:r>
            <a:r>
              <a:rPr lang="en-US" sz="2200" dirty="0"/>
              <a:t>(</a:t>
            </a:r>
            <a:r>
              <a:rPr lang="en-US" sz="2200" dirty="0" err="1"/>
              <a:t>src</a:t>
            </a:r>
            <a:r>
              <a:rPr lang="en-US" sz="2200" dirty="0"/>
              <a:t>, callback)</a:t>
            </a:r>
            <a:r>
              <a:rPr lang="ru-RU" sz="2200" dirty="0"/>
              <a:t>:</a:t>
            </a:r>
            <a:r>
              <a:rPr lang="en-US" sz="2200" dirty="0"/>
              <a:t> </a:t>
            </a:r>
            <a:endParaRPr lang="ru-RU" sz="22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859391" y="1424390"/>
            <a:ext cx="11031343" cy="314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92917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7058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ru-RU" dirty="0" err="1"/>
              <a:t>Промисификация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63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125702" y="16828"/>
            <a:ext cx="700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1</a:t>
            </a:r>
            <a:r>
              <a:rPr lang="ru-RU" sz="36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867508" y="1040061"/>
            <a:ext cx="1110409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Функция </a:t>
            </a:r>
            <a:r>
              <a:rPr lang="ru-RU" sz="2200" dirty="0" err="1"/>
              <a:t>loadScriptPromise</a:t>
            </a:r>
            <a:r>
              <a:rPr lang="ru-RU" sz="2200" dirty="0"/>
              <a:t>(</a:t>
            </a:r>
            <a:r>
              <a:rPr lang="ru-RU" sz="2200" dirty="0" err="1"/>
              <a:t>src</a:t>
            </a:r>
            <a:r>
              <a:rPr lang="ru-RU" sz="2200" dirty="0"/>
              <a:t>) принимает только </a:t>
            </a:r>
            <a:r>
              <a:rPr lang="ru-RU" sz="2200" dirty="0" err="1"/>
              <a:t>src</a:t>
            </a:r>
            <a:r>
              <a:rPr lang="ru-RU" sz="2200" dirty="0"/>
              <a:t> (не </a:t>
            </a:r>
            <a:r>
              <a:rPr lang="ru-RU" sz="2200" dirty="0" err="1"/>
              <a:t>callback</a:t>
            </a:r>
            <a:r>
              <a:rPr lang="ru-RU" sz="2200" dirty="0"/>
              <a:t>) и возвращает </a:t>
            </a:r>
            <a:r>
              <a:rPr lang="ru-RU" sz="2200" dirty="0" err="1"/>
              <a:t>промис</a:t>
            </a:r>
            <a:r>
              <a:rPr lang="ru-RU" sz="2200" dirty="0"/>
              <a:t>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95055" y="1918496"/>
            <a:ext cx="7040224" cy="297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66751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7058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ru-RU" dirty="0" err="1"/>
              <a:t>Промисификация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64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125702" y="16828"/>
            <a:ext cx="700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1</a:t>
            </a:r>
            <a:r>
              <a:rPr lang="ru-RU" sz="36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833917" y="746539"/>
            <a:ext cx="1099155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Функция </a:t>
            </a:r>
            <a:r>
              <a:rPr lang="ru-RU" sz="2200" dirty="0" err="1"/>
              <a:t>promisify</a:t>
            </a:r>
            <a:r>
              <a:rPr lang="ru-RU" sz="2200" dirty="0"/>
              <a:t>(f) она принимает функцию для </a:t>
            </a:r>
            <a:r>
              <a:rPr lang="ru-RU" sz="2200" dirty="0" err="1"/>
              <a:t>промисификации</a:t>
            </a:r>
            <a:r>
              <a:rPr lang="ru-RU" sz="2200" dirty="0"/>
              <a:t> f и возвращает функцию-обёртку: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870584" y="1515980"/>
            <a:ext cx="6474113" cy="5073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0589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7058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en-US" dirty="0" err="1"/>
              <a:t>Async</a:t>
            </a:r>
            <a:r>
              <a:rPr lang="en-US" dirty="0"/>
              <a:t>/await</a:t>
            </a:r>
            <a:r>
              <a:rPr lang="ru-RU" dirty="0"/>
              <a:t>. </a:t>
            </a:r>
            <a:r>
              <a:rPr lang="ru-RU" sz="2400" dirty="0"/>
              <a:t>Асинхронные функции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65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125702" y="16828"/>
            <a:ext cx="700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1</a:t>
            </a:r>
            <a:r>
              <a:rPr lang="ru-RU" sz="36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825304" y="703443"/>
            <a:ext cx="1107596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Ключевое слов </a:t>
            </a:r>
            <a:r>
              <a:rPr lang="ru-RU" sz="2200" dirty="0" err="1"/>
              <a:t>async</a:t>
            </a:r>
            <a:r>
              <a:rPr lang="ru-RU" sz="2200" dirty="0"/>
              <a:t> ставится перед функцией, вот так: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839372" y="2346181"/>
            <a:ext cx="1116037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Функция возвращает выполненный </a:t>
            </a:r>
            <a:r>
              <a:rPr lang="ru-RU" sz="2200" dirty="0" err="1"/>
              <a:t>промис</a:t>
            </a:r>
            <a:r>
              <a:rPr lang="ru-RU" sz="2200" dirty="0"/>
              <a:t> с результатом 1: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828769" y="4637035"/>
            <a:ext cx="433644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Можно явно вернуть </a:t>
            </a:r>
            <a:r>
              <a:rPr lang="ru-RU" sz="2200" dirty="0" err="1"/>
              <a:t>промис</a:t>
            </a:r>
            <a:r>
              <a:rPr lang="ru-RU" sz="2200" dirty="0"/>
              <a:t>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65981" y="1146979"/>
            <a:ext cx="3790230" cy="99153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965981" y="2790926"/>
            <a:ext cx="3841994" cy="156468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invGray">
          <a:xfrm>
            <a:off x="965981" y="5145479"/>
            <a:ext cx="4518129" cy="150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34680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7058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en-US" dirty="0" err="1"/>
              <a:t>Async</a:t>
            </a:r>
            <a:r>
              <a:rPr lang="en-US" dirty="0"/>
              <a:t>/await</a:t>
            </a:r>
            <a:r>
              <a:rPr lang="ru-RU" dirty="0"/>
              <a:t>. </a:t>
            </a:r>
            <a:r>
              <a:rPr lang="en-US" sz="2400" dirty="0"/>
              <a:t>Await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66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125702" y="16828"/>
            <a:ext cx="700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1</a:t>
            </a:r>
            <a:r>
              <a:rPr lang="ru-RU" sz="36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863292" y="993503"/>
            <a:ext cx="181331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Синтаксис: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872544" y="2147054"/>
            <a:ext cx="682911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err="1"/>
              <a:t>Промис</a:t>
            </a:r>
            <a:r>
              <a:rPr lang="ru-RU" sz="2200" dirty="0"/>
              <a:t> успешно выполнится через 1 секунду: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51914" y="1442821"/>
            <a:ext cx="5231637" cy="414387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951914" y="2577941"/>
            <a:ext cx="7651711" cy="355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49790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70584" y="16828"/>
            <a:ext cx="12052223" cy="629503"/>
          </a:xfrm>
        </p:spPr>
        <p:txBody>
          <a:bodyPr>
            <a:noAutofit/>
          </a:bodyPr>
          <a:lstStyle/>
          <a:p>
            <a:pPr lvl="0"/>
            <a:r>
              <a:rPr lang="en-US" dirty="0" err="1"/>
              <a:t>Async</a:t>
            </a:r>
            <a:r>
              <a:rPr lang="en-US" dirty="0"/>
              <a:t>/await</a:t>
            </a:r>
            <a:r>
              <a:rPr lang="ru-RU" dirty="0"/>
              <a:t>. </a:t>
            </a:r>
            <a:r>
              <a:rPr lang="en-US" sz="2400" dirty="0"/>
              <a:t>Await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67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125702" y="16828"/>
            <a:ext cx="700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1</a:t>
            </a:r>
            <a:r>
              <a:rPr lang="ru-RU" sz="36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03886" y="649752"/>
            <a:ext cx="687560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err="1"/>
              <a:t>await</a:t>
            </a:r>
            <a:r>
              <a:rPr lang="ru-RU" sz="2200" dirty="0"/>
              <a:t> нельзя использовать в обычных функциях: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895644" y="2410391"/>
            <a:ext cx="1014749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err="1"/>
              <a:t>await</a:t>
            </a:r>
            <a:r>
              <a:rPr lang="ru-RU" sz="2200" dirty="0"/>
              <a:t> нельзя использовать на верхнем уровне вложенности: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830329" y="3748572"/>
            <a:ext cx="1209247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Можно обернуть этот код в анонимную </a:t>
            </a:r>
            <a:r>
              <a:rPr lang="ru-RU" sz="2200" dirty="0" err="1"/>
              <a:t>async</a:t>
            </a:r>
            <a:r>
              <a:rPr lang="ru-RU" sz="2200" dirty="0"/>
              <a:t>–функцию, тогда всё заработает: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03886" y="1055784"/>
            <a:ext cx="6473970" cy="122286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903886" y="2840292"/>
            <a:ext cx="9936179" cy="654106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invGray">
          <a:xfrm>
            <a:off x="870584" y="4375568"/>
            <a:ext cx="10199771" cy="163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781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Индикатор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1185</TotalTime>
  <Words>1637</Words>
  <Application>Microsoft Office PowerPoint</Application>
  <PresentationFormat>Широкоэкранный</PresentationFormat>
  <Paragraphs>300</Paragraphs>
  <Slides>67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67</vt:i4>
      </vt:variant>
    </vt:vector>
  </HeadingPairs>
  <TitlesOfParts>
    <vt:vector size="72" baseType="lpstr">
      <vt:lpstr>Arial</vt:lpstr>
      <vt:lpstr>Calibri</vt:lpstr>
      <vt:lpstr>Calibri Light</vt:lpstr>
      <vt:lpstr>Courier New</vt:lpstr>
      <vt:lpstr>Тема Office</vt:lpstr>
      <vt:lpstr>Тема 3  Функции и замыкания</vt:lpstr>
      <vt:lpstr>Вопросы:</vt:lpstr>
      <vt:lpstr>Глобальный объект</vt:lpstr>
      <vt:lpstr>Глобальный объект</vt:lpstr>
      <vt:lpstr>Замыкания, внутренняя работа функции. </vt:lpstr>
      <vt:lpstr>Замыкания, внутренняя работа функции. Лексическое окружение (LexicalEnvironment)</vt:lpstr>
      <vt:lpstr>Замыкания, внутренняя работа функции. Лексическое окружение (LexicalEnvironment)</vt:lpstr>
      <vt:lpstr>Замыкания, внутренняя работа функции. Лексическое окружение (LexicalEnvironment)</vt:lpstr>
      <vt:lpstr>Замыкания, внутренняя работа функции. Лексическое окружение (LexicalEnvironment)</vt:lpstr>
      <vt:lpstr>Замыкания, внутренняя работа функции. Вложенные функции</vt:lpstr>
      <vt:lpstr>Замыкания, внутренняя работа функции. Вложенные функции</vt:lpstr>
      <vt:lpstr>Замыкания, внутренняя работа функции. Вложенные функции</vt:lpstr>
      <vt:lpstr>Замыкания, внутренняя работа функции. Вложенные функции</vt:lpstr>
      <vt:lpstr>Замыкания, внутренняя работа функции. Вложенные функции</vt:lpstr>
      <vt:lpstr>Замыкания, внутренняя работа функции. Вложенные функции</vt:lpstr>
      <vt:lpstr>Замыкания, внутренняя работа функции. Вложенные функции</vt:lpstr>
      <vt:lpstr>Замыкания, внутренняя работа функции. Вложенные функции</vt:lpstr>
      <vt:lpstr>Замыкания, внутренняя работа функции. Вложенные функции</vt:lpstr>
      <vt:lpstr>Замыкания, внутренняя работа функции. Вложенные функции</vt:lpstr>
      <vt:lpstr>Замыкания, внутренняя работа функции. Блоки кода и циклы</vt:lpstr>
      <vt:lpstr>Замыкания, внутренняя работа функции. Блоки кода и циклы</vt:lpstr>
      <vt:lpstr>new Function</vt:lpstr>
      <vt:lpstr>new Function</vt:lpstr>
      <vt:lpstr>Объект функции, NFE. Свойство «name»</vt:lpstr>
      <vt:lpstr>Объект функции, NFE. Свойство «length»</vt:lpstr>
      <vt:lpstr>Объект функции, NFE. Пользовательские свойства</vt:lpstr>
      <vt:lpstr>Объект функции, NFE. Named Function Expression</vt:lpstr>
      <vt:lpstr>Объект функции, NFE. Named Function Expression</vt:lpstr>
      <vt:lpstr>Остаточные параметры и оператор расширения. Остаточные параметры (...)</vt:lpstr>
      <vt:lpstr>Остаточные параметры и оператор расширения. Остаточные параметры (...)</vt:lpstr>
      <vt:lpstr>Остаточные параметры и оператор расширения. Остаточные параметры (...)</vt:lpstr>
      <vt:lpstr>Остаточные параметры и оператор расширения. Остаточные параметры (...)</vt:lpstr>
      <vt:lpstr>Остаточные параметры и оператор расширения. Оператор расширения</vt:lpstr>
      <vt:lpstr>Остаточные параметры и оператор расширения. Оператор расширения</vt:lpstr>
      <vt:lpstr>Каррирование</vt:lpstr>
      <vt:lpstr>Каррирование</vt:lpstr>
      <vt:lpstr>Каррирование</vt:lpstr>
      <vt:lpstr>Генераторы. Функция-генератор</vt:lpstr>
      <vt:lpstr>Генераторы. Функция-генератор</vt:lpstr>
      <vt:lpstr>Генераторы. Функция-генератор</vt:lpstr>
      <vt:lpstr>Генераторы. Перебор генераторов</vt:lpstr>
      <vt:lpstr>Генераторы. Перебор генераторов</vt:lpstr>
      <vt:lpstr>Генераторы. Композиция генераторов</vt:lpstr>
      <vt:lpstr>Генераторы. </vt:lpstr>
      <vt:lpstr>Генераторы. </vt:lpstr>
      <vt:lpstr>Колбэки</vt:lpstr>
      <vt:lpstr>Колбэки</vt:lpstr>
      <vt:lpstr>Колбэки</vt:lpstr>
      <vt:lpstr>Промис (Promise)</vt:lpstr>
      <vt:lpstr>Промис (Promise)</vt:lpstr>
      <vt:lpstr>Промис (Promise)</vt:lpstr>
      <vt:lpstr>Промис (Promise)</vt:lpstr>
      <vt:lpstr>Промис (Promise)</vt:lpstr>
      <vt:lpstr>Промис (Promise)</vt:lpstr>
      <vt:lpstr>Промис (Promise)</vt:lpstr>
      <vt:lpstr>Промис (Promise)</vt:lpstr>
      <vt:lpstr>Промис (Promise)</vt:lpstr>
      <vt:lpstr>Промис (Promise)</vt:lpstr>
      <vt:lpstr>Промис (Promise)</vt:lpstr>
      <vt:lpstr>Промис (Promise)</vt:lpstr>
      <vt:lpstr>Промис (Promise)</vt:lpstr>
      <vt:lpstr>Промисификация</vt:lpstr>
      <vt:lpstr>Промисификация</vt:lpstr>
      <vt:lpstr>Промисификация</vt:lpstr>
      <vt:lpstr>Async/await. Асинхронные функции</vt:lpstr>
      <vt:lpstr>Async/await. Await</vt:lpstr>
      <vt:lpstr>Async/await. Await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1  Основы JavaScript</dc:title>
  <dc:creator>Marina</dc:creator>
  <cp:lastModifiedBy>MF</cp:lastModifiedBy>
  <cp:revision>237</cp:revision>
  <dcterms:created xsi:type="dcterms:W3CDTF">2019-08-27T10:51:56Z</dcterms:created>
  <dcterms:modified xsi:type="dcterms:W3CDTF">2023-09-28T10:15:48Z</dcterms:modified>
</cp:coreProperties>
</file>