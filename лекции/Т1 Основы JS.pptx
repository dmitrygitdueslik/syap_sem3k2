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807" r:id="rId1"/>
  </p:sldMasterIdLst>
  <p:notesMasterIdLst>
    <p:notesMasterId r:id="rId91"/>
  </p:notes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62" r:id="rId9"/>
    <p:sldId id="265" r:id="rId10"/>
    <p:sldId id="266" r:id="rId11"/>
    <p:sldId id="267" r:id="rId12"/>
    <p:sldId id="268" r:id="rId13"/>
    <p:sldId id="270" r:id="rId14"/>
    <p:sldId id="269" r:id="rId15"/>
    <p:sldId id="271" r:id="rId16"/>
    <p:sldId id="273" r:id="rId17"/>
    <p:sldId id="272" r:id="rId18"/>
    <p:sldId id="274" r:id="rId19"/>
    <p:sldId id="275" r:id="rId20"/>
    <p:sldId id="276" r:id="rId21"/>
    <p:sldId id="277" r:id="rId22"/>
    <p:sldId id="279" r:id="rId23"/>
    <p:sldId id="281" r:id="rId24"/>
    <p:sldId id="280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4" r:id="rId37"/>
    <p:sldId id="295" r:id="rId38"/>
    <p:sldId id="293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45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6" r:id="rId9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7BCA8-9609-48FB-A57C-8E4114581D3F}" type="datetimeFigureOut">
              <a:rPr lang="ru-RU" smtClean="0"/>
              <a:t>06.09.2025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3FD08-5A85-4EC1-9946-EF0EC000D9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210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98354-2AEC-407C-892D-4CC4E97FF2F9}" type="datetime1">
              <a:rPr lang="ru-RU" smtClean="0"/>
              <a:t>06.09.2025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9932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EBA85-E22D-4185-966F-897334710B0B}" type="datetime1">
              <a:rPr lang="ru-RU" smtClean="0"/>
              <a:t>06.09.2025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654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8926-D772-474E-A9C2-09038EBAF6E6}" type="datetime1">
              <a:rPr lang="ru-RU" smtClean="0"/>
              <a:t>06.09.2025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763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F255-A88D-4F36-A012-2562321C7166}" type="datetime1">
              <a:rPr lang="ru-RU" smtClean="0"/>
              <a:t>06.09.2025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780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01B-A206-4541-BE7E-3C62D08E63F7}" type="datetime1">
              <a:rPr lang="ru-RU" smtClean="0"/>
              <a:t>06.09.2025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8818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5D306-E1D0-45BB-8675-D1C6E29D8416}" type="datetime1">
              <a:rPr lang="ru-RU" smtClean="0"/>
              <a:t>06.09.2025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667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5C369-94CB-471C-98AD-11B8FD1EF56F}" type="datetime1">
              <a:rPr lang="ru-RU" smtClean="0"/>
              <a:t>06.09.2025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389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52CB-2BFD-42E6-946B-FC9BB9688A05}" type="datetime1">
              <a:rPr lang="ru-RU" smtClean="0"/>
              <a:t>06.09.2025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3880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B6E6-77FC-4419-81B9-B1F57FA0389E}" type="datetime1">
              <a:rPr lang="ru-RU" smtClean="0"/>
              <a:t>06.09.2025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945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06DA-CB2E-4815-94B7-3E256E026906}" type="datetime1">
              <a:rPr lang="ru-RU" smtClean="0"/>
              <a:t>06.09.2025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664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FB45-4AE3-4BCA-91EA-B3A8E720DE60}" type="datetime1">
              <a:rPr lang="ru-RU" smtClean="0"/>
              <a:t>06.09.2025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578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AA82E-8907-4CCF-BB04-ADAC7456905B}" type="datetime1">
              <a:rPr lang="ru-RU" smtClean="0"/>
              <a:t>06.09.2025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2302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c39/proposals" TargetMode="External"/><Relationship Id="rId2" Type="http://schemas.openxmlformats.org/officeDocument/2006/relationships/hyperlink" Target="https://tc39.es/ecma262/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://msdn.microsoft.com/" TargetMode="External"/><Relationship Id="rId4" Type="http://schemas.openxmlformats.org/officeDocument/2006/relationships/hyperlink" Target="https://developer.mozilla.org/ru/docs/Web/JavaScript/Reference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kangax.github.io/compat-table" TargetMode="External"/><Relationship Id="rId2" Type="http://schemas.openxmlformats.org/officeDocument/2006/relationships/hyperlink" Target="http://caniuse.com/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9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7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0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67014" y="766915"/>
            <a:ext cx="10100754" cy="2625213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Тема 1 </a:t>
            </a:r>
            <a:br>
              <a:rPr lang="ru-RU" b="1" dirty="0"/>
            </a:br>
            <a:r>
              <a:rPr lang="ru-RU" b="1" dirty="0"/>
              <a:t>Основы </a:t>
            </a:r>
            <a:r>
              <a:rPr lang="ru-RU" b="1" dirty="0" err="1"/>
              <a:t>JavaScript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014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/>
              <a:t>Вопросы: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</a:t>
            </a:fld>
            <a:endParaRPr lang="ru-RU" sz="24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728577"/>
            <a:ext cx="9207910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1.	Введение в </a:t>
            </a:r>
            <a:r>
              <a:rPr lang="ru-RU" sz="2200" dirty="0" err="1"/>
              <a:t>JavaScript</a:t>
            </a:r>
            <a:r>
              <a:rPr lang="ru-RU" sz="2200" dirty="0"/>
              <a:t>.</a:t>
            </a:r>
          </a:p>
          <a:p>
            <a:r>
              <a:rPr lang="ru-RU" sz="2200" dirty="0"/>
              <a:t>2.	Отладка скриптов.</a:t>
            </a:r>
          </a:p>
          <a:p>
            <a:r>
              <a:rPr lang="ru-RU" sz="2200" dirty="0"/>
              <a:t>3.	Синтаксис </a:t>
            </a:r>
            <a:r>
              <a:rPr lang="ru-RU" sz="2200" dirty="0" err="1"/>
              <a:t>JavaScript</a:t>
            </a:r>
            <a:r>
              <a:rPr lang="ru-RU" sz="2200" dirty="0"/>
              <a:t>. </a:t>
            </a:r>
          </a:p>
          <a:p>
            <a:r>
              <a:rPr lang="ru-RU" sz="2200" dirty="0"/>
              <a:t>4.	Автоматическое тестирование.</a:t>
            </a:r>
          </a:p>
          <a:p>
            <a:r>
              <a:rPr lang="ru-RU" sz="2200" dirty="0"/>
              <a:t>5.	Строгий режим — "</a:t>
            </a:r>
            <a:r>
              <a:rPr lang="ru-RU" sz="2200" dirty="0" err="1"/>
              <a:t>use</a:t>
            </a:r>
            <a:r>
              <a:rPr lang="ru-RU" sz="2200" dirty="0"/>
              <a:t> </a:t>
            </a:r>
            <a:r>
              <a:rPr lang="ru-RU" sz="2200" dirty="0" err="1"/>
              <a:t>strict</a:t>
            </a:r>
            <a:r>
              <a:rPr lang="ru-RU" sz="2200" dirty="0"/>
              <a:t>".</a:t>
            </a:r>
          </a:p>
          <a:p>
            <a:r>
              <a:rPr lang="ru-RU" sz="2200" dirty="0"/>
              <a:t>6.	Переменные. </a:t>
            </a:r>
          </a:p>
          <a:p>
            <a:r>
              <a:rPr lang="ru-RU" sz="2200" dirty="0"/>
              <a:t>7.	Типы данных. </a:t>
            </a:r>
          </a:p>
          <a:p>
            <a:r>
              <a:rPr lang="ru-RU" sz="2200" dirty="0"/>
              <a:t>8.	Преобразование типов.</a:t>
            </a:r>
          </a:p>
          <a:p>
            <a:r>
              <a:rPr lang="ru-RU" sz="2200" dirty="0"/>
              <a:t>9.	Операторы. </a:t>
            </a:r>
          </a:p>
          <a:p>
            <a:r>
              <a:rPr lang="ru-RU" sz="2200" dirty="0"/>
              <a:t>10.	Операторы сравнения. </a:t>
            </a:r>
          </a:p>
          <a:p>
            <a:r>
              <a:rPr lang="ru-RU" sz="2200" dirty="0"/>
              <a:t>11.	Взаимодействие с пользователем: </a:t>
            </a:r>
            <a:r>
              <a:rPr lang="ru-RU" sz="2200" dirty="0" err="1"/>
              <a:t>alert</a:t>
            </a:r>
            <a:r>
              <a:rPr lang="ru-RU" sz="2200" dirty="0"/>
              <a:t>, </a:t>
            </a:r>
            <a:r>
              <a:rPr lang="ru-RU" sz="2200" dirty="0" err="1"/>
              <a:t>prompt</a:t>
            </a:r>
            <a:r>
              <a:rPr lang="ru-RU" sz="2200" dirty="0"/>
              <a:t>, </a:t>
            </a:r>
            <a:r>
              <a:rPr lang="ru-RU" sz="2200" dirty="0" err="1"/>
              <a:t>confirm</a:t>
            </a:r>
            <a:r>
              <a:rPr lang="ru-RU" sz="2200" dirty="0"/>
              <a:t>.</a:t>
            </a:r>
          </a:p>
          <a:p>
            <a:r>
              <a:rPr lang="ru-RU" sz="2200" dirty="0"/>
              <a:t>12.	Условные операторы: </a:t>
            </a:r>
            <a:r>
              <a:rPr lang="ru-RU" sz="2200" dirty="0" err="1"/>
              <a:t>if</a:t>
            </a:r>
            <a:r>
              <a:rPr lang="ru-RU" sz="2200" dirty="0"/>
              <a:t>, '?'. </a:t>
            </a:r>
          </a:p>
          <a:p>
            <a:r>
              <a:rPr lang="ru-RU" sz="2200" dirty="0"/>
              <a:t>13.	Логические операторы. </a:t>
            </a:r>
          </a:p>
          <a:p>
            <a:r>
              <a:rPr lang="ru-RU" sz="2200" dirty="0"/>
              <a:t>14.	Циклы </a:t>
            </a:r>
            <a:r>
              <a:rPr lang="ru-RU" sz="2200" dirty="0" err="1"/>
              <a:t>while</a:t>
            </a:r>
            <a:r>
              <a:rPr lang="ru-RU" sz="2200" dirty="0"/>
              <a:t>, </a:t>
            </a:r>
            <a:r>
              <a:rPr lang="ru-RU" sz="2200" dirty="0" err="1"/>
              <a:t>for</a:t>
            </a:r>
            <a:r>
              <a:rPr lang="ru-RU" sz="2200" dirty="0"/>
              <a:t>. </a:t>
            </a:r>
          </a:p>
          <a:p>
            <a:r>
              <a:rPr lang="ru-RU" sz="2200" dirty="0"/>
              <a:t>15.	Конструкция </a:t>
            </a:r>
            <a:r>
              <a:rPr lang="ru-RU" sz="2200" dirty="0" err="1"/>
              <a:t>switch</a:t>
            </a:r>
            <a:r>
              <a:rPr lang="ru-RU" sz="2200" dirty="0"/>
              <a:t>. </a:t>
            </a:r>
          </a:p>
          <a:p>
            <a:r>
              <a:rPr lang="ru-RU" sz="2200" dirty="0"/>
              <a:t>16.	Функции. </a:t>
            </a:r>
          </a:p>
          <a:p>
            <a:r>
              <a:rPr lang="ru-RU" sz="2200" dirty="0"/>
              <a:t>17.	Функциональные выражения и функции-стрелки.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21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Введение в </a:t>
            </a:r>
            <a:r>
              <a:rPr lang="ru-RU" dirty="0" err="1"/>
              <a:t>JavaScript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911608" y="1451243"/>
            <a:ext cx="105331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1995 г. – релиз языка </a:t>
            </a:r>
            <a:r>
              <a:rPr lang="ru-RU" sz="2400" dirty="0" err="1"/>
              <a:t>LiveScript</a:t>
            </a:r>
            <a:r>
              <a:rPr lang="ru-RU" sz="2400" dirty="0"/>
              <a:t> для браузера </a:t>
            </a:r>
            <a:r>
              <a:rPr lang="ru-RU" sz="2400" dirty="0" err="1"/>
              <a:t>Netscape</a:t>
            </a:r>
            <a:r>
              <a:rPr lang="ru-RU" sz="2400" dirty="0"/>
              <a:t> </a:t>
            </a:r>
            <a:r>
              <a:rPr lang="ru-RU" sz="2400" dirty="0" err="1"/>
              <a:t>Navigator</a:t>
            </a:r>
            <a:r>
              <a:rPr lang="ru-RU" sz="2400" dirty="0"/>
              <a:t>. 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911608" y="2233044"/>
            <a:ext cx="102288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ECMAScript</a:t>
            </a:r>
            <a:r>
              <a:rPr lang="ru-RU" sz="2400" dirty="0"/>
              <a:t>, </a:t>
            </a:r>
            <a:r>
              <a:rPr lang="en-US" sz="2400" dirty="0"/>
              <a:t>ES </a:t>
            </a:r>
            <a:r>
              <a:rPr lang="ru-RU" sz="2400" dirty="0"/>
              <a:t>(</a:t>
            </a:r>
            <a:r>
              <a:rPr lang="ru-RU" sz="2400" dirty="0" err="1"/>
              <a:t>European</a:t>
            </a:r>
            <a:r>
              <a:rPr lang="ru-RU" sz="2400" dirty="0"/>
              <a:t> </a:t>
            </a:r>
            <a:r>
              <a:rPr lang="ru-RU" sz="2400" dirty="0" err="1"/>
              <a:t>Computer</a:t>
            </a:r>
            <a:r>
              <a:rPr lang="ru-RU" sz="2400" dirty="0"/>
              <a:t> </a:t>
            </a:r>
            <a:r>
              <a:rPr lang="ru-RU" sz="2400" dirty="0" err="1"/>
              <a:t>Manufacturers</a:t>
            </a:r>
            <a:r>
              <a:rPr lang="ru-RU" sz="2400" dirty="0"/>
              <a:t> </a:t>
            </a:r>
            <a:r>
              <a:rPr lang="ru-RU" sz="2400" dirty="0" err="1"/>
              <a:t>Association</a:t>
            </a:r>
            <a:r>
              <a:rPr lang="ru-RU" sz="2400" dirty="0"/>
              <a:t> – Европейская ассоциация производителей компьютеров) – стандарт языка </a:t>
            </a:r>
            <a:r>
              <a:rPr lang="en-US" sz="2400" dirty="0"/>
              <a:t>JavaScript</a:t>
            </a:r>
            <a:r>
              <a:rPr lang="ru-RU" sz="2400" dirty="0"/>
              <a:t>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911608" y="3887356"/>
            <a:ext cx="39553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Версии:</a:t>
            </a:r>
            <a:endParaRPr lang="en-US" sz="2400" dirty="0"/>
          </a:p>
          <a:p>
            <a:r>
              <a:rPr lang="ru-RU" sz="2400" dirty="0"/>
              <a:t>ES1 - июнь 1997 г.,</a:t>
            </a:r>
          </a:p>
          <a:p>
            <a:r>
              <a:rPr lang="ru-RU" sz="2400" dirty="0"/>
              <a:t>ES2 - июнь 1998 г., </a:t>
            </a:r>
          </a:p>
          <a:p>
            <a:r>
              <a:rPr lang="ru-RU" sz="2400" dirty="0"/>
              <a:t>ES3 - декабрь 1999 г., </a:t>
            </a:r>
          </a:p>
          <a:p>
            <a:r>
              <a:rPr lang="ru-RU" sz="2400" dirty="0"/>
              <a:t>ES4 - не была принята,</a:t>
            </a:r>
          </a:p>
          <a:p>
            <a:r>
              <a:rPr lang="ru-RU" sz="2400" dirty="0"/>
              <a:t>ES5 - декабрь 2009 г., </a:t>
            </a:r>
          </a:p>
          <a:p>
            <a:endParaRPr lang="ru-RU" sz="24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4866968" y="4256688"/>
            <a:ext cx="463099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ES6/ES2015 - июнь 2015 г., </a:t>
            </a:r>
          </a:p>
          <a:p>
            <a:r>
              <a:rPr lang="ru-RU" sz="2400" dirty="0"/>
              <a:t>ES2016 (ES7) - июнь 2016 г., </a:t>
            </a:r>
          </a:p>
          <a:p>
            <a:r>
              <a:rPr lang="ru-RU" sz="2400" dirty="0"/>
              <a:t>ES2017 (ES8) - июнь 2017 г., </a:t>
            </a:r>
          </a:p>
          <a:p>
            <a:r>
              <a:rPr lang="en-US" sz="2400" dirty="0"/>
              <a:t>ES</a:t>
            </a:r>
            <a:r>
              <a:rPr lang="ru-RU" sz="2400" dirty="0"/>
              <a:t>2018 – июнь 2018 г.,</a:t>
            </a:r>
          </a:p>
          <a:p>
            <a:r>
              <a:rPr lang="en-US" sz="2400" dirty="0"/>
              <a:t>ES</a:t>
            </a:r>
            <a:r>
              <a:rPr lang="ru-RU" sz="2400" dirty="0"/>
              <a:t>2019 – июнь 2019 г.</a:t>
            </a:r>
            <a:r>
              <a:rPr lang="en-US" sz="2400" dirty="0"/>
              <a:t>,</a:t>
            </a:r>
          </a:p>
          <a:p>
            <a:r>
              <a:rPr lang="en-US" sz="2400" dirty="0"/>
              <a:t>ES</a:t>
            </a:r>
            <a:r>
              <a:rPr lang="ru-RU" sz="2400" dirty="0"/>
              <a:t>20</a:t>
            </a:r>
            <a:r>
              <a:rPr lang="en-US" sz="2400" dirty="0"/>
              <a:t>20</a:t>
            </a:r>
            <a:r>
              <a:rPr lang="ru-RU" sz="2400" dirty="0"/>
              <a:t> – июнь 20</a:t>
            </a:r>
            <a:r>
              <a:rPr lang="en-US" sz="2400" dirty="0"/>
              <a:t>20</a:t>
            </a:r>
            <a:r>
              <a:rPr lang="ru-RU" sz="2400" dirty="0"/>
              <a:t> г.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96659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Введение в </a:t>
            </a:r>
            <a:r>
              <a:rPr lang="ru-RU" dirty="0" err="1"/>
              <a:t>JavaScript</a:t>
            </a: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031726" y="1046824"/>
            <a:ext cx="2563522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Скрипт</a:t>
            </a:r>
          </a:p>
          <a:p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Транслятор 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Компилятор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Интерпретатор 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031726" y="3437784"/>
            <a:ext cx="1061704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Движки имеют «кодовые имена»: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V8 – </a:t>
            </a:r>
            <a:r>
              <a:rPr lang="ru-RU" sz="2400" dirty="0"/>
              <a:t>в </a:t>
            </a:r>
            <a:r>
              <a:rPr lang="en-US" sz="2400" dirty="0"/>
              <a:t>Chrome </a:t>
            </a:r>
            <a:r>
              <a:rPr lang="ru-RU" sz="2400" dirty="0"/>
              <a:t>и </a:t>
            </a:r>
            <a:r>
              <a:rPr lang="en-US" sz="2400" dirty="0"/>
              <a:t>Opera.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 err="1"/>
              <a:t>SpiderMonkey</a:t>
            </a:r>
            <a:r>
              <a:rPr lang="en-US" sz="2400" dirty="0"/>
              <a:t> – </a:t>
            </a:r>
            <a:r>
              <a:rPr lang="ru-RU" sz="2400" dirty="0"/>
              <a:t>в </a:t>
            </a:r>
            <a:r>
              <a:rPr lang="en-US" sz="2400" dirty="0"/>
              <a:t>Firefox.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Trident </a:t>
            </a:r>
            <a:r>
              <a:rPr lang="ru-RU" sz="2400" dirty="0"/>
              <a:t>и </a:t>
            </a:r>
            <a:r>
              <a:rPr lang="en-US" sz="2400" dirty="0"/>
              <a:t>Chakra </a:t>
            </a:r>
            <a:r>
              <a:rPr lang="ru-RU" sz="2400" dirty="0"/>
              <a:t>для разных версий </a:t>
            </a:r>
            <a:r>
              <a:rPr lang="en-US" sz="2400" dirty="0"/>
              <a:t>IE</a:t>
            </a:r>
            <a:r>
              <a:rPr lang="ru-RU" sz="2400" dirty="0"/>
              <a:t>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 err="1"/>
              <a:t>ChakraCore</a:t>
            </a:r>
            <a:r>
              <a:rPr lang="en-US" sz="2400" dirty="0"/>
              <a:t> </a:t>
            </a:r>
            <a:r>
              <a:rPr lang="ru-RU" sz="2400" dirty="0"/>
              <a:t>для </a:t>
            </a:r>
            <a:r>
              <a:rPr lang="en-US" sz="2400" dirty="0"/>
              <a:t>Microsoft Edge</a:t>
            </a:r>
            <a:r>
              <a:rPr lang="ru-RU" sz="2400" dirty="0"/>
              <a:t>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Nitro </a:t>
            </a:r>
            <a:r>
              <a:rPr lang="ru-RU" sz="2400" dirty="0"/>
              <a:t>и </a:t>
            </a:r>
            <a:r>
              <a:rPr lang="en-US" sz="2400" dirty="0" err="1"/>
              <a:t>SquirrelFish</a:t>
            </a:r>
            <a:r>
              <a:rPr lang="en-US" sz="2400" dirty="0"/>
              <a:t> </a:t>
            </a:r>
            <a:r>
              <a:rPr lang="ru-RU" sz="2400" dirty="0"/>
              <a:t>для </a:t>
            </a:r>
            <a:r>
              <a:rPr lang="en-US" sz="2400" dirty="0"/>
              <a:t>Safari </a:t>
            </a:r>
            <a:r>
              <a:rPr lang="ru-RU" sz="2400" dirty="0"/>
              <a:t>и т.д.</a:t>
            </a:r>
          </a:p>
        </p:txBody>
      </p:sp>
    </p:spTree>
    <p:extLst>
      <p:ext uri="{BB962C8B-B14F-4D97-AF65-F5344CB8AC3E}">
        <p14:creationId xmlns:p14="http://schemas.microsoft.com/office/powerpoint/2010/main" val="3125843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Введение в </a:t>
            </a:r>
            <a:r>
              <a:rPr lang="ru-RU" dirty="0" err="1"/>
              <a:t>JavaScript</a:t>
            </a:r>
            <a:endParaRPr lang="ru-RU" dirty="0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920301"/>
            <a:ext cx="787843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Языки, которые </a:t>
            </a:r>
            <a:r>
              <a:rPr lang="ru-RU" sz="2400" dirty="0" err="1"/>
              <a:t>транспилируются</a:t>
            </a:r>
            <a:r>
              <a:rPr lang="ru-RU" sz="2400" dirty="0"/>
              <a:t> в </a:t>
            </a:r>
            <a:r>
              <a:rPr lang="ru-RU" sz="2400" dirty="0" err="1"/>
              <a:t>JavaScript</a:t>
            </a:r>
            <a:r>
              <a:rPr lang="ru-RU" sz="2400" dirty="0"/>
              <a:t>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 err="1"/>
              <a:t>CoffeeScript</a:t>
            </a:r>
            <a:endParaRPr lang="ru-RU" sz="24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400" dirty="0" err="1"/>
              <a:t>TypeScript</a:t>
            </a:r>
            <a:r>
              <a:rPr lang="ru-RU" sz="2400" dirty="0"/>
              <a:t>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400" dirty="0" err="1"/>
              <a:t>Flow</a:t>
            </a:r>
            <a:r>
              <a:rPr lang="ru-RU" sz="2400" dirty="0"/>
              <a:t>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400" dirty="0" err="1"/>
              <a:t>Dart</a:t>
            </a:r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911606" y="3155039"/>
            <a:ext cx="1022112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Спецификация </a:t>
            </a:r>
            <a:r>
              <a:rPr lang="en-US" sz="2400" dirty="0"/>
              <a:t>ECMA-262</a:t>
            </a:r>
            <a:r>
              <a:rPr lang="ru-RU" sz="2400" dirty="0"/>
              <a:t>: </a:t>
            </a:r>
          </a:p>
          <a:p>
            <a:r>
              <a:rPr lang="ru-RU" sz="2400" u="sng" dirty="0">
                <a:hlinkClick r:id="rId2"/>
              </a:rPr>
              <a:t>https://tc39.es/ecma262/</a:t>
            </a:r>
            <a:r>
              <a:rPr lang="ru-RU" sz="2400" dirty="0"/>
              <a:t> </a:t>
            </a:r>
          </a:p>
          <a:p>
            <a:r>
              <a:rPr lang="ru-RU" sz="2400" u="sng" dirty="0">
                <a:hlinkClick r:id="rId3"/>
              </a:rPr>
              <a:t>https://github.com/tc39/proposals</a:t>
            </a:r>
            <a:r>
              <a:rPr lang="ru-RU" sz="2400" dirty="0"/>
              <a:t>.</a:t>
            </a:r>
          </a:p>
          <a:p>
            <a:endParaRPr lang="ru-RU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911606" y="4724699"/>
            <a:ext cx="1022112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Справочники:</a:t>
            </a:r>
          </a:p>
          <a:p>
            <a:r>
              <a:rPr lang="en-US" sz="2400" dirty="0"/>
              <a:t>MDN (Mozilla) JavaScript Reference</a:t>
            </a:r>
            <a:r>
              <a:rPr lang="ru-RU" sz="2400" dirty="0"/>
              <a:t> (</a:t>
            </a:r>
            <a:r>
              <a:rPr lang="ru-RU" sz="2400" u="sng" dirty="0">
                <a:hlinkClick r:id="rId4"/>
              </a:rPr>
              <a:t>https://developer.mozilla.org/ru/docs/Web/JavaScript/Reference</a:t>
            </a:r>
            <a:r>
              <a:rPr lang="ru-RU" sz="2400" dirty="0"/>
              <a:t>)</a:t>
            </a:r>
          </a:p>
          <a:p>
            <a:r>
              <a:rPr lang="ru-RU" sz="2400" dirty="0"/>
              <a:t>MSDN</a:t>
            </a:r>
            <a:r>
              <a:rPr lang="en-US" sz="2400" dirty="0"/>
              <a:t> </a:t>
            </a:r>
            <a:r>
              <a:rPr lang="ru-RU" sz="2400" dirty="0"/>
              <a:t>(</a:t>
            </a:r>
            <a:r>
              <a:rPr lang="ru-RU" sz="2400" u="sng" dirty="0">
                <a:hlinkClick r:id="rId5"/>
              </a:rPr>
              <a:t>http://msdn.microsoft.com/</a:t>
            </a:r>
            <a:r>
              <a:rPr lang="ru-RU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33135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Введение в </a:t>
            </a:r>
            <a:r>
              <a:rPr lang="ru-RU" dirty="0" err="1"/>
              <a:t>JavaScript</a:t>
            </a:r>
            <a:endParaRPr lang="ru-RU" dirty="0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>
          <a:xfrm>
            <a:off x="11258883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920301"/>
            <a:ext cx="609173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Таблицы совместимости:</a:t>
            </a:r>
          </a:p>
          <a:p>
            <a:r>
              <a:rPr lang="ru-RU" sz="2400" u="sng" dirty="0">
                <a:hlinkClick r:id="rId2"/>
              </a:rPr>
              <a:t>http://caniuse.com</a:t>
            </a:r>
            <a:endParaRPr lang="ru-RU" sz="2400" u="sng" dirty="0"/>
          </a:p>
          <a:p>
            <a:r>
              <a:rPr lang="ru-RU" sz="2400" u="sng" dirty="0">
                <a:hlinkClick r:id="rId3"/>
              </a:rPr>
              <a:t>https://kangax.github.io/compat-table</a:t>
            </a:r>
            <a:r>
              <a:rPr lang="ru-RU" sz="2400" dirty="0"/>
              <a:t> 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911607" y="2604363"/>
            <a:ext cx="107371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IDE (Integrated Development Environment</a:t>
            </a:r>
            <a:r>
              <a:rPr lang="ru-RU" sz="2400" dirty="0"/>
              <a:t> - интегрированная среда разработки):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/>
              <a:t>Visual Studio Code</a:t>
            </a:r>
            <a:r>
              <a:rPr lang="ru-RU" sz="2400" dirty="0"/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WebStorm</a:t>
            </a:r>
            <a:r>
              <a:rPr lang="en-US" sz="2400" dirty="0"/>
              <a:t> </a:t>
            </a:r>
            <a:r>
              <a:rPr lang="ru-RU" sz="2400" dirty="0"/>
              <a:t>.</a:t>
            </a:r>
          </a:p>
          <a:p>
            <a:endParaRPr lang="ru-RU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911607" y="4494959"/>
            <a:ext cx="1016869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Редакторы кода:	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400" dirty="0" err="1"/>
              <a:t>Atom</a:t>
            </a:r>
            <a:r>
              <a:rPr lang="ru-RU" sz="2400" dirty="0"/>
              <a:t>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400" dirty="0" err="1"/>
              <a:t>Sublime</a:t>
            </a:r>
            <a:r>
              <a:rPr lang="ru-RU" sz="2400" dirty="0"/>
              <a:t> </a:t>
            </a:r>
            <a:r>
              <a:rPr lang="ru-RU" sz="2400" dirty="0" err="1"/>
              <a:t>Text</a:t>
            </a:r>
            <a:r>
              <a:rPr lang="ru-RU" sz="2400" dirty="0"/>
              <a:t>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400" dirty="0" err="1"/>
              <a:t>Notepad</a:t>
            </a:r>
            <a:r>
              <a:rPr lang="ru-RU" sz="2400" dirty="0"/>
              <a:t>++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400" dirty="0" err="1"/>
              <a:t>Vim</a:t>
            </a:r>
            <a:r>
              <a:rPr lang="ru-RU" sz="2400" dirty="0"/>
              <a:t> и </a:t>
            </a:r>
            <a:r>
              <a:rPr lang="ru-RU" sz="2400" dirty="0" err="1"/>
              <a:t>Emacs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684522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Отладка скриптов </a:t>
            </a:r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911607" y="630476"/>
            <a:ext cx="42466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Вывод объекта в консоль 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911607" y="1151133"/>
            <a:ext cx="668381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dirty="0" err="1">
                <a:solidFill>
                  <a:srgbClr val="0077AA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var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time </a:t>
            </a:r>
            <a:r>
              <a:rPr lang="en-US" sz="2000" dirty="0">
                <a:solidFill>
                  <a:srgbClr val="A67F5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year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0055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2345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month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0055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11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day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0055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10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hour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0055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11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minute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0055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12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second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0055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13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microsecond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0055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123456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console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log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time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70809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(*)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time</a:t>
            </a:r>
            <a:r>
              <a:rPr lang="en-US" sz="200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microsecond</a:t>
            </a:r>
            <a:r>
              <a:rPr lang="en-US" sz="2000" dirty="0">
                <a:solidFill>
                  <a:srgbClr val="A67F5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70809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(**)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console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log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time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time</a:t>
            </a:r>
            <a:r>
              <a:rPr lang="en-US" sz="200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microsecond</a:t>
            </a:r>
            <a:r>
              <a:rPr lang="en-US" sz="2000" dirty="0">
                <a:solidFill>
                  <a:srgbClr val="A67F5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console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log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time</a:t>
            </a:r>
            <a:r>
              <a:rPr lang="en-US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time</a:t>
            </a:r>
            <a:r>
              <a:rPr lang="ru-RU" sz="2000" dirty="0" err="1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lang="ru-RU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microsecond</a:t>
            </a:r>
            <a:r>
              <a:rPr lang="ru-RU" sz="2000" dirty="0">
                <a:solidFill>
                  <a:srgbClr val="A67F5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</a:t>
            </a:r>
            <a:r>
              <a:rPr lang="ru-RU" sz="20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pic>
        <p:nvPicPr>
          <p:cNvPr id="12" name="Рисунок 11" descr="https://learn.javascript.ru/article/object-reference/object-reference-console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599" y="158528"/>
            <a:ext cx="4317849" cy="6642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3787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Синтаксис </a:t>
            </a:r>
            <a:r>
              <a:rPr lang="en-US" dirty="0"/>
              <a:t>JavaScript</a:t>
            </a:r>
            <a:endParaRPr lang="ru-RU" dirty="0"/>
          </a:p>
        </p:txBody>
      </p:sp>
      <p:sp>
        <p:nvSpPr>
          <p:cNvPr id="21" name="Номер слайда 20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1608" y="1082345"/>
            <a:ext cx="313419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Команды</a:t>
            </a:r>
            <a:endParaRPr lang="en-US" sz="2400" dirty="0"/>
          </a:p>
          <a:p>
            <a:endParaRPr 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 err="1">
                <a:solidFill>
                  <a:srgbClr val="33333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alert</a:t>
            </a:r>
            <a:r>
              <a:rPr lang="ru-RU" altLang="ru-RU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ru-RU" altLang="ru-RU" sz="2400" dirty="0">
                <a:solidFill>
                  <a:srgbClr val="6699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'Привет'</a:t>
            </a:r>
            <a:r>
              <a:rPr lang="ru-RU" altLang="ru-RU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ru-RU" alt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 err="1">
                <a:solidFill>
                  <a:srgbClr val="33333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alert</a:t>
            </a:r>
            <a:r>
              <a:rPr lang="ru-RU" altLang="ru-RU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ru-RU" altLang="ru-RU" sz="2400" dirty="0">
                <a:solidFill>
                  <a:srgbClr val="6699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'Мир'</a:t>
            </a:r>
            <a:r>
              <a:rPr lang="ru-RU" altLang="ru-RU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ru-RU" sz="2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160332" y="1082345"/>
            <a:ext cx="2949846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Точка с запятой</a:t>
            </a:r>
            <a:endParaRPr lang="en-US" sz="2400" dirty="0"/>
          </a:p>
          <a:p>
            <a:endParaRPr 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 err="1">
                <a:solidFill>
                  <a:srgbClr val="33333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alert</a:t>
            </a:r>
            <a:r>
              <a:rPr lang="ru-RU" altLang="ru-RU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ru-RU" altLang="ru-RU" sz="2400" dirty="0">
                <a:solidFill>
                  <a:srgbClr val="6699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'Привет'</a:t>
            </a:r>
            <a:r>
              <a:rPr lang="ru-RU" altLang="ru-RU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400" dirty="0" err="1">
                <a:solidFill>
                  <a:srgbClr val="33333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alert</a:t>
            </a:r>
            <a:r>
              <a:rPr lang="ru-RU" altLang="ru-RU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ru-RU" altLang="ru-RU" sz="2400" dirty="0">
                <a:solidFill>
                  <a:srgbClr val="6699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'Мир'</a:t>
            </a:r>
            <a:r>
              <a:rPr lang="ru-RU" altLang="ru-RU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endParaRPr lang="en-US" altLang="ru-RU" sz="2400" dirty="0">
              <a:solidFill>
                <a:srgbClr val="999999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rgbClr val="999999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6160332" y="3123802"/>
            <a:ext cx="249247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alert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3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A67F5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A67F5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6160332" y="4972383"/>
            <a:ext cx="534340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alert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"Сейчас будет ошибка"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].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forEach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alert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954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Синтаксис </a:t>
            </a:r>
            <a:r>
              <a:rPr lang="en-US" dirty="0"/>
              <a:t>JavaScript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911608" y="1259217"/>
            <a:ext cx="59971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Синтаксис </a:t>
            </a:r>
            <a:r>
              <a:rPr lang="en-US" sz="2400" dirty="0" err="1"/>
              <a:t>JSDoc</a:t>
            </a:r>
            <a:r>
              <a:rPr lang="en-US" sz="2400" dirty="0"/>
              <a:t> </a:t>
            </a:r>
            <a:r>
              <a:rPr lang="ru-RU" sz="2400" dirty="0"/>
              <a:t>для комментариев:</a:t>
            </a:r>
          </a:p>
        </p:txBody>
      </p:sp>
      <p:pic>
        <p:nvPicPr>
          <p:cNvPr id="12" name="Рисунок 11"/>
          <p:cNvPicPr/>
          <p:nvPr/>
        </p:nvPicPr>
        <p:blipFill>
          <a:blip r:embed="rId2"/>
          <a:stretch>
            <a:fillRect/>
          </a:stretch>
        </p:blipFill>
        <p:spPr>
          <a:xfrm>
            <a:off x="911608" y="2030301"/>
            <a:ext cx="10209579" cy="339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14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Синтаксис </a:t>
            </a:r>
            <a:r>
              <a:rPr lang="en-US" dirty="0"/>
              <a:t>JavaScript</a:t>
            </a:r>
            <a:endParaRPr lang="ru-RU" dirty="0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10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82153" y="1076320"/>
            <a:ext cx="47708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Однострочные комментарии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82153" y="1694004"/>
            <a:ext cx="1013165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Команда ниже говорит "Привет"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alert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'Привет'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alert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'Мир'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Второе сообщение выводим отдельно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782153" y="3398095"/>
            <a:ext cx="49968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Многострочные комментарии 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782153" y="3978583"/>
            <a:ext cx="657729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70809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/* Пример с двумя сообщениями.</a:t>
            </a:r>
            <a:endParaRPr kumimoji="0" lang="ru-RU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70809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Это - многострочный комментарий.</a:t>
            </a:r>
            <a:endParaRPr kumimoji="0" lang="ru-RU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70809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*/</a:t>
            </a:r>
            <a:endParaRPr kumimoji="0" lang="ru-RU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alert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6699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'Привет'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kumimoji="0" lang="ru-RU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alert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6699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'Мир'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kumimoji="0" lang="ru-RU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11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Синтаксис </a:t>
            </a:r>
            <a:r>
              <a:rPr lang="en-US" dirty="0"/>
              <a:t>JavaScript</a:t>
            </a:r>
            <a:endParaRPr lang="ru-RU" dirty="0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>
          <a:xfrm>
            <a:off x="11352777" y="6226268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11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88934" y="1574635"/>
            <a:ext cx="5621931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function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showPrimes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nextPrime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for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0055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ru-RU" sz="2000" dirty="0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проверяем, </a:t>
            </a:r>
          </a:p>
          <a:p>
            <a:pPr>
              <a:spcAft>
                <a:spcPts val="0"/>
              </a:spcAft>
            </a:pPr>
            <a:r>
              <a:rPr lang="ru-RU" sz="2000" dirty="0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//является ли i простым числом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for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j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0055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j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j</a:t>
            </a:r>
            <a:r>
              <a:rPr lang="en-US" sz="2000" dirty="0" err="1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%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j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==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0055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  continue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nextPrime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}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ru-RU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alert</a:t>
            </a:r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ru-RU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38920" y="964546"/>
            <a:ext cx="39853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Выносите код в функции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395885" y="1574635"/>
            <a:ext cx="6096000" cy="50167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function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showPrimes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for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0055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!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isPrime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))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continue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alert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function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isPrime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for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0055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n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%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==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0055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return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0055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false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ru-RU" sz="2000" dirty="0" err="1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return</a:t>
            </a:r>
            <a:r>
              <a:rPr lang="ru-RU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solidFill>
                  <a:srgbClr val="990055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true</a:t>
            </a:r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155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Синтаксис </a:t>
            </a:r>
            <a:r>
              <a:rPr lang="en-US" dirty="0"/>
              <a:t>JavaScript</a:t>
            </a:r>
            <a:endParaRPr lang="ru-RU" dirty="0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12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35253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Создавайте функции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10536" y="1534050"/>
            <a:ext cx="475463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</a:t>
            </a:r>
            <a:r>
              <a:rPr lang="ru-RU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здесь мы добавляем воду</a:t>
            </a: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for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0055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0055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10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drop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getWater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rgbClr val="33333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smell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drop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rgbClr val="33333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add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drop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glass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здесь мы добавляем сок</a:t>
            </a: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for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0055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0055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3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tomato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33333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getTomato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rgbClr val="33333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examine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tomato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juice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33333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press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tomato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rgbClr val="333333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add</a:t>
            </a:r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juice</a:t>
            </a:r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ru-RU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glass</a:t>
            </a:r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089112" y="1534050"/>
            <a:ext cx="5653549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addWater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glass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addJuice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glass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function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addWater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container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for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0055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0055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10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drop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getWater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sz="2000" dirty="0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//...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function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addJuice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container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for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0055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0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0055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3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tomato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getTomato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ru-RU" sz="2000" dirty="0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//...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98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Синтаксис </a:t>
            </a:r>
            <a:r>
              <a:rPr lang="en-US" dirty="0"/>
              <a:t>JavaScript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423045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13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29065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Фигурные скобки</a:t>
            </a:r>
          </a:p>
        </p:txBody>
      </p:sp>
      <p:pic>
        <p:nvPicPr>
          <p:cNvPr id="10" name="Рисунок 9"/>
          <p:cNvPicPr/>
          <p:nvPr/>
        </p:nvPicPr>
        <p:blipFill>
          <a:blip r:embed="rId2"/>
          <a:stretch>
            <a:fillRect/>
          </a:stretch>
        </p:blipFill>
        <p:spPr>
          <a:xfrm>
            <a:off x="911608" y="1560383"/>
            <a:ext cx="7485897" cy="335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606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Синтаксис </a:t>
            </a:r>
            <a:r>
              <a:rPr lang="en-US" dirty="0"/>
              <a:t>JavaScript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14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14446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Отступы</a:t>
            </a:r>
          </a:p>
        </p:txBody>
      </p:sp>
      <p:pic>
        <p:nvPicPr>
          <p:cNvPr id="10" name="Рисунок 9"/>
          <p:cNvPicPr/>
          <p:nvPr/>
        </p:nvPicPr>
        <p:blipFill>
          <a:blip r:embed="rId2"/>
          <a:stretch>
            <a:fillRect/>
          </a:stretch>
        </p:blipFill>
        <p:spPr>
          <a:xfrm>
            <a:off x="690385" y="1648114"/>
            <a:ext cx="4711691" cy="1581782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>
          <a:blip r:embed="rId3"/>
          <a:stretch>
            <a:fillRect/>
          </a:stretch>
        </p:blipFill>
        <p:spPr>
          <a:xfrm>
            <a:off x="5816548" y="1662862"/>
            <a:ext cx="5934844" cy="308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74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Синтаксис </a:t>
            </a:r>
            <a:r>
              <a:rPr lang="en-US" dirty="0"/>
              <a:t>JavaScript</a:t>
            </a:r>
            <a:endParaRPr lang="ru-RU" dirty="0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15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1002581"/>
            <a:ext cx="34291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Уровни вложенности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911608" y="1723502"/>
            <a:ext cx="14366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Вместо:</a:t>
            </a:r>
          </a:p>
        </p:txBody>
      </p:sp>
      <p:pic>
        <p:nvPicPr>
          <p:cNvPr id="15" name="Рисунок 14"/>
          <p:cNvPicPr/>
          <p:nvPr/>
        </p:nvPicPr>
        <p:blipFill>
          <a:blip r:embed="rId2"/>
          <a:stretch>
            <a:fillRect/>
          </a:stretch>
        </p:blipFill>
        <p:spPr>
          <a:xfrm>
            <a:off x="911608" y="2263602"/>
            <a:ext cx="5884624" cy="1674217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911608" y="4338347"/>
            <a:ext cx="21996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Используйте:</a:t>
            </a:r>
          </a:p>
        </p:txBody>
      </p:sp>
      <p:pic>
        <p:nvPicPr>
          <p:cNvPr id="17" name="Рисунок 16"/>
          <p:cNvPicPr/>
          <p:nvPr/>
        </p:nvPicPr>
        <p:blipFill>
          <a:blip r:embed="rId3"/>
          <a:stretch>
            <a:fillRect/>
          </a:stretch>
        </p:blipFill>
        <p:spPr>
          <a:xfrm>
            <a:off x="911608" y="4964572"/>
            <a:ext cx="6682515" cy="154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565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Синтаксис </a:t>
            </a:r>
            <a:r>
              <a:rPr lang="en-US" dirty="0"/>
              <a:t>JavaScript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3176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16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911608" y="755004"/>
            <a:ext cx="14366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Вместо: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911608" y="3836912"/>
            <a:ext cx="21996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Используйте:</a:t>
            </a:r>
          </a:p>
        </p:txBody>
      </p:sp>
      <p:pic>
        <p:nvPicPr>
          <p:cNvPr id="11" name="Рисунок 10"/>
          <p:cNvPicPr/>
          <p:nvPr/>
        </p:nvPicPr>
        <p:blipFill>
          <a:blip r:embed="rId2"/>
          <a:stretch>
            <a:fillRect/>
          </a:stretch>
        </p:blipFill>
        <p:spPr>
          <a:xfrm>
            <a:off x="970600" y="1278476"/>
            <a:ext cx="6890290" cy="2251618"/>
          </a:xfrm>
          <a:prstGeom prst="rect">
            <a:avLst/>
          </a:prstGeom>
        </p:spPr>
      </p:pic>
      <p:pic>
        <p:nvPicPr>
          <p:cNvPr id="12" name="Рисунок 11"/>
          <p:cNvPicPr/>
          <p:nvPr/>
        </p:nvPicPr>
        <p:blipFill>
          <a:blip r:embed="rId3"/>
          <a:stretch>
            <a:fillRect/>
          </a:stretch>
        </p:blipFill>
        <p:spPr>
          <a:xfrm>
            <a:off x="970600" y="4321595"/>
            <a:ext cx="7067271" cy="230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10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Синтаксис </a:t>
            </a:r>
            <a:r>
              <a:rPr lang="en-US" dirty="0"/>
              <a:t>JavaScript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17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418356" y="598242"/>
            <a:ext cx="1534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Функции</a:t>
            </a:r>
          </a:p>
        </p:txBody>
      </p:sp>
      <p:pic>
        <p:nvPicPr>
          <p:cNvPr id="10" name="Рисунок 9"/>
          <p:cNvPicPr/>
          <p:nvPr/>
        </p:nvPicPr>
        <p:blipFill>
          <a:blip r:embed="rId2"/>
          <a:stretch>
            <a:fillRect/>
          </a:stretch>
        </p:blipFill>
        <p:spPr>
          <a:xfrm>
            <a:off x="873097" y="719143"/>
            <a:ext cx="6755722" cy="3085947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>
          <a:blip r:embed="rId3"/>
          <a:stretch>
            <a:fillRect/>
          </a:stretch>
        </p:blipFill>
        <p:spPr>
          <a:xfrm>
            <a:off x="5604501" y="2616713"/>
            <a:ext cx="5412543" cy="4174081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317463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Синтаксис </a:t>
            </a:r>
            <a:r>
              <a:rPr lang="en-US" dirty="0"/>
              <a:t>JavaScript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18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689468"/>
            <a:ext cx="1534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Функции</a:t>
            </a:r>
          </a:p>
        </p:txBody>
      </p:sp>
      <p:pic>
        <p:nvPicPr>
          <p:cNvPr id="12" name="Рисунок 11"/>
          <p:cNvPicPr/>
          <p:nvPr/>
        </p:nvPicPr>
        <p:blipFill>
          <a:blip r:embed="rId2"/>
          <a:stretch>
            <a:fillRect/>
          </a:stretch>
        </p:blipFill>
        <p:spPr>
          <a:xfrm>
            <a:off x="917238" y="1311686"/>
            <a:ext cx="5169551" cy="531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128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Синтаксис </a:t>
            </a:r>
            <a:r>
              <a:rPr lang="en-US" dirty="0"/>
              <a:t>JavaScript</a:t>
            </a:r>
            <a:endParaRPr lang="ru-RU" dirty="0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19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911608" y="920301"/>
            <a:ext cx="7334059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Руководства по стилю: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Google JavaScript Style Guide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jQuery JavaScript Style Guide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Airbnb JavaScript Style Guide (</a:t>
            </a:r>
            <a:r>
              <a:rPr lang="ru-RU" sz="2400" dirty="0"/>
              <a:t>есть перевод)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Idiomatic.JS (</a:t>
            </a:r>
            <a:r>
              <a:rPr lang="ru-RU" sz="2400" dirty="0"/>
              <a:t>есть перевод)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Dojo Style Guide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1608" y="3613043"/>
            <a:ext cx="674255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Автоматизированные средства проверки: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JSLint</a:t>
            </a:r>
            <a:endParaRPr lang="ru-RU" sz="2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 err="1"/>
              <a:t>JSHint</a:t>
            </a:r>
            <a:r>
              <a:rPr lang="en-US" sz="2400" dirty="0"/>
              <a:t>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3714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Синтаксис </a:t>
            </a:r>
            <a:r>
              <a:rPr lang="en-US" dirty="0"/>
              <a:t>JavaScript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20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10" name="Рисунок 9"/>
          <p:cNvPicPr/>
          <p:nvPr/>
        </p:nvPicPr>
        <p:blipFill>
          <a:blip r:embed="rId2"/>
          <a:stretch>
            <a:fillRect/>
          </a:stretch>
        </p:blipFill>
        <p:spPr>
          <a:xfrm>
            <a:off x="911608" y="920301"/>
            <a:ext cx="10694347" cy="486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97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Строгий режим — "</a:t>
            </a:r>
            <a:r>
              <a:rPr lang="ru-RU" dirty="0" err="1"/>
              <a:t>use</a:t>
            </a:r>
            <a:r>
              <a:rPr lang="ru-RU" dirty="0"/>
              <a:t> </a:t>
            </a:r>
            <a:r>
              <a:rPr lang="ru-RU" dirty="0" err="1"/>
              <a:t>strict</a:t>
            </a:r>
            <a:r>
              <a:rPr lang="ru-RU" dirty="0"/>
              <a:t>"</a:t>
            </a:r>
          </a:p>
        </p:txBody>
      </p:sp>
      <p:sp>
        <p:nvSpPr>
          <p:cNvPr id="12" name="Номер слайда 11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21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11608" y="1840692"/>
            <a:ext cx="820010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use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strict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этот код работает в современном режиме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A67F5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11608" y="3799179"/>
            <a:ext cx="30925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Консоль браузера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911608" y="1313507"/>
            <a:ext cx="35381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Директива «</a:t>
            </a:r>
            <a:r>
              <a:rPr lang="en-US" sz="2400" dirty="0"/>
              <a:t>use strict</a:t>
            </a:r>
            <a:r>
              <a:rPr lang="ru-RU" sz="2400" dirty="0"/>
              <a:t>» 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911608" y="4377415"/>
            <a:ext cx="1060360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66990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'use strict'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99999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A67F5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Shift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A67F5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Enter для перехода на новую строку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A67F5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&gt;</a:t>
            </a:r>
            <a:endParaRPr kumimoji="0" lang="ru-RU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708090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 ...ваш код...</a:t>
            </a:r>
            <a:endParaRPr kumimoji="0" lang="ru-RU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A67F5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&lt;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Enter для запуска</a:t>
            </a:r>
            <a:r>
              <a:rPr kumimoji="0" lang="ru-RU" altLang="ru-RU" sz="2400" b="0" i="0" u="none" strike="noStrike" cap="none" normalizeH="0" baseline="0">
                <a:ln>
                  <a:noFill/>
                </a:ln>
                <a:solidFill>
                  <a:srgbClr val="A67F59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&gt;</a:t>
            </a:r>
            <a:endParaRPr kumimoji="0" lang="ru-RU" altLang="ru-RU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069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Переменные</a:t>
            </a:r>
          </a:p>
        </p:txBody>
      </p:sp>
      <p:sp>
        <p:nvSpPr>
          <p:cNvPr id="19" name="Номер слайда 18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22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911608" y="920301"/>
            <a:ext cx="84852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Объявление переменной с именем «</a:t>
            </a:r>
            <a:r>
              <a:rPr lang="ru-RU" sz="2400" dirty="0" err="1"/>
              <a:t>message</a:t>
            </a:r>
            <a:r>
              <a:rPr lang="ru-RU" sz="2400" dirty="0"/>
              <a:t>»: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911608" y="1536027"/>
            <a:ext cx="86748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4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en-U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message</a:t>
            </a:r>
            <a:r>
              <a:rPr lang="en-US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ru-RU" sz="24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message </a:t>
            </a:r>
            <a:r>
              <a:rPr lang="en-US" sz="24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6699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'Hello'</a:t>
            </a:r>
            <a:r>
              <a:rPr lang="en-US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en-U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</a:t>
            </a:r>
            <a:r>
              <a:rPr lang="ru-RU" sz="2400" dirty="0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сохранить строку</a:t>
            </a:r>
            <a:endParaRPr lang="ru-RU" sz="24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911608" y="2982750"/>
            <a:ext cx="46506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Примеры допустимых имён: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911608" y="3581791"/>
            <a:ext cx="6096000" cy="59247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1275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 err="1">
                <a:solidFill>
                  <a:srgbClr val="0077A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let</a:t>
            </a:r>
            <a:r>
              <a:rPr lang="ru-RU" sz="2400" dirty="0">
                <a:solidFill>
                  <a:srgbClr val="333333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solidFill>
                  <a:srgbClr val="333333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userName</a:t>
            </a:r>
            <a:r>
              <a:rPr lang="ru-RU" sz="24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275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ru-RU" sz="24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lnSpc>
                <a:spcPts val="1275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 err="1">
                <a:solidFill>
                  <a:srgbClr val="0077AA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let</a:t>
            </a:r>
            <a:r>
              <a:rPr lang="ru-RU" sz="2400" dirty="0">
                <a:solidFill>
                  <a:srgbClr val="333333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test123</a:t>
            </a:r>
            <a:r>
              <a:rPr lang="ru-RU" sz="2400" dirty="0">
                <a:solidFill>
                  <a:srgbClr val="999999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lang="ru-RU" sz="24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911608" y="4237541"/>
            <a:ext cx="95155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2400" dirty="0" err="1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ru-RU" sz="24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$ </a:t>
            </a:r>
            <a:r>
              <a:rPr lang="ru-RU" sz="24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ru-RU" sz="24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solidFill>
                  <a:srgbClr val="990055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</a:t>
            </a:r>
            <a:r>
              <a:rPr lang="ru-RU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ru-RU" sz="24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объявили переменную с именем "$"</a:t>
            </a:r>
          </a:p>
          <a:p>
            <a:pPr>
              <a:spcAft>
                <a:spcPts val="0"/>
              </a:spcAft>
            </a:pPr>
            <a:r>
              <a:rPr lang="ru-RU" sz="2400" dirty="0" err="1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ru-RU" sz="24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_ </a:t>
            </a:r>
            <a:r>
              <a:rPr lang="ru-RU" sz="24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ru-RU" sz="24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solidFill>
                  <a:srgbClr val="990055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</a:t>
            </a:r>
            <a:r>
              <a:rPr lang="ru-RU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ru-RU" sz="24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а теперь переменную с именем "_"</a:t>
            </a:r>
          </a:p>
        </p:txBody>
      </p:sp>
    </p:spTree>
    <p:extLst>
      <p:ext uri="{BB962C8B-B14F-4D97-AF65-F5344CB8AC3E}">
        <p14:creationId xmlns:p14="http://schemas.microsoft.com/office/powerpoint/2010/main" val="3275687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Переменные</a:t>
            </a:r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23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1091069"/>
            <a:ext cx="70310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Примеры неправильных имён переменных: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911607" y="1723502"/>
            <a:ext cx="89116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2400" dirty="0" err="1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ru-RU" sz="24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solidFill>
                  <a:srgbClr val="990055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</a:t>
            </a:r>
            <a:r>
              <a:rPr lang="ru-RU" sz="24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</a:t>
            </a:r>
            <a:r>
              <a:rPr lang="ru-RU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ru-RU" sz="24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не может начинаться с цифры</a:t>
            </a:r>
          </a:p>
          <a:p>
            <a:pPr>
              <a:spcAft>
                <a:spcPts val="0"/>
              </a:spcAft>
            </a:pPr>
            <a:r>
              <a:rPr lang="ru-RU" sz="24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ru-RU" sz="24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400" dirty="0" err="1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ru-RU" sz="24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my</a:t>
            </a:r>
            <a:r>
              <a:rPr lang="ru-RU" sz="2400" dirty="0" err="1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</a:t>
            </a:r>
            <a:r>
              <a:rPr lang="ru-RU" sz="240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name</a:t>
            </a:r>
            <a:r>
              <a:rPr lang="ru-RU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ru-RU" sz="24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дефис '-' не разрешён в имени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1607" y="3094599"/>
            <a:ext cx="109018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2400" dirty="0" err="1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ru-RU" sz="24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ru-RU" sz="24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ru-RU" sz="24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solidFill>
                  <a:srgbClr val="990055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5</a:t>
            </a:r>
            <a:r>
              <a:rPr lang="ru-RU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ru-RU" sz="24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</a:p>
          <a:p>
            <a:pPr>
              <a:spcAft>
                <a:spcPts val="0"/>
              </a:spcAft>
            </a:pPr>
            <a:r>
              <a:rPr lang="ru-RU" sz="2400" dirty="0" err="1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ru-RU" sz="24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return</a:t>
            </a:r>
            <a:r>
              <a:rPr lang="ru-RU" sz="24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ru-RU" sz="24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solidFill>
                  <a:srgbClr val="990055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5</a:t>
            </a:r>
            <a:r>
              <a:rPr lang="ru-RU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ru-RU" sz="2400" dirty="0">
                <a:solidFill>
                  <a:srgbClr val="333333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endParaRPr lang="ru-RU" sz="24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704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Переменные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24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911608" y="817065"/>
            <a:ext cx="17892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Константы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1607" y="1516871"/>
            <a:ext cx="994320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2400" dirty="0" err="1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const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myBirthday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solidFill>
                  <a:srgbClr val="6699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'18.04.1982'</a:t>
            </a:r>
            <a:r>
              <a:rPr lang="ru-RU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pPr>
              <a:spcAft>
                <a:spcPts val="0"/>
              </a:spcAft>
            </a:pPr>
            <a:endParaRPr lang="ru-RU" sz="24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400" dirty="0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ошибка, константу нельзя перезаписать! 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ru-RU" sz="24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myBirthday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solidFill>
                  <a:srgbClr val="6699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'01.01.2001'</a:t>
            </a:r>
            <a:r>
              <a:rPr lang="ru-RU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endParaRPr lang="ru-RU" sz="24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911606" y="3558588"/>
            <a:ext cx="868959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400" dirty="0" err="1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const</a:t>
            </a:r>
            <a:r>
              <a:rPr lang="en-U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COLOR_RED</a:t>
            </a:r>
            <a:r>
              <a:rPr lang="en-U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6699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"#F00"</a:t>
            </a:r>
            <a:r>
              <a:rPr lang="en-US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ru-RU" sz="24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400" dirty="0" err="1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const</a:t>
            </a:r>
            <a:r>
              <a:rPr lang="en-U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COLOR_GREEN</a:t>
            </a:r>
            <a:r>
              <a:rPr lang="en-U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6699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"#0F0"</a:t>
            </a:r>
            <a:r>
              <a:rPr lang="en-US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ru-RU" sz="24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400" dirty="0" err="1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const</a:t>
            </a:r>
            <a:r>
              <a:rPr lang="en-U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COLOR_BLUE</a:t>
            </a:r>
            <a:r>
              <a:rPr lang="en-U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6699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"#00F"</a:t>
            </a:r>
            <a:r>
              <a:rPr lang="en-US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ru-RU" sz="24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400" dirty="0" err="1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const</a:t>
            </a:r>
            <a:r>
              <a:rPr lang="en-U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COLOR_ORANGE</a:t>
            </a:r>
            <a:r>
              <a:rPr lang="en-U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6699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"#FF7F00"</a:t>
            </a:r>
            <a:r>
              <a:rPr lang="en-US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ru-RU" sz="24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endParaRPr lang="ru-RU" sz="24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400" dirty="0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...когда нам нужно выбрать цвет</a:t>
            </a:r>
            <a:endParaRPr lang="ru-RU" sz="24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400" dirty="0" err="1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color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COLOR_ORANGE</a:t>
            </a:r>
            <a:r>
              <a:rPr lang="ru-RU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ru-RU" sz="24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4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alert</a:t>
            </a:r>
            <a:r>
              <a:rPr lang="ru-RU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ru-RU" sz="24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color</a:t>
            </a:r>
            <a:r>
              <a:rPr lang="ru-RU" sz="24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solidFill>
                  <a:srgbClr val="70809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// #FF7F00</a:t>
            </a:r>
            <a:endParaRPr lang="ru-RU" sz="24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665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Переменные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25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740854" y="993733"/>
            <a:ext cx="1100180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Хорошо: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err="1"/>
              <a:t>userName</a:t>
            </a:r>
            <a:r>
              <a:rPr lang="ru-RU" sz="2400" dirty="0"/>
              <a:t>, </a:t>
            </a:r>
            <a:r>
              <a:rPr lang="ru-RU" sz="2400" dirty="0" err="1"/>
              <a:t>shoppingCart</a:t>
            </a:r>
            <a:r>
              <a:rPr lang="ru-RU" sz="2400" dirty="0"/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err="1"/>
              <a:t>currentUser</a:t>
            </a:r>
            <a:r>
              <a:rPr lang="ru-RU" sz="2400" dirty="0"/>
              <a:t> или </a:t>
            </a:r>
            <a:r>
              <a:rPr lang="ru-RU" sz="2400" dirty="0" err="1"/>
              <a:t>newUser</a:t>
            </a:r>
            <a:r>
              <a:rPr lang="ru-RU" sz="2400" dirty="0"/>
              <a:t> вместо </a:t>
            </a:r>
            <a:r>
              <a:rPr lang="ru-RU" sz="2400" dirty="0" err="1"/>
              <a:t>currentVisitor</a:t>
            </a:r>
            <a:r>
              <a:rPr lang="ru-RU" sz="2400" dirty="0"/>
              <a:t> или </a:t>
            </a:r>
            <a:r>
              <a:rPr lang="ru-RU" sz="2400" dirty="0" err="1"/>
              <a:t>newManInTown</a:t>
            </a:r>
            <a:r>
              <a:rPr lang="ru-RU" sz="2400" dirty="0"/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дополнительная переменная.</a:t>
            </a:r>
          </a:p>
          <a:p>
            <a:endParaRPr lang="ru-RU" sz="2400" dirty="0"/>
          </a:p>
          <a:p>
            <a:r>
              <a:rPr lang="ru-RU" sz="2400" dirty="0"/>
              <a:t>Плохо: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a, b, c,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err="1"/>
              <a:t>data</a:t>
            </a:r>
            <a:r>
              <a:rPr lang="ru-RU" sz="2400" dirty="0"/>
              <a:t> и </a:t>
            </a:r>
            <a:r>
              <a:rPr lang="ru-RU" sz="2400" dirty="0" err="1"/>
              <a:t>value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1101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ятиугольник 16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ятиугольник 18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1"/>
          <p:cNvSpPr txBox="1">
            <a:spLocks/>
          </p:cNvSpPr>
          <p:nvPr/>
        </p:nvSpPr>
        <p:spPr>
          <a:xfrm>
            <a:off x="911608" y="0"/>
            <a:ext cx="8911687" cy="9203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/>
              <a:t>Типы данных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20" y="1062098"/>
            <a:ext cx="4368180" cy="1112495"/>
          </a:xfrm>
          <a:prstGeom prst="rect">
            <a:avLst/>
          </a:prstGeom>
        </p:spPr>
      </p:pic>
      <p:sp>
        <p:nvSpPr>
          <p:cNvPr id="23" name="Прямоугольник 22"/>
          <p:cNvSpPr/>
          <p:nvPr/>
        </p:nvSpPr>
        <p:spPr>
          <a:xfrm>
            <a:off x="4849428" y="425760"/>
            <a:ext cx="25907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Число (</a:t>
            </a:r>
            <a:r>
              <a:rPr lang="ru-RU" sz="2400" dirty="0" err="1"/>
              <a:t>number</a:t>
            </a:r>
            <a:r>
              <a:rPr lang="ru-RU" sz="2400" dirty="0"/>
              <a:t>)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317" y="243937"/>
            <a:ext cx="2954130" cy="742658"/>
          </a:xfrm>
          <a:prstGeom prst="rect">
            <a:avLst/>
          </a:prstGeom>
        </p:spPr>
      </p:pic>
      <p:sp>
        <p:nvSpPr>
          <p:cNvPr id="25" name="Прямоугольник 24"/>
          <p:cNvSpPr/>
          <p:nvPr/>
        </p:nvSpPr>
        <p:spPr>
          <a:xfrm>
            <a:off x="4849428" y="1328440"/>
            <a:ext cx="14622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err="1"/>
              <a:t>Infinity</a:t>
            </a:r>
            <a:endParaRPr lang="ru-RU" sz="2400" dirty="0"/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566" y="1164934"/>
            <a:ext cx="3908322" cy="788675"/>
          </a:xfrm>
          <a:prstGeom prst="rect">
            <a:avLst/>
          </a:prstGeom>
        </p:spPr>
      </p:pic>
      <p:sp>
        <p:nvSpPr>
          <p:cNvPr id="27" name="Прямоугольник 26"/>
          <p:cNvSpPr/>
          <p:nvPr/>
        </p:nvSpPr>
        <p:spPr>
          <a:xfrm>
            <a:off x="4849428" y="2004941"/>
            <a:ext cx="11961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NaN</a:t>
            </a:r>
            <a:endParaRPr lang="ru-RU" sz="2400" dirty="0"/>
          </a:p>
        </p:txBody>
      </p:sp>
      <p:pic>
        <p:nvPicPr>
          <p:cNvPr id="28" name="Рисунок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7566" y="2081111"/>
            <a:ext cx="5276991" cy="770989"/>
          </a:xfrm>
          <a:prstGeom prst="rect">
            <a:avLst/>
          </a:prstGeom>
        </p:spPr>
      </p:pic>
      <p:sp>
        <p:nvSpPr>
          <p:cNvPr id="29" name="Номер слайда 17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26</a:t>
            </a:fld>
            <a:endParaRPr lang="ru-RU" sz="2400" b="1" dirty="0"/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455" y="3111910"/>
            <a:ext cx="7346219" cy="3583856"/>
          </a:xfrm>
          <a:prstGeom prst="rect">
            <a:avLst/>
          </a:prstGeom>
        </p:spPr>
      </p:pic>
      <p:sp>
        <p:nvSpPr>
          <p:cNvPr id="31" name="Прямоугольник 30"/>
          <p:cNvSpPr/>
          <p:nvPr/>
        </p:nvSpPr>
        <p:spPr>
          <a:xfrm>
            <a:off x="238920" y="2639340"/>
            <a:ext cx="10877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spc="15" dirty="0" err="1">
                <a:ea typeface="Calibri" panose="020F0502020204030204" pitchFamily="34" charset="0"/>
                <a:cs typeface="Times New Roman" panose="02020603050405020304" pitchFamily="18" charset="0"/>
              </a:rPr>
              <a:t>BigInt</a:t>
            </a:r>
            <a:r>
              <a:rPr lang="en-US" sz="2400" spc="15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89678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Типы данных</a:t>
            </a:r>
          </a:p>
        </p:txBody>
      </p:sp>
      <p:sp>
        <p:nvSpPr>
          <p:cNvPr id="21" name="Номер слайда 20"/>
          <p:cNvSpPr>
            <a:spLocks noGrp="1"/>
          </p:cNvSpPr>
          <p:nvPr>
            <p:ph type="sldNum" sz="quarter" idx="12"/>
          </p:nvPr>
        </p:nvSpPr>
        <p:spPr>
          <a:xfrm>
            <a:off x="1133504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27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25843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Строка </a:t>
            </a:r>
            <a:r>
              <a:rPr lang="en-US" sz="2400" dirty="0"/>
              <a:t>(string) </a:t>
            </a:r>
            <a:r>
              <a:rPr lang="ru-RU" sz="2400" dirty="0"/>
              <a:t> 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874" y="1521514"/>
            <a:ext cx="10918382" cy="1074202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911608" y="3096852"/>
            <a:ext cx="56557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/>
              <a:t>Булевый</a:t>
            </a:r>
            <a:r>
              <a:rPr lang="ru-RU" sz="2400" dirty="0"/>
              <a:t> (логический) тип </a:t>
            </a:r>
            <a:r>
              <a:rPr lang="en-US" sz="2400" dirty="0"/>
              <a:t>(</a:t>
            </a:r>
            <a:r>
              <a:rPr lang="en-US" sz="2400" dirty="0" err="1"/>
              <a:t>boolean</a:t>
            </a:r>
            <a:r>
              <a:rPr lang="en-US" sz="2400" dirty="0"/>
              <a:t>)</a:t>
            </a:r>
            <a:endParaRPr lang="ru-RU" sz="2400" dirty="0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73" y="3752543"/>
            <a:ext cx="5205695" cy="741317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873" y="5059090"/>
            <a:ext cx="4645256" cy="81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215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Типы данных</a:t>
            </a:r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28251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28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25186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Значение «</a:t>
            </a:r>
            <a:r>
              <a:rPr lang="en-US" sz="2400" dirty="0"/>
              <a:t>null»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494939"/>
            <a:ext cx="3957451" cy="4665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11608" y="2461887"/>
            <a:ext cx="35654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Значение «</a:t>
            </a:r>
            <a:r>
              <a:rPr lang="en-US" sz="2400" dirty="0"/>
              <a:t>undefined»</a:t>
            </a:r>
            <a:endParaRPr lang="ru-RU" sz="24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8" y="3213919"/>
            <a:ext cx="4419282" cy="200701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941104" y="5795181"/>
            <a:ext cx="58881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Объекты (</a:t>
            </a:r>
            <a:r>
              <a:rPr lang="ru-RU" sz="2400" dirty="0" err="1"/>
              <a:t>object</a:t>
            </a:r>
            <a:r>
              <a:rPr lang="ru-RU" sz="2400" dirty="0"/>
              <a:t>) и символы (</a:t>
            </a:r>
            <a:r>
              <a:rPr lang="ru-RU" sz="2400" dirty="0" err="1"/>
              <a:t>symbol</a:t>
            </a:r>
            <a:r>
              <a:rPr lang="ru-RU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2451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r>
              <a:rPr lang="ru-RU" dirty="0"/>
              <a:t>Типы данных</a:t>
            </a:r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>
          <a:xfrm>
            <a:off x="1135625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29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28504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Оператор </a:t>
            </a:r>
            <a:r>
              <a:rPr lang="en-US" sz="2400" dirty="0" err="1"/>
              <a:t>typeof</a:t>
            </a:r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941104" y="158099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400" dirty="0"/>
              <a:t>Синтаксис:</a:t>
            </a:r>
          </a:p>
          <a:p>
            <a:r>
              <a:rPr lang="ru-RU" sz="2400" dirty="0"/>
              <a:t>1. Синтаксис оператора: </a:t>
            </a:r>
            <a:r>
              <a:rPr lang="ru-RU" sz="2400" dirty="0" err="1"/>
              <a:t>typeof</a:t>
            </a:r>
            <a:r>
              <a:rPr lang="ru-RU" sz="2400" dirty="0"/>
              <a:t> x.</a:t>
            </a:r>
          </a:p>
          <a:p>
            <a:r>
              <a:rPr lang="ru-RU" sz="2400" dirty="0"/>
              <a:t>2. Синтаксис функции: </a:t>
            </a:r>
            <a:r>
              <a:rPr lang="ru-RU" sz="2400" dirty="0" err="1"/>
              <a:t>typeof</a:t>
            </a:r>
            <a:r>
              <a:rPr lang="ru-RU" sz="2400" dirty="0"/>
              <a:t>(x).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104" y="2980344"/>
            <a:ext cx="6270857" cy="217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352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Преобразование типов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30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772820"/>
            <a:ext cx="46346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Строковое преобразование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7" y="1398783"/>
            <a:ext cx="4634603" cy="180819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11607" y="3618780"/>
            <a:ext cx="46474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Численное преобразование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6" y="4080444"/>
            <a:ext cx="4796019" cy="257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854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Преобразование типов</a:t>
            </a: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352777" y="618832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31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851" y="920301"/>
            <a:ext cx="7507438" cy="1100228"/>
          </a:xfrm>
          <a:prstGeom prst="rect">
            <a:avLst/>
          </a:prstGeom>
        </p:spPr>
      </p:pic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230199"/>
              </p:ext>
            </p:extLst>
          </p:nvPr>
        </p:nvGraphicFramePr>
        <p:xfrm>
          <a:off x="911608" y="2253382"/>
          <a:ext cx="10453292" cy="223883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747381">
                  <a:extLst>
                    <a:ext uri="{9D8B030D-6E8A-4147-A177-3AD203B41FA5}">
                      <a16:colId xmlns:a16="http://schemas.microsoft.com/office/drawing/2014/main" xmlns="" val="2725816161"/>
                    </a:ext>
                  </a:extLst>
                </a:gridCol>
                <a:gridCol w="8705911">
                  <a:extLst>
                    <a:ext uri="{9D8B030D-6E8A-4147-A177-3AD203B41FA5}">
                      <a16:colId xmlns:a16="http://schemas.microsoft.com/office/drawing/2014/main" xmlns="" val="3498433378"/>
                    </a:ext>
                  </a:extLst>
                </a:gridCol>
              </a:tblGrid>
              <a:tr h="3243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700" b="1" dirty="0">
                          <a:effectLst/>
                        </a:rPr>
                        <a:t>Значение</a:t>
                      </a:r>
                      <a:endParaRPr lang="ru-RU" sz="19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155" marR="256496" marT="32062" marB="32062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700" b="1" dirty="0">
                          <a:effectLst/>
                        </a:rPr>
                        <a:t>Преобразуется в…</a:t>
                      </a:r>
                      <a:endParaRPr lang="ru-RU" sz="19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155" marR="256496" marT="32062" marB="32062" anchor="b"/>
                </a:tc>
                <a:extLst>
                  <a:ext uri="{0D108BD9-81ED-4DB2-BD59-A6C34878D82A}">
                    <a16:rowId xmlns:a16="http://schemas.microsoft.com/office/drawing/2014/main" xmlns="" val="351775631"/>
                  </a:ext>
                </a:extLst>
              </a:tr>
              <a:tr h="3244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700" dirty="0" err="1">
                          <a:effectLst/>
                        </a:rPr>
                        <a:t>undefined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155" marR="256496" marT="32062" marB="3206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700">
                          <a:effectLst/>
                        </a:rPr>
                        <a:t>NaN</a:t>
                      </a:r>
                      <a:endParaRPr lang="ru-RU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155" marR="256496" marT="32062" marB="32062" anchor="ctr"/>
                </a:tc>
                <a:extLst>
                  <a:ext uri="{0D108BD9-81ED-4DB2-BD59-A6C34878D82A}">
                    <a16:rowId xmlns:a16="http://schemas.microsoft.com/office/drawing/2014/main" xmlns="" val="2232935486"/>
                  </a:ext>
                </a:extLst>
              </a:tr>
              <a:tr h="3244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700">
                          <a:effectLst/>
                        </a:rPr>
                        <a:t>null</a:t>
                      </a:r>
                      <a:endParaRPr lang="ru-RU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155" marR="256496" marT="32062" marB="3206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700" dirty="0">
                          <a:effectLst/>
                        </a:rPr>
                        <a:t>0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155" marR="256496" marT="32062" marB="32062" anchor="ctr"/>
                </a:tc>
                <a:extLst>
                  <a:ext uri="{0D108BD9-81ED-4DB2-BD59-A6C34878D82A}">
                    <a16:rowId xmlns:a16="http://schemas.microsoft.com/office/drawing/2014/main" xmlns="" val="4118815768"/>
                  </a:ext>
                </a:extLst>
              </a:tr>
              <a:tr h="3244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700">
                          <a:effectLst/>
                        </a:rPr>
                        <a:t>true / false</a:t>
                      </a:r>
                      <a:endParaRPr lang="ru-RU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155" marR="256496" marT="32062" marB="3206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700">
                          <a:effectLst/>
                        </a:rPr>
                        <a:t>1 / 0</a:t>
                      </a:r>
                      <a:endParaRPr lang="ru-RU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155" marR="256496" marT="32062" marB="32062" anchor="ctr"/>
                </a:tc>
                <a:extLst>
                  <a:ext uri="{0D108BD9-81ED-4DB2-BD59-A6C34878D82A}">
                    <a16:rowId xmlns:a16="http://schemas.microsoft.com/office/drawing/2014/main" xmlns="" val="3607631886"/>
                  </a:ext>
                </a:extLst>
              </a:tr>
              <a:tr h="8733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700">
                          <a:effectLst/>
                        </a:rPr>
                        <a:t>string</a:t>
                      </a:r>
                      <a:endParaRPr lang="ru-RU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155" marR="256496" marT="32062" marB="3206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700" dirty="0">
                          <a:effectLst/>
                        </a:rPr>
                        <a:t>Пробельные символы по краям обрезаются. Далее, если остаётся пустая строка, то 0, иначе из непустой строки «считывается» число. При ошибке результат </a:t>
                      </a:r>
                      <a:r>
                        <a:rPr lang="ru-RU" sz="1700" dirty="0" err="1">
                          <a:effectLst/>
                        </a:rPr>
                        <a:t>NaN</a:t>
                      </a:r>
                      <a:r>
                        <a:rPr lang="ru-RU" sz="1700" dirty="0">
                          <a:effectLst/>
                        </a:rPr>
                        <a:t>.</a:t>
                      </a:r>
                      <a:endParaRPr lang="ru-RU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155" marR="256496" marT="32062" marB="32062" anchor="ctr"/>
                </a:tc>
                <a:extLst>
                  <a:ext uri="{0D108BD9-81ED-4DB2-BD59-A6C34878D82A}">
                    <a16:rowId xmlns:a16="http://schemas.microsoft.com/office/drawing/2014/main" xmlns="" val="2120519280"/>
                  </a:ext>
                </a:extLst>
              </a:tr>
            </a:tbl>
          </a:graphicData>
        </a:graphic>
      </p:graphicFrame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51" y="4721067"/>
            <a:ext cx="10339094" cy="144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115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Преобразование типов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>
          <a:xfrm>
            <a:off x="11356251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32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1609" y="920301"/>
            <a:ext cx="47660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Логическое преобразование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492072"/>
            <a:ext cx="6393917" cy="175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434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Преобразование типов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412233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33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7" name="Рисунок 6"/>
          <p:cNvPicPr/>
          <p:nvPr/>
        </p:nvPicPr>
        <p:blipFill rotWithShape="1">
          <a:blip r:embed="rId2"/>
          <a:srcRect b="52621"/>
          <a:stretch/>
        </p:blipFill>
        <p:spPr>
          <a:xfrm>
            <a:off x="911608" y="920301"/>
            <a:ext cx="3825310" cy="3858176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 rotWithShape="1">
          <a:blip r:embed="rId2"/>
          <a:srcRect t="43600"/>
          <a:stretch/>
        </p:blipFill>
        <p:spPr>
          <a:xfrm>
            <a:off x="5367451" y="920300"/>
            <a:ext cx="3997775" cy="479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657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Операторы</a:t>
            </a:r>
          </a:p>
        </p:txBody>
      </p:sp>
      <p:sp>
        <p:nvSpPr>
          <p:cNvPr id="14" name="Номер слайда 13"/>
          <p:cNvSpPr>
            <a:spLocks noGrp="1"/>
          </p:cNvSpPr>
          <p:nvPr>
            <p:ph type="sldNum" sz="quarter" idx="12"/>
          </p:nvPr>
        </p:nvSpPr>
        <p:spPr>
          <a:xfrm>
            <a:off x="11343819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34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32031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Операнд         5 * 2 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117768" y="1559385"/>
            <a:ext cx="33570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Бинарный оператор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1608" y="1471270"/>
            <a:ext cx="31902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Унарный оператор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218" y="2098361"/>
            <a:ext cx="2590388" cy="1409958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054" y="2193409"/>
            <a:ext cx="3551436" cy="844759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008218" y="3834270"/>
            <a:ext cx="48061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Сложение строк, бинарный +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218" y="4393286"/>
            <a:ext cx="4689108" cy="798146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217" y="5650424"/>
            <a:ext cx="4689109" cy="79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442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35</a:t>
            </a:fld>
            <a:endParaRPr lang="ru-RU" sz="2400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26" y="920301"/>
            <a:ext cx="7942514" cy="146893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00138" y="2787134"/>
            <a:ext cx="67665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Преобразование к числу, унарный плюс +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325" y="3309540"/>
            <a:ext cx="5801687" cy="3415786"/>
          </a:xfrm>
          <a:prstGeom prst="rect">
            <a:avLst/>
          </a:prstGeom>
        </p:spPr>
      </p:pic>
      <p:sp>
        <p:nvSpPr>
          <p:cNvPr id="11" name="Заголовок 1"/>
          <p:cNvSpPr txBox="1">
            <a:spLocks/>
          </p:cNvSpPr>
          <p:nvPr/>
        </p:nvSpPr>
        <p:spPr>
          <a:xfrm>
            <a:off x="911608" y="0"/>
            <a:ext cx="8911687" cy="9203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/>
              <a:t>Операторы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67207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Операторы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36</a:t>
            </a:fld>
            <a:endParaRPr lang="ru-RU" sz="2400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129634"/>
            <a:ext cx="8236320" cy="177579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8" y="3114764"/>
            <a:ext cx="8616461" cy="26666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8409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Операторы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37</a:t>
            </a:fld>
            <a:endParaRPr lang="ru-RU" sz="24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38010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Приоритет операторов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239520"/>
              </p:ext>
            </p:extLst>
          </p:nvPr>
        </p:nvGraphicFramePr>
        <p:xfrm>
          <a:off x="1057168" y="1669461"/>
          <a:ext cx="8807580" cy="472396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56059">
                  <a:extLst>
                    <a:ext uri="{9D8B030D-6E8A-4147-A177-3AD203B41FA5}">
                      <a16:colId xmlns:a16="http://schemas.microsoft.com/office/drawing/2014/main" xmlns="" val="2722582307"/>
                    </a:ext>
                  </a:extLst>
                </a:gridCol>
                <a:gridCol w="3715661">
                  <a:extLst>
                    <a:ext uri="{9D8B030D-6E8A-4147-A177-3AD203B41FA5}">
                      <a16:colId xmlns:a16="http://schemas.microsoft.com/office/drawing/2014/main" xmlns="" val="2095846791"/>
                    </a:ext>
                  </a:extLst>
                </a:gridCol>
                <a:gridCol w="2935860">
                  <a:extLst>
                    <a:ext uri="{9D8B030D-6E8A-4147-A177-3AD203B41FA5}">
                      <a16:colId xmlns:a16="http://schemas.microsoft.com/office/drawing/2014/main" xmlns="" val="13567752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effectLst/>
                        </a:rPr>
                        <a:t>Приоритет</a:t>
                      </a:r>
                      <a:endParaRPr lang="ru-RU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effectLst/>
                        </a:rPr>
                        <a:t>Название</a:t>
                      </a:r>
                      <a:endParaRPr lang="ru-RU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effectLst/>
                        </a:rPr>
                        <a:t>Обозначение</a:t>
                      </a:r>
                      <a:endParaRPr lang="ru-RU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b"/>
                </a:tc>
                <a:extLst>
                  <a:ext uri="{0D108BD9-81ED-4DB2-BD59-A6C34878D82A}">
                    <a16:rowId xmlns:a16="http://schemas.microsoft.com/office/drawing/2014/main" xmlns="" val="3430164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…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…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…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xmlns="" val="3009849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16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унарный плюс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+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xmlns="" val="4018444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16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унарный минус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-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xmlns="" val="1596686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14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умножение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*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xmlns="" val="3486654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14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деление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/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xmlns="" val="2040468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13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сложение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+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xmlns="" val="1460633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13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вычитание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-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xmlns="" val="136320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…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…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…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xmlns="" val="2154353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3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присваивание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=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xmlns="" val="2337877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…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…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…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25" marR="152400" marT="19050" marB="19050" anchor="ctr"/>
                </a:tc>
                <a:extLst>
                  <a:ext uri="{0D108BD9-81ED-4DB2-BD59-A6C34878D82A}">
                    <a16:rowId xmlns:a16="http://schemas.microsoft.com/office/drawing/2014/main" xmlns="" val="132825379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84379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Операторы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38</a:t>
            </a:fld>
            <a:endParaRPr lang="ru-RU" sz="24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24641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Присваивание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621526"/>
            <a:ext cx="4274460" cy="8856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7" y="2746784"/>
            <a:ext cx="4306117" cy="275436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2220" y="1621525"/>
            <a:ext cx="5057019" cy="26112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1104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Операторы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39</a:t>
            </a:fld>
            <a:endParaRPr lang="ru-RU" sz="24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35349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Остаток от деления %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93" y="1526276"/>
            <a:ext cx="8505365" cy="1176843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911608" y="3124428"/>
            <a:ext cx="38908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Возведение в степень **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094" y="3725350"/>
            <a:ext cx="6425842" cy="18587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65124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Операторы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40</a:t>
            </a:fld>
            <a:endParaRPr lang="ru-RU" sz="24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37946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Инкремент/декремент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062" y="1459304"/>
            <a:ext cx="6999203" cy="32011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58028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Операторы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41</a:t>
            </a:fld>
            <a:endParaRPr lang="ru-RU" sz="24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36070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Префиксная форма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256" y="1603579"/>
            <a:ext cx="3894957" cy="1557983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6377415" y="920301"/>
            <a:ext cx="36311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Постфиксная форма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415" y="1603578"/>
            <a:ext cx="3894958" cy="155798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256" y="3792755"/>
            <a:ext cx="5060079" cy="741705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1001508" y="3297559"/>
            <a:ext cx="105612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Инкремент/декремент можно использовать в любых выражениях: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688" y="3806733"/>
            <a:ext cx="4964715" cy="727727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1001508" y="4694320"/>
            <a:ext cx="63898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Но лучше одна строка – одно действие: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256" y="5161778"/>
            <a:ext cx="4248918" cy="11272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25724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Операторы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42</a:t>
            </a:fld>
            <a:endParaRPr lang="ru-RU" sz="24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735635"/>
            <a:ext cx="10514417" cy="3416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Побитовые операторы:</a:t>
            </a:r>
          </a:p>
          <a:p>
            <a:r>
              <a:rPr lang="en-US" sz="2400" dirty="0"/>
              <a:t>•</a:t>
            </a:r>
            <a:r>
              <a:rPr lang="ru-RU" sz="2400" dirty="0"/>
              <a:t> </a:t>
            </a:r>
            <a:r>
              <a:rPr lang="en-US" sz="2400" dirty="0"/>
              <a:t>AND(</a:t>
            </a:r>
            <a:r>
              <a:rPr lang="ru-RU" sz="2400" dirty="0"/>
              <a:t>и) ( &amp; )</a:t>
            </a:r>
          </a:p>
          <a:p>
            <a:r>
              <a:rPr lang="ru-RU" sz="2400" dirty="0"/>
              <a:t>• </a:t>
            </a:r>
            <a:r>
              <a:rPr lang="en-US" sz="2400" dirty="0"/>
              <a:t>OR(</a:t>
            </a:r>
            <a:r>
              <a:rPr lang="ru-RU" sz="2400" dirty="0"/>
              <a:t>или) ( | )</a:t>
            </a:r>
          </a:p>
          <a:p>
            <a:r>
              <a:rPr lang="ru-RU" sz="2400" dirty="0"/>
              <a:t>• </a:t>
            </a:r>
            <a:r>
              <a:rPr lang="en-US" sz="2400" dirty="0"/>
              <a:t>XOR(</a:t>
            </a:r>
            <a:r>
              <a:rPr lang="ru-RU" sz="2400" dirty="0"/>
              <a:t>побитовое исключающее или) ( ^ )</a:t>
            </a:r>
          </a:p>
          <a:p>
            <a:r>
              <a:rPr lang="ru-RU" sz="2400" dirty="0"/>
              <a:t>• </a:t>
            </a:r>
            <a:r>
              <a:rPr lang="en-US" sz="2400" dirty="0"/>
              <a:t>NOT(</a:t>
            </a:r>
            <a:r>
              <a:rPr lang="ru-RU" sz="2400" dirty="0"/>
              <a:t>не) ( ~ )</a:t>
            </a:r>
          </a:p>
          <a:p>
            <a:r>
              <a:rPr lang="ru-RU" sz="2400" dirty="0"/>
              <a:t>• </a:t>
            </a:r>
            <a:r>
              <a:rPr lang="en-US" sz="2400" dirty="0"/>
              <a:t>LEFT SHIFT(</a:t>
            </a:r>
            <a:r>
              <a:rPr lang="ru-RU" sz="2400" dirty="0"/>
              <a:t>левый сдвиг) ( &lt;&lt; )</a:t>
            </a:r>
          </a:p>
          <a:p>
            <a:r>
              <a:rPr lang="ru-RU" sz="2400" dirty="0"/>
              <a:t>• </a:t>
            </a:r>
            <a:r>
              <a:rPr lang="en-US" sz="2400" dirty="0"/>
              <a:t>RIGHT SHIFT(</a:t>
            </a:r>
            <a:r>
              <a:rPr lang="ru-RU" sz="2400" dirty="0"/>
              <a:t>правый сдвиг) ( &gt;&gt; )</a:t>
            </a:r>
          </a:p>
          <a:p>
            <a:r>
              <a:rPr lang="ru-RU" sz="2400" dirty="0"/>
              <a:t>• </a:t>
            </a:r>
            <a:r>
              <a:rPr lang="en-US" sz="2400" dirty="0"/>
              <a:t>ZERO-FILL RIGHT SHIFT(</a:t>
            </a:r>
            <a:r>
              <a:rPr lang="ru-RU" sz="2400" dirty="0"/>
              <a:t>правый сдвиг с заполнением нулями) ( &gt;&gt;&gt; )</a:t>
            </a:r>
          </a:p>
          <a:p>
            <a:endParaRPr lang="ru-R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48375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Операторы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43</a:t>
            </a:fld>
            <a:endParaRPr lang="ru-RU" sz="24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689468"/>
            <a:ext cx="75825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Сокращённая арифметика с присваиванием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241214"/>
            <a:ext cx="2578282" cy="107428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8" y="2579737"/>
            <a:ext cx="4449394" cy="180053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08" y="4644509"/>
            <a:ext cx="3689890" cy="179321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93743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Операторы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44</a:t>
            </a:fld>
            <a:endParaRPr lang="ru-RU" sz="24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29979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Оператор запятая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95" y="1450106"/>
            <a:ext cx="4353992" cy="79316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95" y="2498008"/>
            <a:ext cx="7260266" cy="13955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8920" y="44244"/>
            <a:ext cx="543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42894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Операторы сравнения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45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10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728572"/>
            <a:ext cx="1072486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Больше/меньше: a &gt; b, a &lt; b.</a:t>
            </a:r>
          </a:p>
          <a:p>
            <a:r>
              <a:rPr lang="ru-RU" sz="2400" dirty="0"/>
              <a:t>Больше/меньше или равно: a &gt;= b, a &lt;= b.</a:t>
            </a:r>
          </a:p>
          <a:p>
            <a:r>
              <a:rPr lang="ru-RU" sz="2400" dirty="0"/>
              <a:t>Равно: a == b. </a:t>
            </a:r>
          </a:p>
          <a:p>
            <a:r>
              <a:rPr lang="ru-RU" sz="2400" dirty="0"/>
              <a:t>Не равно: a != b.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1608" y="2632059"/>
            <a:ext cx="68371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Результат сравнения имеет логический тип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538" y="3255707"/>
            <a:ext cx="6118430" cy="200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073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Операторы сравнения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46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10</a:t>
            </a:r>
            <a:endParaRPr lang="ru-RU" sz="3000" b="1" dirty="0">
              <a:solidFill>
                <a:schemeClr val="bg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845" y="1746219"/>
            <a:ext cx="5785877" cy="101173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11608" y="735325"/>
            <a:ext cx="99727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В сравнении строк используется кодировка </a:t>
            </a:r>
            <a:r>
              <a:rPr lang="ru-RU" sz="2400" dirty="0" err="1"/>
              <a:t>Unicode</a:t>
            </a:r>
            <a:r>
              <a:rPr lang="ru-RU" sz="2400" dirty="0"/>
              <a:t>, а не настоящий алфавит.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014845" y="3214837"/>
            <a:ext cx="40543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Сравнение разных типов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844" y="3919069"/>
            <a:ext cx="5070927" cy="77091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844" y="4932554"/>
            <a:ext cx="5001236" cy="760323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409" y="3919068"/>
            <a:ext cx="5035484" cy="229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9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Операторы сравнения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47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10</a:t>
            </a:r>
            <a:endParaRPr lang="ru-RU" sz="30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802317"/>
            <a:ext cx="86950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Операторы строгого равенства === и неравенства !==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44" y="1480369"/>
            <a:ext cx="4979333" cy="130707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55852" y="3082104"/>
            <a:ext cx="47259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Сравнение с </a:t>
            </a:r>
            <a:r>
              <a:rPr lang="ru-RU" sz="2400" dirty="0" err="1"/>
              <a:t>null</a:t>
            </a:r>
            <a:r>
              <a:rPr lang="ru-RU" sz="2400" dirty="0"/>
              <a:t> и </a:t>
            </a:r>
            <a:r>
              <a:rPr lang="ru-RU" sz="2400" dirty="0" err="1"/>
              <a:t>undefined</a:t>
            </a:r>
            <a:endParaRPr lang="ru-RU" sz="24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044" y="3605066"/>
            <a:ext cx="6174531" cy="789953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117" y="4605566"/>
            <a:ext cx="5541288" cy="1043066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044" y="4605566"/>
            <a:ext cx="4970861" cy="104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9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Условные операторы: </a:t>
            </a:r>
            <a:r>
              <a:rPr lang="ru-RU" dirty="0" err="1"/>
              <a:t>if</a:t>
            </a:r>
            <a:r>
              <a:rPr lang="ru-RU" dirty="0"/>
              <a:t>, '?'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48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20297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Оператор </a:t>
            </a:r>
            <a:r>
              <a:rPr lang="en-US" sz="2400" dirty="0"/>
              <a:t>if</a:t>
            </a:r>
            <a:endParaRPr lang="ru-RU" sz="2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411977"/>
            <a:ext cx="10947754" cy="66754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8" y="2302267"/>
            <a:ext cx="4914005" cy="1294801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11608" y="3819812"/>
            <a:ext cx="59618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Преобразование к логическому типу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08" y="4447212"/>
            <a:ext cx="2029724" cy="99971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580" y="4447211"/>
            <a:ext cx="2029724" cy="999715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7451" y="4447211"/>
            <a:ext cx="4778567" cy="145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6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Условные операторы: </a:t>
            </a:r>
            <a:r>
              <a:rPr lang="ru-RU" dirty="0" err="1"/>
              <a:t>if</a:t>
            </a:r>
            <a:r>
              <a:rPr lang="ru-RU" dirty="0"/>
              <a:t>, '?'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49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911608" y="920301"/>
            <a:ext cx="18165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Блок «</a:t>
            </a:r>
            <a:r>
              <a:rPr lang="en-US" sz="2400" dirty="0"/>
              <a:t>else»</a:t>
            </a:r>
            <a:endParaRPr lang="ru-RU" sz="2400" dirty="0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7" y="1499113"/>
            <a:ext cx="10068469" cy="229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13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Условные операторы: </a:t>
            </a:r>
            <a:r>
              <a:rPr lang="ru-RU" dirty="0" err="1"/>
              <a:t>if</a:t>
            </a:r>
            <a:r>
              <a:rPr lang="ru-RU" dirty="0"/>
              <a:t>, '?'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50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44198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Несколько условий: «</a:t>
            </a:r>
            <a:r>
              <a:rPr lang="en-US" sz="2400" dirty="0"/>
              <a:t>else if»</a:t>
            </a:r>
            <a:endParaRPr lang="ru-RU" sz="2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928" y="1449779"/>
            <a:ext cx="9753071" cy="279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275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Условные операторы: </a:t>
            </a:r>
            <a:r>
              <a:rPr lang="ru-RU" dirty="0" err="1"/>
              <a:t>if</a:t>
            </a:r>
            <a:r>
              <a:rPr lang="ru-RU" dirty="0"/>
              <a:t>, '?'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51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38747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Условный оператор „?“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551653"/>
            <a:ext cx="6595321" cy="3085162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11608" y="4898835"/>
            <a:ext cx="1518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Синтаксис: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911608" y="5345521"/>
            <a:ext cx="71096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ru-RU" sz="2000" dirty="0" err="1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ru-RU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result</a:t>
            </a:r>
            <a:r>
              <a:rPr lang="ru-RU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ru-RU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условие </a:t>
            </a:r>
            <a:r>
              <a:rPr lang="ru-RU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?</a:t>
            </a:r>
            <a:r>
              <a:rPr lang="ru-RU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значение</a:t>
            </a:r>
            <a:r>
              <a:rPr lang="ru-RU" sz="2000" dirty="0">
                <a:solidFill>
                  <a:srgbClr val="990055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1</a:t>
            </a:r>
            <a:r>
              <a:rPr lang="ru-RU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  <a:r>
              <a:rPr lang="ru-RU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значение</a:t>
            </a:r>
            <a:r>
              <a:rPr lang="ru-RU" sz="2000" dirty="0">
                <a:solidFill>
                  <a:srgbClr val="990055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2</a:t>
            </a:r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00" y="5934635"/>
            <a:ext cx="7188957" cy="45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308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Условные операторы: </a:t>
            </a:r>
            <a:r>
              <a:rPr lang="ru-RU" dirty="0" err="1"/>
              <a:t>if</a:t>
            </a:r>
            <a:r>
              <a:rPr lang="ru-RU" dirty="0"/>
              <a:t>, '?'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52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728573"/>
            <a:ext cx="43620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Несколько операторов „?“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255286"/>
            <a:ext cx="8001332" cy="271203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418" y="3652397"/>
            <a:ext cx="6565825" cy="2923588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10300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Условные операторы: </a:t>
            </a:r>
            <a:r>
              <a:rPr lang="ru-RU" dirty="0" err="1"/>
              <a:t>if</a:t>
            </a:r>
            <a:r>
              <a:rPr lang="ru-RU" dirty="0"/>
              <a:t>, '?'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53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126" y="1535064"/>
            <a:ext cx="10145722" cy="145886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11608" y="920301"/>
            <a:ext cx="31918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Не рекомендуется 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126" y="3273681"/>
            <a:ext cx="9924214" cy="228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24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Логические операторы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54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735635"/>
            <a:ext cx="77812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Логические операторы: || (ИЛИ), &amp;&amp; (И) и ! (НЕ).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1608" y="1471270"/>
            <a:ext cx="15103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/>
              <a:t>|| (ИЛИ)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23" y="2075529"/>
            <a:ext cx="5685713" cy="140509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022" y="3764918"/>
            <a:ext cx="3841981" cy="107255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6741" y="3764917"/>
            <a:ext cx="6826871" cy="192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98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Логические операторы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55</a:t>
            </a:fld>
            <a:endParaRPr lang="ru-RU" sz="24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911608" y="735635"/>
            <a:ext cx="72426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ИЛИ «||» находит первое истинное значение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929" y="1351909"/>
            <a:ext cx="7276604" cy="2054967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029929" y="3622032"/>
            <a:ext cx="108277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Получение первого истинного значения из списка переменных или выражений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929" y="4453029"/>
            <a:ext cx="8335297" cy="202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785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Логические операторы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56</a:t>
            </a:fld>
            <a:endParaRPr lang="ru-RU" sz="24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43989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C</a:t>
            </a:r>
            <a:r>
              <a:rPr lang="ru-RU" sz="2400" dirty="0" err="1"/>
              <a:t>окращённое</a:t>
            </a:r>
            <a:r>
              <a:rPr lang="ru-RU" sz="2400" dirty="0"/>
              <a:t> вычисление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12" y="1470453"/>
            <a:ext cx="4279258" cy="1134261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11608" y="2785534"/>
            <a:ext cx="1136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/>
              <a:t>&amp;&amp; (И)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12" y="3339531"/>
            <a:ext cx="5533656" cy="133571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312" y="4794360"/>
            <a:ext cx="5499510" cy="191218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87564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Логические операторы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57</a:t>
            </a:fld>
            <a:endParaRPr lang="ru-RU" sz="24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65790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/>
              <a:t>И «&amp;&amp;» находит первое ложное значение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400" y="1381965"/>
            <a:ext cx="5496387" cy="175746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022400" y="3362321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/>
              <a:t>! (НЕ)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99" y="3921770"/>
            <a:ext cx="4570093" cy="812461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99" y="5059371"/>
            <a:ext cx="6351795" cy="7878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71780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Логические операторы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58</a:t>
            </a:fld>
            <a:endParaRPr lang="ru-RU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911608" y="920301"/>
            <a:ext cx="36695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/>
              <a:t>?? (</a:t>
            </a:r>
            <a:r>
              <a:rPr lang="ru-RU" sz="2400" b="1" dirty="0" err="1"/>
              <a:t>нуллевое</a:t>
            </a:r>
            <a:r>
              <a:rPr lang="ru-RU" sz="2400" b="1" dirty="0"/>
              <a:t> слияние)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2510273"/>
            <a:ext cx="5854558" cy="1614488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911608" y="1512111"/>
            <a:ext cx="109712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Возвращает значение правого операнда когда значение левого операнда равно </a:t>
            </a:r>
            <a:r>
              <a:rPr lang="ru-RU" dirty="0" err="1"/>
              <a:t>null</a:t>
            </a:r>
            <a:r>
              <a:rPr lang="ru-RU" dirty="0"/>
              <a:t> или </a:t>
            </a:r>
            <a:r>
              <a:rPr lang="ru-RU" dirty="0" err="1"/>
              <a:t>undefined</a:t>
            </a:r>
            <a:r>
              <a:rPr lang="ru-RU" dirty="0"/>
              <a:t>, иначе возвращает значение левого операнда.</a:t>
            </a:r>
          </a:p>
        </p:txBody>
      </p:sp>
    </p:spTree>
    <p:extLst>
      <p:ext uri="{BB962C8B-B14F-4D97-AF65-F5344CB8AC3E}">
        <p14:creationId xmlns:p14="http://schemas.microsoft.com/office/powerpoint/2010/main" val="355933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Циклы </a:t>
            </a:r>
            <a:r>
              <a:rPr lang="ru-RU" dirty="0" err="1"/>
              <a:t>while</a:t>
            </a:r>
            <a:r>
              <a:rPr lang="ru-RU" dirty="0"/>
              <a:t>, </a:t>
            </a:r>
            <a:r>
              <a:rPr lang="ru-RU" dirty="0" err="1"/>
              <a:t>for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59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735635"/>
            <a:ext cx="20297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Цикл «</a:t>
            </a:r>
            <a:r>
              <a:rPr lang="en-US" sz="2400" dirty="0"/>
              <a:t>while»</a:t>
            </a:r>
            <a:endParaRPr lang="ru-RU" sz="2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70" y="1362383"/>
            <a:ext cx="3750853" cy="140031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870" y="2927785"/>
            <a:ext cx="3160917" cy="170203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725" y="2927784"/>
            <a:ext cx="2885351" cy="170203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69" y="5004005"/>
            <a:ext cx="4011281" cy="74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2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Циклы </a:t>
            </a:r>
            <a:r>
              <a:rPr lang="ru-RU" dirty="0" err="1"/>
              <a:t>while</a:t>
            </a:r>
            <a:r>
              <a:rPr lang="ru-RU" dirty="0"/>
              <a:t>, </a:t>
            </a:r>
            <a:r>
              <a:rPr lang="ru-RU" dirty="0" err="1"/>
              <a:t>for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60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27510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Цикл «</a:t>
            </a:r>
            <a:r>
              <a:rPr lang="en-US" sz="2400" dirty="0"/>
              <a:t>do…while»</a:t>
            </a:r>
            <a:endParaRPr lang="ru-RU" sz="2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7" y="1526276"/>
            <a:ext cx="3560371" cy="99569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765" y="1540898"/>
            <a:ext cx="3263212" cy="1688999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911607" y="3465560"/>
            <a:ext cx="16546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Цикл «</a:t>
            </a:r>
            <a:r>
              <a:rPr lang="en-US" sz="2400" dirty="0"/>
              <a:t>for»</a:t>
            </a:r>
            <a:endParaRPr lang="ru-RU" sz="24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07" y="4053349"/>
            <a:ext cx="5110274" cy="1093838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193" y="4053349"/>
            <a:ext cx="5298278" cy="109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26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Циклы </a:t>
            </a:r>
            <a:r>
              <a:rPr lang="ru-RU" dirty="0" err="1"/>
              <a:t>while</a:t>
            </a:r>
            <a:r>
              <a:rPr lang="ru-RU" dirty="0"/>
              <a:t>, </a:t>
            </a:r>
            <a:r>
              <a:rPr lang="ru-RU" dirty="0" err="1"/>
              <a:t>for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61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735635"/>
            <a:ext cx="33906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Пропуск частей «</a:t>
            </a:r>
            <a:r>
              <a:rPr lang="en-US" sz="2400" dirty="0"/>
              <a:t>for»</a:t>
            </a:r>
            <a:endParaRPr lang="ru-RU" sz="2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13" y="1263667"/>
            <a:ext cx="4339099" cy="166763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939" y="1263667"/>
            <a:ext cx="3238134" cy="166763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313" y="3274672"/>
            <a:ext cx="4834428" cy="107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068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Циклы </a:t>
            </a:r>
            <a:r>
              <a:rPr lang="ru-RU" dirty="0" err="1"/>
              <a:t>while</a:t>
            </a:r>
            <a:r>
              <a:rPr lang="ru-RU" dirty="0"/>
              <a:t>, </a:t>
            </a:r>
            <a:r>
              <a:rPr lang="ru-RU" dirty="0" err="1"/>
              <a:t>for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62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339" y="1394184"/>
            <a:ext cx="6658847" cy="2971339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11608" y="807629"/>
            <a:ext cx="44582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Прерывание цикла: «</a:t>
            </a:r>
            <a:r>
              <a:rPr lang="en-US" sz="2400" dirty="0"/>
              <a:t>break»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747818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Циклы </a:t>
            </a:r>
            <a:r>
              <a:rPr lang="ru-RU" dirty="0" err="1"/>
              <a:t>while</a:t>
            </a:r>
            <a:r>
              <a:rPr lang="ru-RU" dirty="0"/>
              <a:t>, </a:t>
            </a:r>
            <a:r>
              <a:rPr lang="ru-RU" dirty="0" err="1"/>
              <a:t>for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63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68307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Переход к следующей итерации: </a:t>
            </a:r>
            <a:r>
              <a:rPr lang="ru-RU" sz="2400" dirty="0" err="1"/>
              <a:t>continue</a:t>
            </a:r>
            <a:endParaRPr lang="ru-RU" sz="2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49" y="1493580"/>
            <a:ext cx="5180942" cy="172156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065" y="1493579"/>
            <a:ext cx="5180942" cy="1721567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911608" y="3465258"/>
            <a:ext cx="98989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Нельзя использовать </a:t>
            </a:r>
            <a:r>
              <a:rPr lang="ru-RU" sz="2400" dirty="0" err="1"/>
              <a:t>break</a:t>
            </a:r>
            <a:r>
              <a:rPr lang="ru-RU" sz="2400" dirty="0"/>
              <a:t>/</a:t>
            </a:r>
            <a:r>
              <a:rPr lang="ru-RU" sz="2400" dirty="0" err="1"/>
              <a:t>continue</a:t>
            </a:r>
            <a:r>
              <a:rPr lang="ru-RU" sz="2400" dirty="0"/>
              <a:t> справа от оператора „?“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149" y="4000051"/>
            <a:ext cx="2532946" cy="167807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7263" y="4038921"/>
            <a:ext cx="5365227" cy="49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018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Конструкция </a:t>
            </a:r>
            <a:r>
              <a:rPr lang="ru-RU" dirty="0" err="1"/>
              <a:t>switch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64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18774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Синтаксис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844" y="1526150"/>
            <a:ext cx="3306431" cy="424158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62" y="1526150"/>
            <a:ext cx="5075521" cy="424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331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Конструкция </a:t>
            </a:r>
            <a:r>
              <a:rPr lang="ru-RU" dirty="0" err="1"/>
              <a:t>switch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65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5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708" y="2026430"/>
            <a:ext cx="5466582" cy="365471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11607" y="753604"/>
            <a:ext cx="1079861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Если </a:t>
            </a:r>
            <a:r>
              <a:rPr lang="ru-RU" sz="2400" dirty="0" err="1"/>
              <a:t>break</a:t>
            </a:r>
            <a:r>
              <a:rPr lang="ru-RU" sz="2400" dirty="0"/>
              <a:t> нет, то выполнение пойдёт ниже по следующим </a:t>
            </a:r>
            <a:r>
              <a:rPr lang="ru-RU" sz="2400" dirty="0" err="1"/>
              <a:t>case</a:t>
            </a:r>
            <a:r>
              <a:rPr lang="ru-RU" sz="2400" dirty="0"/>
              <a:t>, при этом остальные проверки игнорируются.</a:t>
            </a:r>
          </a:p>
        </p:txBody>
      </p:sp>
    </p:spTree>
    <p:extLst>
      <p:ext uri="{BB962C8B-B14F-4D97-AF65-F5344CB8AC3E}">
        <p14:creationId xmlns:p14="http://schemas.microsoft.com/office/powerpoint/2010/main" val="2261335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Конструкция </a:t>
            </a:r>
            <a:r>
              <a:rPr lang="ru-RU" dirty="0" err="1"/>
              <a:t>switch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66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98989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Любое выражение может быть аргументом для </a:t>
            </a:r>
            <a:r>
              <a:rPr lang="ru-RU" sz="2400" dirty="0" err="1"/>
              <a:t>switch</a:t>
            </a:r>
            <a:r>
              <a:rPr lang="ru-RU" sz="2400" dirty="0"/>
              <a:t>/</a:t>
            </a:r>
            <a:r>
              <a:rPr lang="ru-RU" sz="2400" dirty="0" err="1"/>
              <a:t>case</a:t>
            </a:r>
            <a:endParaRPr lang="ru-RU" sz="2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99" y="1530608"/>
            <a:ext cx="5263281" cy="355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17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Конструкция </a:t>
            </a:r>
            <a:r>
              <a:rPr lang="ru-RU" dirty="0" err="1"/>
              <a:t>switch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67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32576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Группировка «</a:t>
            </a:r>
            <a:r>
              <a:rPr lang="en-US" sz="2400" dirty="0"/>
              <a:t>case»</a:t>
            </a:r>
            <a:endParaRPr lang="ru-RU" sz="2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7" y="1554418"/>
            <a:ext cx="4577035" cy="487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4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Конструкция </a:t>
            </a:r>
            <a:r>
              <a:rPr lang="ru-RU" dirty="0" err="1"/>
              <a:t>switch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68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735635"/>
            <a:ext cx="3278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Тип имеет значение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016" y="1316446"/>
            <a:ext cx="6041461" cy="513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82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Функции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69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73877" y="735635"/>
            <a:ext cx="81612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Объявление (</a:t>
            </a:r>
            <a:r>
              <a:rPr lang="ru-RU" sz="2400" i="1" dirty="0" err="1"/>
              <a:t>Function</a:t>
            </a:r>
            <a:r>
              <a:rPr lang="ru-RU" sz="2400" i="1" dirty="0"/>
              <a:t> </a:t>
            </a:r>
            <a:r>
              <a:rPr lang="ru-RU" sz="2400" i="1" dirty="0" err="1"/>
              <a:t>Declaration</a:t>
            </a:r>
            <a:r>
              <a:rPr lang="ru-RU" sz="2400" dirty="0"/>
              <a:t>) и вызов функции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77" y="1351136"/>
            <a:ext cx="4208367" cy="99385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1272" y="1351135"/>
            <a:ext cx="4486122" cy="201958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911608" y="3480308"/>
            <a:ext cx="39998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Локальные переменные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76" y="3941972"/>
            <a:ext cx="4672013" cy="256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670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Функции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70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895768" y="107081"/>
            <a:ext cx="3738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Внешние переменные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31" y="911941"/>
            <a:ext cx="5806475" cy="241936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532" y="3414659"/>
            <a:ext cx="5806474" cy="323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627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Функции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71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476" y="920300"/>
            <a:ext cx="7263621" cy="338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93904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Функции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72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735635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Параметры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350" y="1292457"/>
            <a:ext cx="5832707" cy="192269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201" y="3369298"/>
            <a:ext cx="7045160" cy="335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5785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Функции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73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735635"/>
            <a:ext cx="43781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Параметры по умолчанию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71" y="1280169"/>
            <a:ext cx="8971936" cy="169873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470" y="3206031"/>
            <a:ext cx="9719010" cy="139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3168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Функции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74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735635"/>
            <a:ext cx="28360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Возврат значения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99" y="1268184"/>
            <a:ext cx="4343484" cy="200596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152" y="1268183"/>
            <a:ext cx="6864300" cy="459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61094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Функции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75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7" y="920301"/>
            <a:ext cx="11108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Никогда не добавляйте перевод строки между </a:t>
            </a:r>
            <a:r>
              <a:rPr lang="ru-RU" sz="2400" dirty="0" err="1"/>
              <a:t>return</a:t>
            </a:r>
            <a:r>
              <a:rPr lang="ru-RU" sz="2400" dirty="0"/>
              <a:t> и его значением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14" y="1493585"/>
            <a:ext cx="9265060" cy="176636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314" y="3469866"/>
            <a:ext cx="4580018" cy="172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1760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Функции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76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23120" y="817065"/>
            <a:ext cx="38042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/>
              <a:t>Выбор имени функции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782153" y="1388068"/>
            <a:ext cx="1135039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Функции, начинающиеся с…</a:t>
            </a:r>
          </a:p>
          <a:p>
            <a:r>
              <a:rPr lang="ru-RU" sz="2400" dirty="0"/>
              <a:t>• "</a:t>
            </a:r>
            <a:r>
              <a:rPr lang="ru-RU" sz="2400" dirty="0" err="1"/>
              <a:t>get</a:t>
            </a:r>
            <a:r>
              <a:rPr lang="ru-RU" sz="2400" dirty="0"/>
              <a:t>…" – возвращают значение,</a:t>
            </a:r>
          </a:p>
          <a:p>
            <a:r>
              <a:rPr lang="ru-RU" sz="2400" dirty="0"/>
              <a:t>• "</a:t>
            </a:r>
            <a:r>
              <a:rPr lang="ru-RU" sz="2400" dirty="0" err="1"/>
              <a:t>calc</a:t>
            </a:r>
            <a:r>
              <a:rPr lang="ru-RU" sz="2400" dirty="0"/>
              <a:t>…" – что-то вычисляют,</a:t>
            </a:r>
          </a:p>
          <a:p>
            <a:r>
              <a:rPr lang="ru-RU" sz="2400" dirty="0"/>
              <a:t>• "</a:t>
            </a:r>
            <a:r>
              <a:rPr lang="ru-RU" sz="2400" dirty="0" err="1"/>
              <a:t>create</a:t>
            </a:r>
            <a:r>
              <a:rPr lang="ru-RU" sz="2400" dirty="0"/>
              <a:t>…" – что-то создают,</a:t>
            </a:r>
          </a:p>
          <a:p>
            <a:r>
              <a:rPr lang="ru-RU" sz="2400" dirty="0"/>
              <a:t>• "</a:t>
            </a:r>
            <a:r>
              <a:rPr lang="ru-RU" sz="2400" dirty="0" err="1"/>
              <a:t>check</a:t>
            </a:r>
            <a:r>
              <a:rPr lang="ru-RU" sz="2400" dirty="0"/>
              <a:t>…" – что-то проверяют и возвращают логическое значение, и т.д.</a:t>
            </a:r>
          </a:p>
          <a:p>
            <a:endParaRPr lang="ru-RU" sz="2400" dirty="0"/>
          </a:p>
          <a:p>
            <a:r>
              <a:rPr lang="ru-RU" sz="2400" dirty="0"/>
              <a:t>Примеры таких имён:</a:t>
            </a:r>
          </a:p>
          <a:p>
            <a:r>
              <a:rPr lang="ru-RU" sz="2400" dirty="0" err="1"/>
              <a:t>showMessage</a:t>
            </a:r>
            <a:r>
              <a:rPr lang="ru-RU" sz="2400" dirty="0"/>
              <a:t>(..)     // показывает сообщение</a:t>
            </a:r>
          </a:p>
          <a:p>
            <a:r>
              <a:rPr lang="ru-RU" sz="2400" dirty="0" err="1"/>
              <a:t>getAge</a:t>
            </a:r>
            <a:r>
              <a:rPr lang="ru-RU" sz="2400" dirty="0"/>
              <a:t>(..)          // возвращает возраст (в каком либо значении)</a:t>
            </a:r>
          </a:p>
          <a:p>
            <a:r>
              <a:rPr lang="ru-RU" sz="2400" dirty="0" err="1"/>
              <a:t>calcSum</a:t>
            </a:r>
            <a:r>
              <a:rPr lang="ru-RU" sz="2400" dirty="0"/>
              <a:t>(..)         // вычисляет сумму и возвращает результат</a:t>
            </a:r>
          </a:p>
          <a:p>
            <a:r>
              <a:rPr lang="ru-RU" sz="2400" dirty="0" err="1"/>
              <a:t>createForm</a:t>
            </a:r>
            <a:r>
              <a:rPr lang="ru-RU" sz="2400" dirty="0"/>
              <a:t>(..)      // создаёт форму (и обычно возвращает её)</a:t>
            </a:r>
          </a:p>
          <a:p>
            <a:r>
              <a:rPr lang="ru-RU" sz="2400" dirty="0" err="1"/>
              <a:t>checkPermission</a:t>
            </a:r>
            <a:r>
              <a:rPr lang="ru-RU" sz="2400" dirty="0"/>
              <a:t>(..) // проверяет доступ, возвращая </a:t>
            </a:r>
            <a:r>
              <a:rPr lang="ru-RU" sz="2400" dirty="0" err="1"/>
              <a:t>true</a:t>
            </a:r>
            <a:r>
              <a:rPr lang="ru-RU" sz="2400" dirty="0"/>
              <a:t>/</a:t>
            </a:r>
            <a:r>
              <a:rPr lang="ru-RU" sz="2400" dirty="0" err="1"/>
              <a:t>false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39526519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8911687" cy="920301"/>
          </a:xfrm>
        </p:spPr>
        <p:txBody>
          <a:bodyPr/>
          <a:lstStyle/>
          <a:p>
            <a:pPr lvl="0"/>
            <a:r>
              <a:rPr lang="ru-RU" dirty="0"/>
              <a:t>Функции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77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51748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Одна функция – одно действие.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11608" y="1840602"/>
            <a:ext cx="1101983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Так плохо:</a:t>
            </a:r>
          </a:p>
          <a:p>
            <a:r>
              <a:rPr lang="ru-RU" sz="2400" dirty="0"/>
              <a:t>• </a:t>
            </a:r>
            <a:r>
              <a:rPr lang="ru-RU" sz="2400" dirty="0" err="1"/>
              <a:t>getAge</a:t>
            </a:r>
            <a:r>
              <a:rPr lang="ru-RU" sz="2400" dirty="0"/>
              <a:t> – функция будет выводить </a:t>
            </a:r>
            <a:r>
              <a:rPr lang="ru-RU" sz="2400" dirty="0" err="1"/>
              <a:t>alert</a:t>
            </a:r>
            <a:r>
              <a:rPr lang="ru-RU" sz="2400" dirty="0"/>
              <a:t> с возрастом (должна только возвращать его).</a:t>
            </a:r>
          </a:p>
          <a:p>
            <a:r>
              <a:rPr lang="ru-RU" sz="2400" dirty="0"/>
              <a:t>• </a:t>
            </a:r>
            <a:r>
              <a:rPr lang="ru-RU" sz="2400" dirty="0" err="1"/>
              <a:t>createForm</a:t>
            </a:r>
            <a:r>
              <a:rPr lang="ru-RU" sz="2400" dirty="0"/>
              <a:t> – функция будет изменять документ, добавляя форму в него (должна только создавать форму и возвращать её).</a:t>
            </a:r>
          </a:p>
          <a:p>
            <a:r>
              <a:rPr lang="ru-RU" sz="2400" dirty="0"/>
              <a:t>• </a:t>
            </a:r>
            <a:r>
              <a:rPr lang="ru-RU" sz="2400" dirty="0" err="1"/>
              <a:t>checkPermission</a:t>
            </a:r>
            <a:r>
              <a:rPr lang="ru-RU" sz="2400" dirty="0"/>
              <a:t> – если функция будет отображать сообщение с текстом доступ разрешён/запрещён (должна только выполнять проверку и возвращать её результат).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911608" y="5346226"/>
            <a:ext cx="80425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Во </a:t>
            </a:r>
            <a:r>
              <a:rPr lang="ru-RU" sz="2400" dirty="0" err="1"/>
              <a:t>фреймворке</a:t>
            </a:r>
            <a:r>
              <a:rPr lang="ru-RU" sz="2400" dirty="0"/>
              <a:t> </a:t>
            </a:r>
            <a:r>
              <a:rPr lang="ru-RU" sz="2400" dirty="0" err="1"/>
              <a:t>jQuery</a:t>
            </a:r>
            <a:r>
              <a:rPr lang="ru-RU" sz="2400" dirty="0"/>
              <a:t> есть функция с именем $.</a:t>
            </a:r>
          </a:p>
        </p:txBody>
      </p:sp>
    </p:spTree>
    <p:extLst>
      <p:ext uri="{BB962C8B-B14F-4D97-AF65-F5344CB8AC3E}">
        <p14:creationId xmlns:p14="http://schemas.microsoft.com/office/powerpoint/2010/main" val="84661276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441169" cy="920301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Функциональные выражения и функции-стрелки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78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735635"/>
            <a:ext cx="69942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Function Declaration (</a:t>
            </a:r>
            <a:r>
              <a:rPr lang="ru-RU" sz="2400" dirty="0"/>
              <a:t>Объявление Функции):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295" y="1284315"/>
            <a:ext cx="3440216" cy="96802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969554" y="2595405"/>
            <a:ext cx="80089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Function Expression (</a:t>
            </a:r>
            <a:r>
              <a:rPr lang="ru-RU" sz="2400" dirty="0"/>
              <a:t>Функциональное Выражение):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295" y="3090571"/>
            <a:ext cx="4086053" cy="99473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539" y="4929756"/>
            <a:ext cx="3808923" cy="1646229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1043295" y="4383332"/>
            <a:ext cx="36295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Выведет код функции:</a:t>
            </a:r>
          </a:p>
        </p:txBody>
      </p:sp>
    </p:spTree>
    <p:extLst>
      <p:ext uri="{BB962C8B-B14F-4D97-AF65-F5344CB8AC3E}">
        <p14:creationId xmlns:p14="http://schemas.microsoft.com/office/powerpoint/2010/main" val="385262256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441169" cy="920301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Функциональные выражения и функции-стрелки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79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735635"/>
            <a:ext cx="73997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Скопировать функцию в другую переменную: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482" y="1261422"/>
            <a:ext cx="3552518" cy="2122479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019482" y="3672037"/>
            <a:ext cx="6138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Зачем нужна точка с запятой в конце?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482" y="4136611"/>
            <a:ext cx="4199953" cy="22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35507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441169" cy="920301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Функциональные выражения и функции-стрелки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80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920301"/>
            <a:ext cx="31710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Функции-«</a:t>
            </a:r>
            <a:r>
              <a:rPr lang="ru-RU" sz="2400" dirty="0" err="1"/>
              <a:t>колбэки</a:t>
            </a:r>
            <a:r>
              <a:rPr lang="ru-RU" sz="2400" dirty="0"/>
              <a:t>»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44" y="1514631"/>
            <a:ext cx="6048682" cy="411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67582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441169" cy="920301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Функциональные выражения и функции-стрелки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81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920301"/>
            <a:ext cx="7555398" cy="306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97119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441169" cy="920301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Функциональные выражения и функции-стрелки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82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11608" y="760843"/>
            <a:ext cx="92352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Function Expression </a:t>
            </a:r>
            <a:r>
              <a:rPr lang="ru-RU" sz="2400" dirty="0"/>
              <a:t>в сравнении с </a:t>
            </a:r>
            <a:r>
              <a:rPr lang="en-US" sz="2400" dirty="0"/>
              <a:t>Function Declaration</a:t>
            </a:r>
            <a:endParaRPr lang="ru-RU" sz="2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068" y="1497576"/>
            <a:ext cx="4444794" cy="148159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804" y="1497576"/>
            <a:ext cx="4444794" cy="148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7261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441169" cy="920301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Функциональные выражения и функции-стрелки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83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7" y="920301"/>
            <a:ext cx="6742805" cy="558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27048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441169" cy="920301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Функциональные выражения и функции-стрелки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84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833" y="920301"/>
            <a:ext cx="6472445" cy="565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4527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441169" cy="920301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Функциональные выражения и функции-стрелки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85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086" y="920301"/>
            <a:ext cx="6611579" cy="221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9254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441169" cy="920301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Функциональные выражения и функции-стрелки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86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055154" y="920301"/>
            <a:ext cx="28777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Функции-стрелки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055154" y="1440492"/>
            <a:ext cx="72635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arg1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arg2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argN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=&gt;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expression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055153" y="2425645"/>
            <a:ext cx="752840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let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function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arg1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arg2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67F5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  <a:r>
              <a:rPr lang="en-US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argN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{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ru-RU" sz="2000" dirty="0" err="1">
                <a:solidFill>
                  <a:srgbClr val="0077A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return</a:t>
            </a:r>
            <a:r>
              <a:rPr lang="ru-RU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0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expression</a:t>
            </a:r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000" dirty="0">
                <a:solidFill>
                  <a:srgbClr val="999999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};</a:t>
            </a:r>
            <a:endParaRPr lang="ru-RU" sz="20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14" y="3637262"/>
            <a:ext cx="4811085" cy="291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2809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441169" cy="920301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Функциональные выражения и функции-стрелки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87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067413"/>
            <a:ext cx="7017008" cy="133657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08" y="2721231"/>
            <a:ext cx="5693522" cy="105435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07" y="4092832"/>
            <a:ext cx="6819021" cy="227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71135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1608" y="0"/>
            <a:ext cx="10441169" cy="920301"/>
          </a:xfrm>
        </p:spPr>
        <p:txBody>
          <a:bodyPr>
            <a:normAutofit fontScale="90000"/>
          </a:bodyPr>
          <a:lstStyle/>
          <a:p>
            <a:pPr lvl="0"/>
            <a:r>
              <a:rPr lang="ru-RU" dirty="0"/>
              <a:t>Функциональные выражения и функции-стрелки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11352777" y="621086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88</a:t>
            </a:fld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3726" y="44244"/>
            <a:ext cx="734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1</a:t>
            </a:r>
            <a:r>
              <a:rPr lang="ru-RU" sz="30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37868" y="896665"/>
            <a:ext cx="60452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Многострочные стрелочные функции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8" y="1525843"/>
            <a:ext cx="4029102" cy="183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2038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1E0F1B14-AD40-463D-B079-34050ED7A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89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9CEE13B-A533-49F1-8446-651EC1694B71}"/>
              </a:ext>
            </a:extLst>
          </p:cNvPr>
          <p:cNvSpPr txBox="1"/>
          <p:nvPr/>
        </p:nvSpPr>
        <p:spPr>
          <a:xfrm>
            <a:off x="2892751" y="877078"/>
            <a:ext cx="64064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 err="1"/>
              <a:t>Кудлацкая</a:t>
            </a:r>
            <a:r>
              <a:rPr lang="ru-RU" sz="3600" dirty="0"/>
              <a:t> МАРИНА Федоровна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F0725-3635-4169-ABC4-858F35AFD0FE}"/>
              </a:ext>
            </a:extLst>
          </p:cNvPr>
          <p:cNvSpPr txBox="1"/>
          <p:nvPr/>
        </p:nvSpPr>
        <p:spPr>
          <a:xfrm>
            <a:off x="3429980" y="1931438"/>
            <a:ext cx="5332037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каф. Информатики и веб-дизайна</a:t>
            </a:r>
          </a:p>
          <a:p>
            <a:endParaRPr lang="ru-RU" sz="2800" dirty="0"/>
          </a:p>
          <a:p>
            <a:pPr algn="ctr"/>
            <a:r>
              <a:rPr lang="ru-RU" sz="2800" dirty="0"/>
              <a:t>ауд. 409-1</a:t>
            </a:r>
          </a:p>
          <a:p>
            <a:pPr algn="ctr"/>
            <a:endParaRPr lang="en-US" sz="2800" dirty="0"/>
          </a:p>
          <a:p>
            <a:pPr algn="ctr"/>
            <a:endParaRPr lang="ru-RU" sz="2800" dirty="0"/>
          </a:p>
          <a:p>
            <a:pPr algn="ctr"/>
            <a:r>
              <a:rPr lang="en-US" sz="4000" dirty="0" smtClean="0"/>
              <a:t>@</a:t>
            </a:r>
            <a:r>
              <a:rPr lang="en-US" sz="4000" dirty="0" err="1" smtClean="0"/>
              <a:t>MarinaKudlatskaya</a:t>
            </a:r>
            <a:endParaRPr lang="ru-RU" sz="4000" dirty="0"/>
          </a:p>
          <a:p>
            <a:pPr algn="ctr"/>
            <a:r>
              <a:rPr lang="ru-RU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2773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Другая 5">
      <a:dk1>
        <a:sysClr val="windowText" lastClr="000000"/>
      </a:dk1>
      <a:lt1>
        <a:sysClr val="window" lastClr="FFFFFF"/>
      </a:lt1>
      <a:dk2>
        <a:srgbClr val="44546A"/>
      </a:dk2>
      <a:lt2>
        <a:srgbClr val="F2F2F2"/>
      </a:lt2>
      <a:accent1>
        <a:srgbClr val="FFFE9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1126</TotalTime>
  <Words>1816</Words>
  <Application>Microsoft Office PowerPoint</Application>
  <PresentationFormat>Широкоэкранный</PresentationFormat>
  <Paragraphs>665</Paragraphs>
  <Slides>89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89</vt:i4>
      </vt:variant>
    </vt:vector>
  </HeadingPairs>
  <TitlesOfParts>
    <vt:vector size="95" baseType="lpstr">
      <vt:lpstr>Arial</vt:lpstr>
      <vt:lpstr>Calibri</vt:lpstr>
      <vt:lpstr>Calibri Light</vt:lpstr>
      <vt:lpstr>Courier New</vt:lpstr>
      <vt:lpstr>Times New Roman</vt:lpstr>
      <vt:lpstr>Office Theme</vt:lpstr>
      <vt:lpstr>Тема 1  Основы JavaScript</vt:lpstr>
      <vt:lpstr>Вопросы:</vt:lpstr>
      <vt:lpstr>Введение в JavaScript</vt:lpstr>
      <vt:lpstr>Введение в JavaScript</vt:lpstr>
      <vt:lpstr>Введение в JavaScript</vt:lpstr>
      <vt:lpstr>Введение в JavaScript</vt:lpstr>
      <vt:lpstr>Отладка скриптов </vt:lpstr>
      <vt:lpstr>Синтаксис JavaScript</vt:lpstr>
      <vt:lpstr>Синтаксис JavaScript</vt:lpstr>
      <vt:lpstr>Синтаксис JavaScript</vt:lpstr>
      <vt:lpstr>Синтаксис JavaScript</vt:lpstr>
      <vt:lpstr>Синтаксис JavaScript</vt:lpstr>
      <vt:lpstr>Синтаксис JavaScript</vt:lpstr>
      <vt:lpstr>Синтаксис JavaScript</vt:lpstr>
      <vt:lpstr>Синтаксис JavaScript</vt:lpstr>
      <vt:lpstr>Синтаксис JavaScript</vt:lpstr>
      <vt:lpstr>Синтаксис JavaScript</vt:lpstr>
      <vt:lpstr>Синтаксис JavaScript</vt:lpstr>
      <vt:lpstr>Синтаксис JavaScript</vt:lpstr>
      <vt:lpstr>Синтаксис JavaScript</vt:lpstr>
      <vt:lpstr>Строгий режим — "use strict"</vt:lpstr>
      <vt:lpstr>Переменные</vt:lpstr>
      <vt:lpstr>Переменные</vt:lpstr>
      <vt:lpstr>Переменные</vt:lpstr>
      <vt:lpstr>Переменные</vt:lpstr>
      <vt:lpstr>Презентация PowerPoint</vt:lpstr>
      <vt:lpstr>Типы данных</vt:lpstr>
      <vt:lpstr>Типы данных</vt:lpstr>
      <vt:lpstr>Типы данных</vt:lpstr>
      <vt:lpstr>Преобразование типов</vt:lpstr>
      <vt:lpstr>Преобразование типов</vt:lpstr>
      <vt:lpstr>Преобразование типов</vt:lpstr>
      <vt:lpstr>Преобразование типов</vt:lpstr>
      <vt:lpstr>Операторы</vt:lpstr>
      <vt:lpstr>Презентация PowerPoint</vt:lpstr>
      <vt:lpstr>Операторы</vt:lpstr>
      <vt:lpstr>Операторы</vt:lpstr>
      <vt:lpstr>Операторы</vt:lpstr>
      <vt:lpstr>Операторы</vt:lpstr>
      <vt:lpstr>Операторы</vt:lpstr>
      <vt:lpstr>Операторы</vt:lpstr>
      <vt:lpstr>Операторы</vt:lpstr>
      <vt:lpstr>Операторы</vt:lpstr>
      <vt:lpstr>Операторы</vt:lpstr>
      <vt:lpstr>Операторы сравнения</vt:lpstr>
      <vt:lpstr>Операторы сравнения</vt:lpstr>
      <vt:lpstr>Операторы сравнения</vt:lpstr>
      <vt:lpstr>Условные операторы: if, '?' </vt:lpstr>
      <vt:lpstr>Условные операторы: if, '?' </vt:lpstr>
      <vt:lpstr>Условные операторы: if, '?' </vt:lpstr>
      <vt:lpstr>Условные операторы: if, '?' </vt:lpstr>
      <vt:lpstr>Условные операторы: if, '?' </vt:lpstr>
      <vt:lpstr>Условные операторы: if, '?' </vt:lpstr>
      <vt:lpstr>Логические операторы</vt:lpstr>
      <vt:lpstr>Логические операторы</vt:lpstr>
      <vt:lpstr>Логические операторы</vt:lpstr>
      <vt:lpstr>Логические операторы</vt:lpstr>
      <vt:lpstr>Логические операторы</vt:lpstr>
      <vt:lpstr>Циклы while, for</vt:lpstr>
      <vt:lpstr>Циклы while, for</vt:lpstr>
      <vt:lpstr>Циклы while, for</vt:lpstr>
      <vt:lpstr>Циклы while, for</vt:lpstr>
      <vt:lpstr>Циклы while, for</vt:lpstr>
      <vt:lpstr>Конструкция switch</vt:lpstr>
      <vt:lpstr>Конструкция switch</vt:lpstr>
      <vt:lpstr>Конструкция switch</vt:lpstr>
      <vt:lpstr>Конструкция switch</vt:lpstr>
      <vt:lpstr>Конструкция switch</vt:lpstr>
      <vt:lpstr>Функции</vt:lpstr>
      <vt:lpstr>Функции</vt:lpstr>
      <vt:lpstr>Функции</vt:lpstr>
      <vt:lpstr>Функции</vt:lpstr>
      <vt:lpstr>Функции</vt:lpstr>
      <vt:lpstr>Функции</vt:lpstr>
      <vt:lpstr>Функции</vt:lpstr>
      <vt:lpstr>Функции</vt:lpstr>
      <vt:lpstr>Функции</vt:lpstr>
      <vt:lpstr>Функциональные выражения и функции-стрелки </vt:lpstr>
      <vt:lpstr>Функциональные выражения и функции-стрелки </vt:lpstr>
      <vt:lpstr>Функциональные выражения и функции-стрелки </vt:lpstr>
      <vt:lpstr>Функциональные выражения и функции-стрелки </vt:lpstr>
      <vt:lpstr>Функциональные выражения и функции-стрелки </vt:lpstr>
      <vt:lpstr>Функциональные выражения и функции-стрелки </vt:lpstr>
      <vt:lpstr>Функциональные выражения и функции-стрелки </vt:lpstr>
      <vt:lpstr>Функциональные выражения и функции-стрелки </vt:lpstr>
      <vt:lpstr>Функциональные выражения и функции-стрелки </vt:lpstr>
      <vt:lpstr>Функциональные выражения и функции-стрелки </vt:lpstr>
      <vt:lpstr>Функциональные выражения и функции-стрелки 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1  Основы JavaScript</dc:title>
  <dc:creator>Marina</dc:creator>
  <cp:lastModifiedBy>xx</cp:lastModifiedBy>
  <cp:revision>144</cp:revision>
  <dcterms:created xsi:type="dcterms:W3CDTF">2019-08-27T10:51:56Z</dcterms:created>
  <dcterms:modified xsi:type="dcterms:W3CDTF">2025-09-06T13:00:57Z</dcterms:modified>
</cp:coreProperties>
</file>