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54" r:id="rId1"/>
  </p:sldMasterIdLst>
  <p:notesMasterIdLst>
    <p:notesMasterId r:id="rId9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2" r:id="rId19"/>
    <p:sldId id="273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  <p:sldId id="336" r:id="rId79"/>
    <p:sldId id="337" r:id="rId80"/>
    <p:sldId id="338" r:id="rId81"/>
    <p:sldId id="339" r:id="rId82"/>
    <p:sldId id="340" r:id="rId83"/>
    <p:sldId id="341" r:id="rId84"/>
    <p:sldId id="342" r:id="rId85"/>
    <p:sldId id="343" r:id="rId86"/>
    <p:sldId id="344" r:id="rId87"/>
    <p:sldId id="345" r:id="rId88"/>
    <p:sldId id="346" r:id="rId89"/>
    <p:sldId id="347" r:id="rId90"/>
    <p:sldId id="348" r:id="rId91"/>
    <p:sldId id="349" r:id="rId92"/>
    <p:sldId id="350" r:id="rId93"/>
    <p:sldId id="351" r:id="rId94"/>
    <p:sldId id="352" r:id="rId95"/>
    <p:sldId id="353" r:id="rId9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7" y="4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F7BCA8-9609-48FB-A57C-8E4114581D3F}" type="datetimeFigureOut">
              <a:rPr lang="ru-RU" smtClean="0"/>
              <a:t>20.10.2023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3FD08-5A85-4EC1-9946-EF0EC000D9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8210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98354-2AEC-407C-892D-4CC4E97FF2F9}" type="datetime1">
              <a:rPr lang="ru-RU" smtClean="0"/>
              <a:t>20.10.2023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6247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EBA85-E22D-4185-966F-897334710B0B}" type="datetime1">
              <a:rPr lang="ru-RU" smtClean="0"/>
              <a:t>20.10.2023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1930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D8926-D772-474E-A9C2-09038EBAF6E6}" type="datetime1">
              <a:rPr lang="ru-RU" smtClean="0"/>
              <a:t>20.10.2023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7958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F255-A88D-4F36-A012-2562321C7166}" type="datetime1">
              <a:rPr lang="ru-RU" smtClean="0"/>
              <a:t>20.10.2023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18048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01B-A206-4541-BE7E-3C62D08E63F7}" type="datetime1">
              <a:rPr lang="ru-RU" smtClean="0"/>
              <a:t>20.10.2023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25521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5D306-E1D0-45BB-8675-D1C6E29D8416}" type="datetime1">
              <a:rPr lang="ru-RU" smtClean="0"/>
              <a:t>20.10.2023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1161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5C369-94CB-471C-98AD-11B8FD1EF56F}" type="datetime1">
              <a:rPr lang="ru-RU" smtClean="0"/>
              <a:t>20.10.2023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7110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B52CB-2BFD-42E6-946B-FC9BB9688A05}" type="datetime1">
              <a:rPr lang="ru-RU" smtClean="0"/>
              <a:t>20.10.2023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28743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4B6E6-77FC-4419-81B9-B1F57FA0389E}" type="datetime1">
              <a:rPr lang="ru-RU" smtClean="0"/>
              <a:t>20.10.2023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80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06DA-CB2E-4815-94B7-3E256E026906}" type="datetime1">
              <a:rPr lang="ru-RU" smtClean="0"/>
              <a:t>20.10.2023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3973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FB45-4AE3-4BCA-91EA-B3A8E720DE60}" type="datetime1">
              <a:rPr lang="ru-RU" smtClean="0"/>
              <a:t>20.10.2023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2914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AA82E-8907-4CCF-BB04-ADAC7456905B}" type="datetime1">
              <a:rPr lang="ru-RU" smtClean="0"/>
              <a:t>20.10.2023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423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9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0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67014" y="1519083"/>
            <a:ext cx="10100754" cy="2625213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Тема </a:t>
            </a:r>
            <a:r>
              <a:rPr lang="en-US" b="1" dirty="0"/>
              <a:t>5</a:t>
            </a:r>
            <a:r>
              <a:rPr lang="ru-RU" b="1" dirty="0"/>
              <a:t> </a:t>
            </a:r>
            <a:r>
              <a:rPr lang="en-US" b="1" dirty="0"/>
              <a:t/>
            </a:r>
            <a:br>
              <a:rPr lang="en-US" b="1" dirty="0"/>
            </a:br>
            <a:r>
              <a:rPr lang="ru-RU" b="1" dirty="0"/>
              <a:t/>
            </a:r>
            <a:br>
              <a:rPr lang="ru-RU" b="1" dirty="0"/>
            </a:br>
            <a:r>
              <a:rPr lang="ru-RU" b="1" dirty="0"/>
              <a:t>ООП в функциональном и </a:t>
            </a:r>
            <a:r>
              <a:rPr lang="ru-RU" b="1" dirty="0" err="1"/>
              <a:t>прототипном</a:t>
            </a:r>
            <a:r>
              <a:rPr lang="ru-RU" b="1" dirty="0"/>
              <a:t> стиле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014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Вопросы: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812383"/>
            <a:ext cx="938276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1.	</a:t>
            </a:r>
            <a:r>
              <a:rPr lang="ru-RU" dirty="0" err="1"/>
              <a:t>Прототипное</a:t>
            </a:r>
            <a:r>
              <a:rPr lang="ru-RU" dirty="0"/>
              <a:t> наследование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2.	</a:t>
            </a:r>
            <a:r>
              <a:rPr lang="ru-RU" dirty="0" err="1"/>
              <a:t>F.prototype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3.	Встроенные прототипы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4.	Методы прототипов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5.	Классы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6.	Наследование классов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7.	Статические свойства и методы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8.	Приватные и защищённые методы и свойства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9.	Расширение встроенных классов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10.	Проверка класса: "</a:t>
            </a:r>
            <a:r>
              <a:rPr lang="ru-RU" dirty="0" err="1"/>
              <a:t>instanceof</a:t>
            </a:r>
            <a:r>
              <a:rPr lang="ru-RU" dirty="0"/>
              <a:t>“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11.	Примеси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12.	Обработка ошибок, "</a:t>
            </a:r>
            <a:r>
              <a:rPr lang="ru-RU" dirty="0" err="1"/>
              <a:t>try</a:t>
            </a:r>
            <a:r>
              <a:rPr lang="ru-RU" dirty="0"/>
              <a:t>..</a:t>
            </a:r>
            <a:r>
              <a:rPr lang="ru-RU" dirty="0" err="1"/>
              <a:t>catch</a:t>
            </a:r>
            <a:r>
              <a:rPr lang="ru-RU" dirty="0"/>
              <a:t>“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13.	Пользовательские ошибки, расширение </a:t>
            </a:r>
            <a:r>
              <a:rPr lang="ru-RU" dirty="0" err="1"/>
              <a:t>Error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14.	Модули: введение. </a:t>
            </a:r>
          </a:p>
          <a:p>
            <a:r>
              <a:rPr lang="ru-RU" dirty="0"/>
              <a:t>15.	Модули: экспорт и импорт.</a:t>
            </a:r>
          </a:p>
          <a:p>
            <a:r>
              <a:rPr lang="ru-RU" dirty="0"/>
              <a:t>16.	Модули:  динамические импорты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219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Прототипное</a:t>
            </a:r>
            <a:r>
              <a:rPr lang="ru-RU" dirty="0"/>
              <a:t> наследование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98842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Объекты имеют скрытое свойство </a:t>
            </a:r>
            <a:r>
              <a:rPr lang="ru-RU" b="1" dirty="0"/>
              <a:t>[[</a:t>
            </a:r>
            <a:r>
              <a:rPr lang="ru-RU" b="1" dirty="0" err="1"/>
              <a:t>Prototype</a:t>
            </a:r>
            <a:r>
              <a:rPr lang="ru-RU" b="1" dirty="0"/>
              <a:t>]]</a:t>
            </a:r>
            <a:r>
              <a:rPr lang="ru-RU" dirty="0"/>
              <a:t>, которое либо равно </a:t>
            </a:r>
            <a:r>
              <a:rPr lang="ru-RU" dirty="0" err="1"/>
              <a:t>null</a:t>
            </a:r>
            <a:r>
              <a:rPr lang="ru-RU" dirty="0"/>
              <a:t>, либо ссылается на другой объект – </a:t>
            </a:r>
            <a:r>
              <a:rPr lang="ru-RU" b="1" dirty="0"/>
              <a:t>прототип</a:t>
            </a:r>
            <a:r>
              <a:rPr lang="ru-RU" dirty="0"/>
              <a:t>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5" y="1896467"/>
            <a:ext cx="96482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Свойство </a:t>
            </a:r>
            <a:r>
              <a:rPr lang="ru-RU" b="1" dirty="0"/>
              <a:t>__</a:t>
            </a:r>
            <a:r>
              <a:rPr lang="ru-RU" b="1" dirty="0" err="1"/>
              <a:t>proto</a:t>
            </a:r>
            <a:r>
              <a:rPr lang="ru-RU" b="1" dirty="0"/>
              <a:t>__ </a:t>
            </a:r>
            <a:r>
              <a:rPr lang="ru-RU" dirty="0"/>
              <a:t>— геттер/сеттер для [[</a:t>
            </a:r>
            <a:r>
              <a:rPr lang="ru-RU" dirty="0" err="1"/>
              <a:t>Prototype</a:t>
            </a:r>
            <a:r>
              <a:rPr lang="ru-RU" dirty="0"/>
              <a:t>]]. В современном языке его заменяют функции </a:t>
            </a:r>
            <a:r>
              <a:rPr lang="en-US" b="1" dirty="0" err="1"/>
              <a:t>Object.getPrototypeOf</a:t>
            </a:r>
            <a:r>
              <a:rPr lang="en-US" b="1" dirty="0"/>
              <a:t>/</a:t>
            </a:r>
            <a:r>
              <a:rPr lang="en-US" b="1" dirty="0" err="1"/>
              <a:t>Object.setPrototypeOf</a:t>
            </a:r>
            <a:r>
              <a:rPr lang="ru-RU" b="1" dirty="0"/>
              <a:t> 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2663926"/>
            <a:ext cx="5906964" cy="391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807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Прототипное</a:t>
            </a:r>
            <a:r>
              <a:rPr lang="ru-RU" dirty="0"/>
              <a:t> наследование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1091070"/>
            <a:ext cx="92833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Если метод отсутствует у объекта, то он автоматически берётся из прототипа: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568091"/>
            <a:ext cx="5905888" cy="464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371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Прототипное</a:t>
            </a:r>
            <a:r>
              <a:rPr lang="ru-RU" dirty="0"/>
              <a:t> наследование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5062604" cy="3658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900"/>
              </a:spcAft>
            </a:pPr>
            <a:r>
              <a:rPr lang="ru-RU" dirty="0"/>
              <a:t>Цепочка прототипов может быть длиннее: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286170"/>
            <a:ext cx="4679032" cy="535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942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Прототипное</a:t>
            </a:r>
            <a:r>
              <a:rPr lang="ru-RU" dirty="0"/>
              <a:t> наследование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5183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Прототип используется только для чтения свойств. Операции записи/удаления осуществляются напрямую с объектом.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566632"/>
            <a:ext cx="7158287" cy="483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204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Прототипное</a:t>
            </a:r>
            <a:r>
              <a:rPr lang="ru-RU" dirty="0"/>
              <a:t> наследование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692596"/>
            <a:ext cx="101644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Свойства-</a:t>
            </a:r>
            <a:r>
              <a:rPr lang="ru-RU" dirty="0" err="1"/>
              <a:t>акссессоры</a:t>
            </a:r>
            <a:r>
              <a:rPr lang="ru-RU" dirty="0"/>
              <a:t> – позволяют осуществлять запись/удаление свойств прототипа, т.к. это, фактически, вызов функции.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4" y="1338927"/>
            <a:ext cx="6160364" cy="535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434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Прототипное</a:t>
            </a:r>
            <a:r>
              <a:rPr lang="ru-RU" dirty="0"/>
              <a:t> наследование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94860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 вызове метода </a:t>
            </a:r>
            <a:r>
              <a:rPr lang="ru-RU" dirty="0" err="1"/>
              <a:t>this</a:t>
            </a:r>
            <a:r>
              <a:rPr lang="ru-RU" dirty="0"/>
              <a:t> — всегда объект перед точкой.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435032"/>
            <a:ext cx="5324917" cy="5141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509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Прототипное</a:t>
            </a:r>
            <a:r>
              <a:rPr lang="ru-RU" dirty="0"/>
              <a:t> наследование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96777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Цикл </a:t>
            </a:r>
            <a:r>
              <a:rPr lang="ru-RU" dirty="0" err="1"/>
              <a:t>for</a:t>
            </a:r>
            <a:r>
              <a:rPr lang="ru-RU" dirty="0"/>
              <a:t>..</a:t>
            </a:r>
            <a:r>
              <a:rPr lang="ru-RU" dirty="0" err="1"/>
              <a:t>in</a:t>
            </a:r>
            <a:r>
              <a:rPr lang="ru-RU" dirty="0"/>
              <a:t> проходит и по унаследованным свойствам объекта.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435033"/>
            <a:ext cx="5444948" cy="361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473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Прототипное</a:t>
            </a:r>
            <a:r>
              <a:rPr lang="ru-RU" dirty="0"/>
              <a:t> наследование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10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4888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Унаследованные свойства можно отфильтровать при помощи встроенного метода </a:t>
            </a:r>
            <a:r>
              <a:rPr lang="ru-RU" b="1" dirty="0" err="1"/>
              <a:t>obj.hasOwnProperty</a:t>
            </a:r>
            <a:r>
              <a:rPr lang="ru-RU" b="1" dirty="0"/>
              <a:t>(</a:t>
            </a:r>
            <a:r>
              <a:rPr lang="ru-RU" b="1" dirty="0" err="1"/>
              <a:t>key</a:t>
            </a:r>
            <a:r>
              <a:rPr lang="ru-RU" b="1" dirty="0"/>
              <a:t>)</a:t>
            </a:r>
            <a:r>
              <a:rPr lang="ru-RU" dirty="0"/>
              <a:t>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4" y="1712032"/>
            <a:ext cx="7029507" cy="486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918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F.prototype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11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073841" y="1076998"/>
            <a:ext cx="107396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Если в </a:t>
            </a:r>
            <a:r>
              <a:rPr lang="ru-RU" dirty="0" err="1"/>
              <a:t>F.prototype</a:t>
            </a:r>
            <a:r>
              <a:rPr lang="ru-RU" dirty="0"/>
              <a:t> содержится объект, оператор </a:t>
            </a:r>
            <a:r>
              <a:rPr lang="ru-RU" dirty="0" err="1"/>
              <a:t>new</a:t>
            </a:r>
            <a:r>
              <a:rPr lang="ru-RU" dirty="0"/>
              <a:t> устанавливает его в качестве [[</a:t>
            </a:r>
            <a:r>
              <a:rPr lang="ru-RU" dirty="0" err="1"/>
              <a:t>Prototype</a:t>
            </a:r>
            <a:r>
              <a:rPr lang="ru-RU" dirty="0"/>
              <a:t>]] для нового объекта, созданного с помощью функции-конструктора, </a:t>
            </a:r>
            <a:r>
              <a:rPr lang="ru-RU" dirty="0" err="1"/>
              <a:t>new</a:t>
            </a:r>
            <a:r>
              <a:rPr lang="ru-RU" dirty="0"/>
              <a:t> F().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799640"/>
            <a:ext cx="5751357" cy="377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737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F.prototype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12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0316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У каждой функции по умолчанию уже есть свойство "</a:t>
            </a:r>
            <a:r>
              <a:rPr lang="ru-RU" dirty="0" err="1"/>
              <a:t>prototype</a:t>
            </a:r>
            <a:r>
              <a:rPr lang="ru-RU" dirty="0"/>
              <a:t>".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435033"/>
            <a:ext cx="8070160" cy="31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606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F.prototype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13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7101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Можно использовать свойство </a:t>
            </a:r>
            <a:r>
              <a:rPr lang="ru-RU" dirty="0" err="1"/>
              <a:t>constructor</a:t>
            </a:r>
            <a:r>
              <a:rPr lang="ru-RU" dirty="0"/>
              <a:t> существующего объекта для создания нового.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532944"/>
            <a:ext cx="7671953" cy="233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11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F.prototype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14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5331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Если мы заменим прототип по умолчанию на другой объект, свойства "</a:t>
            </a:r>
            <a:r>
              <a:rPr lang="ru-RU" dirty="0" err="1"/>
              <a:t>constructor</a:t>
            </a:r>
            <a:r>
              <a:rPr lang="ru-RU" dirty="0"/>
              <a:t>" в нём не будет.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779825"/>
            <a:ext cx="6713308" cy="201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15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F.prototype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15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79861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Таким образом, чтобы сохранить верное свойство "</a:t>
            </a:r>
            <a:r>
              <a:rPr lang="ru-RU" dirty="0" err="1"/>
              <a:t>constructor</a:t>
            </a:r>
            <a:r>
              <a:rPr lang="ru-RU" dirty="0"/>
              <a:t>", </a:t>
            </a:r>
            <a:r>
              <a:rPr lang="ru-RU" dirty="0" err="1"/>
              <a:t>необъходимо</a:t>
            </a:r>
            <a:r>
              <a:rPr lang="ru-RU" dirty="0"/>
              <a:t> добавлять/удалять/изменять свойства у прототипа по умолчанию вместо того, чтобы перезаписывать его целиком: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989031"/>
            <a:ext cx="4579426" cy="93115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118085" y="325331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Или можно заново создать свойство </a:t>
            </a:r>
            <a:r>
              <a:rPr lang="ru-RU" dirty="0" err="1"/>
              <a:t>constructor</a:t>
            </a:r>
            <a:r>
              <a:rPr lang="ru-RU" dirty="0"/>
              <a:t>: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85" y="3955789"/>
            <a:ext cx="3618438" cy="1206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602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Встроенные прототипы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16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3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920301"/>
            <a:ext cx="5253218" cy="641018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118085" y="1955461"/>
            <a:ext cx="101644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Когда вызывается </a:t>
            </a:r>
            <a:r>
              <a:rPr lang="en-US" dirty="0" err="1"/>
              <a:t>obj.toString</a:t>
            </a:r>
            <a:r>
              <a:rPr lang="en-US" dirty="0"/>
              <a:t>(), </a:t>
            </a:r>
            <a:r>
              <a:rPr lang="ru-RU" dirty="0"/>
              <a:t>метод берётся из </a:t>
            </a:r>
            <a:r>
              <a:rPr lang="en-US" dirty="0" err="1"/>
              <a:t>Object.prototype</a:t>
            </a:r>
            <a:r>
              <a:rPr lang="en-US" dirty="0"/>
              <a:t>.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934" y="2691987"/>
            <a:ext cx="10228258" cy="126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437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Встроенные прототипы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17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3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004636" y="710361"/>
            <a:ext cx="102778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На вершине иерархии встроенных прототипов находится </a:t>
            </a:r>
            <a:r>
              <a:rPr lang="ru-RU" dirty="0" err="1"/>
              <a:t>Object.prototype</a:t>
            </a:r>
            <a:r>
              <a:rPr lang="ru-RU" dirty="0"/>
              <a:t>:</a:t>
            </a:r>
          </a:p>
        </p:txBody>
      </p:sp>
      <p:pic>
        <p:nvPicPr>
          <p:cNvPr id="9" name="Рисунок 8"/>
          <p:cNvPicPr/>
          <p:nvPr/>
        </p:nvPicPr>
        <p:blipFill>
          <a:blip r:embed="rId2"/>
          <a:stretch>
            <a:fillRect/>
          </a:stretch>
        </p:blipFill>
        <p:spPr>
          <a:xfrm>
            <a:off x="1004636" y="1193030"/>
            <a:ext cx="8522822" cy="5359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0014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Встроенные прототипы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18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3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097282"/>
            <a:ext cx="8807579" cy="2854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0857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Встроенные прототипы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19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3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1644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 браузере в консоли разработчика, можно посмотреть цепочку наследования:</a:t>
            </a:r>
          </a:p>
        </p:txBody>
      </p:sp>
      <p:pic>
        <p:nvPicPr>
          <p:cNvPr id="8" name="Рисунок 7" descr="https://learn.javascript.ru/article/native-prototypes/console_dir_array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085" y="1435033"/>
            <a:ext cx="8350380" cy="43003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5748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Встроенные прототипы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20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3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1046824"/>
            <a:ext cx="49776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Встроенные прототипы можно изменять: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550731"/>
            <a:ext cx="5238470" cy="140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9673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Встроенные прототипы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21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3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70447"/>
            <a:ext cx="109441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Изменение встроенных прототипов одобряется</a:t>
            </a:r>
            <a:r>
              <a:rPr lang="en-US" dirty="0"/>
              <a:t> </a:t>
            </a:r>
            <a:r>
              <a:rPr lang="ru-RU" dirty="0"/>
              <a:t>лишь, при создании </a:t>
            </a:r>
            <a:r>
              <a:rPr lang="ru-RU" dirty="0" err="1"/>
              <a:t>полифилов</a:t>
            </a:r>
            <a:r>
              <a:rPr lang="ru-RU" dirty="0"/>
              <a:t>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596127"/>
            <a:ext cx="5931643" cy="170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4233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Встроенные прототипы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22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3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004635" y="920301"/>
            <a:ext cx="107055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Некоторые методы встроенных прототипов часто используют для объектов разного типа.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435033"/>
            <a:ext cx="5872649" cy="259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4504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Методы прототипов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23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4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774901"/>
            <a:ext cx="10606882" cy="2054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Современные методы для работы с прототипами (вместо __</a:t>
            </a:r>
            <a:r>
              <a:rPr lang="ru-RU" dirty="0" err="1"/>
              <a:t>proto</a:t>
            </a:r>
            <a:r>
              <a:rPr lang="ru-RU" dirty="0"/>
              <a:t>__):</a:t>
            </a:r>
          </a:p>
          <a:p>
            <a:pPr>
              <a:lnSpc>
                <a:spcPct val="120000"/>
              </a:lnSpc>
            </a:pPr>
            <a:r>
              <a:rPr lang="ru-RU" dirty="0"/>
              <a:t>• </a:t>
            </a:r>
            <a:r>
              <a:rPr lang="en-US" b="1" dirty="0" err="1"/>
              <a:t>Object.create</a:t>
            </a:r>
            <a:r>
              <a:rPr lang="en-US" b="1" dirty="0"/>
              <a:t>(proto, [descriptors]) </a:t>
            </a:r>
            <a:r>
              <a:rPr lang="en-US" dirty="0"/>
              <a:t>– </a:t>
            </a:r>
            <a:r>
              <a:rPr lang="ru-RU" dirty="0"/>
              <a:t>создаёт пустой объект со свойством [[</a:t>
            </a:r>
            <a:r>
              <a:rPr lang="en-US" dirty="0"/>
              <a:t>Prototype]], </a:t>
            </a:r>
            <a:r>
              <a:rPr lang="ru-RU" dirty="0"/>
              <a:t>указанным как </a:t>
            </a:r>
            <a:r>
              <a:rPr lang="en-US" dirty="0"/>
              <a:t>proto, </a:t>
            </a:r>
            <a:r>
              <a:rPr lang="ru-RU" dirty="0"/>
              <a:t>и необязательными дескрипторами свойств </a:t>
            </a:r>
            <a:r>
              <a:rPr lang="en-US" dirty="0"/>
              <a:t>descriptors.</a:t>
            </a:r>
          </a:p>
          <a:p>
            <a:pPr>
              <a:lnSpc>
                <a:spcPct val="120000"/>
              </a:lnSpc>
            </a:pPr>
            <a:r>
              <a:rPr lang="en-US" dirty="0"/>
              <a:t>•</a:t>
            </a:r>
            <a:r>
              <a:rPr lang="ru-RU" dirty="0"/>
              <a:t> </a:t>
            </a:r>
            <a:r>
              <a:rPr lang="en-US" b="1" dirty="0" err="1"/>
              <a:t>Object.getPrototypeOf</a:t>
            </a:r>
            <a:r>
              <a:rPr lang="en-US" b="1" dirty="0"/>
              <a:t>(</a:t>
            </a:r>
            <a:r>
              <a:rPr lang="en-US" b="1" dirty="0" err="1"/>
              <a:t>obj</a:t>
            </a:r>
            <a:r>
              <a:rPr lang="en-US" b="1" dirty="0"/>
              <a:t>)</a:t>
            </a:r>
            <a:r>
              <a:rPr lang="en-US" dirty="0"/>
              <a:t> – </a:t>
            </a:r>
            <a:r>
              <a:rPr lang="ru-RU" dirty="0"/>
              <a:t>возвращает свойство [[</a:t>
            </a:r>
            <a:r>
              <a:rPr lang="en-US" dirty="0"/>
              <a:t>Prototype]] </a:t>
            </a:r>
            <a:r>
              <a:rPr lang="ru-RU" dirty="0"/>
              <a:t>объекта </a:t>
            </a:r>
            <a:r>
              <a:rPr lang="en-US" dirty="0"/>
              <a:t>obj.</a:t>
            </a:r>
          </a:p>
          <a:p>
            <a:pPr>
              <a:lnSpc>
                <a:spcPct val="120000"/>
              </a:lnSpc>
            </a:pPr>
            <a:r>
              <a:rPr lang="en-US" dirty="0"/>
              <a:t>•</a:t>
            </a:r>
            <a:r>
              <a:rPr lang="ru-RU" dirty="0"/>
              <a:t> </a:t>
            </a:r>
            <a:r>
              <a:rPr lang="en-US" b="1" dirty="0" err="1"/>
              <a:t>Object.setPrototypeOf</a:t>
            </a:r>
            <a:r>
              <a:rPr lang="en-US" b="1" dirty="0"/>
              <a:t>(</a:t>
            </a:r>
            <a:r>
              <a:rPr lang="en-US" b="1" dirty="0" err="1"/>
              <a:t>obj</a:t>
            </a:r>
            <a:r>
              <a:rPr lang="en-US" b="1" dirty="0"/>
              <a:t>, proto)</a:t>
            </a:r>
            <a:r>
              <a:rPr lang="en-US" dirty="0"/>
              <a:t> – </a:t>
            </a:r>
            <a:r>
              <a:rPr lang="ru-RU" dirty="0"/>
              <a:t>устанавливает свойство [[</a:t>
            </a:r>
            <a:r>
              <a:rPr lang="en-US" dirty="0"/>
              <a:t>Prototype]] </a:t>
            </a:r>
            <a:r>
              <a:rPr lang="ru-RU" dirty="0"/>
              <a:t>объекта </a:t>
            </a:r>
            <a:r>
              <a:rPr lang="en-US" dirty="0" err="1"/>
              <a:t>obj</a:t>
            </a:r>
            <a:r>
              <a:rPr lang="en-US" dirty="0"/>
              <a:t> </a:t>
            </a:r>
            <a:r>
              <a:rPr lang="ru-RU" dirty="0"/>
              <a:t>как </a:t>
            </a:r>
            <a:r>
              <a:rPr lang="en-US" dirty="0"/>
              <a:t>proto.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2996688"/>
            <a:ext cx="6565824" cy="2981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4719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Методы прототипов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24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4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1644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У </a:t>
            </a:r>
            <a:r>
              <a:rPr lang="ru-RU" dirty="0" err="1"/>
              <a:t>Object.create</a:t>
            </a:r>
            <a:r>
              <a:rPr lang="ru-RU" dirty="0"/>
              <a:t> есть необязательный второй аргумент: </a:t>
            </a:r>
            <a:r>
              <a:rPr lang="ru-RU" b="1" dirty="0"/>
              <a:t>дескрипторы свойств</a:t>
            </a:r>
            <a:r>
              <a:rPr lang="ru-RU" dirty="0"/>
              <a:t>, который позволяет добавить дополнительное свойство новому объекту таким образом.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927076"/>
            <a:ext cx="5444947" cy="311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7002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Методы прототипов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25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4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5478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Можно использовать </a:t>
            </a:r>
            <a:r>
              <a:rPr lang="ru-RU" dirty="0" err="1"/>
              <a:t>Object.create</a:t>
            </a:r>
            <a:r>
              <a:rPr lang="ru-RU" dirty="0"/>
              <a:t> для клонирования объекта, в результате которого создается точная копия объекта </a:t>
            </a:r>
            <a:r>
              <a:rPr lang="ru-RU" dirty="0" err="1"/>
              <a:t>obj</a:t>
            </a:r>
            <a:r>
              <a:rPr lang="ru-RU" dirty="0"/>
              <a:t>, включая все свойства: перечисляемые и не перечисляемые, геттеры/сеттеры для свойств, включая свойство [[</a:t>
            </a:r>
            <a:r>
              <a:rPr lang="ru-RU" dirty="0" err="1"/>
              <a:t>Prototype</a:t>
            </a:r>
            <a:r>
              <a:rPr lang="ru-RU" dirty="0"/>
              <a:t>]].</a:t>
            </a:r>
          </a:p>
          <a:p>
            <a:r>
              <a:rPr lang="ru-RU" dirty="0"/>
              <a:t>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920606"/>
            <a:ext cx="7716199" cy="65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5315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Классы 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26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5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072791"/>
            <a:ext cx="3409669" cy="211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7755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Классы 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27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5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1050044"/>
            <a:ext cx="102971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Метод </a:t>
            </a:r>
            <a:r>
              <a:rPr lang="ru-RU" dirty="0" err="1"/>
              <a:t>constructor</a:t>
            </a:r>
            <a:r>
              <a:rPr lang="ru-RU" dirty="0"/>
              <a:t>() вызывается автоматически, в нём можно инициализировать объект.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694518"/>
            <a:ext cx="4574791" cy="4066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1304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Классы 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28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5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59234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В </a:t>
            </a:r>
            <a:r>
              <a:rPr lang="ru-RU" dirty="0" err="1"/>
              <a:t>JavaScript</a:t>
            </a:r>
            <a:r>
              <a:rPr lang="ru-RU" dirty="0"/>
              <a:t> класс – это разновидность функции.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435033"/>
            <a:ext cx="5923416" cy="1733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2998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Классы 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29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5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0316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class</a:t>
            </a:r>
            <a:r>
              <a:rPr lang="ru-RU" dirty="0"/>
              <a:t> – это не «синтаксический сахар». Представим класс </a:t>
            </a:r>
            <a:r>
              <a:rPr lang="ru-RU" dirty="0" err="1"/>
              <a:t>User</a:t>
            </a:r>
            <a:r>
              <a:rPr lang="ru-RU" dirty="0"/>
              <a:t>, используя обычные функции: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712032"/>
            <a:ext cx="5518688" cy="29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7703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Классы 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30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5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734750" y="920300"/>
            <a:ext cx="35092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Отличия класса от функций: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734749" y="1289632"/>
            <a:ext cx="10547761" cy="1057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1. Функция, созданная с помощью </a:t>
            </a:r>
            <a:r>
              <a:rPr lang="ru-RU" dirty="0" err="1"/>
              <a:t>class</a:t>
            </a:r>
            <a:r>
              <a:rPr lang="ru-RU" dirty="0"/>
              <a:t>, помечена специальным внутренним свойством [[</a:t>
            </a:r>
            <a:r>
              <a:rPr lang="ru-RU" dirty="0" err="1"/>
              <a:t>FunctionKind</a:t>
            </a:r>
            <a:r>
              <a:rPr lang="ru-RU" dirty="0"/>
              <a:t>]]:"</a:t>
            </a:r>
            <a:r>
              <a:rPr lang="ru-RU" dirty="0" err="1"/>
              <a:t>classConstructor</a:t>
            </a:r>
            <a:r>
              <a:rPr lang="ru-RU" dirty="0"/>
              <a:t>". </a:t>
            </a:r>
          </a:p>
          <a:p>
            <a:pPr>
              <a:lnSpc>
                <a:spcPct val="120000"/>
              </a:lnSpc>
            </a:pPr>
            <a:r>
              <a:rPr lang="ru-RU" dirty="0"/>
              <a:t>В отличие от обычных функций, конструктор класса не может быть вызван без </a:t>
            </a:r>
            <a:r>
              <a:rPr lang="ru-RU" dirty="0" err="1"/>
              <a:t>new</a:t>
            </a:r>
            <a:r>
              <a:rPr lang="ru-RU" dirty="0"/>
              <a:t>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53" y="2582293"/>
            <a:ext cx="5515408" cy="1933974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734749" y="4586578"/>
            <a:ext cx="10282296" cy="1057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2. Методы класса являются </a:t>
            </a:r>
            <a:r>
              <a:rPr lang="ru-RU" dirty="0" err="1"/>
              <a:t>неперечислимыми</a:t>
            </a:r>
            <a:r>
              <a:rPr lang="ru-RU" dirty="0"/>
              <a:t>. Определение класса устанавливает флаг </a:t>
            </a:r>
            <a:r>
              <a:rPr lang="ru-RU" dirty="0" err="1"/>
              <a:t>enumerable</a:t>
            </a:r>
            <a:r>
              <a:rPr lang="ru-RU" dirty="0"/>
              <a:t> в </a:t>
            </a:r>
            <a:r>
              <a:rPr lang="ru-RU" dirty="0" err="1"/>
              <a:t>false</a:t>
            </a:r>
            <a:r>
              <a:rPr lang="ru-RU" dirty="0"/>
              <a:t> для всех методов в "</a:t>
            </a:r>
            <a:r>
              <a:rPr lang="ru-RU" dirty="0" err="1"/>
              <a:t>prototype</a:t>
            </a:r>
            <a:r>
              <a:rPr lang="ru-RU" dirty="0"/>
              <a:t>".</a:t>
            </a:r>
          </a:p>
          <a:p>
            <a:pPr>
              <a:lnSpc>
                <a:spcPct val="120000"/>
              </a:lnSpc>
            </a:pPr>
            <a:r>
              <a:rPr lang="ru-RU" dirty="0"/>
              <a:t>3. Классы всегда используют </a:t>
            </a:r>
            <a:r>
              <a:rPr lang="ru-RU" dirty="0" err="1"/>
              <a:t>use</a:t>
            </a:r>
            <a:r>
              <a:rPr lang="ru-RU" dirty="0"/>
              <a:t> </a:t>
            </a:r>
            <a:r>
              <a:rPr lang="ru-RU" dirty="0" err="1"/>
              <a:t>strict</a:t>
            </a:r>
            <a:r>
              <a:rPr lang="ru-RU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280673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Классы 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31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5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4299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Как и функции, классы можно определять внутри другого выражения, передавать, возвращать, присваивать и т.д.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5" y="1712032"/>
            <a:ext cx="96482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/>
              <a:t>Пример </a:t>
            </a:r>
            <a:r>
              <a:rPr lang="en-US" dirty="0"/>
              <a:t>Class Expression (</a:t>
            </a:r>
            <a:r>
              <a:rPr lang="ru-RU" dirty="0"/>
              <a:t>по аналогии с </a:t>
            </a:r>
            <a:r>
              <a:rPr lang="en-US" dirty="0"/>
              <a:t>Function Expression):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2226764"/>
            <a:ext cx="3158947" cy="1399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0316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Классы 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32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5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7101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Как и </a:t>
            </a:r>
            <a:r>
              <a:rPr lang="ru-RU" dirty="0" err="1"/>
              <a:t>Named</a:t>
            </a:r>
            <a:r>
              <a:rPr lang="ru-RU" dirty="0"/>
              <a:t> </a:t>
            </a:r>
            <a:r>
              <a:rPr lang="ru-RU" dirty="0" err="1"/>
              <a:t>Function</a:t>
            </a:r>
            <a:r>
              <a:rPr lang="ru-RU" dirty="0"/>
              <a:t> </a:t>
            </a:r>
            <a:r>
              <a:rPr lang="ru-RU" dirty="0" err="1"/>
              <a:t>Expressions</a:t>
            </a:r>
            <a:r>
              <a:rPr lang="ru-RU" dirty="0"/>
              <a:t>, выражения классов могут иметь имя. Если у </a:t>
            </a:r>
            <a:r>
              <a:rPr lang="ru-RU" dirty="0" err="1"/>
              <a:t>Class</a:t>
            </a:r>
            <a:r>
              <a:rPr lang="ru-RU" dirty="0"/>
              <a:t> </a:t>
            </a:r>
            <a:r>
              <a:rPr lang="ru-RU" dirty="0" err="1"/>
              <a:t>Expression</a:t>
            </a:r>
            <a:r>
              <a:rPr lang="ru-RU" dirty="0"/>
              <a:t> есть имя, то оно видно только внутри класса: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712031"/>
            <a:ext cx="4206082" cy="255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002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Классы 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33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5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94860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Можно динамически создавать классы «</a:t>
            </a:r>
            <a:r>
              <a:rPr lang="ru-RU" dirty="0" err="1"/>
              <a:t>по-запросу</a:t>
            </a:r>
            <a:r>
              <a:rPr lang="ru-RU" dirty="0"/>
              <a:t>»: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435033"/>
            <a:ext cx="4751772" cy="309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4147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Классы 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34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5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675572"/>
            <a:ext cx="104299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 классах можно объявлять генераторы, вычисляемые свойства, геттеры/сеттеры и т.д.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b="23274"/>
          <a:stretch/>
        </p:blipFill>
        <p:spPr>
          <a:xfrm>
            <a:off x="479809" y="1266886"/>
            <a:ext cx="5472031" cy="5309446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"/>
          <a:srcRect t="75946"/>
          <a:stretch/>
        </p:blipFill>
        <p:spPr>
          <a:xfrm>
            <a:off x="6185549" y="1275579"/>
            <a:ext cx="5551803" cy="168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5366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Классы 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35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5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1644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 объявлении класса геттеры/сеттеры создаются на </a:t>
            </a:r>
            <a:r>
              <a:rPr lang="ru-RU" dirty="0" err="1"/>
              <a:t>User.prototype</a:t>
            </a:r>
            <a:r>
              <a:rPr lang="ru-RU" dirty="0"/>
              <a:t>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4" y="1454512"/>
            <a:ext cx="6123373" cy="292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1979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Классы 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36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5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60195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Пример с вычисляемым свойством в скобках [...]: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435032"/>
            <a:ext cx="3394920" cy="2520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6533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Классы 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37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5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24240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Свойства классов: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435033"/>
            <a:ext cx="4987746" cy="247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6192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Наследование классов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38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6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09" y="1065699"/>
            <a:ext cx="8476158" cy="455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4048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Наследование классов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39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6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920301"/>
            <a:ext cx="5651424" cy="287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159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Наследование классов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40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6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7656159" y="275483"/>
            <a:ext cx="34195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Rabbit </a:t>
            </a:r>
            <a:r>
              <a:rPr lang="ru-RU" dirty="0"/>
              <a:t>наследует от </a:t>
            </a:r>
            <a:r>
              <a:rPr lang="en-US" dirty="0"/>
              <a:t>Animal: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12" y="774900"/>
            <a:ext cx="7333993" cy="601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9514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Наследование классов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41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6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55723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После </a:t>
            </a:r>
            <a:r>
              <a:rPr lang="ru-RU" dirty="0" err="1"/>
              <a:t>extends</a:t>
            </a:r>
            <a:r>
              <a:rPr lang="ru-RU" dirty="0"/>
              <a:t> разрешены любые выражения: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435033"/>
            <a:ext cx="5031991" cy="2646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9921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Наследование классов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42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6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1644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Метод </a:t>
            </a:r>
            <a:r>
              <a:rPr lang="ru-RU" dirty="0" err="1"/>
              <a:t>stop</a:t>
            </a:r>
            <a:r>
              <a:rPr lang="ru-RU" dirty="0"/>
              <a:t> в классе </a:t>
            </a:r>
            <a:r>
              <a:rPr lang="ru-RU" dirty="0" err="1"/>
              <a:t>Rabbit</a:t>
            </a:r>
            <a:r>
              <a:rPr lang="ru-RU" dirty="0"/>
              <a:t> будет использоваться взамен родительского: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435033"/>
            <a:ext cx="4302832" cy="1396657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997974" y="3090192"/>
            <a:ext cx="10741741" cy="1722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Если необходимо сделать новый метод на основе родительского, изменяя или расширяя его функциональность, а не полностью его заменить, то используется ключевое слово "</a:t>
            </a:r>
            <a:r>
              <a:rPr lang="ru-RU" dirty="0" err="1"/>
              <a:t>super</a:t>
            </a:r>
            <a:r>
              <a:rPr lang="ru-RU" dirty="0"/>
              <a:t>":</a:t>
            </a:r>
          </a:p>
          <a:p>
            <a:pPr>
              <a:lnSpc>
                <a:spcPct val="120000"/>
              </a:lnSpc>
            </a:pPr>
            <a:r>
              <a:rPr lang="ru-RU" dirty="0"/>
              <a:t>• </a:t>
            </a:r>
            <a:r>
              <a:rPr lang="ru-RU" dirty="0" err="1"/>
              <a:t>super.method</a:t>
            </a:r>
            <a:r>
              <a:rPr lang="ru-RU" dirty="0"/>
              <a:t>(...) вызывает родительский метод;</a:t>
            </a:r>
          </a:p>
          <a:p>
            <a:pPr>
              <a:lnSpc>
                <a:spcPct val="120000"/>
              </a:lnSpc>
            </a:pPr>
            <a:r>
              <a:rPr lang="ru-RU" dirty="0"/>
              <a:t>• </a:t>
            </a:r>
            <a:r>
              <a:rPr lang="ru-RU" dirty="0" err="1"/>
              <a:t>super</a:t>
            </a:r>
            <a:r>
              <a:rPr lang="ru-RU" dirty="0"/>
              <a:t>(...) вызывает родительский конструктор. </a:t>
            </a:r>
          </a:p>
        </p:txBody>
      </p:sp>
    </p:spTree>
    <p:extLst>
      <p:ext uri="{BB962C8B-B14F-4D97-AF65-F5344CB8AC3E}">
        <p14:creationId xmlns:p14="http://schemas.microsoft.com/office/powerpoint/2010/main" val="4734741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Наследование классов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43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6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004635" y="245098"/>
            <a:ext cx="7166141" cy="643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8122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Наследование классов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44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6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40350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У стрелочных функций нет </a:t>
            </a:r>
            <a:r>
              <a:rPr lang="ru-RU" dirty="0" err="1"/>
              <a:t>super</a:t>
            </a:r>
            <a:r>
              <a:rPr lang="ru-RU" dirty="0"/>
              <a:t>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435032"/>
            <a:ext cx="6138120" cy="149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8654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Наследование классов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45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6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5773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Если класс расширяет другой класс и не имеет конструктора, то автоматически создаётся такой «пустой» конструктор: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739876"/>
            <a:ext cx="4397812" cy="141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721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Наследование классов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46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6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079201" y="735635"/>
            <a:ext cx="4068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Добавим конструктор для </a:t>
            </a:r>
            <a:r>
              <a:rPr lang="en-US" dirty="0"/>
              <a:t>Rabbit</a:t>
            </a:r>
            <a:r>
              <a:rPr lang="ru-RU" dirty="0"/>
              <a:t>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56969" y="1104967"/>
            <a:ext cx="6113986" cy="534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5605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Наследование классов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47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6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782153" y="774901"/>
            <a:ext cx="356321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 наследующем классе соответствующая функция-конструктор помечена специальным внутренним свойством [[</a:t>
            </a:r>
            <a:r>
              <a:rPr lang="ru-RU" dirty="0" err="1"/>
              <a:t>ConstructorKind</a:t>
            </a:r>
            <a:r>
              <a:rPr lang="ru-RU" dirty="0"/>
              <a:t>]]:"</a:t>
            </a:r>
            <a:r>
              <a:rPr lang="ru-RU" dirty="0" err="1"/>
              <a:t>derived</a:t>
            </a:r>
            <a:r>
              <a:rPr lang="ru-RU" dirty="0"/>
              <a:t>".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734750" y="3142140"/>
            <a:ext cx="43981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 создании собственного конструктора, необходимо вызвать </a:t>
            </a:r>
            <a:r>
              <a:rPr lang="ru-RU" dirty="0" err="1"/>
              <a:t>super</a:t>
            </a:r>
            <a:r>
              <a:rPr lang="ru-RU" dirty="0"/>
              <a:t>, </a:t>
            </a:r>
            <a:r>
              <a:rPr lang="ru-RU" dirty="0" err="1"/>
              <a:t>инчае</a:t>
            </a:r>
            <a:r>
              <a:rPr lang="ru-RU" dirty="0"/>
              <a:t> объект для </a:t>
            </a:r>
            <a:r>
              <a:rPr lang="ru-RU" dirty="0" err="1"/>
              <a:t>this</a:t>
            </a:r>
            <a:r>
              <a:rPr lang="ru-RU" dirty="0"/>
              <a:t> не будет создан, и вернет ошибку.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2648932" y="145398"/>
            <a:ext cx="7716773" cy="6461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7713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Статические свойства и методы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48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7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004635" y="920301"/>
            <a:ext cx="103811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Методы присвоенные самой функции-классу, а не её "</a:t>
            </a:r>
            <a:r>
              <a:rPr lang="ru-RU" dirty="0" err="1"/>
              <a:t>prototype</a:t>
            </a:r>
            <a:r>
              <a:rPr lang="ru-RU" dirty="0"/>
              <a:t>" называются статическими.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004635" y="1398540"/>
            <a:ext cx="7656984" cy="339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9835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Статические свойства и методы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49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7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004635" y="766054"/>
            <a:ext cx="102778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Статические методы используются для реализации функций, принадлежащих классу, но не к конкретным его объектам.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004635" y="1445524"/>
            <a:ext cx="6694023" cy="522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4814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Статические свойства и методы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50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7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004635" y="920301"/>
            <a:ext cx="105286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Пример создания статьи через заданные параметры (</a:t>
            </a:r>
            <a:r>
              <a:rPr lang="ru-RU" dirty="0" err="1"/>
              <a:t>title</a:t>
            </a:r>
            <a:r>
              <a:rPr lang="ru-RU" dirty="0"/>
              <a:t>, </a:t>
            </a:r>
            <a:r>
              <a:rPr lang="ru-RU" dirty="0" err="1"/>
              <a:t>date</a:t>
            </a:r>
            <a:r>
              <a:rPr lang="ru-RU" dirty="0"/>
              <a:t> и т. д.) и с сегодняшней датой.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5" y="1712032"/>
            <a:ext cx="7952173" cy="389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5097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Статические свойства и методы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51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7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29065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Статические свойства: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6" y="1435033"/>
            <a:ext cx="6551472" cy="157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5716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Статические свойства и методы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52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7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886649" y="774901"/>
            <a:ext cx="35595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Статические свойства и методы наследуются: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5458211" y="735635"/>
            <a:ext cx="5583580" cy="603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9457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Приватные и защищённые методы и свойства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53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8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606882" cy="21171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В объектно-ориентированном программировании свойства и методы разделены на 2 группы:</a:t>
            </a:r>
          </a:p>
          <a:p>
            <a:pPr>
              <a:lnSpc>
                <a:spcPct val="150000"/>
              </a:lnSpc>
            </a:pPr>
            <a:r>
              <a:rPr lang="ru-RU" dirty="0"/>
              <a:t>• Внутренний интерфейс – методы и свойства, доступные из других методов класса, но не снаружи класса.</a:t>
            </a:r>
          </a:p>
          <a:p>
            <a:pPr>
              <a:lnSpc>
                <a:spcPct val="150000"/>
              </a:lnSpc>
            </a:pPr>
            <a:r>
              <a:rPr lang="ru-RU" dirty="0"/>
              <a:t>• Внешний интерфейс – методы и свойства, доступные снаружи класса.</a:t>
            </a:r>
          </a:p>
        </p:txBody>
      </p:sp>
    </p:spTree>
    <p:extLst>
      <p:ext uri="{BB962C8B-B14F-4D97-AF65-F5344CB8AC3E}">
        <p14:creationId xmlns:p14="http://schemas.microsoft.com/office/powerpoint/2010/main" val="33051078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Приватные и защищённые методы и свойства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54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8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245625" y="1337491"/>
            <a:ext cx="7332486" cy="3278754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245625" y="780802"/>
            <a:ext cx="85651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Публичные</a:t>
            </a:r>
            <a:r>
              <a:rPr lang="en-US" dirty="0"/>
              <a:t> </a:t>
            </a:r>
            <a:r>
              <a:rPr lang="ru-RU" dirty="0"/>
              <a:t>свойства</a:t>
            </a:r>
            <a:r>
              <a:rPr lang="en-US" dirty="0"/>
              <a:t> </a:t>
            </a:r>
            <a:r>
              <a:rPr lang="ru-RU" dirty="0"/>
              <a:t>можно легко получать и устанавливать вне класса.</a:t>
            </a:r>
          </a:p>
        </p:txBody>
      </p:sp>
    </p:spTree>
    <p:extLst>
      <p:ext uri="{BB962C8B-B14F-4D97-AF65-F5344CB8AC3E}">
        <p14:creationId xmlns:p14="http://schemas.microsoft.com/office/powerpoint/2010/main" val="32664424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Приватные и защищённые методы и свойства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55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8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743325"/>
            <a:ext cx="101644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Защищённые свойства, по общепринятому соглашению, не должны быть доступны вне класса.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4" y="1417066"/>
            <a:ext cx="9028596" cy="527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9898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Приватные и защищённые методы и свойства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56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8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33650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Свойство только для чтения: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5" y="1435033"/>
            <a:ext cx="8382083" cy="437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0537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Приватные и защищённые методы и свойства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57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8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5036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Приватные свойства и методы доступны только внутри класса и должны начинаться с #.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5" y="1464420"/>
            <a:ext cx="9487375" cy="347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8848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Приватные и защищённые методы и свойства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58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8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74719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Доступ к приватным полям осуществляется через </a:t>
            </a:r>
            <a:r>
              <a:rPr lang="ru-RU" dirty="0" err="1"/>
              <a:t>аксессор</a:t>
            </a:r>
            <a:r>
              <a:rPr lang="ru-RU" dirty="0"/>
              <a:t>: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5" y="1435033"/>
            <a:ext cx="8983785" cy="465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34851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Приватные и защищённые методы и свойства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59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8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1644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Обычно можно получить доступ к полям объекта с помощью </a:t>
            </a:r>
            <a:r>
              <a:rPr lang="ru-RU" dirty="0" err="1"/>
              <a:t>this</a:t>
            </a:r>
            <a:r>
              <a:rPr lang="ru-RU" dirty="0"/>
              <a:t>[</a:t>
            </a:r>
            <a:r>
              <a:rPr lang="ru-RU" dirty="0" err="1"/>
              <a:t>name</a:t>
            </a:r>
            <a:r>
              <a:rPr lang="ru-RU" dirty="0"/>
              <a:t>]: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7" y="1435032"/>
            <a:ext cx="5708200" cy="195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2870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Расширение встроенных классов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60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9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4004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От встроенных классов (</a:t>
            </a:r>
            <a:r>
              <a:rPr lang="ru-RU" dirty="0" err="1"/>
              <a:t>Array</a:t>
            </a:r>
            <a:r>
              <a:rPr lang="ru-RU" dirty="0"/>
              <a:t>, </a:t>
            </a:r>
            <a:r>
              <a:rPr lang="ru-RU" dirty="0" err="1"/>
              <a:t>Map</a:t>
            </a:r>
            <a:r>
              <a:rPr lang="ru-RU" dirty="0"/>
              <a:t> и др.) можно наследовать: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435032"/>
            <a:ext cx="6713308" cy="315582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118085" y="5002613"/>
            <a:ext cx="107248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Встроенные методы (</a:t>
            </a:r>
            <a:r>
              <a:rPr lang="ru-RU" dirty="0" err="1"/>
              <a:t>filter</a:t>
            </a:r>
            <a:r>
              <a:rPr lang="ru-RU" dirty="0"/>
              <a:t>, </a:t>
            </a:r>
            <a:r>
              <a:rPr lang="ru-RU" dirty="0" err="1"/>
              <a:t>map</a:t>
            </a:r>
            <a:r>
              <a:rPr lang="ru-RU" dirty="0"/>
              <a:t> и др.) возвращают новые объекты унаследованного класса </a:t>
            </a:r>
            <a:r>
              <a:rPr lang="ru-RU" dirty="0" err="1"/>
              <a:t>PowerArray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0723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Расширение встроенных классов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61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9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5" y="920301"/>
            <a:ext cx="101644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Чтобы методы </a:t>
            </a:r>
            <a:r>
              <a:rPr lang="ru-RU" dirty="0" err="1"/>
              <a:t>map</a:t>
            </a:r>
            <a:r>
              <a:rPr lang="ru-RU" dirty="0"/>
              <a:t>, </a:t>
            </a:r>
            <a:r>
              <a:rPr lang="ru-RU" dirty="0" err="1"/>
              <a:t>filter</a:t>
            </a:r>
            <a:r>
              <a:rPr lang="ru-RU" dirty="0"/>
              <a:t> и т. д. возвращали обычные массивы, необходимо вернуть </a:t>
            </a:r>
            <a:r>
              <a:rPr lang="ru-RU" dirty="0" err="1"/>
              <a:t>Array</a:t>
            </a:r>
            <a:r>
              <a:rPr lang="ru-RU" dirty="0"/>
              <a:t> в </a:t>
            </a:r>
            <a:r>
              <a:rPr lang="ru-RU" dirty="0" err="1"/>
              <a:t>Symbol.species</a:t>
            </a:r>
            <a:r>
              <a:rPr lang="ru-RU" dirty="0"/>
              <a:t>: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4" y="1712031"/>
            <a:ext cx="7078528" cy="468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86276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Проверка класса: "</a:t>
            </a:r>
            <a:r>
              <a:rPr lang="en-US" dirty="0" err="1"/>
              <a:t>instanceof</a:t>
            </a:r>
            <a:r>
              <a:rPr lang="en-US" dirty="0"/>
              <a:t>"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62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13975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10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91873" y="709914"/>
            <a:ext cx="11000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Оператор возвращает </a:t>
            </a:r>
            <a:r>
              <a:rPr lang="ru-RU" dirty="0" err="1"/>
              <a:t>true</a:t>
            </a:r>
            <a:r>
              <a:rPr lang="ru-RU" dirty="0"/>
              <a:t>, если </a:t>
            </a:r>
            <a:r>
              <a:rPr lang="ru-RU" dirty="0" err="1"/>
              <a:t>obj</a:t>
            </a:r>
            <a:r>
              <a:rPr lang="ru-RU" dirty="0"/>
              <a:t> принадлежит классу </a:t>
            </a:r>
            <a:r>
              <a:rPr lang="ru-RU" dirty="0" err="1"/>
              <a:t>Class</a:t>
            </a:r>
            <a:r>
              <a:rPr lang="ru-RU" dirty="0"/>
              <a:t> или наследующему от него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351393" y="1219290"/>
            <a:ext cx="6129410" cy="60043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1118085" y="2190893"/>
            <a:ext cx="6698397" cy="1238633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118085" y="3640186"/>
            <a:ext cx="109441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Instanceof</a:t>
            </a:r>
            <a:r>
              <a:rPr lang="en-US" dirty="0"/>
              <a:t> </a:t>
            </a:r>
            <a:r>
              <a:rPr lang="ru-RU" dirty="0"/>
              <a:t>можно использовать для</a:t>
            </a:r>
            <a:r>
              <a:rPr lang="en-US" dirty="0"/>
              <a:t> </a:t>
            </a:r>
            <a:r>
              <a:rPr lang="ru-RU" dirty="0"/>
              <a:t>функций-конструкторов и для встроенных классов :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invGray">
          <a:xfrm>
            <a:off x="1118085" y="4230962"/>
            <a:ext cx="7498800" cy="980996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invGray">
          <a:xfrm>
            <a:off x="1118085" y="5523293"/>
            <a:ext cx="5961141" cy="92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0192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Проверка класса: "</a:t>
            </a:r>
            <a:r>
              <a:rPr lang="en-US" dirty="0" err="1"/>
              <a:t>instanceof</a:t>
            </a:r>
            <a:r>
              <a:rPr lang="en-US" dirty="0"/>
              <a:t>"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63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13975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10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945644" y="920301"/>
            <a:ext cx="107793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Если у класса имеется статический метод </a:t>
            </a:r>
            <a:r>
              <a:rPr lang="en-US" dirty="0" err="1"/>
              <a:t>Symbol.hasInstance</a:t>
            </a:r>
            <a:r>
              <a:rPr lang="en-US" dirty="0"/>
              <a:t>, </a:t>
            </a:r>
            <a:r>
              <a:rPr lang="ru-RU" dirty="0"/>
              <a:t>тогда он вызывается и  возвращает либо </a:t>
            </a:r>
            <a:r>
              <a:rPr lang="ru-RU" dirty="0" err="1"/>
              <a:t>true</a:t>
            </a:r>
            <a:r>
              <a:rPr lang="ru-RU" dirty="0"/>
              <a:t>, либо </a:t>
            </a:r>
            <a:r>
              <a:rPr lang="ru-RU" dirty="0" err="1"/>
              <a:t>false</a:t>
            </a:r>
            <a:r>
              <a:rPr lang="ru-RU" dirty="0"/>
              <a:t>: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644" y="1712033"/>
            <a:ext cx="6856254" cy="266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4345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Проверка класса: "</a:t>
            </a:r>
            <a:r>
              <a:rPr lang="en-US" dirty="0" err="1"/>
              <a:t>instanceof</a:t>
            </a:r>
            <a:r>
              <a:rPr lang="en-US" dirty="0"/>
              <a:t>"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64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13975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10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7838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Большая часть классов не имеет метода </a:t>
            </a:r>
            <a:r>
              <a:rPr lang="ru-RU" dirty="0" err="1"/>
              <a:t>Symbol.hasInstance</a:t>
            </a:r>
            <a:r>
              <a:rPr lang="ru-RU" dirty="0"/>
              <a:t>. В этом случае проверяется, равен ли </a:t>
            </a:r>
            <a:r>
              <a:rPr lang="ru-RU" dirty="0" err="1"/>
              <a:t>Class.prototype</a:t>
            </a:r>
            <a:r>
              <a:rPr lang="ru-RU" dirty="0"/>
              <a:t> одному из прототипов в </a:t>
            </a:r>
            <a:r>
              <a:rPr lang="ru-RU" dirty="0" err="1"/>
              <a:t>прототипной</a:t>
            </a:r>
            <a:r>
              <a:rPr lang="ru-RU" dirty="0"/>
              <a:t> цепочке </a:t>
            </a:r>
            <a:r>
              <a:rPr lang="ru-RU" dirty="0" err="1"/>
              <a:t>obj</a:t>
            </a:r>
            <a:r>
              <a:rPr lang="ru-RU" dirty="0"/>
              <a:t>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894125"/>
            <a:ext cx="8043701" cy="127677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85" y="3498396"/>
            <a:ext cx="8847276" cy="231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22053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Примеси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65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11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6068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Примесь </a:t>
            </a:r>
            <a:r>
              <a:rPr lang="ru-RU" dirty="0" err="1"/>
              <a:t>sayHiMixin</a:t>
            </a:r>
            <a:r>
              <a:rPr lang="ru-RU" dirty="0"/>
              <a:t> включает методы для придания объектам класса </a:t>
            </a:r>
            <a:r>
              <a:rPr lang="ru-RU" dirty="0" err="1"/>
              <a:t>User</a:t>
            </a:r>
            <a:r>
              <a:rPr lang="ru-RU" dirty="0"/>
              <a:t> возможности вести разговор: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665599" y="1403360"/>
            <a:ext cx="6706161" cy="543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93107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Примеси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66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11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726320" y="862102"/>
            <a:ext cx="32409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Примеси могут наследовать друг друга: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3869616" y="145398"/>
            <a:ext cx="5666661" cy="653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04019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Обработка ошибок, "</a:t>
            </a:r>
            <a:r>
              <a:rPr lang="ru-RU" dirty="0" err="1"/>
              <a:t>try</a:t>
            </a:r>
            <a:r>
              <a:rPr lang="ru-RU" dirty="0"/>
              <a:t>..</a:t>
            </a:r>
            <a:r>
              <a:rPr lang="ru-RU" dirty="0" err="1"/>
              <a:t>catch</a:t>
            </a:r>
            <a:r>
              <a:rPr lang="ru-RU" dirty="0"/>
              <a:t>"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67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12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787568"/>
            <a:ext cx="3468662" cy="2507647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1118086" y="3539306"/>
            <a:ext cx="26789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Пример без ошибок: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86" y="3959204"/>
            <a:ext cx="8277058" cy="261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17875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Обработка ошибок, "</a:t>
            </a:r>
            <a:r>
              <a:rPr lang="ru-RU" dirty="0" err="1"/>
              <a:t>try</a:t>
            </a:r>
            <a:r>
              <a:rPr lang="ru-RU" dirty="0"/>
              <a:t>..</a:t>
            </a:r>
            <a:r>
              <a:rPr lang="ru-RU" dirty="0" err="1"/>
              <a:t>catch</a:t>
            </a:r>
            <a:r>
              <a:rPr lang="ru-RU" dirty="0"/>
              <a:t>"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68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12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920301"/>
            <a:ext cx="2778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Пример с ошибками: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435032"/>
            <a:ext cx="8521809" cy="2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25073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Обработка ошибок, "</a:t>
            </a:r>
            <a:r>
              <a:rPr lang="ru-RU" dirty="0" err="1"/>
              <a:t>try</a:t>
            </a:r>
            <a:r>
              <a:rPr lang="ru-RU" dirty="0"/>
              <a:t>..</a:t>
            </a:r>
            <a:r>
              <a:rPr lang="ru-RU" dirty="0" err="1"/>
              <a:t>catch</a:t>
            </a:r>
            <a:r>
              <a:rPr lang="ru-RU" dirty="0"/>
              <a:t>"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69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12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38282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try..catch</a:t>
            </a:r>
            <a:r>
              <a:rPr lang="en-US" dirty="0"/>
              <a:t> </a:t>
            </a:r>
            <a:r>
              <a:rPr lang="ru-RU" dirty="0"/>
              <a:t>работает синхронно.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435033"/>
            <a:ext cx="5695669" cy="253480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86" y="4365957"/>
            <a:ext cx="7674725" cy="209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76551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Обработка ошибок, "</a:t>
            </a:r>
            <a:r>
              <a:rPr lang="ru-RU" dirty="0" err="1"/>
              <a:t>try</a:t>
            </a:r>
            <a:r>
              <a:rPr lang="ru-RU" dirty="0"/>
              <a:t>..</a:t>
            </a:r>
            <a:r>
              <a:rPr lang="ru-RU" dirty="0" err="1"/>
              <a:t>catch</a:t>
            </a:r>
            <a:r>
              <a:rPr lang="ru-RU" dirty="0"/>
              <a:t>"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70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12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734632" y="907634"/>
            <a:ext cx="107396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Когда возникает ошибка, </a:t>
            </a:r>
            <a:r>
              <a:rPr lang="ru-RU" dirty="0" err="1"/>
              <a:t>JavaScript</a:t>
            </a:r>
            <a:r>
              <a:rPr lang="ru-RU" dirty="0"/>
              <a:t> генерирует объект, содержащий её детали и передает его как аргумент в блок </a:t>
            </a:r>
            <a:r>
              <a:rPr lang="ru-RU" dirty="0" err="1"/>
              <a:t>catch</a:t>
            </a:r>
            <a:r>
              <a:rPr lang="ru-RU" dirty="0"/>
              <a:t>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632" y="1731030"/>
            <a:ext cx="2686999" cy="1458657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734631" y="3366752"/>
            <a:ext cx="10739617" cy="25326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Для всех встроенных ошибок этот объект имеет два основных свойства:</a:t>
            </a:r>
          </a:p>
          <a:p>
            <a:pPr>
              <a:lnSpc>
                <a:spcPct val="150000"/>
              </a:lnSpc>
            </a:pPr>
            <a:r>
              <a:rPr lang="en-US" b="1" dirty="0"/>
              <a:t>n</a:t>
            </a:r>
            <a:r>
              <a:rPr lang="ru-RU" b="1" dirty="0" err="1"/>
              <a:t>ame</a:t>
            </a:r>
            <a:r>
              <a:rPr lang="ru-RU" dirty="0"/>
              <a:t> -- имя ошибки. Например, для неопределённой переменной это "</a:t>
            </a:r>
            <a:r>
              <a:rPr lang="ru-RU" dirty="0" err="1"/>
              <a:t>ReferenceError</a:t>
            </a:r>
            <a:r>
              <a:rPr lang="ru-RU" dirty="0"/>
              <a:t>".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m</a:t>
            </a:r>
            <a:r>
              <a:rPr lang="ru-RU" b="1" dirty="0" err="1"/>
              <a:t>essage</a:t>
            </a:r>
            <a:r>
              <a:rPr lang="en-US" dirty="0"/>
              <a:t> -- </a:t>
            </a:r>
            <a:r>
              <a:rPr lang="ru-RU" dirty="0"/>
              <a:t>текстовое сообщение о деталях ошибки. </a:t>
            </a:r>
          </a:p>
          <a:p>
            <a:pPr>
              <a:lnSpc>
                <a:spcPct val="150000"/>
              </a:lnSpc>
            </a:pPr>
            <a:r>
              <a:rPr lang="ru-RU" dirty="0"/>
              <a:t>Доступны и другие, например: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</a:t>
            </a:r>
            <a:r>
              <a:rPr lang="ru-RU" b="1" dirty="0" err="1"/>
              <a:t>tack</a:t>
            </a:r>
            <a:r>
              <a:rPr lang="ru-RU" b="1" dirty="0"/>
              <a:t> </a:t>
            </a:r>
            <a:r>
              <a:rPr lang="ru-RU" dirty="0"/>
              <a:t>-- текущий стек вызова: строка, содержащая информацию о последовательности вложенных вызовов, которые привели к ошибке. Используется в целях отладки.</a:t>
            </a:r>
          </a:p>
        </p:txBody>
      </p:sp>
    </p:spTree>
    <p:extLst>
      <p:ext uri="{BB962C8B-B14F-4D97-AF65-F5344CB8AC3E}">
        <p14:creationId xmlns:p14="http://schemas.microsoft.com/office/powerpoint/2010/main" val="302566471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Обработка ошибок, "</a:t>
            </a:r>
            <a:r>
              <a:rPr lang="ru-RU" dirty="0" err="1"/>
              <a:t>try</a:t>
            </a:r>
            <a:r>
              <a:rPr lang="ru-RU" dirty="0"/>
              <a:t>..</a:t>
            </a:r>
            <a:r>
              <a:rPr lang="ru-RU" dirty="0" err="1"/>
              <a:t>catch</a:t>
            </a:r>
            <a:r>
              <a:rPr lang="ru-RU" dirty="0"/>
              <a:t>"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71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12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920301"/>
            <a:ext cx="8872657" cy="288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19760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Обработка ошибок, "</a:t>
            </a:r>
            <a:r>
              <a:rPr lang="ru-RU" dirty="0" err="1"/>
              <a:t>try</a:t>
            </a:r>
            <a:r>
              <a:rPr lang="ru-RU" dirty="0"/>
              <a:t>..</a:t>
            </a:r>
            <a:r>
              <a:rPr lang="ru-RU" dirty="0" err="1"/>
              <a:t>catch</a:t>
            </a:r>
            <a:r>
              <a:rPr lang="ru-RU" dirty="0"/>
              <a:t>"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72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12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1644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Если нам не нужны детали ошибки, в </a:t>
            </a:r>
            <a:r>
              <a:rPr lang="ru-RU" dirty="0" err="1"/>
              <a:t>catch</a:t>
            </a:r>
            <a:r>
              <a:rPr lang="ru-RU" dirty="0"/>
              <a:t> можно её пропустить: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361293"/>
            <a:ext cx="2052818" cy="141317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118084" y="3119094"/>
            <a:ext cx="45175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Оператор </a:t>
            </a:r>
            <a:r>
              <a:rPr lang="en-US" dirty="0"/>
              <a:t>throw </a:t>
            </a:r>
            <a:r>
              <a:rPr lang="ru-RU" dirty="0"/>
              <a:t>генерирует ошибку.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84" y="3551487"/>
            <a:ext cx="3866870" cy="380077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118084" y="4256271"/>
            <a:ext cx="106068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 </a:t>
            </a:r>
            <a:r>
              <a:rPr lang="ru-RU" dirty="0" err="1"/>
              <a:t>JavaScript</a:t>
            </a:r>
            <a:r>
              <a:rPr lang="ru-RU" dirty="0"/>
              <a:t> есть множество встроенных конструкторов для стандартных ошибок: </a:t>
            </a:r>
            <a:r>
              <a:rPr lang="ru-RU" dirty="0" err="1"/>
              <a:t>Error</a:t>
            </a:r>
            <a:r>
              <a:rPr lang="ru-RU" dirty="0"/>
              <a:t>, </a:t>
            </a:r>
            <a:r>
              <a:rPr lang="ru-RU" dirty="0" err="1"/>
              <a:t>SyntaxError</a:t>
            </a:r>
            <a:r>
              <a:rPr lang="ru-RU" dirty="0"/>
              <a:t>, </a:t>
            </a:r>
            <a:r>
              <a:rPr lang="ru-RU" dirty="0" err="1"/>
              <a:t>ReferenceError</a:t>
            </a:r>
            <a:r>
              <a:rPr lang="ru-RU" dirty="0"/>
              <a:t>, </a:t>
            </a:r>
            <a:r>
              <a:rPr lang="ru-RU" dirty="0" err="1"/>
              <a:t>TypeError</a:t>
            </a:r>
            <a:r>
              <a:rPr lang="ru-RU" dirty="0"/>
              <a:t> и другие. 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084" y="5031155"/>
            <a:ext cx="5832539" cy="122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47696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Обработка ошибок, "</a:t>
            </a:r>
            <a:r>
              <a:rPr lang="ru-RU" dirty="0" err="1"/>
              <a:t>try</a:t>
            </a:r>
            <a:r>
              <a:rPr lang="ru-RU" dirty="0"/>
              <a:t>..</a:t>
            </a:r>
            <a:r>
              <a:rPr lang="ru-RU" dirty="0" err="1"/>
              <a:t>catch</a:t>
            </a:r>
            <a:r>
              <a:rPr lang="ru-RU" dirty="0"/>
              <a:t>"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73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12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837986" y="920300"/>
            <a:ext cx="108869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Для встроенных ошибок, свойство </a:t>
            </a:r>
            <a:r>
              <a:rPr lang="ru-RU" dirty="0" err="1"/>
              <a:t>name</a:t>
            </a:r>
            <a:r>
              <a:rPr lang="ru-RU" dirty="0"/>
              <a:t> – это имя конструктора</a:t>
            </a:r>
            <a:r>
              <a:rPr lang="en-US" dirty="0"/>
              <a:t>,</a:t>
            </a:r>
            <a:r>
              <a:rPr lang="ru-RU" dirty="0"/>
              <a:t> а свойство </a:t>
            </a:r>
            <a:r>
              <a:rPr lang="ru-RU" dirty="0" err="1"/>
              <a:t>message</a:t>
            </a:r>
            <a:r>
              <a:rPr lang="ru-RU" dirty="0"/>
              <a:t> берётся из аргумента.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986" y="1712029"/>
            <a:ext cx="5548066" cy="1275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73491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Обработка ошибок, "</a:t>
            </a:r>
            <a:r>
              <a:rPr lang="ru-RU" dirty="0" err="1"/>
              <a:t>try</a:t>
            </a:r>
            <a:r>
              <a:rPr lang="ru-RU" dirty="0"/>
              <a:t>..</a:t>
            </a:r>
            <a:r>
              <a:rPr lang="ru-RU" dirty="0" err="1"/>
              <a:t>catch</a:t>
            </a:r>
            <a:r>
              <a:rPr lang="ru-RU" dirty="0"/>
              <a:t>"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74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12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43156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Обработка программной ошибки: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376041"/>
            <a:ext cx="7258998" cy="2782616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118086" y="4390465"/>
            <a:ext cx="48878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Определяем какая ошибка произошла: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86" y="4879103"/>
            <a:ext cx="9549006" cy="147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68295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Обработка ошибок, "</a:t>
            </a:r>
            <a:r>
              <a:rPr lang="ru-RU" dirty="0" err="1"/>
              <a:t>try</a:t>
            </a:r>
            <a:r>
              <a:rPr lang="ru-RU" dirty="0"/>
              <a:t>..</a:t>
            </a:r>
            <a:r>
              <a:rPr lang="ru-RU" dirty="0" err="1"/>
              <a:t>catch</a:t>
            </a:r>
            <a:r>
              <a:rPr lang="ru-RU" dirty="0"/>
              <a:t>"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75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12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5" y="758073"/>
            <a:ext cx="101644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Блок </a:t>
            </a:r>
            <a:r>
              <a:rPr lang="ru-RU" dirty="0" err="1"/>
              <a:t>catch</a:t>
            </a:r>
            <a:r>
              <a:rPr lang="ru-RU" dirty="0"/>
              <a:t> должен обрабатывать только те ошибки, которые ему известны, и пропускать все остальные («проброс исключения» ).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4" y="1421063"/>
            <a:ext cx="6801799" cy="532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98188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Обработка ошибок, "</a:t>
            </a:r>
            <a:r>
              <a:rPr lang="ru-RU" dirty="0" err="1"/>
              <a:t>try</a:t>
            </a:r>
            <a:r>
              <a:rPr lang="ru-RU" dirty="0"/>
              <a:t>..</a:t>
            </a:r>
            <a:r>
              <a:rPr lang="ru-RU" dirty="0" err="1"/>
              <a:t>catch</a:t>
            </a:r>
            <a:r>
              <a:rPr lang="ru-RU" dirty="0"/>
              <a:t>"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76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12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459398" cy="1390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Конструкция </a:t>
            </a:r>
            <a:r>
              <a:rPr lang="ru-RU" dirty="0" err="1"/>
              <a:t>try</a:t>
            </a:r>
            <a:r>
              <a:rPr lang="ru-RU" dirty="0"/>
              <a:t>..</a:t>
            </a:r>
            <a:r>
              <a:rPr lang="ru-RU" dirty="0" err="1"/>
              <a:t>catch</a:t>
            </a:r>
            <a:r>
              <a:rPr lang="ru-RU" dirty="0"/>
              <a:t> может содержать ещё одну секцию: </a:t>
            </a:r>
            <a:r>
              <a:rPr lang="ru-RU" dirty="0" err="1"/>
              <a:t>finally</a:t>
            </a:r>
            <a:r>
              <a:rPr lang="ru-RU" dirty="0"/>
              <a:t>, если она есть, то выполняется в любом случае:</a:t>
            </a:r>
          </a:p>
          <a:p>
            <a:pPr>
              <a:lnSpc>
                <a:spcPct val="120000"/>
              </a:lnSpc>
            </a:pPr>
            <a:r>
              <a:rPr lang="ru-RU" dirty="0"/>
              <a:t>•	после </a:t>
            </a:r>
            <a:r>
              <a:rPr lang="ru-RU" dirty="0" err="1"/>
              <a:t>try</a:t>
            </a:r>
            <a:r>
              <a:rPr lang="ru-RU" dirty="0"/>
              <a:t>, если не было ошибок,</a:t>
            </a:r>
          </a:p>
          <a:p>
            <a:pPr>
              <a:lnSpc>
                <a:spcPct val="120000"/>
              </a:lnSpc>
            </a:pPr>
            <a:r>
              <a:rPr lang="ru-RU" dirty="0"/>
              <a:t>•	после </a:t>
            </a:r>
            <a:r>
              <a:rPr lang="ru-RU" dirty="0" err="1"/>
              <a:t>catch</a:t>
            </a:r>
            <a:r>
              <a:rPr lang="ru-RU" dirty="0"/>
              <a:t>, если ошибки были.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67" y="2605242"/>
            <a:ext cx="4279824" cy="196281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685" y="2605242"/>
            <a:ext cx="6995986" cy="274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9853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Обработка ошибок, "</a:t>
            </a:r>
            <a:r>
              <a:rPr lang="ru-RU" dirty="0" err="1"/>
              <a:t>try</a:t>
            </a:r>
            <a:r>
              <a:rPr lang="ru-RU" dirty="0"/>
              <a:t>..</a:t>
            </a:r>
            <a:r>
              <a:rPr lang="ru-RU" dirty="0" err="1"/>
              <a:t>catch</a:t>
            </a:r>
            <a:r>
              <a:rPr lang="ru-RU" dirty="0"/>
              <a:t>"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77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12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6068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Блок </a:t>
            </a:r>
            <a:r>
              <a:rPr lang="ru-RU" dirty="0" err="1"/>
              <a:t>finally</a:t>
            </a:r>
            <a:r>
              <a:rPr lang="ru-RU" dirty="0"/>
              <a:t> срабатывает при любом выходе из </a:t>
            </a:r>
            <a:r>
              <a:rPr lang="ru-RU" dirty="0" err="1"/>
              <a:t>try</a:t>
            </a:r>
            <a:r>
              <a:rPr lang="ru-RU" dirty="0"/>
              <a:t>..</a:t>
            </a:r>
            <a:r>
              <a:rPr lang="ru-RU" dirty="0" err="1"/>
              <a:t>catch</a:t>
            </a:r>
            <a:r>
              <a:rPr lang="ru-RU" dirty="0"/>
              <a:t>, в том числе и </a:t>
            </a:r>
            <a:r>
              <a:rPr lang="ru-RU" dirty="0" err="1"/>
              <a:t>return</a:t>
            </a:r>
            <a:r>
              <a:rPr lang="ru-RU" dirty="0"/>
              <a:t>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483469"/>
            <a:ext cx="3618589" cy="348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59451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Модули: введение.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78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14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6146234" cy="3928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Библиотеки для динамической </a:t>
            </a:r>
            <a:r>
              <a:rPr lang="ru-RU" dirty="0" err="1"/>
              <a:t>подгрузки</a:t>
            </a:r>
            <a:r>
              <a:rPr lang="ru-RU" dirty="0"/>
              <a:t> модулей: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1289633"/>
            <a:ext cx="10944192" cy="1722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• </a:t>
            </a:r>
            <a:r>
              <a:rPr lang="ru-RU" b="1" dirty="0"/>
              <a:t>AMD</a:t>
            </a:r>
            <a:r>
              <a:rPr lang="ru-RU" dirty="0"/>
              <a:t> – одна из самых старых модульных систем, изначально реализована библиотекой require.js.</a:t>
            </a:r>
          </a:p>
          <a:p>
            <a:pPr>
              <a:lnSpc>
                <a:spcPct val="120000"/>
              </a:lnSpc>
            </a:pPr>
            <a:r>
              <a:rPr lang="ru-RU" dirty="0"/>
              <a:t>• </a:t>
            </a:r>
            <a:r>
              <a:rPr lang="ru-RU" b="1" dirty="0" err="1"/>
              <a:t>CommonJS</a:t>
            </a:r>
            <a:r>
              <a:rPr lang="ru-RU" dirty="0"/>
              <a:t> – модульная система, созданная для сервера Node.js.</a:t>
            </a:r>
          </a:p>
          <a:p>
            <a:pPr>
              <a:lnSpc>
                <a:spcPct val="120000"/>
              </a:lnSpc>
            </a:pPr>
            <a:r>
              <a:rPr lang="ru-RU" dirty="0"/>
              <a:t>• </a:t>
            </a:r>
            <a:r>
              <a:rPr lang="ru-RU" b="1" dirty="0"/>
              <a:t>UMD</a:t>
            </a:r>
            <a:r>
              <a:rPr lang="ru-RU" dirty="0"/>
              <a:t> – ещё одна модульная система, предлагается как универсальная, совместима с AMD и </a:t>
            </a:r>
            <a:r>
              <a:rPr lang="ru-RU" dirty="0" err="1"/>
              <a:t>CommonJS</a:t>
            </a:r>
            <a:r>
              <a:rPr lang="ru-RU" dirty="0"/>
              <a:t>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3434830"/>
            <a:ext cx="10335422" cy="1722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Модули могут загружать друг друга и использовать директивы </a:t>
            </a:r>
            <a:r>
              <a:rPr lang="ru-RU" dirty="0" err="1"/>
              <a:t>export</a:t>
            </a:r>
            <a:r>
              <a:rPr lang="ru-RU" dirty="0"/>
              <a:t> и </a:t>
            </a:r>
            <a:r>
              <a:rPr lang="ru-RU" dirty="0" err="1"/>
              <a:t>import</a:t>
            </a:r>
            <a:r>
              <a:rPr lang="ru-RU" dirty="0"/>
              <a:t>, чтобы обмениваться функциональностью, вызывать функции одного модуля из другого:</a:t>
            </a:r>
          </a:p>
          <a:p>
            <a:pPr>
              <a:lnSpc>
                <a:spcPct val="120000"/>
              </a:lnSpc>
            </a:pPr>
            <a:r>
              <a:rPr lang="ru-RU" dirty="0"/>
              <a:t>• </a:t>
            </a:r>
            <a:r>
              <a:rPr lang="ru-RU" b="1" dirty="0" err="1"/>
              <a:t>export</a:t>
            </a:r>
            <a:r>
              <a:rPr lang="ru-RU" dirty="0"/>
              <a:t> отмечает переменные и функции, которые должны быть доступны вне текущего модуля;</a:t>
            </a:r>
          </a:p>
          <a:p>
            <a:pPr>
              <a:lnSpc>
                <a:spcPct val="120000"/>
              </a:lnSpc>
            </a:pPr>
            <a:r>
              <a:rPr lang="ru-RU" dirty="0"/>
              <a:t>• </a:t>
            </a:r>
            <a:r>
              <a:rPr lang="ru-RU" b="1" dirty="0" err="1"/>
              <a:t>import</a:t>
            </a:r>
            <a:r>
              <a:rPr lang="ru-RU" dirty="0"/>
              <a:t> позволяет импортировать функциональность из других модулей.</a:t>
            </a:r>
          </a:p>
        </p:txBody>
      </p:sp>
    </p:spTree>
    <p:extLst>
      <p:ext uri="{BB962C8B-B14F-4D97-AF65-F5344CB8AC3E}">
        <p14:creationId xmlns:p14="http://schemas.microsoft.com/office/powerpoint/2010/main" val="350185720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Модули: введение.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79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14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52020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Файл sayHi.js экспортирует функцию </a:t>
            </a:r>
            <a:r>
              <a:rPr lang="ru-RU" dirty="0" err="1"/>
              <a:t>sayHi</a:t>
            </a:r>
            <a:r>
              <a:rPr lang="ru-RU" dirty="0"/>
              <a:t>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221780" y="684355"/>
            <a:ext cx="7790245" cy="2006184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118085" y="2958351"/>
            <a:ext cx="93680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Другой файл может импортировать её и использовать: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1221778" y="3561937"/>
            <a:ext cx="8658055" cy="249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80606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80</a:t>
            </a:fld>
            <a:endParaRPr lang="ru-RU" sz="24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5766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В модулях всегда используется режим </a:t>
            </a:r>
            <a:r>
              <a:rPr lang="ru-RU" dirty="0" err="1"/>
              <a:t>use</a:t>
            </a:r>
            <a:r>
              <a:rPr lang="ru-RU" dirty="0"/>
              <a:t> </a:t>
            </a:r>
            <a:r>
              <a:rPr lang="ru-RU" dirty="0" err="1"/>
              <a:t>strict</a:t>
            </a:r>
            <a:r>
              <a:rPr lang="ru-RU" dirty="0"/>
              <a:t>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6" y="1435033"/>
            <a:ext cx="3571901" cy="87444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118086" y="2633886"/>
            <a:ext cx="92500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Каждый модуль имеет свою собственную область видимости. 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1180011" y="3087014"/>
            <a:ext cx="2828913" cy="703321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invGray">
          <a:xfrm>
            <a:off x="1180010" y="4085836"/>
            <a:ext cx="3544107" cy="766754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invGray">
          <a:xfrm>
            <a:off x="1180010" y="5148091"/>
            <a:ext cx="6899544" cy="942990"/>
          </a:xfrm>
          <a:prstGeom prst="rect">
            <a:avLst/>
          </a:prstGeom>
        </p:spPr>
      </p:pic>
      <p:sp>
        <p:nvSpPr>
          <p:cNvPr id="17" name="Заголовок 3"/>
          <p:cNvSpPr txBox="1">
            <a:spLocks/>
          </p:cNvSpPr>
          <p:nvPr/>
        </p:nvSpPr>
        <p:spPr>
          <a:xfrm>
            <a:off x="1118086" y="27414"/>
            <a:ext cx="10606882" cy="62950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 Модули: введение.</a:t>
            </a:r>
          </a:p>
        </p:txBody>
      </p:sp>
      <p:sp>
        <p:nvSpPr>
          <p:cNvPr id="18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7351616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81</a:t>
            </a:fld>
            <a:endParaRPr lang="ru-RU" sz="2400" b="1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543186"/>
            <a:ext cx="5972509" cy="118526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85" y="3096686"/>
            <a:ext cx="4221120" cy="649403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118086" y="783608"/>
            <a:ext cx="106068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Модули должны экспортировать функционал, предназначенный для использования извне. </a:t>
            </a:r>
          </a:p>
        </p:txBody>
      </p:sp>
      <p:sp>
        <p:nvSpPr>
          <p:cNvPr id="12" name="Заголовок 3"/>
          <p:cNvSpPr txBox="1">
            <a:spLocks/>
          </p:cNvSpPr>
          <p:nvPr/>
        </p:nvSpPr>
        <p:spPr>
          <a:xfrm>
            <a:off x="1118086" y="27414"/>
            <a:ext cx="10606882" cy="62950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 Модули: введение.</a:t>
            </a:r>
          </a:p>
        </p:txBody>
      </p:sp>
      <p:sp>
        <p:nvSpPr>
          <p:cNvPr id="14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4720043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82</a:t>
            </a:fld>
            <a:endParaRPr lang="ru-RU" sz="2400" b="1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876732"/>
            <a:ext cx="6772302" cy="2670767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118085" y="920301"/>
            <a:ext cx="106068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 браузере также существует независимая область видимости для каждого скрипта &lt;</a:t>
            </a:r>
            <a:r>
              <a:rPr lang="ru-RU" dirty="0" err="1"/>
              <a:t>script</a:t>
            </a:r>
            <a:r>
              <a:rPr lang="ru-RU" dirty="0"/>
              <a:t> </a:t>
            </a:r>
            <a:r>
              <a:rPr lang="ru-RU" dirty="0" err="1"/>
              <a:t>type</a:t>
            </a:r>
            <a:r>
              <a:rPr lang="ru-RU" dirty="0"/>
              <a:t>="</a:t>
            </a:r>
            <a:r>
              <a:rPr lang="ru-RU" dirty="0" err="1"/>
              <a:t>module</a:t>
            </a:r>
            <a:r>
              <a:rPr lang="ru-RU" dirty="0"/>
              <a:t>"&gt;:</a:t>
            </a:r>
          </a:p>
        </p:txBody>
      </p:sp>
      <p:sp>
        <p:nvSpPr>
          <p:cNvPr id="10" name="Заголовок 3"/>
          <p:cNvSpPr txBox="1">
            <a:spLocks/>
          </p:cNvSpPr>
          <p:nvPr/>
        </p:nvSpPr>
        <p:spPr>
          <a:xfrm>
            <a:off x="1118086" y="27414"/>
            <a:ext cx="10606882" cy="62950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 Модули: введение.</a:t>
            </a:r>
          </a:p>
        </p:txBody>
      </p:sp>
      <p:sp>
        <p:nvSpPr>
          <p:cNvPr id="11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3214088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83</a:t>
            </a:fld>
            <a:endParaRPr lang="ru-RU" sz="24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920301"/>
            <a:ext cx="1060688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Если один и тот же модуль используется в нескольких местах, то его код выполнится только один раз, после чего экспортируемая функциональность передаётся всем импортёрам.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989031"/>
            <a:ext cx="6808046" cy="2464982"/>
          </a:xfrm>
          <a:prstGeom prst="rect">
            <a:avLst/>
          </a:prstGeom>
        </p:spPr>
      </p:pic>
      <p:sp>
        <p:nvSpPr>
          <p:cNvPr id="12" name="Заголовок 3"/>
          <p:cNvSpPr txBox="1">
            <a:spLocks/>
          </p:cNvSpPr>
          <p:nvPr/>
        </p:nvSpPr>
        <p:spPr>
          <a:xfrm>
            <a:off x="1118086" y="27414"/>
            <a:ext cx="10606882" cy="62950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 Модули: введение.</a:t>
            </a:r>
          </a:p>
        </p:txBody>
      </p:sp>
      <p:sp>
        <p:nvSpPr>
          <p:cNvPr id="14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7365773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84</a:t>
            </a:fld>
            <a:endParaRPr lang="ru-RU" sz="2400" b="1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978281"/>
            <a:ext cx="5223720" cy="3415509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118086" y="1025618"/>
            <a:ext cx="103856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Оба файла, 1.js и 2.js, импортируют один и тот же объект</a:t>
            </a:r>
            <a:r>
              <a:rPr lang="en-US" dirty="0"/>
              <a:t>. </a:t>
            </a:r>
            <a:r>
              <a:rPr lang="ru-RU" dirty="0"/>
              <a:t>Изменения, сделанные в 1.js, будут видны в 2.js</a:t>
            </a:r>
          </a:p>
        </p:txBody>
      </p:sp>
      <p:sp>
        <p:nvSpPr>
          <p:cNvPr id="12" name="Заголовок 3"/>
          <p:cNvSpPr txBox="1">
            <a:spLocks/>
          </p:cNvSpPr>
          <p:nvPr/>
        </p:nvSpPr>
        <p:spPr>
          <a:xfrm>
            <a:off x="1118086" y="27414"/>
            <a:ext cx="10606882" cy="62950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 Модули: введение.</a:t>
            </a:r>
          </a:p>
        </p:txBody>
      </p:sp>
      <p:sp>
        <p:nvSpPr>
          <p:cNvPr id="14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3009360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85</a:t>
            </a:fld>
            <a:endParaRPr lang="ru-RU" sz="24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920301"/>
            <a:ext cx="106068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Такое поведение позволяет конфигурировать модули при первом импорте. Можно установить его свойства один раз, и в дальнейших импортах он будет уже настроенным.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837986" y="655922"/>
            <a:ext cx="7749833" cy="5998028"/>
          </a:xfrm>
          <a:prstGeom prst="rect">
            <a:avLst/>
          </a:prstGeom>
        </p:spPr>
      </p:pic>
      <p:sp>
        <p:nvSpPr>
          <p:cNvPr id="12" name="Заголовок 3"/>
          <p:cNvSpPr txBox="1">
            <a:spLocks/>
          </p:cNvSpPr>
          <p:nvPr/>
        </p:nvSpPr>
        <p:spPr>
          <a:xfrm>
            <a:off x="1118086" y="27414"/>
            <a:ext cx="10606882" cy="62950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 Модули: введение.</a:t>
            </a:r>
          </a:p>
        </p:txBody>
      </p:sp>
      <p:sp>
        <p:nvSpPr>
          <p:cNvPr id="14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27862636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86</a:t>
            </a:fld>
            <a:endParaRPr lang="ru-RU" sz="24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48889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Объект </a:t>
            </a:r>
            <a:r>
              <a:rPr lang="ru-RU" dirty="0" err="1"/>
              <a:t>import.meta</a:t>
            </a:r>
            <a:r>
              <a:rPr lang="ru-RU" dirty="0"/>
              <a:t> содержит информацию о текущем модуле. Содержимое зависит от окружения. В браузере он содержит ссылку на скрипт или ссылку на текущую веб-страницу, если модуль встроен в HTML: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989031"/>
            <a:ext cx="4073347" cy="916879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118084" y="3209074"/>
            <a:ext cx="93975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 модуле на </a:t>
            </a:r>
            <a:r>
              <a:rPr lang="ru-RU" b="1" dirty="0"/>
              <a:t>верхнем уровне </a:t>
            </a:r>
            <a:r>
              <a:rPr lang="ru-RU" dirty="0" err="1"/>
              <a:t>this</a:t>
            </a:r>
            <a:r>
              <a:rPr lang="ru-RU" dirty="0"/>
              <a:t> не определён (</a:t>
            </a:r>
            <a:r>
              <a:rPr lang="ru-RU" dirty="0" err="1"/>
              <a:t>undefined</a:t>
            </a:r>
            <a:r>
              <a:rPr lang="ru-RU" dirty="0"/>
              <a:t>).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84" y="3686549"/>
            <a:ext cx="4353568" cy="2045092"/>
          </a:xfrm>
          <a:prstGeom prst="rect">
            <a:avLst/>
          </a:prstGeom>
        </p:spPr>
      </p:pic>
      <p:sp>
        <p:nvSpPr>
          <p:cNvPr id="14" name="Заголовок 3"/>
          <p:cNvSpPr txBox="1">
            <a:spLocks/>
          </p:cNvSpPr>
          <p:nvPr/>
        </p:nvSpPr>
        <p:spPr>
          <a:xfrm>
            <a:off x="1118086" y="27414"/>
            <a:ext cx="10606882" cy="62950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 Модули: введение.</a:t>
            </a:r>
          </a:p>
        </p:txBody>
      </p:sp>
      <p:sp>
        <p:nvSpPr>
          <p:cNvPr id="16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30514663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Модули: экспорт и импорт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87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15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920301"/>
            <a:ext cx="106068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Любое объявление (переменная, функция или класс) можно пометить как экспортируемое, разместив </a:t>
            </a:r>
            <a:r>
              <a:rPr lang="ru-RU" dirty="0" err="1"/>
              <a:t>export</a:t>
            </a:r>
            <a:r>
              <a:rPr lang="ru-RU" dirty="0"/>
              <a:t> перед ним.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985" y="1712032"/>
            <a:ext cx="11019717" cy="2495030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837984" y="4497862"/>
            <a:ext cx="101495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Не ставится точка с запятой после экспорта класса/функции.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984" y="4996272"/>
            <a:ext cx="4456687" cy="92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54392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Модули: экспорт и импорт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88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15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57839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Можно написать </a:t>
            </a:r>
            <a:r>
              <a:rPr lang="en-US" dirty="0"/>
              <a:t>export </a:t>
            </a:r>
            <a:r>
              <a:rPr lang="ru-RU" dirty="0"/>
              <a:t>отдельно от объявления.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435033"/>
            <a:ext cx="4235579" cy="277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02705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Модули: экспорт и импорт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89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15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837986" y="920300"/>
            <a:ext cx="108869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Можно располагать импортируемый список в фигурных скобках </a:t>
            </a:r>
            <a:r>
              <a:rPr lang="ru-RU" dirty="0" err="1"/>
              <a:t>import</a:t>
            </a:r>
            <a:r>
              <a:rPr lang="ru-RU" dirty="0"/>
              <a:t> {...}.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837986" y="1435031"/>
            <a:ext cx="5991444" cy="152939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837986" y="3284717"/>
            <a:ext cx="112242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Можно импортировать всё сразу в виде объекта, используя </a:t>
            </a:r>
            <a:r>
              <a:rPr lang="ru-RU" dirty="0" err="1"/>
              <a:t>import</a:t>
            </a:r>
            <a:r>
              <a:rPr lang="ru-RU" dirty="0"/>
              <a:t> * </a:t>
            </a:r>
            <a:r>
              <a:rPr lang="ru-RU" dirty="0" err="1"/>
              <a:t>as</a:t>
            </a:r>
            <a:r>
              <a:rPr lang="ru-RU" dirty="0"/>
              <a:t> &lt;</a:t>
            </a:r>
            <a:r>
              <a:rPr lang="ru-RU" dirty="0" err="1"/>
              <a:t>obj</a:t>
            </a:r>
            <a:r>
              <a:rPr lang="ru-RU" dirty="0"/>
              <a:t>&gt;.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837985" y="3854782"/>
            <a:ext cx="7310779" cy="221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994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Модули: экспорт и импорт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90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15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Преимущества импорта списка объектов: 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1260457"/>
            <a:ext cx="10944192" cy="7252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1. Современные инструменты сборки (</a:t>
            </a:r>
            <a:r>
              <a:rPr lang="ru-RU" dirty="0" err="1"/>
              <a:t>webpack</a:t>
            </a:r>
            <a:r>
              <a:rPr lang="ru-RU" dirty="0"/>
              <a:t> и другие) собирают модули вместе и оптимизируют их, ускоряя загрузку и удаляя неиспользуемый код.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065" y="2118358"/>
            <a:ext cx="5297462" cy="109947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84" y="3653302"/>
            <a:ext cx="5085728" cy="691264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118084" y="4641183"/>
            <a:ext cx="10769115" cy="7252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2. Более короткие имена функций: </a:t>
            </a:r>
            <a:r>
              <a:rPr lang="ru-RU" dirty="0" err="1"/>
              <a:t>sayHi</a:t>
            </a:r>
            <a:r>
              <a:rPr lang="ru-RU" dirty="0"/>
              <a:t>() вместо </a:t>
            </a:r>
            <a:r>
              <a:rPr lang="ru-RU" dirty="0" err="1"/>
              <a:t>say.sayHi</a:t>
            </a:r>
            <a:r>
              <a:rPr lang="ru-RU" dirty="0"/>
              <a:t>().</a:t>
            </a:r>
          </a:p>
          <a:p>
            <a:pPr>
              <a:lnSpc>
                <a:spcPct val="120000"/>
              </a:lnSpc>
            </a:pPr>
            <a:r>
              <a:rPr lang="ru-RU" dirty="0"/>
              <a:t>3. Более понятный код, позволяет увидеть, что именно и где используется. </a:t>
            </a:r>
          </a:p>
        </p:txBody>
      </p:sp>
    </p:spTree>
    <p:extLst>
      <p:ext uri="{BB962C8B-B14F-4D97-AF65-F5344CB8AC3E}">
        <p14:creationId xmlns:p14="http://schemas.microsoft.com/office/powerpoint/2010/main" val="153254187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Модули: экспорт и импорт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91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15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901399" y="920301"/>
            <a:ext cx="110300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Можно использовать </a:t>
            </a:r>
            <a:r>
              <a:rPr lang="ru-RU" dirty="0" err="1"/>
              <a:t>as</a:t>
            </a:r>
            <a:r>
              <a:rPr lang="ru-RU" dirty="0"/>
              <a:t>, чтобы импортировать/экспортировать под другими именами.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782153" y="886086"/>
            <a:ext cx="9454684" cy="189492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901398" y="3150344"/>
            <a:ext cx="8967682" cy="109171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153" y="5074611"/>
            <a:ext cx="4968460" cy="150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81991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Модули: экспорт и импорт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92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15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81335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dirty="0"/>
              <a:t>Модули предоставляют специальный синтаксис </a:t>
            </a:r>
            <a:r>
              <a:rPr lang="ru-RU" dirty="0" err="1"/>
              <a:t>export</a:t>
            </a:r>
            <a:r>
              <a:rPr lang="ru-RU" dirty="0"/>
              <a:t> </a:t>
            </a:r>
            <a:r>
              <a:rPr lang="ru-RU" dirty="0" err="1"/>
              <a:t>default</a:t>
            </a:r>
            <a:r>
              <a:rPr lang="ru-RU" dirty="0"/>
              <a:t> («</a:t>
            </a:r>
            <a:r>
              <a:rPr lang="ru-RU" dirty="0" err="1"/>
              <a:t>эспорт</a:t>
            </a:r>
            <a:r>
              <a:rPr lang="ru-RU" dirty="0"/>
              <a:t> по умолчанию») -- используется для  экспорта только одного объекта, объявленного в модуле.</a:t>
            </a:r>
          </a:p>
          <a:p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5" y="1168925"/>
            <a:ext cx="5507491" cy="237497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1014390" y="4114749"/>
            <a:ext cx="6047854" cy="246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54615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Модули: экспорт и импорт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93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15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99874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Синтаксис «реэкспорта» </a:t>
            </a:r>
            <a:r>
              <a:rPr lang="ru-RU" dirty="0" err="1"/>
              <a:t>export</a:t>
            </a:r>
            <a:r>
              <a:rPr lang="ru-RU" dirty="0"/>
              <a:t> ... </a:t>
            </a:r>
            <a:r>
              <a:rPr lang="ru-RU" dirty="0" err="1"/>
              <a:t>from</a:t>
            </a:r>
            <a:r>
              <a:rPr lang="ru-RU" dirty="0"/>
              <a:t> ... позволяет импортировать что-то и тут же экспортировать под другим именем: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712032"/>
            <a:ext cx="6076224" cy="148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21956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Модули:  динамические импорты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94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16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901400" y="920301"/>
            <a:ext cx="111608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Путь к модулю должен быть строковым примитивом и не может быть вызовом функции.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399" y="1435033"/>
            <a:ext cx="6010455" cy="36427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901398" y="2088196"/>
            <a:ext cx="108235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Не возможности делать импорт в зависимости от условий или в процессе выполнения.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397" y="2632203"/>
            <a:ext cx="3983361" cy="2087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90693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606882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 Модули:  динамические импорты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95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16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1118086" y="920301"/>
            <a:ext cx="103119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Выражение </a:t>
            </a:r>
            <a:r>
              <a:rPr lang="ru-RU" dirty="0" err="1"/>
              <a:t>import</a:t>
            </a:r>
            <a:r>
              <a:rPr lang="ru-RU" dirty="0"/>
              <a:t>(</a:t>
            </a:r>
            <a:r>
              <a:rPr lang="ru-RU" dirty="0" err="1"/>
              <a:t>module</a:t>
            </a:r>
            <a:r>
              <a:rPr lang="ru-RU" dirty="0"/>
              <a:t>) загружает модуль и возвращает </a:t>
            </a:r>
            <a:r>
              <a:rPr lang="ru-RU" dirty="0" err="1"/>
              <a:t>промис</a:t>
            </a:r>
            <a:r>
              <a:rPr lang="ru-RU" dirty="0"/>
              <a:t>, результатом которого становится объект модуля, содержащий все его экспорты.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725587"/>
            <a:ext cx="9441759" cy="1500677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85" y="3472099"/>
            <a:ext cx="3763631" cy="2292253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6334" y="4618225"/>
            <a:ext cx="5730635" cy="114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609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1068</TotalTime>
  <Words>2195</Words>
  <Application>Microsoft Office PowerPoint</Application>
  <PresentationFormat>Широкоэкранный</PresentationFormat>
  <Paragraphs>429</Paragraphs>
  <Slides>95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95</vt:i4>
      </vt:variant>
    </vt:vector>
  </HeadingPairs>
  <TitlesOfParts>
    <vt:vector size="99" baseType="lpstr">
      <vt:lpstr>Arial</vt:lpstr>
      <vt:lpstr>Calibri</vt:lpstr>
      <vt:lpstr>Calibri Light</vt:lpstr>
      <vt:lpstr>Office Theme</vt:lpstr>
      <vt:lpstr>Тема 5   ООП в функциональном и прототипном стиле</vt:lpstr>
      <vt:lpstr>Вопросы:</vt:lpstr>
      <vt:lpstr>Прототипное наследование</vt:lpstr>
      <vt:lpstr>Прототипное наследование</vt:lpstr>
      <vt:lpstr>Прототипное наследование</vt:lpstr>
      <vt:lpstr>Прототипное наследование</vt:lpstr>
      <vt:lpstr>Прототипное наследование</vt:lpstr>
      <vt:lpstr>Прототипное наследование</vt:lpstr>
      <vt:lpstr>Прототипное наследование</vt:lpstr>
      <vt:lpstr>Прототипное наследование</vt:lpstr>
      <vt:lpstr>F.prototype</vt:lpstr>
      <vt:lpstr>F.prototype</vt:lpstr>
      <vt:lpstr>F.prototype</vt:lpstr>
      <vt:lpstr>F.prototype</vt:lpstr>
      <vt:lpstr>F.prototype</vt:lpstr>
      <vt:lpstr>Встроенные прототипы</vt:lpstr>
      <vt:lpstr>Встроенные прототипы</vt:lpstr>
      <vt:lpstr>Встроенные прототипы</vt:lpstr>
      <vt:lpstr>Встроенные прототипы</vt:lpstr>
      <vt:lpstr>Встроенные прототипы</vt:lpstr>
      <vt:lpstr>Встроенные прототипы</vt:lpstr>
      <vt:lpstr>Встроенные прототипы</vt:lpstr>
      <vt:lpstr>Методы прототипов</vt:lpstr>
      <vt:lpstr>Методы прототипов</vt:lpstr>
      <vt:lpstr>Методы прототипов</vt:lpstr>
      <vt:lpstr>Классы </vt:lpstr>
      <vt:lpstr>Классы </vt:lpstr>
      <vt:lpstr>Классы </vt:lpstr>
      <vt:lpstr>Классы </vt:lpstr>
      <vt:lpstr>Классы </vt:lpstr>
      <vt:lpstr>Классы </vt:lpstr>
      <vt:lpstr>Классы </vt:lpstr>
      <vt:lpstr>Классы </vt:lpstr>
      <vt:lpstr>Классы </vt:lpstr>
      <vt:lpstr>Классы </vt:lpstr>
      <vt:lpstr>Классы </vt:lpstr>
      <vt:lpstr>Классы </vt:lpstr>
      <vt:lpstr> Наследование классов</vt:lpstr>
      <vt:lpstr> Наследование классов</vt:lpstr>
      <vt:lpstr> Наследование классов</vt:lpstr>
      <vt:lpstr> Наследование классов</vt:lpstr>
      <vt:lpstr> Наследование классов</vt:lpstr>
      <vt:lpstr> Наследование классов</vt:lpstr>
      <vt:lpstr> Наследование классов</vt:lpstr>
      <vt:lpstr> Наследование классов</vt:lpstr>
      <vt:lpstr> Наследование классов</vt:lpstr>
      <vt:lpstr> Наследование классов</vt:lpstr>
      <vt:lpstr> Статические свойства и методы</vt:lpstr>
      <vt:lpstr> Статические свойства и методы</vt:lpstr>
      <vt:lpstr> Статические свойства и методы</vt:lpstr>
      <vt:lpstr> Статические свойства и методы</vt:lpstr>
      <vt:lpstr> Статические свойства и методы</vt:lpstr>
      <vt:lpstr> Приватные и защищённые методы и свойства</vt:lpstr>
      <vt:lpstr> Приватные и защищённые методы и свойства</vt:lpstr>
      <vt:lpstr> Приватные и защищённые методы и свойства</vt:lpstr>
      <vt:lpstr> Приватные и защищённые методы и свойства</vt:lpstr>
      <vt:lpstr> Приватные и защищённые методы и свойства</vt:lpstr>
      <vt:lpstr> Приватные и защищённые методы и свойства</vt:lpstr>
      <vt:lpstr> Приватные и защищённые методы и свойства</vt:lpstr>
      <vt:lpstr> Расширение встроенных классов</vt:lpstr>
      <vt:lpstr> Расширение встроенных классов</vt:lpstr>
      <vt:lpstr> Проверка класса: "instanceof"</vt:lpstr>
      <vt:lpstr> Проверка класса: "instanceof"</vt:lpstr>
      <vt:lpstr> Проверка класса: "instanceof"</vt:lpstr>
      <vt:lpstr> Примеси</vt:lpstr>
      <vt:lpstr> Примеси</vt:lpstr>
      <vt:lpstr> Обработка ошибок, "try..catch"</vt:lpstr>
      <vt:lpstr> Обработка ошибок, "try..catch"</vt:lpstr>
      <vt:lpstr> Обработка ошибок, "try..catch"</vt:lpstr>
      <vt:lpstr> Обработка ошибок, "try..catch"</vt:lpstr>
      <vt:lpstr> Обработка ошибок, "try..catch"</vt:lpstr>
      <vt:lpstr> Обработка ошибок, "try..catch"</vt:lpstr>
      <vt:lpstr> Обработка ошибок, "try..catch"</vt:lpstr>
      <vt:lpstr> Обработка ошибок, "try..catch"</vt:lpstr>
      <vt:lpstr> Обработка ошибок, "try..catch"</vt:lpstr>
      <vt:lpstr> Обработка ошибок, "try..catch"</vt:lpstr>
      <vt:lpstr> Обработка ошибок, "try..catch"</vt:lpstr>
      <vt:lpstr> Модули: введение.</vt:lpstr>
      <vt:lpstr> Модули: введение.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 Модули: экспорт и импорт</vt:lpstr>
      <vt:lpstr> Модули: экспорт и импорт</vt:lpstr>
      <vt:lpstr> Модули: экспорт и импорт</vt:lpstr>
      <vt:lpstr> Модули: экспорт и импорт</vt:lpstr>
      <vt:lpstr> Модули: экспорт и импорт</vt:lpstr>
      <vt:lpstr> Модули: экспорт и импорт</vt:lpstr>
      <vt:lpstr> Модули: экспорт и импорт</vt:lpstr>
      <vt:lpstr> Модули:  динамические импорты</vt:lpstr>
      <vt:lpstr> Модули:  динамические импорты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1  Основы JavaScript</dc:title>
  <dc:creator>Marina</dc:creator>
  <cp:lastModifiedBy>тсо</cp:lastModifiedBy>
  <cp:revision>232</cp:revision>
  <dcterms:created xsi:type="dcterms:W3CDTF">2019-08-27T10:51:56Z</dcterms:created>
  <dcterms:modified xsi:type="dcterms:W3CDTF">2023-10-20T13:49:10Z</dcterms:modified>
</cp:coreProperties>
</file>