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25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F7BCA8-9609-48FB-A57C-8E4114581D3F}" type="datetimeFigureOut">
              <a:rPr lang="ru-RU" smtClean="0"/>
              <a:t>01.11.2019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3FD08-5A85-4EC1-9946-EF0EC000D9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8210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98354-2AEC-407C-892D-4CC4E97FF2F9}" type="datetime1">
              <a:rPr lang="ru-RU" smtClean="0"/>
              <a:t>01.11.2019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0946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EBA85-E22D-4185-966F-897334710B0B}" type="datetime1">
              <a:rPr lang="ru-RU" smtClean="0"/>
              <a:t>01.11.2019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25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D8926-D772-474E-A9C2-09038EBAF6E6}" type="datetime1">
              <a:rPr lang="ru-RU" smtClean="0"/>
              <a:t>01.11.2019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116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F255-A88D-4F36-A012-2562321C7166}" type="datetime1">
              <a:rPr lang="ru-RU" smtClean="0"/>
              <a:t>01.11.2019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9311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01B-A206-4541-BE7E-3C62D08E63F7}" type="datetime1">
              <a:rPr lang="ru-RU" smtClean="0"/>
              <a:t>01.11.2019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25609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5D306-E1D0-45BB-8675-D1C6E29D8416}" type="datetime1">
              <a:rPr lang="ru-RU" smtClean="0"/>
              <a:t>01.11.2019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2772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5C369-94CB-471C-98AD-11B8FD1EF56F}" type="datetime1">
              <a:rPr lang="ru-RU" smtClean="0"/>
              <a:t>01.11.2019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2152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B52CB-2BFD-42E6-946B-FC9BB9688A05}" type="datetime1">
              <a:rPr lang="ru-RU" smtClean="0"/>
              <a:t>01.11.2019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93041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4B6E6-77FC-4419-81B9-B1F57FA0389E}" type="datetime1">
              <a:rPr lang="ru-RU" smtClean="0"/>
              <a:t>01.11.2019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1064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40AA0-92A9-425C-AF3E-472E303BD54F}" type="datetime1">
              <a:rPr lang="ru-RU" smtClean="0"/>
              <a:t>01.11.2019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3185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6919D-1CF5-4750-AEE7-67D2474F6498}" type="datetime1">
              <a:rPr lang="ru-RU" smtClean="0"/>
              <a:t>01.11.2019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01054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F138-F241-483A-88EE-E8589650ADFC}" type="datetime1">
              <a:rPr lang="ru-RU" smtClean="0"/>
              <a:t>01.11.2019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9082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A1D71-566F-42F4-AA36-CCAD6E26C50B}" type="datetime1">
              <a:rPr lang="ru-RU" smtClean="0"/>
              <a:t>01.11.2019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97082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3291-9C75-4C4D-AC8E-6DE8F71E7659}" type="datetime1">
              <a:rPr lang="ru-RU" smtClean="0"/>
              <a:t>01.11.2019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3394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06DA-CB2E-4815-94B7-3E256E026906}" type="datetime1">
              <a:rPr lang="ru-RU" smtClean="0"/>
              <a:t>01.11.2019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0513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FB45-4AE3-4BCA-91EA-B3A8E720DE60}" type="datetime1">
              <a:rPr lang="ru-RU" smtClean="0"/>
              <a:t>01.11.2019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9462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AA82E-8907-4CCF-BB04-ADAC7456905B}" type="datetime1">
              <a:rPr lang="ru-RU" smtClean="0"/>
              <a:t>01.11.2019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9612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67014" y="766915"/>
            <a:ext cx="10100754" cy="2625213"/>
          </a:xfrm>
        </p:spPr>
        <p:txBody>
          <a:bodyPr>
            <a:normAutofit/>
          </a:bodyPr>
          <a:lstStyle/>
          <a:p>
            <a:pPr algn="ctr"/>
            <a:r>
              <a:rPr lang="ru-RU" b="1" dirty="0" smtClean="0"/>
              <a:t>Тема</a:t>
            </a:r>
            <a:br>
              <a:rPr lang="ru-RU" b="1" dirty="0" smtClean="0"/>
            </a:br>
            <a:r>
              <a:rPr lang="ru-RU" b="1" dirty="0" smtClean="0"/>
              <a:t>Окна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014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Вопросы: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728577"/>
            <a:ext cx="920791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1.	Открытие окон и методы </a:t>
            </a:r>
            <a:r>
              <a:rPr lang="en-US" sz="2200" dirty="0"/>
              <a:t>window</a:t>
            </a:r>
          </a:p>
          <a:p>
            <a:r>
              <a:rPr lang="en-US" sz="2200" dirty="0"/>
              <a:t>2.	</a:t>
            </a:r>
            <a:r>
              <a:rPr lang="ru-RU" sz="2200" dirty="0"/>
              <a:t>Общение между окнами</a:t>
            </a:r>
          </a:p>
          <a:p>
            <a:r>
              <a:rPr lang="ru-RU" sz="2200" dirty="0"/>
              <a:t>3.	Атака типа </a:t>
            </a:r>
            <a:r>
              <a:rPr lang="en-US" sz="2200" dirty="0" smtClean="0"/>
              <a:t>clickjacking</a:t>
            </a:r>
            <a:endParaRPr lang="en-US" sz="2200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</a:t>
            </a:fld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72219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Открытие </a:t>
            </a:r>
            <a:r>
              <a:rPr lang="ru-RU" dirty="0"/>
              <a:t>окон и методы </a:t>
            </a:r>
            <a:r>
              <a:rPr lang="ru-RU" dirty="0" err="1"/>
              <a:t>window</a:t>
            </a:r>
            <a:endParaRPr lang="ru-RU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774901"/>
            <a:ext cx="101644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Чтобы открыть всплывающее </a:t>
            </a:r>
            <a:r>
              <a:rPr lang="ru-RU" dirty="0"/>
              <a:t>окно («</a:t>
            </a:r>
            <a:r>
              <a:rPr lang="ru-RU" dirty="0" err="1"/>
              <a:t>попап</a:t>
            </a:r>
            <a:r>
              <a:rPr lang="ru-RU" dirty="0"/>
              <a:t>» – от англ. </a:t>
            </a:r>
            <a:r>
              <a:rPr lang="ru-RU" dirty="0" err="1"/>
              <a:t>Popup</a:t>
            </a:r>
            <a:r>
              <a:rPr lang="ru-RU" dirty="0"/>
              <a:t> </a:t>
            </a:r>
            <a:r>
              <a:rPr lang="ru-RU" dirty="0" err="1" smtClean="0"/>
              <a:t>window</a:t>
            </a:r>
            <a:r>
              <a:rPr lang="ru-RU" dirty="0" smtClean="0"/>
              <a:t>) достаточно </a:t>
            </a:r>
            <a:r>
              <a:rPr lang="ru-RU" dirty="0"/>
              <a:t>запустить: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628419"/>
            <a:ext cx="5784160" cy="402107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118084" y="2237713"/>
            <a:ext cx="101644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Всплывающее окно блокируется в том случае, если вызов </a:t>
            </a:r>
            <a:r>
              <a:rPr lang="ru-RU" dirty="0" err="1"/>
              <a:t>window.open</a:t>
            </a:r>
            <a:r>
              <a:rPr lang="ru-RU" dirty="0"/>
              <a:t> произошёл не в результате действия посетителя (например, события </a:t>
            </a:r>
            <a:r>
              <a:rPr lang="ru-RU" dirty="0" err="1"/>
              <a:t>onclick</a:t>
            </a:r>
            <a:r>
              <a:rPr lang="ru-RU" dirty="0"/>
              <a:t>).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83" y="3014919"/>
            <a:ext cx="5902149" cy="197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807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Открытие </a:t>
            </a:r>
            <a:r>
              <a:rPr lang="ru-RU" dirty="0"/>
              <a:t>окон и методы </a:t>
            </a:r>
            <a:r>
              <a:rPr lang="ru-RU" dirty="0" err="1"/>
              <a:t>window</a:t>
            </a:r>
            <a:endParaRPr lang="ru-RU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782153" y="761657"/>
            <a:ext cx="1065112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Синтаксис открытия нового окна</a:t>
            </a:r>
            <a:r>
              <a:rPr lang="ru-RU" dirty="0" smtClean="0"/>
              <a:t>:   </a:t>
            </a:r>
            <a:r>
              <a:rPr lang="ru-RU" b="1" dirty="0" err="1" smtClean="0"/>
              <a:t>window.open</a:t>
            </a:r>
            <a:r>
              <a:rPr lang="ru-RU" b="1" dirty="0" smtClean="0"/>
              <a:t>(</a:t>
            </a:r>
            <a:r>
              <a:rPr lang="ru-RU" b="1" dirty="0" err="1" smtClean="0"/>
              <a:t>url</a:t>
            </a:r>
            <a:r>
              <a:rPr lang="ru-RU" b="1" dirty="0"/>
              <a:t>, </a:t>
            </a:r>
            <a:r>
              <a:rPr lang="ru-RU" b="1" dirty="0" err="1"/>
              <a:t>name</a:t>
            </a:r>
            <a:r>
              <a:rPr lang="ru-RU" b="1" dirty="0"/>
              <a:t>, </a:t>
            </a:r>
            <a:r>
              <a:rPr lang="ru-RU" b="1" dirty="0" err="1"/>
              <a:t>params</a:t>
            </a:r>
            <a:r>
              <a:rPr lang="ru-RU" b="1" dirty="0" smtClean="0"/>
              <a:t>)</a:t>
            </a:r>
            <a:endParaRPr lang="ru-RU" b="1" dirty="0"/>
          </a:p>
          <a:p>
            <a:r>
              <a:rPr lang="ru-RU" b="1" dirty="0" err="1" smtClean="0"/>
              <a:t>url</a:t>
            </a:r>
            <a:r>
              <a:rPr lang="ru-RU" dirty="0" smtClean="0"/>
              <a:t> -- URL </a:t>
            </a:r>
            <a:r>
              <a:rPr lang="ru-RU" dirty="0"/>
              <a:t>для загрузки в новом </a:t>
            </a:r>
            <a:r>
              <a:rPr lang="ru-RU" dirty="0" smtClean="0"/>
              <a:t>окне,</a:t>
            </a:r>
            <a:endParaRPr lang="ru-RU" dirty="0"/>
          </a:p>
          <a:p>
            <a:r>
              <a:rPr lang="ru-RU" b="1" dirty="0" err="1" smtClean="0"/>
              <a:t>name</a:t>
            </a:r>
            <a:r>
              <a:rPr lang="ru-RU" dirty="0" smtClean="0"/>
              <a:t> -- имя </a:t>
            </a:r>
            <a:r>
              <a:rPr lang="ru-RU" dirty="0"/>
              <a:t>нового </a:t>
            </a:r>
            <a:r>
              <a:rPr lang="ru-RU" dirty="0" smtClean="0"/>
              <a:t>окна (window.name), </a:t>
            </a:r>
            <a:endParaRPr lang="ru-RU" dirty="0"/>
          </a:p>
          <a:p>
            <a:r>
              <a:rPr lang="ru-RU" b="1" dirty="0" err="1" smtClean="0"/>
              <a:t>params</a:t>
            </a:r>
            <a:r>
              <a:rPr lang="ru-RU" dirty="0" smtClean="0"/>
              <a:t> -- строка </a:t>
            </a:r>
            <a:r>
              <a:rPr lang="ru-RU" dirty="0"/>
              <a:t>параметров для нового окна. </a:t>
            </a:r>
            <a:r>
              <a:rPr lang="ru-RU" dirty="0" smtClean="0"/>
              <a:t>Например </a:t>
            </a:r>
            <a:r>
              <a:rPr lang="ru-RU" dirty="0"/>
              <a:t>width:200,height=100.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734750" y="2161957"/>
            <a:ext cx="11167198" cy="4049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Параметры в строке </a:t>
            </a:r>
            <a:r>
              <a:rPr lang="ru-RU" b="1" dirty="0" err="1"/>
              <a:t>params</a:t>
            </a:r>
            <a:r>
              <a:rPr lang="ru-RU" dirty="0"/>
              <a:t>: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• Позиция </a:t>
            </a:r>
            <a:r>
              <a:rPr lang="ru-RU" dirty="0"/>
              <a:t>окна: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   -- </a:t>
            </a:r>
            <a:r>
              <a:rPr lang="ru-RU" dirty="0" err="1" smtClean="0"/>
              <a:t>left</a:t>
            </a:r>
            <a:r>
              <a:rPr lang="ru-RU" dirty="0" smtClean="0"/>
              <a:t>/</a:t>
            </a:r>
            <a:r>
              <a:rPr lang="ru-RU" dirty="0" err="1" smtClean="0"/>
              <a:t>top</a:t>
            </a:r>
            <a:r>
              <a:rPr lang="ru-RU" dirty="0" smtClean="0"/>
              <a:t> </a:t>
            </a:r>
            <a:r>
              <a:rPr lang="ru-RU" dirty="0"/>
              <a:t>(числа) – координаты верхнего левого угла нового окна на экране. </a:t>
            </a:r>
            <a:endParaRPr lang="ru-RU" dirty="0" smtClean="0"/>
          </a:p>
          <a:p>
            <a:pPr>
              <a:lnSpc>
                <a:spcPct val="120000"/>
              </a:lnSpc>
            </a:pPr>
            <a:r>
              <a:rPr lang="ru-RU" dirty="0" smtClean="0"/>
              <a:t>   -- </a:t>
            </a:r>
            <a:r>
              <a:rPr lang="ru-RU" dirty="0" err="1" smtClean="0"/>
              <a:t>width</a:t>
            </a:r>
            <a:r>
              <a:rPr lang="ru-RU" dirty="0" smtClean="0"/>
              <a:t>/</a:t>
            </a:r>
            <a:r>
              <a:rPr lang="ru-RU" dirty="0" err="1" smtClean="0"/>
              <a:t>height</a:t>
            </a:r>
            <a:r>
              <a:rPr lang="ru-RU" dirty="0" smtClean="0"/>
              <a:t> </a:t>
            </a:r>
            <a:r>
              <a:rPr lang="ru-RU" dirty="0"/>
              <a:t>(числа) – ширина и высота нового окна</a:t>
            </a:r>
            <a:r>
              <a:rPr lang="ru-RU" dirty="0" smtClean="0"/>
              <a:t>.</a:t>
            </a:r>
            <a:endParaRPr lang="ru-RU" dirty="0"/>
          </a:p>
          <a:p>
            <a:pPr>
              <a:lnSpc>
                <a:spcPct val="120000"/>
              </a:lnSpc>
            </a:pPr>
            <a:r>
              <a:rPr lang="ru-RU" dirty="0" smtClean="0"/>
              <a:t>• Панели </a:t>
            </a:r>
            <a:r>
              <a:rPr lang="ru-RU" dirty="0"/>
              <a:t>окна:</a:t>
            </a:r>
          </a:p>
          <a:p>
            <a:pPr>
              <a:lnSpc>
                <a:spcPct val="120000"/>
              </a:lnSpc>
            </a:pPr>
            <a:r>
              <a:rPr lang="ru-RU" dirty="0"/>
              <a:t> </a:t>
            </a:r>
            <a:r>
              <a:rPr lang="ru-RU" dirty="0" smtClean="0"/>
              <a:t>  -- </a:t>
            </a:r>
            <a:r>
              <a:rPr lang="ru-RU" dirty="0" err="1" smtClean="0"/>
              <a:t>menubar</a:t>
            </a:r>
            <a:r>
              <a:rPr lang="ru-RU" dirty="0" smtClean="0"/>
              <a:t> </a:t>
            </a:r>
            <a:r>
              <a:rPr lang="ru-RU" dirty="0"/>
              <a:t>(</a:t>
            </a:r>
            <a:r>
              <a:rPr lang="ru-RU" dirty="0" err="1"/>
              <a:t>yes</a:t>
            </a:r>
            <a:r>
              <a:rPr lang="ru-RU" dirty="0"/>
              <a:t>/</a:t>
            </a:r>
            <a:r>
              <a:rPr lang="ru-RU" dirty="0" err="1"/>
              <a:t>no</a:t>
            </a:r>
            <a:r>
              <a:rPr lang="ru-RU" dirty="0"/>
              <a:t>) – позволяет отобразить или скрыть меню браузера в новом окне.</a:t>
            </a:r>
          </a:p>
          <a:p>
            <a:pPr>
              <a:lnSpc>
                <a:spcPct val="120000"/>
              </a:lnSpc>
            </a:pPr>
            <a:r>
              <a:rPr lang="ru-RU" dirty="0"/>
              <a:t> </a:t>
            </a:r>
            <a:r>
              <a:rPr lang="ru-RU" dirty="0" smtClean="0"/>
              <a:t>  -- </a:t>
            </a:r>
            <a:r>
              <a:rPr lang="ru-RU" dirty="0" err="1" smtClean="0"/>
              <a:t>toolbar</a:t>
            </a:r>
            <a:r>
              <a:rPr lang="ru-RU" dirty="0" smtClean="0"/>
              <a:t> </a:t>
            </a:r>
            <a:r>
              <a:rPr lang="ru-RU" dirty="0"/>
              <a:t>(</a:t>
            </a:r>
            <a:r>
              <a:rPr lang="ru-RU" dirty="0" err="1"/>
              <a:t>yes</a:t>
            </a:r>
            <a:r>
              <a:rPr lang="ru-RU" dirty="0"/>
              <a:t>/</a:t>
            </a:r>
            <a:r>
              <a:rPr lang="ru-RU" dirty="0" err="1"/>
              <a:t>no</a:t>
            </a:r>
            <a:r>
              <a:rPr lang="ru-RU" dirty="0"/>
              <a:t>) – позволяет отобразить или скрыть панель навигации браузера (кнопки вперёд, назад, перезагрузки страницы) нового окна.</a:t>
            </a:r>
          </a:p>
          <a:p>
            <a:pPr>
              <a:lnSpc>
                <a:spcPct val="120000"/>
              </a:lnSpc>
            </a:pPr>
            <a:r>
              <a:rPr lang="ru-RU" dirty="0"/>
              <a:t> </a:t>
            </a:r>
            <a:r>
              <a:rPr lang="ru-RU" dirty="0" smtClean="0"/>
              <a:t>  -- </a:t>
            </a:r>
            <a:r>
              <a:rPr lang="ru-RU" dirty="0" err="1" smtClean="0"/>
              <a:t>location</a:t>
            </a:r>
            <a:r>
              <a:rPr lang="ru-RU" dirty="0" smtClean="0"/>
              <a:t> </a:t>
            </a:r>
            <a:r>
              <a:rPr lang="ru-RU" dirty="0"/>
              <a:t>(</a:t>
            </a:r>
            <a:r>
              <a:rPr lang="ru-RU" dirty="0" err="1"/>
              <a:t>yes</a:t>
            </a:r>
            <a:r>
              <a:rPr lang="ru-RU" dirty="0"/>
              <a:t>/</a:t>
            </a:r>
            <a:r>
              <a:rPr lang="ru-RU" dirty="0" err="1"/>
              <a:t>no</a:t>
            </a:r>
            <a:r>
              <a:rPr lang="ru-RU" dirty="0"/>
              <a:t>) – позволяет отобразить или скрыть адресную строку нового окна. </a:t>
            </a:r>
          </a:p>
          <a:p>
            <a:pPr>
              <a:lnSpc>
                <a:spcPct val="120000"/>
              </a:lnSpc>
            </a:pPr>
            <a:r>
              <a:rPr lang="ru-RU" dirty="0"/>
              <a:t> </a:t>
            </a:r>
            <a:r>
              <a:rPr lang="ru-RU" dirty="0" smtClean="0"/>
              <a:t>  -- </a:t>
            </a:r>
            <a:r>
              <a:rPr lang="ru-RU" dirty="0" err="1" smtClean="0"/>
              <a:t>status</a:t>
            </a:r>
            <a:r>
              <a:rPr lang="ru-RU" dirty="0" smtClean="0"/>
              <a:t> </a:t>
            </a:r>
            <a:r>
              <a:rPr lang="ru-RU" dirty="0"/>
              <a:t>(</a:t>
            </a:r>
            <a:r>
              <a:rPr lang="ru-RU" dirty="0" err="1"/>
              <a:t>yes</a:t>
            </a:r>
            <a:r>
              <a:rPr lang="ru-RU" dirty="0"/>
              <a:t>/</a:t>
            </a:r>
            <a:r>
              <a:rPr lang="ru-RU" dirty="0" err="1"/>
              <a:t>no</a:t>
            </a:r>
            <a:r>
              <a:rPr lang="ru-RU" dirty="0"/>
              <a:t>) – позволяет отобразить или скрыть строку состояния. </a:t>
            </a:r>
          </a:p>
          <a:p>
            <a:pPr>
              <a:lnSpc>
                <a:spcPct val="120000"/>
              </a:lnSpc>
            </a:pPr>
            <a:r>
              <a:rPr lang="ru-RU" dirty="0"/>
              <a:t> </a:t>
            </a:r>
            <a:r>
              <a:rPr lang="ru-RU" dirty="0" smtClean="0"/>
              <a:t>  -- </a:t>
            </a:r>
            <a:r>
              <a:rPr lang="ru-RU" dirty="0" err="1" smtClean="0"/>
              <a:t>resizable</a:t>
            </a:r>
            <a:r>
              <a:rPr lang="ru-RU" dirty="0" smtClean="0"/>
              <a:t> </a:t>
            </a:r>
            <a:r>
              <a:rPr lang="ru-RU" dirty="0"/>
              <a:t>(</a:t>
            </a:r>
            <a:r>
              <a:rPr lang="ru-RU" dirty="0" err="1"/>
              <a:t>yes</a:t>
            </a:r>
            <a:r>
              <a:rPr lang="ru-RU" dirty="0"/>
              <a:t>/</a:t>
            </a:r>
            <a:r>
              <a:rPr lang="ru-RU" dirty="0" err="1"/>
              <a:t>no</a:t>
            </a:r>
            <a:r>
              <a:rPr lang="ru-RU" dirty="0"/>
              <a:t>) – позволяет отключить возможность изменения размера нового окна. </a:t>
            </a:r>
            <a:endParaRPr lang="ru-RU" dirty="0" smtClean="0"/>
          </a:p>
          <a:p>
            <a:pPr>
              <a:lnSpc>
                <a:spcPct val="120000"/>
              </a:lnSpc>
            </a:pPr>
            <a:r>
              <a:rPr lang="ru-RU" dirty="0" smtClean="0"/>
              <a:t>   -- </a:t>
            </a:r>
            <a:r>
              <a:rPr lang="ru-RU" dirty="0" err="1" smtClean="0"/>
              <a:t>scrollbars</a:t>
            </a:r>
            <a:r>
              <a:rPr lang="ru-RU" dirty="0" smtClean="0"/>
              <a:t> </a:t>
            </a:r>
            <a:r>
              <a:rPr lang="ru-RU" dirty="0"/>
              <a:t>(</a:t>
            </a:r>
            <a:r>
              <a:rPr lang="ru-RU" dirty="0" err="1"/>
              <a:t>yes</a:t>
            </a:r>
            <a:r>
              <a:rPr lang="ru-RU" dirty="0"/>
              <a:t>/</a:t>
            </a:r>
            <a:r>
              <a:rPr lang="ru-RU" dirty="0" err="1"/>
              <a:t>no</a:t>
            </a:r>
            <a:r>
              <a:rPr lang="ru-RU" dirty="0"/>
              <a:t>) – позволяет отключить полосы прокрутки для нового окна. </a:t>
            </a:r>
          </a:p>
        </p:txBody>
      </p:sp>
    </p:spTree>
    <p:extLst>
      <p:ext uri="{BB962C8B-B14F-4D97-AF65-F5344CB8AC3E}">
        <p14:creationId xmlns:p14="http://schemas.microsoft.com/office/powerpoint/2010/main" val="2191198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Открытие </a:t>
            </a:r>
            <a:r>
              <a:rPr lang="ru-RU" dirty="0"/>
              <a:t>окон и методы </a:t>
            </a:r>
            <a:r>
              <a:rPr lang="ru-RU" dirty="0" err="1"/>
              <a:t>window</a:t>
            </a:r>
            <a:endParaRPr lang="ru-RU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97219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Вызов </a:t>
            </a:r>
            <a:r>
              <a:rPr lang="ru-RU" dirty="0" err="1"/>
              <a:t>open</a:t>
            </a:r>
            <a:r>
              <a:rPr lang="ru-RU" dirty="0"/>
              <a:t> возвращает ссылку на новое </a:t>
            </a:r>
            <a:r>
              <a:rPr lang="ru-RU" dirty="0" smtClean="0"/>
              <a:t>окно, которая может </a:t>
            </a:r>
            <a:r>
              <a:rPr lang="ru-RU" dirty="0"/>
              <a:t>быть использована для управления свойствами </a:t>
            </a:r>
            <a:r>
              <a:rPr lang="ru-RU" dirty="0" smtClean="0"/>
              <a:t>окна: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4" y="1712031"/>
            <a:ext cx="10160036" cy="92792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r="68174" b="55948"/>
          <a:stretch/>
        </p:blipFill>
        <p:spPr>
          <a:xfrm>
            <a:off x="1118084" y="2917523"/>
            <a:ext cx="4855013" cy="377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20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Открытие </a:t>
            </a:r>
            <a:r>
              <a:rPr lang="ru-RU" dirty="0"/>
              <a:t>окон и методы </a:t>
            </a:r>
            <a:r>
              <a:rPr lang="ru-RU" dirty="0" err="1"/>
              <a:t>window</a:t>
            </a:r>
            <a:endParaRPr lang="ru-RU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118086" y="772798"/>
            <a:ext cx="84503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Содержимое окна </a:t>
            </a:r>
            <a:r>
              <a:rPr lang="ru-RU" dirty="0"/>
              <a:t>модифицируется после загрузки: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 r="64434" b="48286"/>
          <a:stretch/>
        </p:blipFill>
        <p:spPr>
          <a:xfrm>
            <a:off x="236565" y="1140026"/>
            <a:ext cx="4627614" cy="3782961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0906" y="4005307"/>
            <a:ext cx="9371372" cy="2608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88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Открытие </a:t>
            </a:r>
            <a:r>
              <a:rPr lang="ru-RU" dirty="0"/>
              <a:t>окон и методы </a:t>
            </a:r>
            <a:r>
              <a:rPr lang="ru-RU" dirty="0" err="1"/>
              <a:t>window</a:t>
            </a:r>
            <a:endParaRPr lang="ru-RU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782153" y="920301"/>
            <a:ext cx="107805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Попап</a:t>
            </a:r>
            <a:r>
              <a:rPr lang="ru-RU" dirty="0"/>
              <a:t> также может обратиться к открывшему его окну по ссылке </a:t>
            </a:r>
            <a:r>
              <a:rPr lang="ru-RU" b="1" dirty="0" err="1"/>
              <a:t>window.opener</a:t>
            </a:r>
            <a:r>
              <a:rPr lang="ru-RU" dirty="0"/>
              <a:t>. 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801" y="1435033"/>
            <a:ext cx="10203733" cy="146659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t="-403" r="67041" b="56149"/>
          <a:stretch/>
        </p:blipFill>
        <p:spPr>
          <a:xfrm>
            <a:off x="901801" y="3047025"/>
            <a:ext cx="4835322" cy="365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190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Открытие </a:t>
            </a:r>
            <a:r>
              <a:rPr lang="ru-RU" dirty="0"/>
              <a:t>окон и методы </a:t>
            </a:r>
            <a:r>
              <a:rPr lang="ru-RU" dirty="0" err="1"/>
              <a:t>window</a:t>
            </a:r>
            <a:endParaRPr lang="ru-RU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118086" y="92030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Чтобы закрыть окно: </a:t>
            </a:r>
            <a:r>
              <a:rPr lang="ru-RU" b="1" dirty="0" err="1"/>
              <a:t>win.close</a:t>
            </a:r>
            <a:r>
              <a:rPr lang="ru-RU" b="1" dirty="0" smtClean="0"/>
              <a:t>().</a:t>
            </a:r>
            <a:endParaRPr lang="ru-RU" b="1" dirty="0"/>
          </a:p>
          <a:p>
            <a:r>
              <a:rPr lang="ru-RU" dirty="0"/>
              <a:t>Для проверки, закрыто ли окно: </a:t>
            </a:r>
            <a:r>
              <a:rPr lang="ru-RU" b="1" dirty="0" err="1"/>
              <a:t>win.closed</a:t>
            </a:r>
            <a:r>
              <a:rPr lang="ru-RU" dirty="0"/>
              <a:t>.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1118086" y="1712032"/>
            <a:ext cx="47660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/>
              <a:t>Этот код откроет и затем закроет окно: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2226764"/>
            <a:ext cx="8173398" cy="1685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805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Открытие </a:t>
            </a:r>
            <a:r>
              <a:rPr lang="ru-RU" dirty="0"/>
              <a:t>окон и методы </a:t>
            </a:r>
            <a:r>
              <a:rPr lang="ru-RU" dirty="0" err="1"/>
              <a:t>window</a:t>
            </a:r>
            <a:endParaRPr lang="ru-RU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9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004636" y="818356"/>
            <a:ext cx="10828108" cy="2719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Методы для передвижения и изменения размеров окна:</a:t>
            </a:r>
          </a:p>
          <a:p>
            <a:pPr>
              <a:lnSpc>
                <a:spcPct val="120000"/>
              </a:lnSpc>
            </a:pPr>
            <a:r>
              <a:rPr lang="ru-RU" b="1" dirty="0" err="1"/>
              <a:t>win.moveBy</a:t>
            </a:r>
            <a:r>
              <a:rPr lang="ru-RU" b="1" dirty="0"/>
              <a:t>(</a:t>
            </a:r>
            <a:r>
              <a:rPr lang="ru-RU" b="1" dirty="0" err="1"/>
              <a:t>x,y</a:t>
            </a:r>
            <a:r>
              <a:rPr lang="ru-RU" b="1" dirty="0" smtClean="0"/>
              <a:t>)</a:t>
            </a:r>
            <a:r>
              <a:rPr lang="ru-RU" dirty="0" smtClean="0"/>
              <a:t> -- переместить </a:t>
            </a:r>
            <a:r>
              <a:rPr lang="ru-RU" dirty="0"/>
              <a:t>окно относительно текущей позиции на x пикселей вправо и y пикселей вниз. </a:t>
            </a:r>
            <a:endParaRPr lang="ru-RU" dirty="0" smtClean="0"/>
          </a:p>
          <a:p>
            <a:pPr>
              <a:lnSpc>
                <a:spcPct val="120000"/>
              </a:lnSpc>
            </a:pPr>
            <a:r>
              <a:rPr lang="ru-RU" b="1" dirty="0" err="1" smtClean="0"/>
              <a:t>win.moveTo</a:t>
            </a:r>
            <a:r>
              <a:rPr lang="ru-RU" b="1" dirty="0" smtClean="0"/>
              <a:t>(</a:t>
            </a:r>
            <a:r>
              <a:rPr lang="ru-RU" b="1" dirty="0" err="1" smtClean="0"/>
              <a:t>x,y</a:t>
            </a:r>
            <a:r>
              <a:rPr lang="ru-RU" b="1" dirty="0" smtClean="0"/>
              <a:t>)</a:t>
            </a:r>
            <a:r>
              <a:rPr lang="ru-RU" dirty="0" smtClean="0"/>
              <a:t> -- переместить </a:t>
            </a:r>
            <a:r>
              <a:rPr lang="ru-RU" dirty="0"/>
              <a:t>окно на координаты экрана (</a:t>
            </a:r>
            <a:r>
              <a:rPr lang="ru-RU" dirty="0" err="1"/>
              <a:t>x,y</a:t>
            </a:r>
            <a:r>
              <a:rPr lang="ru-RU" dirty="0"/>
              <a:t>).</a:t>
            </a:r>
          </a:p>
          <a:p>
            <a:pPr>
              <a:lnSpc>
                <a:spcPct val="120000"/>
              </a:lnSpc>
            </a:pPr>
            <a:r>
              <a:rPr lang="ru-RU" b="1" dirty="0" err="1"/>
              <a:t>win.resizeBy</a:t>
            </a:r>
            <a:r>
              <a:rPr lang="ru-RU" b="1" dirty="0"/>
              <a:t>(</a:t>
            </a:r>
            <a:r>
              <a:rPr lang="ru-RU" b="1" dirty="0" err="1"/>
              <a:t>width,height</a:t>
            </a:r>
            <a:r>
              <a:rPr lang="ru-RU" b="1" dirty="0" smtClean="0"/>
              <a:t>)</a:t>
            </a:r>
            <a:r>
              <a:rPr lang="ru-RU" dirty="0" smtClean="0"/>
              <a:t> -- изменить </a:t>
            </a:r>
            <a:r>
              <a:rPr lang="ru-RU" dirty="0"/>
              <a:t>размер окна на указанные значения </a:t>
            </a:r>
            <a:r>
              <a:rPr lang="ru-RU" dirty="0" err="1"/>
              <a:t>width</a:t>
            </a:r>
            <a:r>
              <a:rPr lang="ru-RU" dirty="0"/>
              <a:t>/</a:t>
            </a:r>
            <a:r>
              <a:rPr lang="ru-RU" dirty="0" err="1"/>
              <a:t>height</a:t>
            </a:r>
            <a:r>
              <a:rPr lang="ru-RU" dirty="0"/>
              <a:t> относительно текущего размера</a:t>
            </a:r>
            <a:r>
              <a:rPr lang="ru-RU" dirty="0" smtClean="0"/>
              <a:t>.</a:t>
            </a:r>
            <a:endParaRPr lang="ru-RU" dirty="0"/>
          </a:p>
          <a:p>
            <a:pPr>
              <a:lnSpc>
                <a:spcPct val="120000"/>
              </a:lnSpc>
            </a:pPr>
            <a:r>
              <a:rPr lang="ru-RU" b="1" dirty="0" err="1"/>
              <a:t>win.resizeTo</a:t>
            </a:r>
            <a:r>
              <a:rPr lang="ru-RU" b="1" dirty="0"/>
              <a:t>(</a:t>
            </a:r>
            <a:r>
              <a:rPr lang="ru-RU" b="1" dirty="0" err="1"/>
              <a:t>width,height</a:t>
            </a:r>
            <a:r>
              <a:rPr lang="ru-RU" b="1" dirty="0" smtClean="0"/>
              <a:t>)</a:t>
            </a:r>
            <a:r>
              <a:rPr lang="ru-RU" dirty="0" smtClean="0"/>
              <a:t> -- изменить </a:t>
            </a:r>
            <a:r>
              <a:rPr lang="ru-RU" dirty="0"/>
              <a:t>размер окна до указанных значений.</a:t>
            </a:r>
          </a:p>
          <a:p>
            <a:pPr>
              <a:lnSpc>
                <a:spcPct val="120000"/>
              </a:lnSpc>
            </a:pPr>
            <a:r>
              <a:rPr lang="ru-RU" dirty="0"/>
              <a:t>Также существует событие </a:t>
            </a:r>
            <a:r>
              <a:rPr lang="ru-RU" b="1" dirty="0" err="1"/>
              <a:t>window.onresize</a:t>
            </a:r>
            <a:r>
              <a:rPr lang="ru-RU" dirty="0"/>
              <a:t>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036015" y="3970745"/>
            <a:ext cx="10636379" cy="2387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Прокрутка </a:t>
            </a:r>
            <a:r>
              <a:rPr lang="ru-RU" dirty="0" smtClean="0"/>
              <a:t>окна:</a:t>
            </a:r>
            <a:endParaRPr lang="ru-RU" dirty="0"/>
          </a:p>
          <a:p>
            <a:pPr>
              <a:lnSpc>
                <a:spcPct val="120000"/>
              </a:lnSpc>
            </a:pPr>
            <a:r>
              <a:rPr lang="en-US" b="1" dirty="0" err="1" smtClean="0"/>
              <a:t>win.scrollBy</a:t>
            </a:r>
            <a:r>
              <a:rPr lang="en-US" b="1" dirty="0" smtClean="0"/>
              <a:t>(</a:t>
            </a:r>
            <a:r>
              <a:rPr lang="en-US" b="1" dirty="0" err="1" smtClean="0"/>
              <a:t>x,y</a:t>
            </a:r>
            <a:r>
              <a:rPr lang="en-US" b="1" dirty="0" smtClean="0"/>
              <a:t>)</a:t>
            </a:r>
            <a:r>
              <a:rPr lang="ru-RU" dirty="0" smtClean="0"/>
              <a:t> -- прокрутить </a:t>
            </a:r>
            <a:r>
              <a:rPr lang="ru-RU" dirty="0"/>
              <a:t>окно на </a:t>
            </a:r>
            <a:r>
              <a:rPr lang="en-US" dirty="0"/>
              <a:t>x </a:t>
            </a:r>
            <a:r>
              <a:rPr lang="ru-RU" dirty="0"/>
              <a:t>пикселей вправо и </a:t>
            </a:r>
            <a:r>
              <a:rPr lang="en-US" dirty="0"/>
              <a:t>y </a:t>
            </a:r>
            <a:r>
              <a:rPr lang="ru-RU" dirty="0"/>
              <a:t>пикселей вниз относительно текущей прокрутки. </a:t>
            </a:r>
            <a:endParaRPr lang="ru-RU" dirty="0" smtClean="0"/>
          </a:p>
          <a:p>
            <a:pPr>
              <a:lnSpc>
                <a:spcPct val="120000"/>
              </a:lnSpc>
            </a:pPr>
            <a:r>
              <a:rPr lang="en-US" b="1" dirty="0" err="1" smtClean="0"/>
              <a:t>win.scrollTo</a:t>
            </a:r>
            <a:r>
              <a:rPr lang="en-US" b="1" dirty="0" smtClean="0"/>
              <a:t>(</a:t>
            </a:r>
            <a:r>
              <a:rPr lang="en-US" b="1" dirty="0" err="1" smtClean="0"/>
              <a:t>x,y</a:t>
            </a:r>
            <a:r>
              <a:rPr lang="en-US" b="1" dirty="0" smtClean="0"/>
              <a:t>)</a:t>
            </a:r>
            <a:r>
              <a:rPr lang="ru-RU" dirty="0" smtClean="0"/>
              <a:t> -- прокрутить </a:t>
            </a:r>
            <a:r>
              <a:rPr lang="ru-RU" dirty="0"/>
              <a:t>окно до заданных координат (</a:t>
            </a:r>
            <a:r>
              <a:rPr lang="en-US" dirty="0" err="1"/>
              <a:t>x,y</a:t>
            </a:r>
            <a:r>
              <a:rPr lang="en-US" dirty="0"/>
              <a:t>).</a:t>
            </a:r>
          </a:p>
          <a:p>
            <a:pPr>
              <a:lnSpc>
                <a:spcPct val="120000"/>
              </a:lnSpc>
            </a:pPr>
            <a:r>
              <a:rPr lang="en-US" b="1" dirty="0" err="1"/>
              <a:t>elem.scrollIntoView</a:t>
            </a:r>
            <a:r>
              <a:rPr lang="en-US" b="1" dirty="0"/>
              <a:t>(top = true</a:t>
            </a:r>
            <a:r>
              <a:rPr lang="en-US" b="1" dirty="0" smtClean="0"/>
              <a:t>)</a:t>
            </a:r>
            <a:r>
              <a:rPr lang="ru-RU" b="1" dirty="0" smtClean="0"/>
              <a:t> </a:t>
            </a:r>
            <a:r>
              <a:rPr lang="ru-RU" dirty="0" smtClean="0"/>
              <a:t>-- прокрутить </a:t>
            </a:r>
            <a:r>
              <a:rPr lang="ru-RU" dirty="0"/>
              <a:t>окно так, чтобы </a:t>
            </a:r>
            <a:r>
              <a:rPr lang="en-US" dirty="0" err="1"/>
              <a:t>elem</a:t>
            </a:r>
            <a:r>
              <a:rPr lang="en-US" dirty="0"/>
              <a:t> </a:t>
            </a:r>
            <a:r>
              <a:rPr lang="ru-RU" dirty="0"/>
              <a:t>для </a:t>
            </a:r>
            <a:r>
              <a:rPr lang="en-US" dirty="0" err="1" smtClean="0"/>
              <a:t>elem.scrollIntoView</a:t>
            </a:r>
            <a:r>
              <a:rPr lang="en-US" dirty="0" smtClean="0"/>
              <a:t>(false</a:t>
            </a:r>
            <a:r>
              <a:rPr lang="en-US" dirty="0"/>
              <a:t>) </a:t>
            </a:r>
            <a:r>
              <a:rPr lang="ru-RU" dirty="0"/>
              <a:t>появился вверху (по умолчанию) или внизу.</a:t>
            </a:r>
          </a:p>
          <a:p>
            <a:pPr>
              <a:lnSpc>
                <a:spcPct val="120000"/>
              </a:lnSpc>
            </a:pPr>
            <a:r>
              <a:rPr lang="ru-RU" dirty="0"/>
              <a:t>Также существует событие </a:t>
            </a:r>
            <a:r>
              <a:rPr lang="en-US" b="1" dirty="0" err="1"/>
              <a:t>window.onscroll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9866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Открытие </a:t>
            </a:r>
            <a:r>
              <a:rPr lang="ru-RU" dirty="0"/>
              <a:t>окон и методы </a:t>
            </a:r>
            <a:r>
              <a:rPr lang="ru-RU" dirty="0" err="1"/>
              <a:t>window</a:t>
            </a:r>
            <a:endParaRPr lang="ru-RU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10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920301"/>
            <a:ext cx="1001694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Установить </a:t>
            </a:r>
            <a:r>
              <a:rPr lang="ru-RU" dirty="0" err="1" smtClean="0"/>
              <a:t>попап</a:t>
            </a:r>
            <a:r>
              <a:rPr lang="ru-RU" dirty="0" smtClean="0"/>
              <a:t> </a:t>
            </a:r>
            <a:r>
              <a:rPr lang="ru-RU" dirty="0"/>
              <a:t>в фокус можно с помощью метода </a:t>
            </a:r>
            <a:r>
              <a:rPr lang="ru-RU" b="1" dirty="0" err="1"/>
              <a:t>window.focus</a:t>
            </a:r>
            <a:r>
              <a:rPr lang="ru-RU" b="1" dirty="0"/>
              <a:t>()</a:t>
            </a:r>
            <a:r>
              <a:rPr lang="ru-RU" dirty="0"/>
              <a:t>, а убрать из фокуса – с помощью </a:t>
            </a:r>
            <a:r>
              <a:rPr lang="ru-RU" b="1" dirty="0" err="1"/>
              <a:t>window.blur</a:t>
            </a:r>
            <a:r>
              <a:rPr lang="ru-RU" b="1" dirty="0"/>
              <a:t>()</a:t>
            </a:r>
            <a:r>
              <a:rPr lang="ru-RU" dirty="0"/>
              <a:t>. Также существуют события </a:t>
            </a:r>
            <a:r>
              <a:rPr lang="ru-RU" dirty="0" err="1"/>
              <a:t>focus</a:t>
            </a:r>
            <a:r>
              <a:rPr lang="ru-RU" dirty="0"/>
              <a:t>/</a:t>
            </a:r>
            <a:r>
              <a:rPr lang="ru-RU" dirty="0" err="1"/>
              <a:t>blur</a:t>
            </a:r>
            <a:r>
              <a:rPr lang="ru-RU" dirty="0"/>
              <a:t>, которые позволяют отследить, когда фокус переводится на какое-то другое окно.</a:t>
            </a:r>
          </a:p>
        </p:txBody>
      </p:sp>
    </p:spTree>
    <p:extLst>
      <p:ext uri="{BB962C8B-B14F-4D97-AF65-F5344CB8AC3E}">
        <p14:creationId xmlns:p14="http://schemas.microsoft.com/office/powerpoint/2010/main" val="3565368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Общение </a:t>
            </a:r>
            <a:r>
              <a:rPr lang="ru-RU" dirty="0"/>
              <a:t>между окнами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11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8281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Политика «Одинакового источника» (</a:t>
            </a:r>
            <a:r>
              <a:rPr lang="ru-RU" dirty="0" err="1"/>
              <a:t>Same</a:t>
            </a:r>
            <a:r>
              <a:rPr lang="ru-RU" dirty="0"/>
              <a:t> </a:t>
            </a:r>
            <a:r>
              <a:rPr lang="ru-RU" dirty="0" err="1"/>
              <a:t>Origin</a:t>
            </a:r>
            <a:r>
              <a:rPr lang="ru-RU" dirty="0"/>
              <a:t>) ограничивает доступ окон и фреймов друг к другу.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1847812"/>
            <a:ext cx="1107391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Два URL имеют «одинаковый источник» в том случае, если они имеют совпадающие протокол, домен и порт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dirty="0"/>
              <a:t>Эти URL имеют одинаковый источник:</a:t>
            </a:r>
          </a:p>
          <a:p>
            <a:r>
              <a:rPr lang="ru-RU" dirty="0"/>
              <a:t>•	http://site.com</a:t>
            </a:r>
          </a:p>
          <a:p>
            <a:r>
              <a:rPr lang="ru-RU" dirty="0"/>
              <a:t>•	http://site.com/</a:t>
            </a:r>
          </a:p>
          <a:p>
            <a:r>
              <a:rPr lang="ru-RU" dirty="0"/>
              <a:t>•	http://</a:t>
            </a:r>
            <a:r>
              <a:rPr lang="ru-RU" dirty="0" smtClean="0"/>
              <a:t>site.com/my/page.html</a:t>
            </a:r>
          </a:p>
          <a:p>
            <a:endParaRPr lang="ru-RU" dirty="0"/>
          </a:p>
          <a:p>
            <a:r>
              <a:rPr lang="ru-RU" dirty="0"/>
              <a:t>А эти – разные источники:</a:t>
            </a:r>
          </a:p>
          <a:p>
            <a:r>
              <a:rPr lang="ru-RU" dirty="0"/>
              <a:t>•	http://www.site.com (другой домен: </a:t>
            </a:r>
            <a:r>
              <a:rPr lang="ru-RU" dirty="0" err="1"/>
              <a:t>www</a:t>
            </a:r>
            <a:r>
              <a:rPr lang="ru-RU" dirty="0"/>
              <a:t>. важен)</a:t>
            </a:r>
          </a:p>
          <a:p>
            <a:r>
              <a:rPr lang="ru-RU" dirty="0"/>
              <a:t>•	http://site.org (другой домен: .</a:t>
            </a:r>
            <a:r>
              <a:rPr lang="ru-RU" dirty="0" err="1"/>
              <a:t>org</a:t>
            </a:r>
            <a:r>
              <a:rPr lang="ru-RU" dirty="0"/>
              <a:t> важен)</a:t>
            </a:r>
          </a:p>
          <a:p>
            <a:r>
              <a:rPr lang="ru-RU" dirty="0"/>
              <a:t>•	https://site.com (другой протокол: </a:t>
            </a:r>
            <a:r>
              <a:rPr lang="ru-RU" dirty="0" err="1"/>
              <a:t>https</a:t>
            </a:r>
            <a:r>
              <a:rPr lang="ru-RU" dirty="0"/>
              <a:t>)</a:t>
            </a:r>
          </a:p>
          <a:p>
            <a:r>
              <a:rPr lang="ru-RU" dirty="0"/>
              <a:t>•	http://site.com:8080 (другой порт: 8080)</a:t>
            </a:r>
          </a:p>
        </p:txBody>
      </p:sp>
    </p:spTree>
    <p:extLst>
      <p:ext uri="{BB962C8B-B14F-4D97-AF65-F5344CB8AC3E}">
        <p14:creationId xmlns:p14="http://schemas.microsoft.com/office/powerpoint/2010/main" val="2233065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Общение </a:t>
            </a:r>
            <a:r>
              <a:rPr lang="ru-RU" dirty="0"/>
              <a:t>между окнами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12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5" y="920301"/>
            <a:ext cx="10739617" cy="2719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Политика «Одинакового источника» </a:t>
            </a:r>
            <a:r>
              <a:rPr lang="ru-RU" dirty="0" smtClean="0"/>
              <a:t>гласит:</a:t>
            </a:r>
            <a:endParaRPr lang="ru-RU" dirty="0"/>
          </a:p>
          <a:p>
            <a:pPr>
              <a:lnSpc>
                <a:spcPct val="120000"/>
              </a:lnSpc>
            </a:pPr>
            <a:r>
              <a:rPr lang="ru-RU" dirty="0" smtClean="0"/>
              <a:t>• если </a:t>
            </a:r>
            <a:r>
              <a:rPr lang="ru-RU" dirty="0"/>
              <a:t>у нас есть ссылка на другой объект </a:t>
            </a:r>
            <a:r>
              <a:rPr lang="ru-RU" dirty="0" err="1" smtClean="0"/>
              <a:t>window</a:t>
            </a:r>
            <a:r>
              <a:rPr lang="ru-RU" dirty="0" smtClean="0"/>
              <a:t> и </a:t>
            </a:r>
            <a:r>
              <a:rPr lang="ru-RU" dirty="0"/>
              <a:t>у этого окна тот же источник, то к нему будет полный доступ.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• в </a:t>
            </a:r>
            <a:r>
              <a:rPr lang="ru-RU" dirty="0"/>
              <a:t>противном случае, если у него другой источник, мы не сможем обращаться к его переменным, объекту </a:t>
            </a:r>
            <a:r>
              <a:rPr lang="ru-RU" dirty="0" err="1"/>
              <a:t>document</a:t>
            </a:r>
            <a:r>
              <a:rPr lang="ru-RU" dirty="0"/>
              <a:t> и так далее. Единственное исключение – объект </a:t>
            </a:r>
            <a:r>
              <a:rPr lang="ru-RU" dirty="0" err="1"/>
              <a:t>location</a:t>
            </a:r>
            <a:r>
              <a:rPr lang="ru-RU" dirty="0"/>
              <a:t>: его можно изменять (таким образом перенаправляя пользователя). Но нельзя читать </a:t>
            </a:r>
            <a:r>
              <a:rPr lang="ru-RU" dirty="0" err="1"/>
              <a:t>location</a:t>
            </a:r>
            <a:r>
              <a:rPr lang="ru-RU" dirty="0"/>
              <a:t> (нельзя узнать, где находится пользователь, чтобы не было никаких утечек информации).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118085" y="3898152"/>
            <a:ext cx="9721980" cy="2054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Внутри &lt;</a:t>
            </a:r>
            <a:r>
              <a:rPr lang="en-US" dirty="0"/>
              <a:t>iframe&gt; </a:t>
            </a:r>
            <a:r>
              <a:rPr lang="ru-RU" dirty="0"/>
              <a:t>находится по сути отдельное </a:t>
            </a:r>
            <a:r>
              <a:rPr lang="ru-RU" dirty="0" smtClean="0"/>
              <a:t>окно с </a:t>
            </a:r>
            <a:r>
              <a:rPr lang="ru-RU" dirty="0"/>
              <a:t>собственными объектами </a:t>
            </a:r>
            <a:r>
              <a:rPr lang="en-US" dirty="0"/>
              <a:t>document </a:t>
            </a:r>
            <a:r>
              <a:rPr lang="ru-RU" dirty="0"/>
              <a:t>и </a:t>
            </a:r>
            <a:r>
              <a:rPr lang="en-US" dirty="0"/>
              <a:t>window.</a:t>
            </a:r>
          </a:p>
          <a:p>
            <a:pPr>
              <a:lnSpc>
                <a:spcPct val="120000"/>
              </a:lnSpc>
            </a:pPr>
            <a:r>
              <a:rPr lang="ru-RU" dirty="0"/>
              <a:t>Мы можем обращаться к ним, используя свойства:</a:t>
            </a:r>
          </a:p>
          <a:p>
            <a:pPr>
              <a:lnSpc>
                <a:spcPct val="120000"/>
              </a:lnSpc>
            </a:pPr>
            <a:r>
              <a:rPr lang="ru-RU" dirty="0"/>
              <a:t>•	</a:t>
            </a:r>
            <a:r>
              <a:rPr lang="en-US" b="1" dirty="0" err="1"/>
              <a:t>iframe.contentWindow</a:t>
            </a:r>
            <a:r>
              <a:rPr lang="en-US" dirty="0"/>
              <a:t> </a:t>
            </a:r>
            <a:r>
              <a:rPr lang="ru-RU" dirty="0"/>
              <a:t>ссылка на объект </a:t>
            </a:r>
            <a:r>
              <a:rPr lang="en-US" dirty="0"/>
              <a:t>window </a:t>
            </a:r>
            <a:r>
              <a:rPr lang="ru-RU" dirty="0"/>
              <a:t>внутри &lt;</a:t>
            </a:r>
            <a:r>
              <a:rPr lang="en-US" dirty="0"/>
              <a:t>iframe&gt;.</a:t>
            </a:r>
          </a:p>
          <a:p>
            <a:pPr>
              <a:lnSpc>
                <a:spcPct val="120000"/>
              </a:lnSpc>
            </a:pPr>
            <a:r>
              <a:rPr lang="en-US" dirty="0"/>
              <a:t>•	</a:t>
            </a:r>
            <a:r>
              <a:rPr lang="en-US" b="1" dirty="0" err="1"/>
              <a:t>iframe.contentDocument</a:t>
            </a:r>
            <a:r>
              <a:rPr lang="en-US" dirty="0"/>
              <a:t> – </a:t>
            </a:r>
            <a:r>
              <a:rPr lang="ru-RU" dirty="0"/>
              <a:t>ссылка на объект </a:t>
            </a:r>
            <a:r>
              <a:rPr lang="en-US" dirty="0"/>
              <a:t>document </a:t>
            </a:r>
            <a:r>
              <a:rPr lang="ru-RU" dirty="0"/>
              <a:t>внутри &lt;</a:t>
            </a:r>
            <a:r>
              <a:rPr lang="en-US" dirty="0"/>
              <a:t>iframe&gt;, </a:t>
            </a:r>
            <a:r>
              <a:rPr lang="ru-RU" dirty="0"/>
              <a:t>короткая запись для </a:t>
            </a:r>
            <a:r>
              <a:rPr lang="en-US" dirty="0" err="1"/>
              <a:t>iframe.contentWindow.document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1985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Общение </a:t>
            </a:r>
            <a:r>
              <a:rPr lang="ru-RU" dirty="0"/>
              <a:t>между окнами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13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735635"/>
            <a:ext cx="59490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Чтение и </a:t>
            </a:r>
            <a:r>
              <a:rPr lang="ru-RU" dirty="0"/>
              <a:t>запись в </a:t>
            </a:r>
            <a:r>
              <a:rPr lang="ru-RU" dirty="0" err="1"/>
              <a:t>ифрейм</a:t>
            </a:r>
            <a:r>
              <a:rPr lang="ru-RU" dirty="0"/>
              <a:t> с другим источником: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35" y="1104967"/>
            <a:ext cx="7907326" cy="555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646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Общение </a:t>
            </a:r>
            <a:r>
              <a:rPr lang="ru-RU" dirty="0"/>
              <a:t>между окнами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14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6216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Если у </a:t>
            </a:r>
            <a:r>
              <a:rPr lang="ru-RU" dirty="0" err="1"/>
              <a:t>ифрейма</a:t>
            </a:r>
            <a:r>
              <a:rPr lang="ru-RU" dirty="0"/>
              <a:t> тот же источник, то с ним можно </a:t>
            </a:r>
            <a:r>
              <a:rPr lang="ru-RU" dirty="0" smtClean="0"/>
              <a:t>выполнять любые операции: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261" y="1435033"/>
            <a:ext cx="8002800" cy="2016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511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Общение </a:t>
            </a:r>
            <a:r>
              <a:rPr lang="ru-RU" dirty="0"/>
              <a:t>между окнами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15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42990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Когда </a:t>
            </a:r>
            <a:r>
              <a:rPr lang="ru-RU" dirty="0" err="1"/>
              <a:t>ифрейм</a:t>
            </a:r>
            <a:r>
              <a:rPr lang="ru-RU" dirty="0"/>
              <a:t> создан, в нём сразу есть </a:t>
            </a:r>
            <a:r>
              <a:rPr lang="ru-RU" dirty="0" smtClean="0"/>
              <a:t>документ. Не </a:t>
            </a:r>
            <a:r>
              <a:rPr lang="ru-RU" dirty="0"/>
              <a:t>тот, который в него будет загружен</a:t>
            </a:r>
            <a:r>
              <a:rPr lang="ru-RU" dirty="0" smtClean="0"/>
              <a:t>! </a:t>
            </a:r>
            <a:r>
              <a:rPr lang="ru-RU" dirty="0" smtClean="0"/>
              <a:t>Если </a:t>
            </a:r>
            <a:r>
              <a:rPr lang="ru-RU" dirty="0"/>
              <a:t>мы тут же сделаем что-то с этим документом, то наши изменения, скорее всего, пропадут.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989031"/>
            <a:ext cx="5533438" cy="221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120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Общение </a:t>
            </a:r>
            <a:r>
              <a:rPr lang="ru-RU" dirty="0"/>
              <a:t>между окнами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16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004636" y="920301"/>
            <a:ext cx="42354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Можно проверять через </a:t>
            </a:r>
            <a:r>
              <a:rPr lang="en-US" dirty="0" err="1"/>
              <a:t>setInterval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435033"/>
            <a:ext cx="5754662" cy="359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573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Общение </a:t>
            </a:r>
            <a:r>
              <a:rPr lang="ru-RU" dirty="0"/>
              <a:t>между окнами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17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920301"/>
            <a:ext cx="1060688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Получить </a:t>
            </a:r>
            <a:r>
              <a:rPr lang="ru-RU" dirty="0"/>
              <a:t>объект </a:t>
            </a:r>
            <a:r>
              <a:rPr lang="en-US" dirty="0"/>
              <a:t>window </a:t>
            </a:r>
            <a:r>
              <a:rPr lang="ru-RU" dirty="0"/>
              <a:t>из &lt;</a:t>
            </a:r>
            <a:r>
              <a:rPr lang="en-US" dirty="0"/>
              <a:t>iframe&gt; </a:t>
            </a:r>
            <a:r>
              <a:rPr lang="ru-RU" dirty="0" smtClean="0"/>
              <a:t>можно из </a:t>
            </a:r>
            <a:r>
              <a:rPr lang="ru-RU" dirty="0"/>
              <a:t>именованной коллекции </a:t>
            </a:r>
            <a:r>
              <a:rPr lang="en-US" b="1" dirty="0" err="1"/>
              <a:t>window.frames</a:t>
            </a:r>
            <a:r>
              <a:rPr lang="en-US" dirty="0"/>
              <a:t>:</a:t>
            </a:r>
          </a:p>
          <a:p>
            <a:r>
              <a:rPr lang="en-US" dirty="0" smtClean="0"/>
              <a:t>•</a:t>
            </a:r>
            <a:r>
              <a:rPr lang="ru-RU" dirty="0" smtClean="0"/>
              <a:t> По </a:t>
            </a:r>
            <a:r>
              <a:rPr lang="ru-RU" dirty="0"/>
              <a:t>номеру: </a:t>
            </a:r>
            <a:r>
              <a:rPr lang="en-US" b="1" dirty="0" err="1"/>
              <a:t>window.frames</a:t>
            </a:r>
            <a:r>
              <a:rPr lang="en-US" b="1" dirty="0"/>
              <a:t>[0]</a:t>
            </a:r>
            <a:r>
              <a:rPr lang="en-US" dirty="0"/>
              <a:t> – </a:t>
            </a:r>
            <a:r>
              <a:rPr lang="ru-RU" dirty="0"/>
              <a:t>объект </a:t>
            </a:r>
            <a:r>
              <a:rPr lang="en-US" dirty="0"/>
              <a:t>window </a:t>
            </a:r>
            <a:r>
              <a:rPr lang="ru-RU" dirty="0"/>
              <a:t>для первого фрейма в документе.</a:t>
            </a:r>
          </a:p>
          <a:p>
            <a:r>
              <a:rPr lang="ru-RU" dirty="0" smtClean="0"/>
              <a:t>• По </a:t>
            </a:r>
            <a:r>
              <a:rPr lang="ru-RU" dirty="0"/>
              <a:t>имени: </a:t>
            </a:r>
            <a:r>
              <a:rPr lang="en-US" b="1" dirty="0" err="1"/>
              <a:t>window.frames.iframeName</a:t>
            </a:r>
            <a:r>
              <a:rPr lang="en-US" dirty="0"/>
              <a:t> – </a:t>
            </a:r>
            <a:r>
              <a:rPr lang="ru-RU" dirty="0"/>
              <a:t>объект </a:t>
            </a:r>
            <a:r>
              <a:rPr lang="en-US" dirty="0"/>
              <a:t>window </a:t>
            </a:r>
            <a:r>
              <a:rPr lang="ru-RU" dirty="0"/>
              <a:t>для фрейма со свойством </a:t>
            </a:r>
            <a:r>
              <a:rPr lang="en-US" dirty="0"/>
              <a:t>name="</a:t>
            </a:r>
            <a:r>
              <a:rPr lang="en-US" dirty="0" err="1"/>
              <a:t>iframeName</a:t>
            </a:r>
            <a:r>
              <a:rPr lang="en-US" dirty="0"/>
              <a:t>".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2266030"/>
            <a:ext cx="9397514" cy="1474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25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Общение </a:t>
            </a:r>
            <a:r>
              <a:rPr lang="ru-RU" dirty="0"/>
              <a:t>между окнами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18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108472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Ифрейм</a:t>
            </a:r>
            <a:r>
              <a:rPr lang="ru-RU" dirty="0"/>
              <a:t> может иметь другие </a:t>
            </a:r>
            <a:r>
              <a:rPr lang="ru-RU" dirty="0" err="1"/>
              <a:t>ифреймы</a:t>
            </a:r>
            <a:r>
              <a:rPr lang="ru-RU" dirty="0"/>
              <a:t> внутри. Таким образом, объекты </a:t>
            </a:r>
            <a:r>
              <a:rPr lang="ru-RU" dirty="0" err="1"/>
              <a:t>window</a:t>
            </a:r>
            <a:r>
              <a:rPr lang="ru-RU" dirty="0"/>
              <a:t> создают </a:t>
            </a:r>
            <a:r>
              <a:rPr lang="ru-RU" dirty="0" smtClean="0"/>
              <a:t>иерархию. Навигация </a:t>
            </a:r>
            <a:r>
              <a:rPr lang="ru-RU" dirty="0"/>
              <a:t>по ним выглядит так:</a:t>
            </a:r>
          </a:p>
          <a:p>
            <a:r>
              <a:rPr lang="ru-RU" dirty="0" smtClean="0"/>
              <a:t>• </a:t>
            </a:r>
            <a:r>
              <a:rPr lang="ru-RU" b="1" dirty="0" err="1" smtClean="0"/>
              <a:t>window.frames</a:t>
            </a:r>
            <a:r>
              <a:rPr lang="ru-RU" dirty="0" smtClean="0"/>
              <a:t> </a:t>
            </a:r>
            <a:r>
              <a:rPr lang="ru-RU" dirty="0"/>
              <a:t>– коллекция «дочерних» </a:t>
            </a:r>
            <a:r>
              <a:rPr lang="ru-RU" dirty="0" err="1" smtClean="0"/>
              <a:t>window</a:t>
            </a:r>
            <a:r>
              <a:rPr lang="ru-RU" dirty="0" smtClean="0"/>
              <a:t>.</a:t>
            </a:r>
            <a:endParaRPr lang="ru-RU" dirty="0"/>
          </a:p>
          <a:p>
            <a:r>
              <a:rPr lang="ru-RU" dirty="0" smtClean="0"/>
              <a:t>• </a:t>
            </a:r>
            <a:r>
              <a:rPr lang="ru-RU" b="1" dirty="0" err="1" smtClean="0"/>
              <a:t>window.parent</a:t>
            </a:r>
            <a:r>
              <a:rPr lang="ru-RU" dirty="0" smtClean="0"/>
              <a:t> </a:t>
            </a:r>
            <a:r>
              <a:rPr lang="ru-RU" dirty="0"/>
              <a:t>– ссылка на «родительский» </a:t>
            </a:r>
            <a:r>
              <a:rPr lang="ru-RU" dirty="0" err="1" smtClean="0"/>
              <a:t>window</a:t>
            </a:r>
            <a:r>
              <a:rPr lang="ru-RU" dirty="0"/>
              <a:t>.</a:t>
            </a:r>
          </a:p>
          <a:p>
            <a:r>
              <a:rPr lang="ru-RU" dirty="0" smtClean="0"/>
              <a:t>• </a:t>
            </a:r>
            <a:r>
              <a:rPr lang="ru-RU" b="1" dirty="0" err="1" smtClean="0"/>
              <a:t>window.top</a:t>
            </a:r>
            <a:r>
              <a:rPr lang="ru-RU" dirty="0" smtClean="0"/>
              <a:t> </a:t>
            </a:r>
            <a:r>
              <a:rPr lang="ru-RU" dirty="0"/>
              <a:t>– ссылка на самого верхнего родителя.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2562627"/>
            <a:ext cx="6742804" cy="407174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118085" y="3341809"/>
            <a:ext cx="98842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Проверка открытия текущего документа </a:t>
            </a:r>
            <a:r>
              <a:rPr lang="ru-RU" dirty="0"/>
              <a:t>внутри </a:t>
            </a:r>
            <a:r>
              <a:rPr lang="ru-RU" dirty="0" err="1" smtClean="0"/>
              <a:t>ифрейма</a:t>
            </a:r>
            <a:r>
              <a:rPr lang="ru-RU" dirty="0" smtClean="0"/>
              <a:t>: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85" y="3913981"/>
            <a:ext cx="9704557" cy="142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58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Общение </a:t>
            </a:r>
            <a:r>
              <a:rPr lang="ru-RU" dirty="0"/>
              <a:t>между окнами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19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828108" cy="3926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Атрибут </a:t>
            </a:r>
            <a:r>
              <a:rPr lang="ru-RU" b="1" dirty="0" err="1"/>
              <a:t>sandbox</a:t>
            </a:r>
            <a:r>
              <a:rPr lang="ru-RU" dirty="0"/>
              <a:t> позволяет наложить ограничения на действия внутри &lt;</a:t>
            </a:r>
            <a:r>
              <a:rPr lang="ru-RU" dirty="0" err="1"/>
              <a:t>iframe</a:t>
            </a:r>
            <a:r>
              <a:rPr lang="ru-RU" dirty="0" smtClean="0"/>
              <a:t>&gt;.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1555093"/>
            <a:ext cx="10695372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Существует список «по умолчанию» ограничений, которые накладываются на </a:t>
            </a:r>
            <a:r>
              <a:rPr lang="ru-RU" b="1" dirty="0"/>
              <a:t>&lt;</a:t>
            </a:r>
            <a:r>
              <a:rPr lang="ru-RU" b="1" dirty="0" err="1"/>
              <a:t>iframe</a:t>
            </a:r>
            <a:r>
              <a:rPr lang="ru-RU" b="1" dirty="0"/>
              <a:t> </a:t>
            </a:r>
            <a:r>
              <a:rPr lang="ru-RU" b="1" dirty="0" err="1"/>
              <a:t>sandbox</a:t>
            </a:r>
            <a:r>
              <a:rPr lang="ru-RU" b="1" dirty="0"/>
              <a:t> </a:t>
            </a:r>
            <a:r>
              <a:rPr lang="ru-RU" b="1" dirty="0" err="1"/>
              <a:t>src</a:t>
            </a:r>
            <a:r>
              <a:rPr lang="ru-RU" b="1" dirty="0"/>
              <a:t>="..."&gt;</a:t>
            </a:r>
            <a:r>
              <a:rPr lang="ru-RU" dirty="0"/>
              <a:t>. Их можно уменьшить, если указать в атрибуте список исключений (специальными ключевыми словами), которые не нужно применять, например: </a:t>
            </a:r>
            <a:endParaRPr lang="ru-RU" dirty="0" smtClean="0"/>
          </a:p>
          <a:p>
            <a:pPr>
              <a:lnSpc>
                <a:spcPct val="120000"/>
              </a:lnSpc>
            </a:pPr>
            <a:r>
              <a:rPr lang="ru-RU" b="1" dirty="0" smtClean="0"/>
              <a:t>&lt;</a:t>
            </a:r>
            <a:r>
              <a:rPr lang="ru-RU" b="1" dirty="0" err="1"/>
              <a:t>iframe</a:t>
            </a:r>
            <a:r>
              <a:rPr lang="ru-RU" b="1" dirty="0"/>
              <a:t> </a:t>
            </a:r>
            <a:r>
              <a:rPr lang="ru-RU" b="1" dirty="0" err="1"/>
              <a:t>sandbox</a:t>
            </a:r>
            <a:r>
              <a:rPr lang="ru-RU" b="1" dirty="0"/>
              <a:t>="</a:t>
            </a:r>
            <a:r>
              <a:rPr lang="ru-RU" b="1" dirty="0" err="1"/>
              <a:t>allow-forms</a:t>
            </a:r>
            <a:r>
              <a:rPr lang="ru-RU" b="1" dirty="0"/>
              <a:t> </a:t>
            </a:r>
            <a:r>
              <a:rPr lang="ru-RU" b="1" dirty="0" err="1"/>
              <a:t>allow-popups</a:t>
            </a:r>
            <a:r>
              <a:rPr lang="ru-RU" b="1" dirty="0"/>
              <a:t>"&gt;</a:t>
            </a:r>
            <a:r>
              <a:rPr lang="ru-RU" dirty="0"/>
              <a:t>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5" y="3324119"/>
            <a:ext cx="10695373" cy="2719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 smtClean="0"/>
              <a:t>Список ограничений</a:t>
            </a:r>
            <a:r>
              <a:rPr lang="ru-RU" dirty="0"/>
              <a:t>:</a:t>
            </a:r>
          </a:p>
          <a:p>
            <a:pPr>
              <a:lnSpc>
                <a:spcPct val="120000"/>
              </a:lnSpc>
            </a:pPr>
            <a:r>
              <a:rPr lang="ru-RU" b="1" dirty="0" err="1" smtClean="0"/>
              <a:t>allow-same-origin</a:t>
            </a:r>
            <a:r>
              <a:rPr lang="ru-RU" dirty="0" smtClean="0"/>
              <a:t> -- "</a:t>
            </a:r>
            <a:r>
              <a:rPr lang="ru-RU" dirty="0" err="1"/>
              <a:t>sandbox</a:t>
            </a:r>
            <a:r>
              <a:rPr lang="ru-RU" dirty="0"/>
              <a:t>" принудительно устанавливает «другой источник» для </a:t>
            </a:r>
            <a:r>
              <a:rPr lang="ru-RU" dirty="0" err="1"/>
              <a:t>ифрейма</a:t>
            </a:r>
            <a:r>
              <a:rPr lang="ru-RU" dirty="0"/>
              <a:t>. </a:t>
            </a:r>
          </a:p>
          <a:p>
            <a:pPr>
              <a:lnSpc>
                <a:spcPct val="120000"/>
              </a:lnSpc>
            </a:pPr>
            <a:r>
              <a:rPr lang="ru-RU" b="1" dirty="0" err="1" smtClean="0"/>
              <a:t>allow-top-navigation</a:t>
            </a:r>
            <a:r>
              <a:rPr lang="ru-RU" dirty="0" smtClean="0"/>
              <a:t> -- позволяет </a:t>
            </a:r>
            <a:r>
              <a:rPr lang="ru-RU" dirty="0" err="1"/>
              <a:t>ифрейму</a:t>
            </a:r>
            <a:r>
              <a:rPr lang="ru-RU" dirty="0"/>
              <a:t> менять </a:t>
            </a:r>
            <a:r>
              <a:rPr lang="ru-RU" dirty="0" err="1"/>
              <a:t>parent.location</a:t>
            </a:r>
            <a:r>
              <a:rPr lang="ru-RU" dirty="0"/>
              <a:t>.</a:t>
            </a:r>
          </a:p>
          <a:p>
            <a:pPr>
              <a:lnSpc>
                <a:spcPct val="120000"/>
              </a:lnSpc>
            </a:pPr>
            <a:r>
              <a:rPr lang="ru-RU" b="1" dirty="0" err="1" smtClean="0"/>
              <a:t>allow-forms</a:t>
            </a:r>
            <a:r>
              <a:rPr lang="ru-RU" dirty="0" smtClean="0"/>
              <a:t> -- позволяет </a:t>
            </a:r>
            <a:r>
              <a:rPr lang="ru-RU" dirty="0"/>
              <a:t>отправлять формы из </a:t>
            </a:r>
            <a:r>
              <a:rPr lang="ru-RU" dirty="0" err="1"/>
              <a:t>ифрейма</a:t>
            </a:r>
            <a:r>
              <a:rPr lang="ru-RU" dirty="0"/>
              <a:t>.</a:t>
            </a:r>
          </a:p>
          <a:p>
            <a:pPr>
              <a:lnSpc>
                <a:spcPct val="120000"/>
              </a:lnSpc>
            </a:pPr>
            <a:r>
              <a:rPr lang="ru-RU" b="1" dirty="0" err="1" smtClean="0"/>
              <a:t>allow-scripts</a:t>
            </a:r>
            <a:r>
              <a:rPr lang="ru-RU" b="1" dirty="0" smtClean="0"/>
              <a:t> </a:t>
            </a:r>
            <a:r>
              <a:rPr lang="ru-RU" dirty="0" smtClean="0"/>
              <a:t>-- позволяет </a:t>
            </a:r>
            <a:r>
              <a:rPr lang="ru-RU" dirty="0"/>
              <a:t>запускать скрипты из </a:t>
            </a:r>
            <a:r>
              <a:rPr lang="ru-RU" dirty="0" err="1"/>
              <a:t>ифрейма</a:t>
            </a:r>
            <a:r>
              <a:rPr lang="ru-RU" dirty="0"/>
              <a:t>.</a:t>
            </a:r>
          </a:p>
          <a:p>
            <a:pPr>
              <a:lnSpc>
                <a:spcPct val="120000"/>
              </a:lnSpc>
            </a:pPr>
            <a:r>
              <a:rPr lang="ru-RU" b="1" dirty="0" err="1" smtClean="0"/>
              <a:t>allow-popups</a:t>
            </a:r>
            <a:r>
              <a:rPr lang="ru-RU" dirty="0" smtClean="0"/>
              <a:t> -- позволяет </a:t>
            </a:r>
            <a:r>
              <a:rPr lang="ru-RU" dirty="0"/>
              <a:t>открывать всплывающие окна из </a:t>
            </a:r>
            <a:r>
              <a:rPr lang="ru-RU" dirty="0" err="1"/>
              <a:t>ифрейма</a:t>
            </a:r>
            <a:r>
              <a:rPr lang="ru-RU" dirty="0"/>
              <a:t> с помощью </a:t>
            </a:r>
            <a:r>
              <a:rPr lang="ru-RU" dirty="0" err="1"/>
              <a:t>window.open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3137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Общение </a:t>
            </a:r>
            <a:r>
              <a:rPr lang="ru-RU" dirty="0"/>
              <a:t>между окнами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20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7396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Интерфейс </a:t>
            </a:r>
            <a:r>
              <a:rPr lang="ru-RU" b="1" dirty="0" err="1"/>
              <a:t>postMessage</a:t>
            </a:r>
            <a:r>
              <a:rPr lang="ru-RU" dirty="0"/>
              <a:t> позволяет окнам общаться между собой независимо от их происхождения.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5" y="1712032"/>
            <a:ext cx="1050364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Если </a:t>
            </a:r>
            <a:r>
              <a:rPr lang="ru-RU" dirty="0"/>
              <a:t>мы хотим отправить сообщение в окно </a:t>
            </a:r>
            <a:r>
              <a:rPr lang="ru-RU" dirty="0" err="1"/>
              <a:t>win</a:t>
            </a:r>
            <a:r>
              <a:rPr lang="ru-RU" dirty="0"/>
              <a:t>, тогда нам следует вызвать </a:t>
            </a:r>
            <a:r>
              <a:rPr lang="ru-RU" b="1" dirty="0" err="1"/>
              <a:t>win.postMessage</a:t>
            </a:r>
            <a:r>
              <a:rPr lang="ru-RU" b="1" dirty="0"/>
              <a:t>(</a:t>
            </a:r>
            <a:r>
              <a:rPr lang="ru-RU" b="1" dirty="0" err="1"/>
              <a:t>data</a:t>
            </a:r>
            <a:r>
              <a:rPr lang="ru-RU" b="1" dirty="0"/>
              <a:t>, </a:t>
            </a:r>
            <a:r>
              <a:rPr lang="ru-RU" b="1" dirty="0" err="1"/>
              <a:t>targetOrigin</a:t>
            </a:r>
            <a:r>
              <a:rPr lang="ru-RU" b="1" dirty="0" smtClean="0"/>
              <a:t>)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dirty="0"/>
              <a:t>Аргументы:</a:t>
            </a:r>
          </a:p>
          <a:p>
            <a:r>
              <a:rPr lang="ru-RU" b="1" dirty="0" err="1" smtClean="0"/>
              <a:t>data</a:t>
            </a:r>
            <a:r>
              <a:rPr lang="ru-RU" dirty="0" smtClean="0"/>
              <a:t> -- данные </a:t>
            </a:r>
            <a:r>
              <a:rPr lang="ru-RU" dirty="0"/>
              <a:t>для отправки. </a:t>
            </a:r>
          </a:p>
          <a:p>
            <a:r>
              <a:rPr lang="ru-RU" b="1" dirty="0" err="1" smtClean="0"/>
              <a:t>targetOrigin</a:t>
            </a:r>
            <a:r>
              <a:rPr lang="ru-RU" dirty="0" smtClean="0"/>
              <a:t> -- определяет </a:t>
            </a:r>
            <a:r>
              <a:rPr lang="ru-RU" dirty="0"/>
              <a:t>источник для окна-получателя, только окно с данного источника имеет право получить сообщение.</a:t>
            </a:r>
          </a:p>
        </p:txBody>
      </p:sp>
    </p:spTree>
    <p:extLst>
      <p:ext uri="{BB962C8B-B14F-4D97-AF65-F5344CB8AC3E}">
        <p14:creationId xmlns:p14="http://schemas.microsoft.com/office/powerpoint/2010/main" val="40766603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Общение </a:t>
            </a:r>
            <a:r>
              <a:rPr lang="ru-RU" dirty="0"/>
              <a:t>между окнами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21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5" y="920301"/>
            <a:ext cx="101644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win</a:t>
            </a:r>
            <a:r>
              <a:rPr lang="ru-RU" dirty="0"/>
              <a:t> получит сообщения только в том случае, если в нём открыт документ из источника http://example.com: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328" y="1712032"/>
            <a:ext cx="6559077" cy="1597361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154328" y="3565754"/>
            <a:ext cx="110376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Если мы не хотим проверять, то в </a:t>
            </a:r>
            <a:r>
              <a:rPr lang="ru-RU" dirty="0" err="1"/>
              <a:t>targetOrigin</a:t>
            </a:r>
            <a:r>
              <a:rPr lang="ru-RU" dirty="0"/>
              <a:t> можно указать *.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328" y="3996821"/>
            <a:ext cx="6621995" cy="166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2595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Общение </a:t>
            </a:r>
            <a:r>
              <a:rPr lang="ru-RU" dirty="0"/>
              <a:t>между окнами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22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769114" cy="2719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Чтобы получать сообщения, окно-получатель должно иметь обработчик события </a:t>
            </a:r>
            <a:r>
              <a:rPr lang="ru-RU" b="1" dirty="0" err="1" smtClean="0"/>
              <a:t>message</a:t>
            </a:r>
            <a:r>
              <a:rPr lang="ru-RU" dirty="0" smtClean="0"/>
              <a:t>. </a:t>
            </a:r>
            <a:r>
              <a:rPr lang="ru-RU" dirty="0"/>
              <a:t>Оно срабатывает, когда был вызван метод </a:t>
            </a:r>
            <a:r>
              <a:rPr lang="ru-RU" dirty="0" err="1"/>
              <a:t>postMessage</a:t>
            </a:r>
            <a:r>
              <a:rPr lang="ru-RU" dirty="0"/>
              <a:t> (и проверка </a:t>
            </a:r>
            <a:r>
              <a:rPr lang="ru-RU" dirty="0" err="1"/>
              <a:t>targetOrigin</a:t>
            </a:r>
            <a:r>
              <a:rPr lang="ru-RU" dirty="0"/>
              <a:t> пройдена успешно).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Свойства объекта события:</a:t>
            </a:r>
            <a:endParaRPr lang="ru-RU" dirty="0"/>
          </a:p>
          <a:p>
            <a:pPr>
              <a:lnSpc>
                <a:spcPct val="120000"/>
              </a:lnSpc>
            </a:pPr>
            <a:r>
              <a:rPr lang="ru-RU" b="1" dirty="0" err="1" smtClean="0"/>
              <a:t>data</a:t>
            </a:r>
            <a:r>
              <a:rPr lang="ru-RU" dirty="0" smtClean="0"/>
              <a:t> -- данные </a:t>
            </a:r>
            <a:r>
              <a:rPr lang="ru-RU" dirty="0"/>
              <a:t>из </a:t>
            </a:r>
            <a:r>
              <a:rPr lang="ru-RU" dirty="0" err="1"/>
              <a:t>postMessage</a:t>
            </a:r>
            <a:r>
              <a:rPr lang="ru-RU" dirty="0"/>
              <a:t>.</a:t>
            </a:r>
          </a:p>
          <a:p>
            <a:pPr>
              <a:lnSpc>
                <a:spcPct val="120000"/>
              </a:lnSpc>
            </a:pPr>
            <a:r>
              <a:rPr lang="ru-RU" b="1" dirty="0" err="1" smtClean="0"/>
              <a:t>origin</a:t>
            </a:r>
            <a:r>
              <a:rPr lang="ru-RU" dirty="0" smtClean="0"/>
              <a:t> -- источник </a:t>
            </a:r>
            <a:r>
              <a:rPr lang="ru-RU" dirty="0"/>
              <a:t>отправителя, например, http://javascript.info.</a:t>
            </a:r>
          </a:p>
          <a:p>
            <a:pPr>
              <a:lnSpc>
                <a:spcPct val="120000"/>
              </a:lnSpc>
            </a:pPr>
            <a:r>
              <a:rPr lang="ru-RU" b="1" dirty="0" err="1" smtClean="0"/>
              <a:t>source</a:t>
            </a:r>
            <a:r>
              <a:rPr lang="ru-RU" dirty="0" smtClean="0"/>
              <a:t> -- ссылка </a:t>
            </a:r>
            <a:r>
              <a:rPr lang="ru-RU" dirty="0"/>
              <a:t>на окно-отправитель. Можно сразу отправить что-то в ответ, вызвав </a:t>
            </a:r>
            <a:r>
              <a:rPr lang="ru-RU" dirty="0" err="1"/>
              <a:t>source.postMessage</a:t>
            </a:r>
            <a:r>
              <a:rPr lang="ru-RU" dirty="0"/>
              <a:t>(...).</a:t>
            </a:r>
          </a:p>
        </p:txBody>
      </p:sp>
    </p:spTree>
    <p:extLst>
      <p:ext uri="{BB962C8B-B14F-4D97-AF65-F5344CB8AC3E}">
        <p14:creationId xmlns:p14="http://schemas.microsoft.com/office/powerpoint/2010/main" val="31887031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Общение </a:t>
            </a:r>
            <a:r>
              <a:rPr lang="ru-RU" dirty="0"/>
              <a:t>между окнами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23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9441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Чтобы добавить обработчик, следует использовать метод </a:t>
            </a:r>
            <a:r>
              <a:rPr lang="ru-RU" dirty="0" err="1"/>
              <a:t>addEventListener</a:t>
            </a:r>
            <a:r>
              <a:rPr lang="ru-RU" dirty="0"/>
              <a:t>, короткий синтаксис </a:t>
            </a:r>
            <a:r>
              <a:rPr lang="ru-RU" b="1" dirty="0" err="1"/>
              <a:t>window.onmessage</a:t>
            </a:r>
            <a:r>
              <a:rPr lang="ru-RU" b="1" dirty="0"/>
              <a:t> не работает</a:t>
            </a:r>
            <a:r>
              <a:rPr lang="ru-RU" dirty="0"/>
              <a:t>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712032"/>
            <a:ext cx="6905037" cy="190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7326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Атака </a:t>
            </a:r>
            <a:r>
              <a:rPr lang="ru-RU" dirty="0"/>
              <a:t>типа </a:t>
            </a:r>
            <a:r>
              <a:rPr lang="en-US" dirty="0"/>
              <a:t>clickjacking</a:t>
            </a:r>
            <a:endParaRPr lang="ru-RU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24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3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830363"/>
            <a:ext cx="105331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Атака типа </a:t>
            </a:r>
            <a:r>
              <a:rPr lang="ru-RU" b="1" dirty="0" err="1"/>
              <a:t>clickjacking</a:t>
            </a:r>
            <a:r>
              <a:rPr lang="ru-RU" dirty="0"/>
              <a:t> (англ. «захват клика») позволяет вредоносной странице кликнуть по сайту-жертве от имени посетителя.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695203"/>
            <a:ext cx="6772044" cy="472034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8141" y="3240144"/>
            <a:ext cx="4524520" cy="120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0060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Атака </a:t>
            </a:r>
            <a:r>
              <a:rPr lang="ru-RU" dirty="0"/>
              <a:t>типа </a:t>
            </a:r>
            <a:r>
              <a:rPr lang="en-US" dirty="0"/>
              <a:t>clickjacking</a:t>
            </a:r>
            <a:endParaRPr lang="ru-RU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25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3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1644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В качестве защиты можно </a:t>
            </a:r>
            <a:r>
              <a:rPr lang="ru-RU" dirty="0"/>
              <a:t>заблокировать переход, вызванный сменой </a:t>
            </a:r>
            <a:r>
              <a:rPr lang="ru-RU" dirty="0" err="1"/>
              <a:t>top.location</a:t>
            </a:r>
            <a:r>
              <a:rPr lang="ru-RU" dirty="0"/>
              <a:t> в обработчике события </a:t>
            </a:r>
            <a:r>
              <a:rPr lang="ru-RU" b="1" dirty="0" err="1"/>
              <a:t>beforeunload</a:t>
            </a:r>
            <a:r>
              <a:rPr lang="ru-RU" dirty="0"/>
              <a:t>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4" y="1712031"/>
            <a:ext cx="5356457" cy="897903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83" y="2871481"/>
            <a:ext cx="6713311" cy="2393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8990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Атака </a:t>
            </a:r>
            <a:r>
              <a:rPr lang="ru-RU" dirty="0"/>
              <a:t>типа </a:t>
            </a:r>
            <a:r>
              <a:rPr lang="en-US" dirty="0"/>
              <a:t>clickjacking</a:t>
            </a:r>
            <a:endParaRPr lang="ru-RU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26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3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6068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Одним из действий, которые можно ограничить атрибутом </a:t>
            </a:r>
            <a:r>
              <a:rPr lang="ru-RU" dirty="0" err="1"/>
              <a:t>sandbox</a:t>
            </a:r>
            <a:r>
              <a:rPr lang="ru-RU" dirty="0"/>
              <a:t>, является навигация. </a:t>
            </a:r>
            <a:r>
              <a:rPr lang="ru-RU" dirty="0" smtClean="0"/>
              <a:t>Поэтому можно </a:t>
            </a:r>
            <a:r>
              <a:rPr lang="ru-RU" dirty="0"/>
              <a:t>добавить </a:t>
            </a:r>
            <a:r>
              <a:rPr lang="ru-RU" dirty="0" err="1"/>
              <a:t>ифрейм</a:t>
            </a:r>
            <a:r>
              <a:rPr lang="ru-RU" dirty="0"/>
              <a:t> с </a:t>
            </a:r>
            <a:r>
              <a:rPr lang="ru-RU" dirty="0" err="1"/>
              <a:t>sandbox</a:t>
            </a:r>
            <a:r>
              <a:rPr lang="ru-RU" dirty="0"/>
              <a:t>="</a:t>
            </a:r>
            <a:r>
              <a:rPr lang="ru-RU" dirty="0" err="1"/>
              <a:t>allow-scripts</a:t>
            </a:r>
            <a:r>
              <a:rPr lang="ru-RU" dirty="0"/>
              <a:t> </a:t>
            </a:r>
            <a:r>
              <a:rPr lang="ru-RU" dirty="0" err="1" smtClean="0"/>
              <a:t>allow-forms</a:t>
            </a:r>
            <a:r>
              <a:rPr lang="ru-RU" dirty="0" smtClean="0"/>
              <a:t>":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029" y="1712031"/>
            <a:ext cx="10400086" cy="382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035412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685</TotalTime>
  <Words>1242</Words>
  <Application>Microsoft Office PowerPoint</Application>
  <PresentationFormat>Широкоэкранный</PresentationFormat>
  <Paragraphs>171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1" baseType="lpstr">
      <vt:lpstr>Arial</vt:lpstr>
      <vt:lpstr>Calibri</vt:lpstr>
      <vt:lpstr>Century Gothic</vt:lpstr>
      <vt:lpstr>Wingdings 3</vt:lpstr>
      <vt:lpstr>Легкий дым</vt:lpstr>
      <vt:lpstr>Тема Окна</vt:lpstr>
      <vt:lpstr>Вопросы:</vt:lpstr>
      <vt:lpstr>Открытие окон и методы window</vt:lpstr>
      <vt:lpstr>Открытие окон и методы window</vt:lpstr>
      <vt:lpstr>Открытие окон и методы window</vt:lpstr>
      <vt:lpstr>Открытие окон и методы window</vt:lpstr>
      <vt:lpstr>Открытие окон и методы window</vt:lpstr>
      <vt:lpstr>Открытие окон и методы window</vt:lpstr>
      <vt:lpstr>Открытие окон и методы window</vt:lpstr>
      <vt:lpstr>Открытие окон и методы window</vt:lpstr>
      <vt:lpstr>Общение между окнами</vt:lpstr>
      <vt:lpstr>Общение между окнами</vt:lpstr>
      <vt:lpstr>Общение между окнами</vt:lpstr>
      <vt:lpstr>Общение между окнами</vt:lpstr>
      <vt:lpstr>Общение между окнами</vt:lpstr>
      <vt:lpstr>Общение между окнами</vt:lpstr>
      <vt:lpstr>Общение между окнами</vt:lpstr>
      <vt:lpstr>Общение между окнами</vt:lpstr>
      <vt:lpstr>Общение между окнами</vt:lpstr>
      <vt:lpstr>Общение между окнами</vt:lpstr>
      <vt:lpstr>Общение между окнами</vt:lpstr>
      <vt:lpstr>Общение между окнами</vt:lpstr>
      <vt:lpstr>Общение между окнами</vt:lpstr>
      <vt:lpstr>Атака типа clickjacking</vt:lpstr>
      <vt:lpstr>Атака типа clickjacking</vt:lpstr>
      <vt:lpstr>Атака типа clickjacking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1  Основы JavaScript</dc:title>
  <dc:creator>Marina</dc:creator>
  <cp:lastModifiedBy>Marina</cp:lastModifiedBy>
  <cp:revision>159</cp:revision>
  <dcterms:created xsi:type="dcterms:W3CDTF">2019-08-27T10:51:56Z</dcterms:created>
  <dcterms:modified xsi:type="dcterms:W3CDTF">2019-11-01T20:27:08Z</dcterms:modified>
</cp:coreProperties>
</file>