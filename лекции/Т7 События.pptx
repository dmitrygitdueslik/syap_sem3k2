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25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7BCA8-9609-48FB-A57C-8E4114581D3F}" type="datetimeFigureOut">
              <a:rPr lang="ru-RU" smtClean="0"/>
              <a:t>22.10.2019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3FD08-5A85-4EC1-9946-EF0EC000D9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210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98354-2AEC-407C-892D-4CC4E97FF2F9}" type="datetime1">
              <a:rPr lang="ru-RU" smtClean="0"/>
              <a:t>22.10.2019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94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EBA85-E22D-4185-966F-897334710B0B}" type="datetime1">
              <a:rPr lang="ru-RU" smtClean="0"/>
              <a:t>22.10.2019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25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D8926-D772-474E-A9C2-09038EBAF6E6}" type="datetime1">
              <a:rPr lang="ru-RU" smtClean="0"/>
              <a:t>22.10.2019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116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8F255-A88D-4F36-A012-2562321C7166}" type="datetime1">
              <a:rPr lang="ru-RU" smtClean="0"/>
              <a:t>22.10.2019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31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01B-A206-4541-BE7E-3C62D08E63F7}" type="datetime1">
              <a:rPr lang="ru-RU" smtClean="0"/>
              <a:t>22.10.2019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560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5D306-E1D0-45BB-8675-D1C6E29D8416}" type="datetime1">
              <a:rPr lang="ru-RU" smtClean="0"/>
              <a:t>22.10.2019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772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5C369-94CB-471C-98AD-11B8FD1EF56F}" type="datetime1">
              <a:rPr lang="ru-RU" smtClean="0"/>
              <a:t>22.10.2019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152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B52CB-2BFD-42E6-946B-FC9BB9688A05}" type="datetime1">
              <a:rPr lang="ru-RU" smtClean="0"/>
              <a:t>22.10.2019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304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4B6E6-77FC-4419-81B9-B1F57FA0389E}" type="datetime1">
              <a:rPr lang="ru-RU" smtClean="0"/>
              <a:t>22.10.2019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6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40AA0-92A9-425C-AF3E-472E303BD54F}" type="datetime1">
              <a:rPr lang="ru-RU" smtClean="0"/>
              <a:t>22.10.2019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3185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6919D-1CF5-4750-AEE7-67D2474F6498}" type="datetime1">
              <a:rPr lang="ru-RU" smtClean="0"/>
              <a:t>22.10.2019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105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F138-F241-483A-88EE-E8589650ADFC}" type="datetime1">
              <a:rPr lang="ru-RU" smtClean="0"/>
              <a:t>22.10.2019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082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A1D71-566F-42F4-AA36-CCAD6E26C50B}" type="datetime1">
              <a:rPr lang="ru-RU" smtClean="0"/>
              <a:t>22.10.2019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9708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3291-9C75-4C4D-AC8E-6DE8F71E7659}" type="datetime1">
              <a:rPr lang="ru-RU" smtClean="0"/>
              <a:t>22.10.2019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339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06DA-CB2E-4815-94B7-3E256E026906}" type="datetime1">
              <a:rPr lang="ru-RU" smtClean="0"/>
              <a:t>22.10.2019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051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2FB45-4AE3-4BCA-91EA-B3A8E720DE60}" type="datetime1">
              <a:rPr lang="ru-RU" smtClean="0"/>
              <a:t>22.10.2019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46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AA82E-8907-4CCF-BB04-ADAC7456905B}" type="datetime1">
              <a:rPr lang="ru-RU" smtClean="0"/>
              <a:t>22.10.2019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D20FAF1-665F-4E88-AC1E-56CA99DCD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612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67014" y="766915"/>
            <a:ext cx="10100754" cy="2625213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Тема </a:t>
            </a:r>
            <a:r>
              <a:rPr lang="en-US" b="1" dirty="0" smtClean="0"/>
              <a:t>7</a:t>
            </a:r>
            <a:r>
              <a:rPr lang="ru-RU" b="1" dirty="0" smtClean="0"/>
              <a:t> </a:t>
            </a:r>
            <a:br>
              <a:rPr lang="ru-RU" b="1" dirty="0" smtClean="0"/>
            </a:br>
            <a:r>
              <a:rPr lang="ru-RU" b="1" dirty="0" smtClean="0"/>
              <a:t>События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1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Вопросы: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</a:t>
            </a:fld>
            <a:endParaRPr lang="ru-RU" sz="24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1.	</a:t>
            </a:r>
            <a:r>
              <a:rPr lang="ru-RU" dirty="0" err="1"/>
              <a:t>Браузерные</a:t>
            </a:r>
            <a:r>
              <a:rPr lang="ru-RU" dirty="0"/>
              <a:t> события. </a:t>
            </a:r>
          </a:p>
          <a:p>
            <a:r>
              <a:rPr lang="ru-RU" dirty="0"/>
              <a:t>2.	Всплытие и погружение. </a:t>
            </a:r>
          </a:p>
          <a:p>
            <a:r>
              <a:rPr lang="ru-RU" dirty="0"/>
              <a:t>3.	Делегирование событий. </a:t>
            </a:r>
          </a:p>
          <a:p>
            <a:r>
              <a:rPr lang="ru-RU" dirty="0"/>
              <a:t>4.	Приём проектирования "поведение". </a:t>
            </a:r>
          </a:p>
          <a:p>
            <a:r>
              <a:rPr lang="ru-RU" dirty="0"/>
              <a:t>5.	Генерация событий. </a:t>
            </a:r>
          </a:p>
          <a:p>
            <a:r>
              <a:rPr lang="ru-RU" dirty="0"/>
              <a:t>6.	События мыши. </a:t>
            </a:r>
          </a:p>
          <a:p>
            <a:r>
              <a:rPr lang="ru-RU" dirty="0"/>
              <a:t>7.	Мышь: </a:t>
            </a:r>
            <a:r>
              <a:rPr lang="en-US" dirty="0" err="1"/>
              <a:t>mouseover</a:t>
            </a:r>
            <a:r>
              <a:rPr lang="en-US" dirty="0"/>
              <a:t>/out, </a:t>
            </a:r>
            <a:r>
              <a:rPr lang="en-US" dirty="0" err="1"/>
              <a:t>mouseenter</a:t>
            </a:r>
            <a:r>
              <a:rPr lang="en-US" dirty="0"/>
              <a:t>/leave</a:t>
            </a:r>
          </a:p>
          <a:p>
            <a:r>
              <a:rPr lang="en-US" dirty="0"/>
              <a:t>8.	</a:t>
            </a:r>
            <a:r>
              <a:rPr lang="en-US" dirty="0" err="1"/>
              <a:t>Drag'n'Drop</a:t>
            </a:r>
            <a:r>
              <a:rPr lang="en-US" dirty="0"/>
              <a:t> </a:t>
            </a:r>
            <a:r>
              <a:rPr lang="ru-RU" dirty="0"/>
              <a:t>с событиями мыши</a:t>
            </a:r>
          </a:p>
          <a:p>
            <a:r>
              <a:rPr lang="ru-RU" dirty="0"/>
              <a:t>9.	Прокрутка: событие </a:t>
            </a:r>
            <a:r>
              <a:rPr lang="en-US" dirty="0"/>
              <a:t>scroll. </a:t>
            </a:r>
          </a:p>
          <a:p>
            <a:r>
              <a:rPr lang="en-US" dirty="0"/>
              <a:t>10.	</a:t>
            </a:r>
            <a:r>
              <a:rPr lang="ru-RU" dirty="0"/>
              <a:t>Клавиатура: </a:t>
            </a:r>
            <a:r>
              <a:rPr lang="en-US" dirty="0" err="1"/>
              <a:t>keyup</a:t>
            </a:r>
            <a:r>
              <a:rPr lang="en-US" dirty="0"/>
              <a:t>, </a:t>
            </a:r>
            <a:r>
              <a:rPr lang="en-US" dirty="0" err="1"/>
              <a:t>keydown</a:t>
            </a:r>
            <a:r>
              <a:rPr lang="en-US" dirty="0"/>
              <a:t>. </a:t>
            </a:r>
          </a:p>
          <a:p>
            <a:r>
              <a:rPr lang="en-US" dirty="0"/>
              <a:t>11.	</a:t>
            </a:r>
            <a:r>
              <a:rPr lang="ru-RU" dirty="0"/>
              <a:t>Загрузка документа. </a:t>
            </a:r>
          </a:p>
          <a:p>
            <a:r>
              <a:rPr lang="ru-RU" dirty="0"/>
              <a:t>12.	Загрузка скриптов.</a:t>
            </a:r>
          </a:p>
          <a:p>
            <a:r>
              <a:rPr lang="ru-RU" dirty="0"/>
              <a:t>13.	</a:t>
            </a:r>
            <a:r>
              <a:rPr lang="ru-RU" dirty="0" smtClean="0"/>
              <a:t>Загрузка </a:t>
            </a:r>
            <a:r>
              <a:rPr lang="ru-RU" dirty="0"/>
              <a:t>ресурсов.</a:t>
            </a:r>
          </a:p>
        </p:txBody>
      </p:sp>
    </p:spTree>
    <p:extLst>
      <p:ext uri="{BB962C8B-B14F-4D97-AF65-F5344CB8AC3E}">
        <p14:creationId xmlns:p14="http://schemas.microsoft.com/office/powerpoint/2010/main" val="72219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782153" y="774901"/>
            <a:ext cx="106621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События мыши:</a:t>
            </a:r>
          </a:p>
          <a:p>
            <a:r>
              <a:rPr lang="ru-RU" dirty="0" smtClean="0"/>
              <a:t>•</a:t>
            </a:r>
            <a:r>
              <a:rPr lang="en-US" dirty="0" smtClean="0"/>
              <a:t> </a:t>
            </a:r>
            <a:r>
              <a:rPr lang="ru-RU" b="1" dirty="0" err="1" smtClean="0"/>
              <a:t>click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происходит</a:t>
            </a:r>
            <a:r>
              <a:rPr lang="en-US" dirty="0" smtClean="0"/>
              <a:t> </a:t>
            </a:r>
            <a:r>
              <a:rPr lang="ru-RU" dirty="0" smtClean="0"/>
              <a:t>при клике </a:t>
            </a:r>
            <a:r>
              <a:rPr lang="ru-RU" dirty="0"/>
              <a:t>на элемент левой кнопкой мыши (на устройствах с сенсорными экранами оно происходит при касании).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contextmenu</a:t>
            </a:r>
            <a:r>
              <a:rPr lang="ru-RU" dirty="0" smtClean="0"/>
              <a:t> </a:t>
            </a:r>
            <a:r>
              <a:rPr lang="ru-RU" dirty="0"/>
              <a:t>– </a:t>
            </a:r>
            <a:r>
              <a:rPr lang="ru-RU" dirty="0" smtClean="0"/>
              <a:t>происходит при клике </a:t>
            </a:r>
            <a:r>
              <a:rPr lang="ru-RU" dirty="0"/>
              <a:t>на элемент правой кнопкой мыши.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mouseover</a:t>
            </a:r>
            <a:r>
              <a:rPr lang="ru-RU" b="1" dirty="0" smtClean="0"/>
              <a:t> </a:t>
            </a:r>
            <a:r>
              <a:rPr lang="ru-RU" b="1" dirty="0"/>
              <a:t>/ </a:t>
            </a:r>
            <a:r>
              <a:rPr lang="ru-RU" b="1" dirty="0" err="1"/>
              <a:t>mouseout</a:t>
            </a:r>
            <a:r>
              <a:rPr lang="ru-RU" b="1" dirty="0"/>
              <a:t> </a:t>
            </a:r>
            <a:r>
              <a:rPr lang="ru-RU" dirty="0"/>
              <a:t>– </a:t>
            </a:r>
            <a:r>
              <a:rPr lang="ru-RU" dirty="0" smtClean="0"/>
              <a:t>когда мышь наводится на </a:t>
            </a:r>
            <a:r>
              <a:rPr lang="ru-RU" dirty="0"/>
              <a:t>/ покидает элемент.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mousedown</a:t>
            </a:r>
            <a:r>
              <a:rPr lang="ru-RU" b="1" dirty="0" smtClean="0"/>
              <a:t> </a:t>
            </a:r>
            <a:r>
              <a:rPr lang="ru-RU" b="1" dirty="0"/>
              <a:t>/ </a:t>
            </a:r>
            <a:r>
              <a:rPr lang="ru-RU" b="1" dirty="0" err="1"/>
              <a:t>mouseup</a:t>
            </a:r>
            <a:r>
              <a:rPr lang="ru-RU" b="1" dirty="0"/>
              <a:t> </a:t>
            </a:r>
            <a:r>
              <a:rPr lang="ru-RU" dirty="0"/>
              <a:t>– когда нажали / отжали кнопку мыши на элементе.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mousemove</a:t>
            </a:r>
            <a:r>
              <a:rPr lang="ru-RU" dirty="0" smtClean="0"/>
              <a:t> </a:t>
            </a:r>
            <a:r>
              <a:rPr lang="ru-RU" dirty="0"/>
              <a:t>– при движении мыши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События на элементах управления: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submit</a:t>
            </a:r>
            <a:r>
              <a:rPr lang="ru-RU" dirty="0" smtClean="0"/>
              <a:t> </a:t>
            </a:r>
            <a:r>
              <a:rPr lang="ru-RU" dirty="0"/>
              <a:t>– пользователь отправил форму &lt;</a:t>
            </a:r>
            <a:r>
              <a:rPr lang="ru-RU" dirty="0" err="1"/>
              <a:t>form</a:t>
            </a:r>
            <a:r>
              <a:rPr lang="ru-RU" dirty="0"/>
              <a:t>&gt;.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focus</a:t>
            </a:r>
            <a:r>
              <a:rPr lang="ru-RU" dirty="0" smtClean="0"/>
              <a:t> </a:t>
            </a:r>
            <a:r>
              <a:rPr lang="ru-RU" dirty="0"/>
              <a:t>– пользователь фокусируется на элементе, например нажимает на &lt;</a:t>
            </a:r>
            <a:r>
              <a:rPr lang="ru-RU" dirty="0" err="1"/>
              <a:t>input</a:t>
            </a:r>
            <a:r>
              <a:rPr lang="ru-RU" dirty="0" smtClean="0"/>
              <a:t>&gt;.</a:t>
            </a:r>
          </a:p>
          <a:p>
            <a:endParaRPr lang="ru-RU" dirty="0"/>
          </a:p>
          <a:p>
            <a:r>
              <a:rPr lang="ru-RU" dirty="0"/>
              <a:t>Клавиатурные события: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keydown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b="1" dirty="0" err="1"/>
              <a:t>keyup</a:t>
            </a:r>
            <a:r>
              <a:rPr lang="ru-RU" dirty="0"/>
              <a:t> – когда пользователь нажимает / отпускает клавишу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События документа: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DOMContentLoaded</a:t>
            </a:r>
            <a:r>
              <a:rPr lang="ru-RU" dirty="0" smtClean="0"/>
              <a:t> </a:t>
            </a:r>
            <a:r>
              <a:rPr lang="ru-RU" dirty="0"/>
              <a:t>– когда HTML загружен и обработан, DOM документа полностью построен и доступен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CSS </a:t>
            </a:r>
            <a:r>
              <a:rPr lang="ru-RU" dirty="0" err="1"/>
              <a:t>events</a:t>
            </a:r>
            <a:r>
              <a:rPr lang="ru-RU" dirty="0"/>
              <a:t>: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transitionend</a:t>
            </a:r>
            <a:r>
              <a:rPr lang="ru-RU" dirty="0" smtClean="0"/>
              <a:t> </a:t>
            </a:r>
            <a:r>
              <a:rPr lang="ru-RU" dirty="0"/>
              <a:t>– когда CSS-анимация завершена.</a:t>
            </a:r>
          </a:p>
        </p:txBody>
      </p:sp>
    </p:spTree>
    <p:extLst>
      <p:ext uri="{BB962C8B-B14F-4D97-AF65-F5344CB8AC3E}">
        <p14:creationId xmlns:p14="http://schemas.microsoft.com/office/powerpoint/2010/main" val="4209807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5478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Обработчик</a:t>
            </a:r>
            <a:r>
              <a:rPr lang="ru-RU" dirty="0"/>
              <a:t> может быть назначен прямо в разметке, в атрибуте, который называется </a:t>
            </a:r>
            <a:r>
              <a:rPr lang="ru-RU" b="1" dirty="0" err="1"/>
              <a:t>on</a:t>
            </a:r>
            <a:r>
              <a:rPr lang="ru-RU" b="1" dirty="0"/>
              <a:t>&lt;событие&gt;</a:t>
            </a:r>
            <a:r>
              <a:rPr lang="ru-RU" dirty="0"/>
              <a:t>.</a:t>
            </a:r>
          </a:p>
          <a:p>
            <a:r>
              <a:rPr lang="ru-RU" dirty="0"/>
              <a:t>Например, чтобы назначить обработчик события </a:t>
            </a:r>
            <a:r>
              <a:rPr lang="ru-RU" dirty="0" err="1"/>
              <a:t>click</a:t>
            </a:r>
            <a:r>
              <a:rPr lang="ru-RU" dirty="0"/>
              <a:t> на </a:t>
            </a:r>
            <a:r>
              <a:rPr lang="ru-RU" dirty="0" smtClean="0"/>
              <a:t>элементе </a:t>
            </a:r>
            <a:r>
              <a:rPr lang="ru-RU" dirty="0" err="1" smtClean="0"/>
              <a:t>input</a:t>
            </a:r>
            <a:r>
              <a:rPr lang="ru-RU" dirty="0"/>
              <a:t>, можно использовать атрибут </a:t>
            </a:r>
            <a:r>
              <a:rPr lang="ru-RU" dirty="0" err="1" smtClean="0"/>
              <a:t>onclick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2266030"/>
            <a:ext cx="9603991" cy="45578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6" y="2973337"/>
            <a:ext cx="10164426" cy="267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16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036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Можно назначать обработчик, используя свойство DOM-элемента </a:t>
            </a:r>
            <a:r>
              <a:rPr lang="ru-RU" b="1" dirty="0" err="1"/>
              <a:t>on</a:t>
            </a:r>
            <a:r>
              <a:rPr lang="ru-RU" b="1" dirty="0"/>
              <a:t>&lt;событие&gt;</a:t>
            </a:r>
            <a:r>
              <a:rPr lang="ru-RU" dirty="0"/>
              <a:t>.</a:t>
            </a:r>
          </a:p>
          <a:p>
            <a:r>
              <a:rPr lang="ru-RU" dirty="0" smtClean="0"/>
              <a:t>Например, </a:t>
            </a:r>
            <a:r>
              <a:rPr lang="ru-RU" dirty="0" err="1"/>
              <a:t>elem.onclick</a:t>
            </a:r>
            <a:r>
              <a:rPr lang="ru-RU" dirty="0"/>
              <a:t>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712031"/>
            <a:ext cx="7169637" cy="172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59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58689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Назначить более </a:t>
            </a:r>
            <a:r>
              <a:rPr lang="ru-RU" dirty="0"/>
              <a:t>одного обработчика так нельзя.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35033"/>
            <a:ext cx="10492575" cy="180961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5" y="3581611"/>
            <a:ext cx="102676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Обработчиком можно </a:t>
            </a:r>
            <a:r>
              <a:rPr lang="ru-RU" dirty="0"/>
              <a:t>назначить и уже существующую функцию: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6" y="4037348"/>
            <a:ext cx="4044918" cy="149927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118085" y="5767915"/>
            <a:ext cx="93680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Убрать </a:t>
            </a:r>
            <a:r>
              <a:rPr lang="ru-RU" dirty="0" smtClean="0"/>
              <a:t>обработчик: </a:t>
            </a:r>
            <a:r>
              <a:rPr lang="ru-RU" dirty="0" err="1" smtClean="0"/>
              <a:t>elem.onclick</a:t>
            </a:r>
            <a:r>
              <a:rPr lang="ru-RU" dirty="0" smtClean="0"/>
              <a:t> </a:t>
            </a:r>
            <a:r>
              <a:rPr lang="ru-RU" dirty="0"/>
              <a:t>= </a:t>
            </a:r>
            <a:r>
              <a:rPr lang="ru-RU" dirty="0" err="1"/>
              <a:t>null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6928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626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Внутри обработчика события </a:t>
            </a:r>
            <a:r>
              <a:rPr lang="ru-RU" dirty="0" err="1"/>
              <a:t>this</a:t>
            </a:r>
            <a:r>
              <a:rPr lang="ru-RU" dirty="0"/>
              <a:t> ссылается на текущий </a:t>
            </a:r>
            <a:r>
              <a:rPr lang="ru-RU" dirty="0" smtClean="0"/>
              <a:t>элемент.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328" y="1435032"/>
            <a:ext cx="8531679" cy="40851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227328" y="2220932"/>
            <a:ext cx="105861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Функция должна быть присвоена как </a:t>
            </a:r>
            <a:r>
              <a:rPr lang="ru-RU" dirty="0" err="1"/>
              <a:t>sayThanks</a:t>
            </a:r>
            <a:r>
              <a:rPr lang="ru-RU" dirty="0"/>
              <a:t>, а не </a:t>
            </a:r>
            <a:r>
              <a:rPr lang="ru-RU" dirty="0" err="1"/>
              <a:t>sayThanks</a:t>
            </a:r>
            <a:r>
              <a:rPr lang="ru-RU" dirty="0"/>
              <a:t>().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328" y="2774846"/>
            <a:ext cx="4450801" cy="1453011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227328" y="4444607"/>
            <a:ext cx="5748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Разметке, </a:t>
            </a:r>
            <a:r>
              <a:rPr lang="ru-RU" dirty="0"/>
              <a:t>в отличие от свойства, скобки нужны: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327" y="4911626"/>
            <a:ext cx="8114977" cy="397793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327" y="5545776"/>
            <a:ext cx="5748691" cy="96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89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43300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Используйте </a:t>
            </a:r>
            <a:r>
              <a:rPr lang="ru-RU" dirty="0" smtClean="0"/>
              <a:t>функции</a:t>
            </a:r>
            <a:r>
              <a:rPr lang="ru-RU" dirty="0"/>
              <a:t>, а не строки.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90" y="1435033"/>
            <a:ext cx="4384499" cy="70348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97790" y="2429316"/>
            <a:ext cx="5527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Не используйте </a:t>
            </a:r>
            <a:r>
              <a:rPr lang="ru-RU" dirty="0" err="1"/>
              <a:t>setAttribute</a:t>
            </a:r>
            <a:r>
              <a:rPr lang="ru-RU" dirty="0"/>
              <a:t> для обработчиков.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790" y="2944048"/>
            <a:ext cx="9067706" cy="684055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1197790" y="3984497"/>
            <a:ext cx="103944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Регистр DOM-свойства имеет </a:t>
            </a:r>
            <a:r>
              <a:rPr lang="ru-RU" dirty="0" smtClean="0"/>
              <a:t>значение. Поэтому используйте </a:t>
            </a:r>
            <a:r>
              <a:rPr lang="ru-RU" dirty="0" err="1"/>
              <a:t>elem.onclick</a:t>
            </a:r>
            <a:r>
              <a:rPr lang="ru-RU" dirty="0"/>
              <a:t>, а не </a:t>
            </a:r>
            <a:r>
              <a:rPr lang="ru-RU" dirty="0" err="1"/>
              <a:t>elem.ONCLICK</a:t>
            </a:r>
            <a:r>
              <a:rPr lang="ru-RU" dirty="0"/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674387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1032075"/>
            <a:ext cx="104741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Методы </a:t>
            </a:r>
            <a:r>
              <a:rPr lang="en-US" b="1" dirty="0" err="1" smtClean="0"/>
              <a:t>addEventListener</a:t>
            </a:r>
            <a:r>
              <a:rPr lang="en-US" dirty="0" smtClean="0"/>
              <a:t> </a:t>
            </a:r>
            <a:r>
              <a:rPr lang="ru-RU" dirty="0"/>
              <a:t>и </a:t>
            </a:r>
            <a:r>
              <a:rPr lang="en-US" b="1" dirty="0" err="1" smtClean="0"/>
              <a:t>removeEventListener</a:t>
            </a:r>
            <a:r>
              <a:rPr lang="ru-RU" dirty="0" smtClean="0"/>
              <a:t> позволяют добавить более одного обработчика.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118086" y="1899584"/>
            <a:ext cx="10944192" cy="3384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Синтаксис добавления обработчика:</a:t>
            </a:r>
          </a:p>
          <a:p>
            <a:pPr>
              <a:lnSpc>
                <a:spcPct val="120000"/>
              </a:lnSpc>
            </a:pPr>
            <a:r>
              <a:rPr lang="ru-RU" dirty="0" err="1"/>
              <a:t>element.addEventListener</a:t>
            </a:r>
            <a:r>
              <a:rPr lang="ru-RU" dirty="0"/>
              <a:t>(</a:t>
            </a:r>
            <a:r>
              <a:rPr lang="ru-RU" dirty="0" err="1"/>
              <a:t>event</a:t>
            </a:r>
            <a:r>
              <a:rPr lang="ru-RU" dirty="0"/>
              <a:t>, </a:t>
            </a:r>
            <a:r>
              <a:rPr lang="ru-RU" dirty="0" err="1"/>
              <a:t>handler</a:t>
            </a:r>
            <a:r>
              <a:rPr lang="ru-RU" dirty="0"/>
              <a:t>[, </a:t>
            </a:r>
            <a:r>
              <a:rPr lang="ru-RU" dirty="0" err="1"/>
              <a:t>options</a:t>
            </a:r>
            <a:r>
              <a:rPr lang="ru-RU" dirty="0" smtClean="0"/>
              <a:t>]);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en-US" dirty="0" smtClean="0"/>
              <a:t>e</a:t>
            </a:r>
            <a:r>
              <a:rPr lang="ru-RU" dirty="0" err="1" smtClean="0"/>
              <a:t>vent</a:t>
            </a:r>
            <a:r>
              <a:rPr lang="ru-RU" dirty="0" smtClean="0"/>
              <a:t> -- имя </a:t>
            </a:r>
            <a:r>
              <a:rPr lang="ru-RU" dirty="0"/>
              <a:t>события, например "</a:t>
            </a:r>
            <a:r>
              <a:rPr lang="ru-RU" dirty="0" err="1"/>
              <a:t>click</a:t>
            </a:r>
            <a:r>
              <a:rPr lang="ru-RU" dirty="0"/>
              <a:t>".</a:t>
            </a:r>
          </a:p>
          <a:p>
            <a:pPr>
              <a:lnSpc>
                <a:spcPct val="120000"/>
              </a:lnSpc>
            </a:pPr>
            <a:r>
              <a:rPr lang="ru-RU" dirty="0" err="1" smtClean="0"/>
              <a:t>handler</a:t>
            </a:r>
            <a:r>
              <a:rPr lang="en-US" dirty="0" smtClean="0"/>
              <a:t> -- c</a:t>
            </a:r>
            <a:r>
              <a:rPr lang="ru-RU" dirty="0" err="1" smtClean="0"/>
              <a:t>сылка</a:t>
            </a:r>
            <a:r>
              <a:rPr lang="ru-RU" dirty="0" smtClean="0"/>
              <a:t> </a:t>
            </a:r>
            <a:r>
              <a:rPr lang="ru-RU" dirty="0"/>
              <a:t>на функцию-обработчик.</a:t>
            </a:r>
          </a:p>
          <a:p>
            <a:pPr>
              <a:lnSpc>
                <a:spcPct val="120000"/>
              </a:lnSpc>
            </a:pPr>
            <a:r>
              <a:rPr lang="ru-RU" dirty="0" err="1" smtClean="0"/>
              <a:t>options</a:t>
            </a:r>
            <a:r>
              <a:rPr lang="en-US" dirty="0" smtClean="0"/>
              <a:t> -- </a:t>
            </a:r>
            <a:r>
              <a:rPr lang="ru-RU" dirty="0" smtClean="0"/>
              <a:t>дополнительный </a:t>
            </a:r>
            <a:r>
              <a:rPr lang="ru-RU" dirty="0"/>
              <a:t>объект со свойствами: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	• </a:t>
            </a:r>
            <a:r>
              <a:rPr lang="ru-RU" dirty="0" err="1" smtClean="0"/>
              <a:t>once</a:t>
            </a:r>
            <a:r>
              <a:rPr lang="ru-RU" dirty="0"/>
              <a:t>: если </a:t>
            </a:r>
            <a:r>
              <a:rPr lang="ru-RU" dirty="0" err="1"/>
              <a:t>true</a:t>
            </a:r>
            <a:r>
              <a:rPr lang="ru-RU" dirty="0"/>
              <a:t>, тогда обработчик будет автоматически удалён после выполнения.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	• </a:t>
            </a:r>
            <a:r>
              <a:rPr lang="ru-RU" dirty="0" err="1" smtClean="0"/>
              <a:t>capture</a:t>
            </a:r>
            <a:r>
              <a:rPr lang="ru-RU" dirty="0"/>
              <a:t>: </a:t>
            </a:r>
            <a:r>
              <a:rPr lang="ru-RU" dirty="0" smtClean="0"/>
              <a:t>(</a:t>
            </a:r>
            <a:r>
              <a:rPr lang="ru-RU" dirty="0" err="1"/>
              <a:t>false</a:t>
            </a:r>
            <a:r>
              <a:rPr lang="ru-RU" dirty="0"/>
              <a:t>/</a:t>
            </a:r>
            <a:r>
              <a:rPr lang="ru-RU" dirty="0" err="1"/>
              <a:t>true</a:t>
            </a:r>
            <a:r>
              <a:rPr lang="ru-RU" dirty="0" smtClean="0"/>
              <a:t>) фаза</a:t>
            </a:r>
            <a:r>
              <a:rPr lang="ru-RU" dirty="0"/>
              <a:t>, на которой должен сработать </a:t>
            </a:r>
            <a:r>
              <a:rPr lang="ru-RU" dirty="0" smtClean="0"/>
              <a:t>обработчик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 smtClean="0"/>
              <a:t>	• </a:t>
            </a:r>
            <a:r>
              <a:rPr lang="ru-RU" dirty="0" err="1" smtClean="0"/>
              <a:t>passive</a:t>
            </a:r>
            <a:r>
              <a:rPr lang="ru-RU" dirty="0"/>
              <a:t>: если </a:t>
            </a:r>
            <a:r>
              <a:rPr lang="ru-RU" dirty="0" err="1"/>
              <a:t>true</a:t>
            </a:r>
            <a:r>
              <a:rPr lang="ru-RU" dirty="0"/>
              <a:t>, то указывает, что обработчик никогда не вызовет </a:t>
            </a:r>
            <a:r>
              <a:rPr lang="ru-RU" dirty="0" smtClean="0"/>
              <a:t>	</a:t>
            </a:r>
            <a:r>
              <a:rPr lang="ru-RU" dirty="0" err="1" smtClean="0"/>
              <a:t>preventDefault</a:t>
            </a:r>
            <a:r>
              <a:rPr lang="ru-RU" dirty="0" smtClean="0"/>
              <a:t>().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118086" y="5562734"/>
            <a:ext cx="105795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удаления обработчика следует использовать </a:t>
            </a:r>
            <a:r>
              <a:rPr lang="en-US" dirty="0" err="1"/>
              <a:t>removeEventListener</a:t>
            </a:r>
            <a:r>
              <a:rPr lang="en-US" dirty="0"/>
              <a:t>:</a:t>
            </a:r>
          </a:p>
          <a:p>
            <a:r>
              <a:rPr lang="en-US" dirty="0" err="1"/>
              <a:t>element.removeEventListener</a:t>
            </a:r>
            <a:r>
              <a:rPr lang="en-US" dirty="0"/>
              <a:t>(event, handler[, options]);</a:t>
            </a:r>
          </a:p>
        </p:txBody>
      </p:sp>
    </p:spTree>
    <p:extLst>
      <p:ext uri="{BB962C8B-B14F-4D97-AF65-F5344CB8AC3E}">
        <p14:creationId xmlns:p14="http://schemas.microsoft.com/office/powerpoint/2010/main" val="154422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4004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удаления нужно передать именно ту функцию-обработчик которая была назначена.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12032"/>
            <a:ext cx="8438869" cy="92060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2941117"/>
            <a:ext cx="6477334" cy="207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62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331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addEventListener</a:t>
            </a:r>
            <a:r>
              <a:rPr lang="ru-RU" dirty="0"/>
              <a:t> позволяет добавлять несколько обработчиков на одно событие одного </a:t>
            </a:r>
            <a:r>
              <a:rPr lang="ru-RU" dirty="0" smtClean="0"/>
              <a:t>элемента.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92262"/>
            <a:ext cx="8601101" cy="412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436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3561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Обработчики некоторых событий можно назначать только через </a:t>
            </a:r>
            <a:r>
              <a:rPr lang="ru-RU" dirty="0" err="1" smtClean="0"/>
              <a:t>addEventListener</a:t>
            </a:r>
            <a:r>
              <a:rPr lang="ru-RU" dirty="0" smtClean="0"/>
              <a:t>. </a:t>
            </a:r>
            <a:r>
              <a:rPr lang="ru-RU" dirty="0"/>
              <a:t>Например, </a:t>
            </a:r>
            <a:r>
              <a:rPr lang="ru-RU" dirty="0" smtClean="0"/>
              <a:t>событие</a:t>
            </a:r>
            <a:r>
              <a:rPr lang="ru-RU" dirty="0"/>
              <a:t> </a:t>
            </a:r>
            <a:r>
              <a:rPr lang="ru-RU" dirty="0" err="1" smtClean="0"/>
              <a:t>transitionend</a:t>
            </a:r>
            <a:r>
              <a:rPr lang="ru-RU" dirty="0"/>
              <a:t> </a:t>
            </a:r>
            <a:r>
              <a:rPr lang="ru-RU" dirty="0" smtClean="0"/>
              <a:t>-- </a:t>
            </a:r>
            <a:r>
              <a:rPr lang="ru-RU" dirty="0"/>
              <a:t>окончание CSS-анимации.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600968"/>
            <a:ext cx="7303244" cy="514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075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3561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Когда происходит событие, браузер создаёт объект события, записывает в него детали и передаёт его в качестве аргумента функции-обработчику.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712032"/>
            <a:ext cx="8689592" cy="2527609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5" y="4438120"/>
            <a:ext cx="10838162" cy="1722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Некоторые свойства объекта </a:t>
            </a:r>
            <a:r>
              <a:rPr lang="ru-RU" dirty="0" err="1"/>
              <a:t>event</a:t>
            </a:r>
            <a:r>
              <a:rPr lang="ru-RU" dirty="0"/>
              <a:t>:</a:t>
            </a:r>
          </a:p>
          <a:p>
            <a:pPr>
              <a:lnSpc>
                <a:spcPct val="120000"/>
              </a:lnSpc>
            </a:pPr>
            <a:r>
              <a:rPr lang="ru-RU" dirty="0" err="1" smtClean="0"/>
              <a:t>event.type</a:t>
            </a:r>
            <a:r>
              <a:rPr lang="ru-RU" dirty="0" smtClean="0"/>
              <a:t> -- тип </a:t>
            </a:r>
            <a:r>
              <a:rPr lang="ru-RU" dirty="0"/>
              <a:t>события, в данном случае "</a:t>
            </a:r>
            <a:r>
              <a:rPr lang="ru-RU" dirty="0" err="1"/>
              <a:t>click</a:t>
            </a:r>
            <a:r>
              <a:rPr lang="ru-RU" dirty="0"/>
              <a:t>".</a:t>
            </a:r>
          </a:p>
          <a:p>
            <a:pPr>
              <a:lnSpc>
                <a:spcPct val="120000"/>
              </a:lnSpc>
            </a:pPr>
            <a:r>
              <a:rPr lang="ru-RU" dirty="0" err="1" smtClean="0"/>
              <a:t>event.currentTarget</a:t>
            </a:r>
            <a:r>
              <a:rPr lang="ru-RU" dirty="0" smtClean="0"/>
              <a:t> -- элемент</a:t>
            </a:r>
            <a:r>
              <a:rPr lang="ru-RU" dirty="0"/>
              <a:t>, на котором сработал обработчик. </a:t>
            </a:r>
          </a:p>
          <a:p>
            <a:pPr>
              <a:lnSpc>
                <a:spcPct val="120000"/>
              </a:lnSpc>
            </a:pPr>
            <a:r>
              <a:rPr lang="ru-RU" dirty="0" err="1"/>
              <a:t>event.clientX</a:t>
            </a:r>
            <a:r>
              <a:rPr lang="ru-RU" dirty="0"/>
              <a:t> / </a:t>
            </a:r>
            <a:r>
              <a:rPr lang="ru-RU" dirty="0" err="1" smtClean="0"/>
              <a:t>event.clientY</a:t>
            </a:r>
            <a:r>
              <a:rPr lang="ru-RU" dirty="0" smtClean="0"/>
              <a:t> -- координаты </a:t>
            </a:r>
            <a:r>
              <a:rPr lang="ru-RU" dirty="0"/>
              <a:t>курсора в момент клика относительно окна, для событий мыши.</a:t>
            </a:r>
          </a:p>
        </p:txBody>
      </p:sp>
    </p:spTree>
    <p:extLst>
      <p:ext uri="{BB962C8B-B14F-4D97-AF65-F5344CB8AC3E}">
        <p14:creationId xmlns:p14="http://schemas.microsoft.com/office/powerpoint/2010/main" val="4055938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6511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назначении обработчика в HTML, тоже можно использовать объект </a:t>
            </a:r>
            <a:r>
              <a:rPr lang="ru-RU" dirty="0" err="1" smtClean="0"/>
              <a:t>event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9703719" cy="423264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118085" y="2252295"/>
            <a:ext cx="105036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Можно назначить </a:t>
            </a:r>
            <a:r>
              <a:rPr lang="ru-RU" dirty="0"/>
              <a:t>обработчиком </a:t>
            </a:r>
            <a:r>
              <a:rPr lang="ru-RU" dirty="0" smtClean="0"/>
              <a:t>объект </a:t>
            </a:r>
            <a:r>
              <a:rPr lang="ru-RU" dirty="0"/>
              <a:t>при помощи </a:t>
            </a:r>
            <a:r>
              <a:rPr lang="ru-RU" b="1" dirty="0" err="1" smtClean="0"/>
              <a:t>addEventListener</a:t>
            </a:r>
            <a:r>
              <a:rPr lang="ru-RU" dirty="0" smtClean="0"/>
              <a:t>, когда происходит </a:t>
            </a:r>
            <a:r>
              <a:rPr lang="ru-RU" dirty="0"/>
              <a:t>событие, вызывается метод объекта </a:t>
            </a:r>
            <a:r>
              <a:rPr lang="ru-RU" b="1" dirty="0" err="1"/>
              <a:t>handleEvent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5" y="3070713"/>
            <a:ext cx="7863683" cy="2605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467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Браузерные</a:t>
            </a:r>
            <a:r>
              <a:rPr lang="ru-RU" dirty="0" smtClean="0"/>
              <a:t> </a:t>
            </a:r>
            <a:r>
              <a:rPr lang="ru-RU" dirty="0"/>
              <a:t>события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1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6" y="774901"/>
            <a:ext cx="104004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Метод </a:t>
            </a:r>
            <a:r>
              <a:rPr lang="ru-RU" dirty="0" err="1"/>
              <a:t>handleEvent</a:t>
            </a:r>
            <a:r>
              <a:rPr lang="ru-RU" dirty="0"/>
              <a:t> </a:t>
            </a:r>
            <a:r>
              <a:rPr lang="ru-RU" dirty="0" smtClean="0"/>
              <a:t>может </a:t>
            </a:r>
            <a:r>
              <a:rPr lang="ru-RU" dirty="0"/>
              <a:t>вызывать другие методы, которые </a:t>
            </a:r>
            <a:r>
              <a:rPr lang="ru-RU" dirty="0" smtClean="0"/>
              <a:t>обрабатывают события различных типов: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404404"/>
            <a:ext cx="8704340" cy="53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647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Всплытие </a:t>
            </a:r>
            <a:r>
              <a:rPr lang="ru-RU" dirty="0"/>
              <a:t>и погружение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774901"/>
            <a:ext cx="103561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«Всплытие» события: когда </a:t>
            </a:r>
            <a:r>
              <a:rPr lang="ru-RU" dirty="0"/>
              <a:t>на элементе происходит событие, обработчики сначала срабатывают на нём, потом на его родителе, затем выше и так далее, вверх по цепочке предков.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066771"/>
            <a:ext cx="4987748" cy="329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38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Всплытие </a:t>
            </a:r>
            <a:r>
              <a:rPr lang="ru-RU" dirty="0"/>
              <a:t>и погружение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547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Самый глубокий элемент, который вызывает событие, называется </a:t>
            </a:r>
            <a:r>
              <a:rPr lang="ru-RU" b="1" dirty="0"/>
              <a:t>целевым элементом</a:t>
            </a:r>
            <a:r>
              <a:rPr lang="ru-RU" dirty="0"/>
              <a:t>, и он доступен через </a:t>
            </a:r>
            <a:r>
              <a:rPr lang="ru-RU" b="1" dirty="0" err="1"/>
              <a:t>event.target</a:t>
            </a:r>
            <a:r>
              <a:rPr lang="ru-RU" dirty="0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98" y="1646475"/>
            <a:ext cx="9785247" cy="414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7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Всплытие </a:t>
            </a:r>
            <a:r>
              <a:rPr lang="ru-RU" dirty="0"/>
              <a:t>и погружение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5773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Любой промежуточный </a:t>
            </a:r>
            <a:r>
              <a:rPr lang="ru-RU" dirty="0"/>
              <a:t>обработчик может </a:t>
            </a:r>
            <a:r>
              <a:rPr lang="ru-RU" dirty="0" smtClean="0"/>
              <a:t>остановить </a:t>
            </a:r>
            <a:r>
              <a:rPr lang="ru-RU" dirty="0"/>
              <a:t>всплытие.</a:t>
            </a:r>
          </a:p>
          <a:p>
            <a:r>
              <a:rPr lang="ru-RU" dirty="0"/>
              <a:t>Для этого нужно вызвать метод </a:t>
            </a:r>
            <a:r>
              <a:rPr lang="ru-RU" b="1" dirty="0" err="1"/>
              <a:t>event.stopPropagation</a:t>
            </a:r>
            <a:r>
              <a:rPr lang="ru-RU" b="1" dirty="0"/>
              <a:t>()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869666"/>
            <a:ext cx="8792831" cy="87475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4" y="3047459"/>
            <a:ext cx="106953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event.stopPropagation</a:t>
            </a:r>
            <a:r>
              <a:rPr lang="ru-RU" b="1" dirty="0"/>
              <a:t>() </a:t>
            </a:r>
            <a:r>
              <a:rPr lang="ru-RU" dirty="0"/>
              <a:t>препятствует продвижению события дальше, но на текущем элементе все обработчики будут вызваны.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095009" y="4093653"/>
            <a:ext cx="105773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Для </a:t>
            </a:r>
            <a:r>
              <a:rPr lang="ru-RU" dirty="0"/>
              <a:t>того, чтобы полностью остановить обработку, существует метод </a:t>
            </a:r>
            <a:r>
              <a:rPr lang="ru-RU" b="1" dirty="0" err="1"/>
              <a:t>event.stopImmediatePropagation</a:t>
            </a:r>
            <a:r>
              <a:rPr lang="ru-RU" b="1" dirty="0"/>
              <a:t>()</a:t>
            </a:r>
            <a:r>
              <a:rPr lang="ru-RU" dirty="0"/>
              <a:t>. Он не только предотвращает всплытие, но и останавливает обработку событий на текущем элементе.</a:t>
            </a:r>
          </a:p>
        </p:txBody>
      </p:sp>
    </p:spTree>
    <p:extLst>
      <p:ext uri="{BB962C8B-B14F-4D97-AF65-F5344CB8AC3E}">
        <p14:creationId xmlns:p14="http://schemas.microsoft.com/office/powerpoint/2010/main" val="453734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Всплытие </a:t>
            </a:r>
            <a:r>
              <a:rPr lang="ru-RU" dirty="0"/>
              <a:t>и погружение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19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344866" y="1259514"/>
            <a:ext cx="400450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Стандарт </a:t>
            </a:r>
            <a:r>
              <a:rPr lang="en-US" dirty="0"/>
              <a:t>DOM Events </a:t>
            </a:r>
            <a:r>
              <a:rPr lang="ru-RU" dirty="0"/>
              <a:t>описывает 3 фазы прохода события:</a:t>
            </a:r>
          </a:p>
          <a:p>
            <a:r>
              <a:rPr lang="ru-RU" dirty="0" smtClean="0"/>
              <a:t>1. Фаза </a:t>
            </a:r>
            <a:r>
              <a:rPr lang="ru-RU" b="1" dirty="0"/>
              <a:t>погружения</a:t>
            </a:r>
            <a:r>
              <a:rPr lang="ru-RU" dirty="0"/>
              <a:t> (</a:t>
            </a:r>
            <a:r>
              <a:rPr lang="en-US" dirty="0"/>
              <a:t>capturing phase) – </a:t>
            </a:r>
            <a:r>
              <a:rPr lang="ru-RU" dirty="0"/>
              <a:t>событие сначала идёт сверху вниз.</a:t>
            </a:r>
          </a:p>
          <a:p>
            <a:r>
              <a:rPr lang="ru-RU" dirty="0"/>
              <a:t>2</a:t>
            </a:r>
            <a:r>
              <a:rPr lang="ru-RU" dirty="0" smtClean="0"/>
              <a:t>. Фаза </a:t>
            </a:r>
            <a:r>
              <a:rPr lang="ru-RU" b="1" dirty="0"/>
              <a:t>цели</a:t>
            </a:r>
            <a:r>
              <a:rPr lang="ru-RU" dirty="0"/>
              <a:t> (</a:t>
            </a:r>
            <a:r>
              <a:rPr lang="en-US" dirty="0"/>
              <a:t>target phase) – </a:t>
            </a:r>
            <a:r>
              <a:rPr lang="ru-RU" dirty="0"/>
              <a:t>событие достигло целевого(исходного) элемента.</a:t>
            </a:r>
          </a:p>
          <a:p>
            <a:r>
              <a:rPr lang="ru-RU" dirty="0"/>
              <a:t>3</a:t>
            </a:r>
            <a:r>
              <a:rPr lang="ru-RU" dirty="0" smtClean="0"/>
              <a:t>. Фаза </a:t>
            </a:r>
            <a:r>
              <a:rPr lang="ru-RU" b="1" dirty="0"/>
              <a:t>всплытия</a:t>
            </a:r>
            <a:r>
              <a:rPr lang="ru-RU" dirty="0"/>
              <a:t> (</a:t>
            </a:r>
            <a:r>
              <a:rPr lang="en-US" dirty="0"/>
              <a:t>bubbling stage) – </a:t>
            </a:r>
            <a:r>
              <a:rPr lang="ru-RU" dirty="0"/>
              <a:t>событие начинает всплывать.</a:t>
            </a:r>
          </a:p>
        </p:txBody>
      </p:sp>
      <p:pic>
        <p:nvPicPr>
          <p:cNvPr id="11" name="Рисунок 10"/>
          <p:cNvPicPr/>
          <p:nvPr/>
        </p:nvPicPr>
        <p:blipFill>
          <a:blip r:embed="rId2"/>
          <a:stretch>
            <a:fillRect/>
          </a:stretch>
        </p:blipFill>
        <p:spPr>
          <a:xfrm>
            <a:off x="4483357" y="774901"/>
            <a:ext cx="6799154" cy="587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40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Всплытие </a:t>
            </a:r>
            <a:r>
              <a:rPr lang="ru-RU" dirty="0"/>
              <a:t>и погружение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81335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Обработчики, добавленные через </a:t>
            </a:r>
            <a:r>
              <a:rPr lang="ru-RU" dirty="0" err="1"/>
              <a:t>on</a:t>
            </a:r>
            <a:r>
              <a:rPr lang="ru-RU" dirty="0"/>
              <a:t>&lt;</a:t>
            </a:r>
            <a:r>
              <a:rPr lang="ru-RU" dirty="0" err="1"/>
              <a:t>event</a:t>
            </a:r>
            <a:r>
              <a:rPr lang="ru-RU" dirty="0"/>
              <a:t>&gt;-</a:t>
            </a:r>
            <a:r>
              <a:rPr lang="ru-RU" dirty="0" smtClean="0"/>
              <a:t>свойство, HTML-атрибуты, </a:t>
            </a:r>
            <a:r>
              <a:rPr lang="ru-RU" dirty="0" err="1" smtClean="0"/>
              <a:t>addEventListener</a:t>
            </a:r>
            <a:r>
              <a:rPr lang="ru-RU" dirty="0" smtClean="0"/>
              <a:t>(</a:t>
            </a:r>
            <a:r>
              <a:rPr lang="ru-RU" dirty="0" err="1" smtClean="0"/>
              <a:t>event</a:t>
            </a:r>
            <a:r>
              <a:rPr lang="ru-RU" dirty="0"/>
              <a:t>, </a:t>
            </a:r>
            <a:r>
              <a:rPr lang="ru-RU" dirty="0" err="1"/>
              <a:t>handler</a:t>
            </a:r>
            <a:r>
              <a:rPr lang="ru-RU" dirty="0"/>
              <a:t>) с </a:t>
            </a:r>
            <a:r>
              <a:rPr lang="ru-RU" b="1" dirty="0"/>
              <a:t>двумя</a:t>
            </a:r>
            <a:r>
              <a:rPr lang="ru-RU" dirty="0"/>
              <a:t> аргументами, ничего не знают о фазе погружения, а работают только на 2-ой и 3-ей фазах.</a:t>
            </a:r>
          </a:p>
          <a:p>
            <a:r>
              <a:rPr lang="ru-RU" dirty="0"/>
              <a:t>Чтобы поймать событие на стадии погружения, нужно использовать третий аргумент </a:t>
            </a:r>
            <a:r>
              <a:rPr lang="ru-RU" b="1" dirty="0" err="1" smtClean="0"/>
              <a:t>capture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2543029"/>
            <a:ext cx="6561283" cy="62787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4" y="3554727"/>
            <a:ext cx="106806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Существуют два варианта значений опции </a:t>
            </a:r>
            <a:r>
              <a:rPr lang="ru-RU" b="1" dirty="0" err="1"/>
              <a:t>capture</a:t>
            </a:r>
            <a:r>
              <a:rPr lang="ru-RU" dirty="0"/>
              <a:t>:</a:t>
            </a:r>
          </a:p>
          <a:p>
            <a:r>
              <a:rPr lang="ru-RU" dirty="0" smtClean="0"/>
              <a:t>•</a:t>
            </a:r>
            <a:r>
              <a:rPr lang="en-US" dirty="0" smtClean="0"/>
              <a:t> </a:t>
            </a:r>
            <a:r>
              <a:rPr lang="ru-RU" dirty="0" smtClean="0"/>
              <a:t>Если </a:t>
            </a:r>
            <a:r>
              <a:rPr lang="ru-RU" dirty="0"/>
              <a:t>аргумент </a:t>
            </a:r>
            <a:r>
              <a:rPr lang="ru-RU" b="1" dirty="0" err="1"/>
              <a:t>false</a:t>
            </a:r>
            <a:r>
              <a:rPr lang="ru-RU" dirty="0"/>
              <a:t> (по умолчанию), то событие будет поймано </a:t>
            </a:r>
            <a:r>
              <a:rPr lang="ru-RU" b="1" dirty="0"/>
              <a:t>при всплытии</a:t>
            </a:r>
            <a:r>
              <a:rPr lang="ru-RU" dirty="0"/>
              <a:t>.</a:t>
            </a:r>
          </a:p>
          <a:p>
            <a:r>
              <a:rPr lang="ru-RU" dirty="0" smtClean="0"/>
              <a:t>•</a:t>
            </a:r>
            <a:r>
              <a:rPr lang="en-US" dirty="0" smtClean="0"/>
              <a:t> </a:t>
            </a:r>
            <a:r>
              <a:rPr lang="ru-RU" dirty="0" smtClean="0"/>
              <a:t>Если </a:t>
            </a:r>
            <a:r>
              <a:rPr lang="ru-RU" dirty="0"/>
              <a:t>аргумент </a:t>
            </a:r>
            <a:r>
              <a:rPr lang="ru-RU" b="1" dirty="0" err="1"/>
              <a:t>true</a:t>
            </a:r>
            <a:r>
              <a:rPr lang="ru-RU" dirty="0"/>
              <a:t>, то событие будет перехвачено </a:t>
            </a:r>
            <a:r>
              <a:rPr lang="ru-RU" b="1" dirty="0"/>
              <a:t>при погружении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3584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Всплытие </a:t>
            </a:r>
            <a:r>
              <a:rPr lang="ru-RU" dirty="0"/>
              <a:t>и погружение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2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920301"/>
            <a:ext cx="10922621" cy="505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7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Делегирование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3</a:t>
            </a:r>
            <a:endParaRPr lang="ru-RU" sz="3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4004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Делегирование</a:t>
            </a:r>
            <a:r>
              <a:rPr lang="ru-RU" dirty="0" smtClean="0"/>
              <a:t> событий: если </a:t>
            </a:r>
            <a:r>
              <a:rPr lang="ru-RU" dirty="0"/>
              <a:t>у нас есть много элементов, события на которых нужно обрабатывать похожим образом, то вместо того, чтобы назначать обработчик каждому, мы </a:t>
            </a:r>
            <a:r>
              <a:rPr lang="ru-RU" dirty="0" smtClean="0"/>
              <a:t>назначаем </a:t>
            </a:r>
            <a:r>
              <a:rPr lang="ru-RU" dirty="0"/>
              <a:t>один обработчик на их общего предка.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2755949"/>
            <a:ext cx="10810845" cy="317290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6" y="2196238"/>
            <a:ext cx="70535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Необходимо реализовать подсветку </a:t>
            </a:r>
            <a:r>
              <a:rPr lang="ru-RU" dirty="0"/>
              <a:t>ячейки &lt;</a:t>
            </a:r>
            <a:r>
              <a:rPr lang="ru-RU" dirty="0" err="1"/>
              <a:t>td</a:t>
            </a:r>
            <a:r>
              <a:rPr lang="ru-RU" dirty="0"/>
              <a:t>&gt; при </a:t>
            </a:r>
            <a:r>
              <a:rPr lang="ru-RU" dirty="0" smtClean="0"/>
              <a:t>клике: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2534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Делегирование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3</a:t>
            </a:r>
            <a:endParaRPr lang="ru-RU" sz="3600" b="1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6647773" cy="565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487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Делегирование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3</a:t>
            </a:r>
            <a:endParaRPr lang="ru-RU" sz="3600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4004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Делегирование событий можно использовать для добавления элементам «поведения» (</a:t>
            </a:r>
            <a:r>
              <a:rPr lang="ru-RU" dirty="0" err="1"/>
              <a:t>behavior</a:t>
            </a:r>
            <a:r>
              <a:rPr lang="ru-RU" dirty="0"/>
              <a:t>), декларативно задавая </a:t>
            </a:r>
            <a:r>
              <a:rPr lang="ru-RU" dirty="0" smtClean="0"/>
              <a:t>другие </a:t>
            </a:r>
            <a:r>
              <a:rPr lang="ru-RU" dirty="0"/>
              <a:t>обработчики установкой специальных HTML-атрибутов и классов.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2035359"/>
            <a:ext cx="107691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Например, здесь HTML-атрибут </a:t>
            </a:r>
            <a:r>
              <a:rPr lang="ru-RU" dirty="0" err="1"/>
              <a:t>data-counter</a:t>
            </a:r>
            <a:r>
              <a:rPr lang="ru-RU" dirty="0"/>
              <a:t> добавляет кнопкам поведение: «увеличить значение при клике»: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873417"/>
            <a:ext cx="7719439" cy="321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975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Делегирование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/>
              <a:t>3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99874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Например, при </a:t>
            </a:r>
            <a:r>
              <a:rPr lang="ru-RU" dirty="0"/>
              <a:t>клике на элемент с атрибутом </a:t>
            </a:r>
            <a:r>
              <a:rPr lang="ru-RU" dirty="0" err="1"/>
              <a:t>data-toggle-id</a:t>
            </a:r>
            <a:r>
              <a:rPr lang="ru-RU" dirty="0"/>
              <a:t> будет скрываться/показываться элемент с заданным </a:t>
            </a:r>
            <a:r>
              <a:rPr lang="ru-RU" dirty="0" err="1"/>
              <a:t>id</a:t>
            </a:r>
            <a:r>
              <a:rPr lang="ru-RU" dirty="0"/>
              <a:t>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712032"/>
            <a:ext cx="7208075" cy="4733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65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Действия </a:t>
            </a:r>
            <a:r>
              <a:rPr lang="ru-RU" dirty="0"/>
              <a:t>браузера по умолчанию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5626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Способы </a:t>
            </a:r>
            <a:r>
              <a:rPr lang="ru-RU" dirty="0"/>
              <a:t>отменить действие браузера:</a:t>
            </a:r>
          </a:p>
          <a:p>
            <a:r>
              <a:rPr lang="ru-RU" dirty="0" smtClean="0"/>
              <a:t>• Для </a:t>
            </a:r>
            <a:r>
              <a:rPr lang="ru-RU" dirty="0"/>
              <a:t>отмены действия браузера существует стандартный метод </a:t>
            </a:r>
            <a:r>
              <a:rPr lang="ru-RU" dirty="0" err="1"/>
              <a:t>event.preventDefault</a:t>
            </a:r>
            <a:r>
              <a:rPr lang="ru-RU" dirty="0"/>
              <a:t>().</a:t>
            </a:r>
          </a:p>
          <a:p>
            <a:r>
              <a:rPr lang="ru-RU" dirty="0" smtClean="0"/>
              <a:t>• Если обработчик </a:t>
            </a:r>
            <a:r>
              <a:rPr lang="ru-RU" dirty="0"/>
              <a:t>назначен через </a:t>
            </a:r>
            <a:r>
              <a:rPr lang="ru-RU" dirty="0" err="1"/>
              <a:t>on</a:t>
            </a:r>
            <a:r>
              <a:rPr lang="ru-RU" dirty="0"/>
              <a:t>&lt;событие&gt; (не через </a:t>
            </a:r>
            <a:r>
              <a:rPr lang="ru-RU" dirty="0" err="1"/>
              <a:t>addEventListener</a:t>
            </a:r>
            <a:r>
              <a:rPr lang="ru-RU" dirty="0"/>
              <a:t>), то </a:t>
            </a:r>
            <a:r>
              <a:rPr lang="ru-RU" dirty="0" smtClean="0"/>
              <a:t>можно </a:t>
            </a:r>
            <a:r>
              <a:rPr lang="ru-RU" dirty="0"/>
              <a:t>вернуть </a:t>
            </a:r>
            <a:r>
              <a:rPr lang="ru-RU" dirty="0" err="1"/>
              <a:t>false</a:t>
            </a:r>
            <a:r>
              <a:rPr lang="ru-RU" dirty="0"/>
              <a:t> из обработчика.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2469614"/>
            <a:ext cx="7803377" cy="95201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12722" y="3644190"/>
            <a:ext cx="108007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Некоторые события естественным образом вытекают друг из друга. Если мы отменим первое событие, то последующие не возникнут.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4" y="4513085"/>
            <a:ext cx="10562638" cy="64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641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Действия </a:t>
            </a:r>
            <a:r>
              <a:rPr lang="ru-RU" dirty="0"/>
              <a:t>браузера по умолчанию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79861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Необязательная опция </a:t>
            </a:r>
            <a:r>
              <a:rPr lang="ru-RU" b="1" dirty="0" err="1"/>
              <a:t>passive</a:t>
            </a:r>
            <a:r>
              <a:rPr lang="ru-RU" dirty="0"/>
              <a:t>: </a:t>
            </a:r>
            <a:r>
              <a:rPr lang="ru-RU" dirty="0" err="1"/>
              <a:t>true</a:t>
            </a:r>
            <a:r>
              <a:rPr lang="ru-RU" dirty="0"/>
              <a:t> для </a:t>
            </a:r>
            <a:r>
              <a:rPr lang="ru-RU" dirty="0" err="1"/>
              <a:t>addEventListener</a:t>
            </a:r>
            <a:r>
              <a:rPr lang="ru-RU" dirty="0"/>
              <a:t> сигнализирует браузеру, что обработчик не собирается выполнять </a:t>
            </a:r>
            <a:r>
              <a:rPr lang="ru-RU" dirty="0" err="1"/>
              <a:t>preventDefault</a:t>
            </a:r>
            <a:r>
              <a:rPr lang="ru-RU" dirty="0"/>
              <a:t>().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5" y="1686758"/>
            <a:ext cx="106216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dirty="0" err="1"/>
              <a:t>event.defaultPrevented</a:t>
            </a:r>
            <a:r>
              <a:rPr lang="ru-RU" dirty="0"/>
              <a:t> установлено в </a:t>
            </a:r>
            <a:r>
              <a:rPr lang="ru-RU" dirty="0" err="1"/>
              <a:t>true</a:t>
            </a:r>
            <a:r>
              <a:rPr lang="ru-RU" dirty="0"/>
              <a:t>, если действие по умолчанию было предотвращено, и </a:t>
            </a:r>
            <a:r>
              <a:rPr lang="ru-RU" dirty="0" err="1"/>
              <a:t>false</a:t>
            </a:r>
            <a:r>
              <a:rPr lang="ru-RU" dirty="0"/>
              <a:t>, если нет.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118084" y="2505469"/>
            <a:ext cx="107986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 умолчанию браузер при событии </a:t>
            </a:r>
            <a:r>
              <a:rPr lang="ru-RU" dirty="0" err="1"/>
              <a:t>contextmenu</a:t>
            </a:r>
            <a:r>
              <a:rPr lang="ru-RU" dirty="0"/>
              <a:t> (клик правой кнопкой мыши) показывает контекстное меню со стандартными опциями. </a:t>
            </a:r>
            <a:r>
              <a:rPr lang="ru-RU" dirty="0" smtClean="0"/>
              <a:t>Можно </a:t>
            </a:r>
            <a:r>
              <a:rPr lang="ru-RU" dirty="0"/>
              <a:t>отменить событие по умолчанию и показать своё </a:t>
            </a:r>
            <a:r>
              <a:rPr lang="ru-RU" dirty="0" smtClean="0"/>
              <a:t>меню: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3611219"/>
            <a:ext cx="9517036" cy="154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236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Действия </a:t>
            </a:r>
            <a:r>
              <a:rPr lang="ru-RU" dirty="0"/>
              <a:t>браузера по умолчанию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36" y="920300"/>
            <a:ext cx="10860247" cy="403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697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Действия </a:t>
            </a:r>
            <a:r>
              <a:rPr lang="ru-RU" dirty="0"/>
              <a:t>браузера по умолчанию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29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4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8158649" cy="427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86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Генерация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6806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Корневой элемент </a:t>
            </a:r>
            <a:r>
              <a:rPr lang="ru-RU" dirty="0"/>
              <a:t>меню может генерировать события, относящиеся к этому меню: </a:t>
            </a:r>
            <a:r>
              <a:rPr lang="ru-RU" dirty="0" err="1"/>
              <a:t>open</a:t>
            </a:r>
            <a:r>
              <a:rPr lang="ru-RU" dirty="0"/>
              <a:t> (меню раскрыто), </a:t>
            </a:r>
            <a:r>
              <a:rPr lang="ru-RU" dirty="0" err="1"/>
              <a:t>select</a:t>
            </a:r>
            <a:r>
              <a:rPr lang="ru-RU" dirty="0"/>
              <a:t> (выбран пункт меню) и т.п.</a:t>
            </a:r>
          </a:p>
          <a:p>
            <a:r>
              <a:rPr lang="ru-RU" dirty="0" smtClean="0"/>
              <a:t>Можно </a:t>
            </a:r>
            <a:r>
              <a:rPr lang="ru-RU" dirty="0"/>
              <a:t>генерировать встроенные события, такие как </a:t>
            </a:r>
            <a:r>
              <a:rPr lang="ru-RU" dirty="0" err="1"/>
              <a:t>click</a:t>
            </a:r>
            <a:r>
              <a:rPr lang="ru-RU" dirty="0"/>
              <a:t>, </a:t>
            </a:r>
            <a:r>
              <a:rPr lang="ru-RU" dirty="0" err="1" smtClean="0"/>
              <a:t>mousedown</a:t>
            </a:r>
            <a:r>
              <a:rPr lang="ru-RU" dirty="0" smtClean="0"/>
              <a:t> и др.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1989192"/>
            <a:ext cx="8911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Событие встроенного класса </a:t>
            </a:r>
            <a:r>
              <a:rPr lang="ru-RU" dirty="0" err="1"/>
              <a:t>Event</a:t>
            </a:r>
            <a:r>
              <a:rPr lang="ru-RU" dirty="0"/>
              <a:t> можно создать так: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802" y="2504085"/>
            <a:ext cx="6224127" cy="37475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82802" y="3100166"/>
            <a:ext cx="110763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• </a:t>
            </a:r>
            <a:r>
              <a:rPr lang="ru-RU" dirty="0" err="1" smtClean="0"/>
              <a:t>type</a:t>
            </a:r>
            <a:r>
              <a:rPr lang="ru-RU" dirty="0" smtClean="0"/>
              <a:t> </a:t>
            </a:r>
            <a:r>
              <a:rPr lang="ru-RU" dirty="0"/>
              <a:t>– тип события, строка, например "</a:t>
            </a:r>
            <a:r>
              <a:rPr lang="ru-RU" dirty="0" err="1"/>
              <a:t>click</a:t>
            </a:r>
            <a:r>
              <a:rPr lang="ru-RU" dirty="0"/>
              <a:t>" или же придуманная нами – "</a:t>
            </a:r>
            <a:r>
              <a:rPr lang="ru-RU" dirty="0" err="1"/>
              <a:t>hey-ho</a:t>
            </a:r>
            <a:r>
              <a:rPr lang="ru-RU" dirty="0"/>
              <a:t>!".</a:t>
            </a:r>
          </a:p>
          <a:p>
            <a:r>
              <a:rPr lang="ru-RU" dirty="0" smtClean="0"/>
              <a:t>• </a:t>
            </a:r>
            <a:r>
              <a:rPr lang="ru-RU" dirty="0" err="1" smtClean="0"/>
              <a:t>options</a:t>
            </a:r>
            <a:r>
              <a:rPr lang="ru-RU" dirty="0" smtClean="0"/>
              <a:t> </a:t>
            </a:r>
            <a:r>
              <a:rPr lang="ru-RU" dirty="0"/>
              <a:t>– объект с двумя необязательными свойствами:</a:t>
            </a:r>
          </a:p>
          <a:p>
            <a:pPr lvl="1"/>
            <a:r>
              <a:rPr lang="ru-RU" dirty="0" smtClean="0"/>
              <a:t>-- </a:t>
            </a:r>
            <a:r>
              <a:rPr lang="ru-RU" dirty="0" err="1" smtClean="0"/>
              <a:t>bubbles</a:t>
            </a:r>
            <a:r>
              <a:rPr lang="ru-RU" dirty="0"/>
              <a:t>: </a:t>
            </a:r>
            <a:r>
              <a:rPr lang="ru-RU" dirty="0" err="1"/>
              <a:t>true</a:t>
            </a:r>
            <a:r>
              <a:rPr lang="ru-RU" dirty="0"/>
              <a:t>/</a:t>
            </a:r>
            <a:r>
              <a:rPr lang="ru-RU" dirty="0" err="1"/>
              <a:t>false</a:t>
            </a:r>
            <a:r>
              <a:rPr lang="ru-RU" dirty="0"/>
              <a:t> – если </a:t>
            </a:r>
            <a:r>
              <a:rPr lang="ru-RU" dirty="0" err="1"/>
              <a:t>true</a:t>
            </a:r>
            <a:r>
              <a:rPr lang="ru-RU" dirty="0"/>
              <a:t>, тогда событие всплывает.</a:t>
            </a:r>
          </a:p>
          <a:p>
            <a:pPr lvl="1"/>
            <a:r>
              <a:rPr lang="ru-RU" dirty="0" smtClean="0"/>
              <a:t>-- </a:t>
            </a:r>
            <a:r>
              <a:rPr lang="ru-RU" dirty="0" err="1" smtClean="0"/>
              <a:t>cancelable</a:t>
            </a:r>
            <a:r>
              <a:rPr lang="ru-RU" dirty="0"/>
              <a:t>: </a:t>
            </a:r>
            <a:r>
              <a:rPr lang="ru-RU" dirty="0" err="1"/>
              <a:t>true</a:t>
            </a:r>
            <a:r>
              <a:rPr lang="ru-RU" dirty="0"/>
              <a:t>/</a:t>
            </a:r>
            <a:r>
              <a:rPr lang="ru-RU" dirty="0" err="1"/>
              <a:t>false</a:t>
            </a:r>
            <a:r>
              <a:rPr lang="ru-RU" dirty="0"/>
              <a:t> – если </a:t>
            </a:r>
            <a:r>
              <a:rPr lang="ru-RU" dirty="0" err="1"/>
              <a:t>true</a:t>
            </a:r>
            <a:r>
              <a:rPr lang="ru-RU" dirty="0"/>
              <a:t>, тогда можно отменить действие по умолчанию. </a:t>
            </a:r>
          </a:p>
        </p:txBody>
      </p:sp>
    </p:spTree>
    <p:extLst>
      <p:ext uri="{BB962C8B-B14F-4D97-AF65-F5344CB8AC3E}">
        <p14:creationId xmlns:p14="http://schemas.microsoft.com/office/powerpoint/2010/main" val="1702538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Генерация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6658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После того, как объект события создан, мы должны запустить событие на элементе, вызвав метод </a:t>
            </a:r>
            <a:r>
              <a:rPr lang="ru-RU" b="1" dirty="0" err="1"/>
              <a:t>elem.dispatchEvent</a:t>
            </a:r>
            <a:r>
              <a:rPr lang="ru-RU" b="1" dirty="0"/>
              <a:t>(</a:t>
            </a:r>
            <a:r>
              <a:rPr lang="ru-RU" b="1" dirty="0" err="1"/>
              <a:t>event</a:t>
            </a:r>
            <a:r>
              <a:rPr lang="ru-RU" b="1" dirty="0"/>
              <a:t>)</a:t>
            </a:r>
            <a:r>
              <a:rPr lang="ru-RU" dirty="0"/>
              <a:t>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647" y="1712032"/>
            <a:ext cx="8547970" cy="170959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164646" y="3816978"/>
            <a:ext cx="108976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b="1" dirty="0" err="1"/>
              <a:t>event.isTrusted</a:t>
            </a:r>
            <a:r>
              <a:rPr lang="ru-RU" b="1" dirty="0"/>
              <a:t> </a:t>
            </a:r>
            <a:r>
              <a:rPr lang="ru-RU" dirty="0"/>
              <a:t>принимает значение </a:t>
            </a:r>
            <a:r>
              <a:rPr lang="ru-RU" dirty="0" err="1"/>
              <a:t>true</a:t>
            </a:r>
            <a:r>
              <a:rPr lang="ru-RU" dirty="0"/>
              <a:t> для событий, порождаемых реальными действиями пользователя, и </a:t>
            </a:r>
            <a:r>
              <a:rPr lang="ru-RU" dirty="0" err="1"/>
              <a:t>false</a:t>
            </a:r>
            <a:r>
              <a:rPr lang="ru-RU" dirty="0"/>
              <a:t> для генерируемых кодом.</a:t>
            </a:r>
          </a:p>
        </p:txBody>
      </p:sp>
    </p:spTree>
    <p:extLst>
      <p:ext uri="{BB962C8B-B14F-4D97-AF65-F5344CB8AC3E}">
        <p14:creationId xmlns:p14="http://schemas.microsoft.com/office/powerpoint/2010/main" val="365091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Генерация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22926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</a:t>
            </a:r>
            <a:r>
              <a:rPr lang="ru-RU" dirty="0" smtClean="0"/>
              <a:t>всплытия: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435033"/>
            <a:ext cx="7690057" cy="285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251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Генерация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9441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Список конструкторов </a:t>
            </a:r>
            <a:r>
              <a:rPr lang="ru-RU" dirty="0"/>
              <a:t>для различных событий пользовательского интерфейса, которые можно найти в спецификации UI </a:t>
            </a:r>
            <a:r>
              <a:rPr lang="ru-RU" dirty="0" err="1"/>
              <a:t>Event</a:t>
            </a:r>
            <a:r>
              <a:rPr lang="ru-RU" dirty="0"/>
              <a:t>:</a:t>
            </a:r>
          </a:p>
          <a:p>
            <a:r>
              <a:rPr lang="ru-RU" dirty="0"/>
              <a:t>•	</a:t>
            </a:r>
            <a:r>
              <a:rPr lang="ru-RU" dirty="0" err="1"/>
              <a:t>UIEvent</a:t>
            </a:r>
            <a:endParaRPr lang="ru-RU" dirty="0"/>
          </a:p>
          <a:p>
            <a:r>
              <a:rPr lang="ru-RU" dirty="0"/>
              <a:t>•	</a:t>
            </a:r>
            <a:r>
              <a:rPr lang="ru-RU" dirty="0" err="1"/>
              <a:t>FocusEvent</a:t>
            </a:r>
            <a:endParaRPr lang="ru-RU" dirty="0"/>
          </a:p>
          <a:p>
            <a:r>
              <a:rPr lang="ru-RU" dirty="0"/>
              <a:t>•	</a:t>
            </a:r>
            <a:r>
              <a:rPr lang="ru-RU" dirty="0" err="1"/>
              <a:t>MouseEvent</a:t>
            </a:r>
            <a:endParaRPr lang="ru-RU" dirty="0"/>
          </a:p>
          <a:p>
            <a:r>
              <a:rPr lang="ru-RU" dirty="0"/>
              <a:t>•	</a:t>
            </a:r>
            <a:r>
              <a:rPr lang="ru-RU" dirty="0" err="1"/>
              <a:t>WheelEvent</a:t>
            </a:r>
            <a:endParaRPr lang="ru-RU" dirty="0"/>
          </a:p>
          <a:p>
            <a:r>
              <a:rPr lang="ru-RU" dirty="0"/>
              <a:t>•	</a:t>
            </a:r>
            <a:r>
              <a:rPr lang="ru-RU" dirty="0" err="1" smtClean="0"/>
              <a:t>KeyboardEvent</a:t>
            </a:r>
            <a:r>
              <a:rPr lang="ru-RU" dirty="0" smtClean="0"/>
              <a:t> и др.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18086" y="3084226"/>
            <a:ext cx="106953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Специфический конструктор позволяет указать стандартные свойства для данного типа </a:t>
            </a:r>
            <a:r>
              <a:rPr lang="ru-RU" dirty="0" smtClean="0"/>
              <a:t>события. Например</a:t>
            </a:r>
            <a:r>
              <a:rPr lang="ru-RU" dirty="0"/>
              <a:t>, </a:t>
            </a:r>
            <a:r>
              <a:rPr lang="ru-RU" dirty="0" err="1"/>
              <a:t>clientX</a:t>
            </a:r>
            <a:r>
              <a:rPr lang="ru-RU" dirty="0"/>
              <a:t>/</a:t>
            </a:r>
            <a:r>
              <a:rPr lang="ru-RU" dirty="0" err="1"/>
              <a:t>clientY</a:t>
            </a:r>
            <a:r>
              <a:rPr lang="ru-RU" dirty="0"/>
              <a:t> для события мыши: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3816503"/>
            <a:ext cx="5400701" cy="22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255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Генерация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2676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генерации пользовательских </a:t>
            </a:r>
            <a:r>
              <a:rPr lang="ru-RU" dirty="0" smtClean="0"/>
              <a:t>событий следует </a:t>
            </a:r>
            <a:r>
              <a:rPr lang="ru-RU" dirty="0"/>
              <a:t>использовать конструктор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b="1" dirty="0" err="1"/>
              <a:t>CustomEvent</a:t>
            </a:r>
            <a:r>
              <a:rPr lang="ru-RU" dirty="0"/>
              <a:t>. </a:t>
            </a:r>
            <a:r>
              <a:rPr lang="ru-RU" dirty="0" smtClean="0"/>
              <a:t>У </a:t>
            </a:r>
            <a:r>
              <a:rPr lang="ru-RU" dirty="0"/>
              <a:t>второго аргумента-объекта есть дополнительное свойство </a:t>
            </a:r>
            <a:r>
              <a:rPr lang="ru-RU" dirty="0" err="1"/>
              <a:t>detail</a:t>
            </a:r>
            <a:r>
              <a:rPr lang="ru-RU" dirty="0"/>
              <a:t>, в котором можно указывать информацию для передачи в событие.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04" y="1941363"/>
            <a:ext cx="7394512" cy="319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254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145398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Генерация </a:t>
            </a:r>
            <a:r>
              <a:rPr lang="ru-RU" dirty="0"/>
              <a:t>событий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5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5950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Вложенные события обрабатываются </a:t>
            </a:r>
            <a:r>
              <a:rPr lang="ru-RU" dirty="0" smtClean="0"/>
              <a:t>синхронно: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544125"/>
            <a:ext cx="10164425" cy="420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08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События </a:t>
            </a:r>
            <a:r>
              <a:rPr lang="ru-RU" dirty="0"/>
              <a:t>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7986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Простые события мыши:</a:t>
            </a:r>
            <a:endParaRPr lang="ru-RU" dirty="0"/>
          </a:p>
          <a:p>
            <a:r>
              <a:rPr lang="ru-RU" b="1" dirty="0" err="1" smtClean="0"/>
              <a:t>mousedown</a:t>
            </a:r>
            <a:r>
              <a:rPr lang="ru-RU" b="1" dirty="0" smtClean="0"/>
              <a:t>/</a:t>
            </a:r>
            <a:r>
              <a:rPr lang="ru-RU" b="1" dirty="0" err="1" smtClean="0"/>
              <a:t>mouseup</a:t>
            </a:r>
            <a:r>
              <a:rPr lang="ru-RU" dirty="0" smtClean="0"/>
              <a:t> -- кнопка </a:t>
            </a:r>
            <a:r>
              <a:rPr lang="ru-RU" dirty="0"/>
              <a:t>мыши нажата/отпущена над элементом.</a:t>
            </a:r>
          </a:p>
          <a:p>
            <a:r>
              <a:rPr lang="ru-RU" b="1" dirty="0" err="1" smtClean="0"/>
              <a:t>mouseover</a:t>
            </a:r>
            <a:r>
              <a:rPr lang="ru-RU" b="1" dirty="0" smtClean="0"/>
              <a:t>/</a:t>
            </a:r>
            <a:r>
              <a:rPr lang="ru-RU" b="1" dirty="0" err="1" smtClean="0"/>
              <a:t>mouseout</a:t>
            </a:r>
            <a:r>
              <a:rPr lang="ru-RU" b="1" dirty="0" smtClean="0"/>
              <a:t> </a:t>
            </a:r>
            <a:r>
              <a:rPr lang="ru-RU" dirty="0" smtClean="0"/>
              <a:t>-- курсор </a:t>
            </a:r>
            <a:r>
              <a:rPr lang="ru-RU" dirty="0"/>
              <a:t>мыши появляется над элементом и уходит с него.</a:t>
            </a:r>
          </a:p>
          <a:p>
            <a:r>
              <a:rPr lang="en-US" b="1" dirty="0" smtClean="0"/>
              <a:t>m</a:t>
            </a:r>
            <a:r>
              <a:rPr lang="ru-RU" b="1" dirty="0" err="1" smtClean="0"/>
              <a:t>ousemove</a:t>
            </a:r>
            <a:r>
              <a:rPr lang="ru-RU" b="1" dirty="0" smtClean="0"/>
              <a:t> </a:t>
            </a:r>
            <a:r>
              <a:rPr lang="ru-RU" dirty="0" smtClean="0"/>
              <a:t>-- каждое </a:t>
            </a:r>
            <a:r>
              <a:rPr lang="ru-RU" dirty="0"/>
              <a:t>движение мыши над элементом генерирует это событие.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2354518"/>
            <a:ext cx="1026767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Комплексные события</a:t>
            </a:r>
          </a:p>
          <a:p>
            <a:r>
              <a:rPr lang="ru-RU" b="1" dirty="0" err="1"/>
              <a:t>с</a:t>
            </a:r>
            <a:r>
              <a:rPr lang="ru-RU" b="1" dirty="0" err="1" smtClean="0"/>
              <a:t>lick</a:t>
            </a:r>
            <a:r>
              <a:rPr lang="ru-RU" dirty="0" smtClean="0"/>
              <a:t> -- вызывается </a:t>
            </a:r>
            <a:r>
              <a:rPr lang="ru-RU" dirty="0"/>
              <a:t>при </a:t>
            </a:r>
            <a:r>
              <a:rPr lang="ru-RU" dirty="0" err="1"/>
              <a:t>mousedown</a:t>
            </a:r>
            <a:r>
              <a:rPr lang="ru-RU" dirty="0"/>
              <a:t> , а затем </a:t>
            </a:r>
            <a:r>
              <a:rPr lang="ru-RU" dirty="0" err="1"/>
              <a:t>mouseup</a:t>
            </a:r>
            <a:r>
              <a:rPr lang="ru-RU" dirty="0"/>
              <a:t> над одним и тем же элементом, если использовалась левая кнопка мыши.</a:t>
            </a:r>
          </a:p>
          <a:p>
            <a:r>
              <a:rPr lang="ru-RU" b="1" dirty="0" err="1" smtClean="0"/>
              <a:t>contextmenu</a:t>
            </a:r>
            <a:r>
              <a:rPr lang="ru-RU" dirty="0" smtClean="0"/>
              <a:t> -- вызывается </a:t>
            </a:r>
            <a:r>
              <a:rPr lang="ru-RU" dirty="0"/>
              <a:t>при </a:t>
            </a:r>
            <a:r>
              <a:rPr lang="ru-RU" dirty="0" err="1"/>
              <a:t>mousedown</a:t>
            </a:r>
            <a:r>
              <a:rPr lang="ru-RU" dirty="0"/>
              <a:t> правой кнопкой мыши.</a:t>
            </a:r>
          </a:p>
          <a:p>
            <a:r>
              <a:rPr lang="ru-RU" b="1" dirty="0" err="1" smtClean="0"/>
              <a:t>dblclick</a:t>
            </a:r>
            <a:r>
              <a:rPr lang="ru-RU" dirty="0" smtClean="0"/>
              <a:t> -- вызывается </a:t>
            </a:r>
            <a:r>
              <a:rPr lang="ru-RU" dirty="0"/>
              <a:t>двойным кликом на элементе.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4" y="4065734"/>
            <a:ext cx="1107391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События, связанные с кликом, всегда имеют свойство </a:t>
            </a:r>
            <a:r>
              <a:rPr lang="ru-RU" b="1" dirty="0" err="1"/>
              <a:t>which</a:t>
            </a:r>
            <a:r>
              <a:rPr lang="ru-RU" dirty="0"/>
              <a:t>, которое позволяет определить нажатую кнопку </a:t>
            </a:r>
            <a:r>
              <a:rPr lang="ru-RU" dirty="0" smtClean="0"/>
              <a:t>мыши: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err="1" smtClean="0"/>
              <a:t>event.which</a:t>
            </a:r>
            <a:r>
              <a:rPr lang="en-US" dirty="0" smtClean="0"/>
              <a:t> </a:t>
            </a:r>
            <a:r>
              <a:rPr lang="en-US" dirty="0"/>
              <a:t>== 1 – </a:t>
            </a:r>
            <a:r>
              <a:rPr lang="ru-RU" dirty="0"/>
              <a:t>левая кнопка</a:t>
            </a:r>
          </a:p>
          <a:p>
            <a:r>
              <a:rPr lang="ru-RU" dirty="0" smtClean="0"/>
              <a:t>• </a:t>
            </a:r>
            <a:r>
              <a:rPr lang="en-US" dirty="0" err="1" smtClean="0"/>
              <a:t>event.which</a:t>
            </a:r>
            <a:r>
              <a:rPr lang="en-US" dirty="0" smtClean="0"/>
              <a:t> </a:t>
            </a:r>
            <a:r>
              <a:rPr lang="en-US" dirty="0"/>
              <a:t>== 2 – </a:t>
            </a:r>
            <a:r>
              <a:rPr lang="ru-RU" dirty="0"/>
              <a:t>средняя кнопка</a:t>
            </a:r>
          </a:p>
          <a:p>
            <a:r>
              <a:rPr lang="ru-RU" dirty="0" smtClean="0"/>
              <a:t>• </a:t>
            </a:r>
            <a:r>
              <a:rPr lang="en-US" dirty="0" err="1" smtClean="0"/>
              <a:t>event.which</a:t>
            </a:r>
            <a:r>
              <a:rPr lang="en-US" dirty="0" smtClean="0"/>
              <a:t> </a:t>
            </a:r>
            <a:r>
              <a:rPr lang="en-US" dirty="0"/>
              <a:t>== 3 – </a:t>
            </a:r>
            <a:r>
              <a:rPr lang="ru-RU" dirty="0"/>
              <a:t>правая кнопка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6232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События </a:t>
            </a:r>
            <a:r>
              <a:rPr lang="ru-RU" dirty="0"/>
              <a:t>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7986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Все события мыши включают в себя информацию о нажатых </a:t>
            </a:r>
            <a:r>
              <a:rPr lang="ru-RU" dirty="0" smtClean="0"/>
              <a:t>клавишах-модификаторах. Их </a:t>
            </a:r>
            <a:r>
              <a:rPr lang="ru-RU" dirty="0"/>
              <a:t>свойства:</a:t>
            </a:r>
          </a:p>
          <a:p>
            <a:r>
              <a:rPr lang="ru-RU" dirty="0" smtClean="0"/>
              <a:t>• </a:t>
            </a:r>
            <a:r>
              <a:rPr lang="ru-RU" dirty="0" err="1" smtClean="0"/>
              <a:t>shiftKey</a:t>
            </a:r>
            <a:endParaRPr lang="ru-RU" dirty="0"/>
          </a:p>
          <a:p>
            <a:r>
              <a:rPr lang="ru-RU" dirty="0" smtClean="0"/>
              <a:t>• </a:t>
            </a:r>
            <a:r>
              <a:rPr lang="ru-RU" dirty="0" err="1" smtClean="0"/>
              <a:t>altKey</a:t>
            </a:r>
            <a:endParaRPr lang="ru-RU" dirty="0"/>
          </a:p>
          <a:p>
            <a:r>
              <a:rPr lang="ru-RU" dirty="0" smtClean="0"/>
              <a:t>• </a:t>
            </a:r>
            <a:r>
              <a:rPr lang="ru-RU" dirty="0" err="1" smtClean="0"/>
              <a:t>ctrlKey</a:t>
            </a:r>
            <a:endParaRPr lang="ru-RU" dirty="0"/>
          </a:p>
          <a:p>
            <a:r>
              <a:rPr lang="ru-RU" dirty="0" smtClean="0"/>
              <a:t>• </a:t>
            </a:r>
            <a:r>
              <a:rPr lang="ru-RU" dirty="0" err="1" smtClean="0"/>
              <a:t>metaKey</a:t>
            </a:r>
            <a:r>
              <a:rPr lang="ru-RU" dirty="0" smtClean="0"/>
              <a:t> </a:t>
            </a:r>
            <a:r>
              <a:rPr lang="ru-RU" dirty="0"/>
              <a:t>(</a:t>
            </a:r>
            <a:r>
              <a:rPr lang="ru-RU" dirty="0" err="1"/>
              <a:t>Cmd</a:t>
            </a:r>
            <a:r>
              <a:rPr lang="ru-RU" dirty="0"/>
              <a:t> для </a:t>
            </a:r>
            <a:r>
              <a:rPr lang="ru-RU" dirty="0" err="1"/>
              <a:t>Mac</a:t>
            </a:r>
            <a:r>
              <a:rPr lang="ru-RU" dirty="0" smtClean="0"/>
              <a:t>)</a:t>
            </a:r>
          </a:p>
          <a:p>
            <a:endParaRPr lang="ru-RU" dirty="0"/>
          </a:p>
          <a:p>
            <a:r>
              <a:rPr lang="ru-RU" dirty="0"/>
              <a:t>Например, кнопка внизу работает только при комбинации </a:t>
            </a:r>
            <a:r>
              <a:rPr lang="ru-RU" dirty="0" err="1"/>
              <a:t>Alt+Shift+клик</a:t>
            </a:r>
            <a:r>
              <a:rPr lang="ru-RU" dirty="0"/>
              <a:t>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3351109"/>
            <a:ext cx="7948407" cy="2474504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18084" y="5967061"/>
            <a:ext cx="104741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 </a:t>
            </a:r>
            <a:r>
              <a:rPr lang="ru-RU" dirty="0" err="1"/>
              <a:t>Windows</a:t>
            </a:r>
            <a:r>
              <a:rPr lang="ru-RU" dirty="0"/>
              <a:t> и </a:t>
            </a:r>
            <a:r>
              <a:rPr lang="ru-RU" dirty="0" err="1"/>
              <a:t>Linux</a:t>
            </a:r>
            <a:r>
              <a:rPr lang="ru-RU" dirty="0"/>
              <a:t> клавишами-модификаторами являются </a:t>
            </a:r>
            <a:r>
              <a:rPr lang="ru-RU" dirty="0" err="1"/>
              <a:t>Alt</a:t>
            </a:r>
            <a:r>
              <a:rPr lang="ru-RU" dirty="0"/>
              <a:t>, </a:t>
            </a:r>
            <a:r>
              <a:rPr lang="ru-RU" dirty="0" err="1"/>
              <a:t>Shift</a:t>
            </a:r>
            <a:r>
              <a:rPr lang="ru-RU" dirty="0"/>
              <a:t> и </a:t>
            </a:r>
            <a:r>
              <a:rPr lang="ru-RU" dirty="0" err="1"/>
              <a:t>Ctrl</a:t>
            </a:r>
            <a:r>
              <a:rPr lang="ru-RU" dirty="0"/>
              <a:t>. На </a:t>
            </a:r>
            <a:r>
              <a:rPr lang="ru-RU" dirty="0" err="1"/>
              <a:t>Mac</a:t>
            </a:r>
            <a:r>
              <a:rPr lang="ru-RU" dirty="0"/>
              <a:t> есть ещё одна: </a:t>
            </a:r>
            <a:r>
              <a:rPr lang="ru-RU" dirty="0" err="1"/>
              <a:t>Cmd</a:t>
            </a:r>
            <a:r>
              <a:rPr lang="ru-RU" dirty="0"/>
              <a:t>, она соответствует свойству </a:t>
            </a:r>
            <a:r>
              <a:rPr lang="ru-RU" dirty="0" err="1"/>
              <a:t>metaKey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3493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События </a:t>
            </a:r>
            <a:r>
              <a:rPr lang="ru-RU" dirty="0"/>
              <a:t>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77282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Все события мыши имеют координаты двух видов:</a:t>
            </a:r>
          </a:p>
          <a:p>
            <a:r>
              <a:rPr lang="ru-RU" dirty="0" smtClean="0"/>
              <a:t>1. Относительно </a:t>
            </a:r>
            <a:r>
              <a:rPr lang="ru-RU" dirty="0"/>
              <a:t>окна: </a:t>
            </a:r>
            <a:r>
              <a:rPr lang="ru-RU" dirty="0" err="1"/>
              <a:t>clientX</a:t>
            </a:r>
            <a:r>
              <a:rPr lang="ru-RU" dirty="0"/>
              <a:t> и </a:t>
            </a:r>
            <a:r>
              <a:rPr lang="ru-RU" dirty="0" err="1"/>
              <a:t>clientY</a:t>
            </a:r>
            <a:r>
              <a:rPr lang="ru-RU" dirty="0"/>
              <a:t>.</a:t>
            </a:r>
          </a:p>
          <a:p>
            <a:r>
              <a:rPr lang="ru-RU" dirty="0"/>
              <a:t>2</a:t>
            </a:r>
            <a:r>
              <a:rPr lang="ru-RU" dirty="0" smtClean="0"/>
              <a:t>. Относительно </a:t>
            </a:r>
            <a:r>
              <a:rPr lang="ru-RU" dirty="0"/>
              <a:t>документа: </a:t>
            </a:r>
            <a:r>
              <a:rPr lang="ru-RU" dirty="0" err="1"/>
              <a:t>pageX</a:t>
            </a:r>
            <a:r>
              <a:rPr lang="ru-RU" dirty="0"/>
              <a:t> и </a:t>
            </a:r>
            <a:r>
              <a:rPr lang="ru-RU" dirty="0" err="1"/>
              <a:t>pageY</a:t>
            </a:r>
            <a:r>
              <a:rPr lang="ru-RU" dirty="0"/>
              <a:t>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82559"/>
            <a:ext cx="8040662" cy="69918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038225" y="2787145"/>
            <a:ext cx="5546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Можно отключить </a:t>
            </a:r>
            <a:r>
              <a:rPr lang="ru-RU" dirty="0"/>
              <a:t>выделение при </a:t>
            </a:r>
            <a:r>
              <a:rPr lang="en-US" dirty="0" err="1" smtClean="0"/>
              <a:t>mousedown</a:t>
            </a:r>
            <a:r>
              <a:rPr lang="ru-RU" dirty="0" smtClean="0"/>
              <a:t>: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6" y="3249420"/>
            <a:ext cx="8542108" cy="152824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86" y="4984502"/>
            <a:ext cx="7288495" cy="150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21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8911687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События </a:t>
            </a:r>
            <a:r>
              <a:rPr lang="ru-RU" dirty="0"/>
              <a:t>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39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6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3892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Предотвращение </a:t>
            </a:r>
            <a:r>
              <a:rPr lang="ru-RU" dirty="0" smtClean="0"/>
              <a:t>копирования: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523521"/>
            <a:ext cx="8266742" cy="120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8558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Мышь</a:t>
            </a:r>
            <a:r>
              <a:rPr lang="ru-RU" dirty="0"/>
              <a:t>: </a:t>
            </a:r>
            <a:r>
              <a:rPr lang="en-US" dirty="0" err="1"/>
              <a:t>mouseover</a:t>
            </a:r>
            <a:r>
              <a:rPr lang="en-US" dirty="0"/>
              <a:t>/out, </a:t>
            </a:r>
            <a:r>
              <a:rPr lang="en-US" dirty="0" err="1"/>
              <a:t>mouseenter</a:t>
            </a:r>
            <a:r>
              <a:rPr lang="en-US" dirty="0"/>
              <a:t>/leave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7838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Событие </a:t>
            </a:r>
            <a:r>
              <a:rPr lang="ru-RU" b="1" dirty="0" err="1"/>
              <a:t>mouseover</a:t>
            </a:r>
            <a:r>
              <a:rPr lang="ru-RU" dirty="0"/>
              <a:t> происходит в момент, когда курсор оказывается над элементом, а событие </a:t>
            </a:r>
            <a:r>
              <a:rPr lang="ru-RU" b="1" dirty="0" err="1"/>
              <a:t>mouseout</a:t>
            </a:r>
            <a:r>
              <a:rPr lang="ru-RU" dirty="0"/>
              <a:t>– в момент, когда курсор уходит с элемента</a:t>
            </a:r>
            <a:r>
              <a:rPr lang="ru-RU" dirty="0" smtClean="0"/>
              <a:t>.</a:t>
            </a:r>
          </a:p>
          <a:p>
            <a:r>
              <a:rPr lang="ru-RU" dirty="0" smtClean="0"/>
              <a:t>У этих событий есть </a:t>
            </a:r>
            <a:r>
              <a:rPr lang="ru-RU" dirty="0"/>
              <a:t>свойство </a:t>
            </a:r>
            <a:r>
              <a:rPr lang="en-US" b="1" dirty="0" err="1" smtClean="0"/>
              <a:t>relatedTarget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118086" y="2077519"/>
            <a:ext cx="1078386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события </a:t>
            </a:r>
            <a:r>
              <a:rPr lang="en-US" dirty="0" err="1"/>
              <a:t>mouseover</a:t>
            </a:r>
            <a:r>
              <a:rPr lang="en-US" dirty="0"/>
              <a:t>:</a:t>
            </a:r>
          </a:p>
          <a:p>
            <a:r>
              <a:rPr lang="en-US" dirty="0" smtClean="0"/>
              <a:t>•</a:t>
            </a:r>
            <a:r>
              <a:rPr lang="ru-RU" dirty="0" smtClean="0"/>
              <a:t> </a:t>
            </a:r>
            <a:r>
              <a:rPr lang="en-US" dirty="0" err="1" smtClean="0"/>
              <a:t>event.target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это элемент, на который курсор перешёл.</a:t>
            </a:r>
          </a:p>
          <a:p>
            <a:r>
              <a:rPr lang="ru-RU" dirty="0" smtClean="0"/>
              <a:t>• </a:t>
            </a:r>
            <a:r>
              <a:rPr lang="en-US" dirty="0" err="1" smtClean="0"/>
              <a:t>event.relatedTarget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это элемент, с которого курсор ушёл</a:t>
            </a:r>
            <a:r>
              <a:rPr lang="ru-RU" dirty="0" smtClean="0"/>
              <a:t>.</a:t>
            </a:r>
          </a:p>
          <a:p>
            <a:endParaRPr lang="ru-RU" dirty="0"/>
          </a:p>
          <a:p>
            <a:r>
              <a:rPr lang="ru-RU" dirty="0"/>
              <a:t>Для события </a:t>
            </a:r>
            <a:r>
              <a:rPr lang="en-US" dirty="0" err="1"/>
              <a:t>mouseout</a:t>
            </a:r>
            <a:r>
              <a:rPr lang="en-US" dirty="0"/>
              <a:t> </a:t>
            </a:r>
            <a:r>
              <a:rPr lang="ru-RU" dirty="0"/>
              <a:t>наоборот:</a:t>
            </a:r>
          </a:p>
          <a:p>
            <a:r>
              <a:rPr lang="ru-RU" dirty="0" smtClean="0"/>
              <a:t>• </a:t>
            </a:r>
            <a:r>
              <a:rPr lang="en-US" dirty="0" err="1" smtClean="0"/>
              <a:t>event.target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это элемент, с которого курсор ушёл.</a:t>
            </a:r>
          </a:p>
          <a:p>
            <a:r>
              <a:rPr lang="ru-RU" dirty="0" smtClean="0"/>
              <a:t>• </a:t>
            </a:r>
            <a:r>
              <a:rPr lang="en-US" dirty="0" err="1" smtClean="0"/>
              <a:t>event.relatedTarget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ru-RU" dirty="0"/>
              <a:t>это элемент, на который курсор перешёл.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5" y="4421361"/>
            <a:ext cx="101644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dirty="0" err="1"/>
              <a:t>relatedTarget</a:t>
            </a:r>
            <a:r>
              <a:rPr lang="ru-RU" dirty="0"/>
              <a:t> </a:t>
            </a:r>
            <a:r>
              <a:rPr lang="ru-RU" dirty="0" smtClean="0"/>
              <a:t>равен </a:t>
            </a:r>
            <a:r>
              <a:rPr lang="ru-RU" dirty="0" err="1" smtClean="0"/>
              <a:t>null</a:t>
            </a:r>
            <a:r>
              <a:rPr lang="ru-RU" dirty="0" smtClean="0"/>
              <a:t>, если </a:t>
            </a:r>
            <a:r>
              <a:rPr lang="ru-RU" dirty="0"/>
              <a:t>указатель мыши перешёл не с другого элемента, а из-за пределов окна </a:t>
            </a:r>
            <a:r>
              <a:rPr lang="ru-RU" dirty="0" smtClean="0"/>
              <a:t>браузера или наоборот</a:t>
            </a:r>
            <a:r>
              <a:rPr lang="ru-RU" dirty="0"/>
              <a:t>, ушёл за пределы окна.</a:t>
            </a:r>
          </a:p>
        </p:txBody>
      </p:sp>
    </p:spTree>
    <p:extLst>
      <p:ext uri="{BB962C8B-B14F-4D97-AF65-F5344CB8AC3E}">
        <p14:creationId xmlns:p14="http://schemas.microsoft.com/office/powerpoint/2010/main" val="3573189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Мышь</a:t>
            </a:r>
            <a:r>
              <a:rPr lang="ru-RU" dirty="0"/>
              <a:t>: </a:t>
            </a:r>
            <a:r>
              <a:rPr lang="en-US" dirty="0" err="1"/>
              <a:t>mouseover</a:t>
            </a:r>
            <a:r>
              <a:rPr lang="en-US" dirty="0"/>
              <a:t>/out, </a:t>
            </a:r>
            <a:r>
              <a:rPr lang="en-US" dirty="0" err="1"/>
              <a:t>mouseenter</a:t>
            </a:r>
            <a:r>
              <a:rPr lang="en-US" dirty="0"/>
              <a:t>/leave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r="9157" b="71416"/>
          <a:stretch/>
        </p:blipFill>
        <p:spPr>
          <a:xfrm>
            <a:off x="1118086" y="1034372"/>
            <a:ext cx="7509720" cy="254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7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Мышь</a:t>
            </a:r>
            <a:r>
              <a:rPr lang="ru-RU" dirty="0"/>
              <a:t>: </a:t>
            </a:r>
            <a:r>
              <a:rPr lang="en-US" dirty="0" err="1"/>
              <a:t>mouseover</a:t>
            </a:r>
            <a:r>
              <a:rPr lang="en-US" dirty="0"/>
              <a:t>/out, </a:t>
            </a:r>
            <a:r>
              <a:rPr lang="en-US" dirty="0" err="1"/>
              <a:t>mouseenter</a:t>
            </a:r>
            <a:r>
              <a:rPr lang="en-US" dirty="0"/>
              <a:t>/leave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t="30284"/>
          <a:stretch/>
        </p:blipFill>
        <p:spPr>
          <a:xfrm>
            <a:off x="1118086" y="920300"/>
            <a:ext cx="7688555" cy="577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671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Мышь</a:t>
            </a:r>
            <a:r>
              <a:rPr lang="ru-RU" dirty="0"/>
              <a:t>: </a:t>
            </a:r>
            <a:r>
              <a:rPr lang="en-US" dirty="0" err="1"/>
              <a:t>mouseover</a:t>
            </a:r>
            <a:r>
              <a:rPr lang="en-US" dirty="0"/>
              <a:t>/out, </a:t>
            </a:r>
            <a:r>
              <a:rPr lang="en-US" dirty="0" err="1"/>
              <a:t>mouseenter</a:t>
            </a:r>
            <a:r>
              <a:rPr lang="en-US" dirty="0"/>
              <a:t>/leave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920301"/>
            <a:ext cx="108133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Событие </a:t>
            </a:r>
            <a:r>
              <a:rPr lang="ru-RU" dirty="0" err="1"/>
              <a:t>mousemove</a:t>
            </a:r>
            <a:r>
              <a:rPr lang="ru-RU" dirty="0"/>
              <a:t> происходит при движении мыши. </a:t>
            </a:r>
            <a:r>
              <a:rPr lang="ru-RU" dirty="0" smtClean="0"/>
              <a:t>Если </a:t>
            </a:r>
            <a:r>
              <a:rPr lang="ru-RU" dirty="0"/>
              <a:t>курсор мыши двигается очень быстро с #FROM на #TO элемент, как это показано выше, то лежащие между ними элементы &lt;</a:t>
            </a:r>
            <a:r>
              <a:rPr lang="ru-RU" dirty="0" err="1"/>
              <a:t>div</a:t>
            </a:r>
            <a:r>
              <a:rPr lang="ru-RU" dirty="0"/>
              <a:t>&gt; (или некоторые из них) могут быть пропущены. </a:t>
            </a: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118085" y="2077519"/>
            <a:ext cx="7789941" cy="1764769"/>
          </a:xfrm>
          <a:prstGeom prst="rect">
            <a:avLst/>
          </a:prstGeom>
        </p:spPr>
      </p:pic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7450239" y="4320355"/>
            <a:ext cx="3552058" cy="205097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18085" y="438597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Курсор мыши </a:t>
            </a:r>
            <a:r>
              <a:rPr lang="ru-RU" dirty="0"/>
              <a:t>может быть только над одним элементом в любой момент времени – над самым глубоко вложенным (и верхним по z-</a:t>
            </a:r>
            <a:r>
              <a:rPr lang="ru-RU" dirty="0" err="1"/>
              <a:t>index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804960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Мышь</a:t>
            </a:r>
            <a:r>
              <a:rPr lang="ru-RU" dirty="0"/>
              <a:t>: </a:t>
            </a:r>
            <a:r>
              <a:rPr lang="en-US" dirty="0" err="1"/>
              <a:t>mouseover</a:t>
            </a:r>
            <a:r>
              <a:rPr lang="en-US" dirty="0"/>
              <a:t>/out, </a:t>
            </a:r>
            <a:r>
              <a:rPr lang="en-US" dirty="0" err="1"/>
              <a:t>mouseenter</a:t>
            </a:r>
            <a:r>
              <a:rPr lang="en-US" dirty="0"/>
              <a:t>/leave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7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9441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События </a:t>
            </a:r>
            <a:r>
              <a:rPr lang="ru-RU" b="1" dirty="0" err="1"/>
              <a:t>mouseenter</a:t>
            </a:r>
            <a:r>
              <a:rPr lang="ru-RU" b="1" dirty="0"/>
              <a:t>/</a:t>
            </a:r>
            <a:r>
              <a:rPr lang="ru-RU" b="1" dirty="0" err="1"/>
              <a:t>mouseleave</a:t>
            </a:r>
            <a:r>
              <a:rPr lang="ru-RU" dirty="0"/>
              <a:t> похожи на </a:t>
            </a:r>
            <a:r>
              <a:rPr lang="ru-RU" dirty="0" err="1"/>
              <a:t>mouseover</a:t>
            </a:r>
            <a:r>
              <a:rPr lang="ru-RU" dirty="0"/>
              <a:t>/</a:t>
            </a:r>
            <a:r>
              <a:rPr lang="ru-RU" dirty="0" err="1"/>
              <a:t>mouseout</a:t>
            </a:r>
            <a:r>
              <a:rPr lang="ru-RU" dirty="0"/>
              <a:t>. Они тоже генерируются, когда курсор мыши переходит на элемент или покидает его.</a:t>
            </a:r>
          </a:p>
          <a:p>
            <a:r>
              <a:rPr lang="ru-RU" dirty="0" smtClean="0"/>
              <a:t>Отличия:</a:t>
            </a:r>
            <a:endParaRPr lang="ru-RU" dirty="0"/>
          </a:p>
          <a:p>
            <a:r>
              <a:rPr lang="ru-RU" dirty="0" smtClean="0"/>
              <a:t>1. Переходы </a:t>
            </a:r>
            <a:r>
              <a:rPr lang="ru-RU" dirty="0"/>
              <a:t>внутри элемента по дочерним элементам не считаются.</a:t>
            </a:r>
          </a:p>
          <a:p>
            <a:r>
              <a:rPr lang="ru-RU" dirty="0"/>
              <a:t>2</a:t>
            </a:r>
            <a:r>
              <a:rPr lang="ru-RU" dirty="0" smtClean="0"/>
              <a:t>. События </a:t>
            </a:r>
            <a:r>
              <a:rPr lang="ru-RU" dirty="0" err="1"/>
              <a:t>mouseenter</a:t>
            </a:r>
            <a:r>
              <a:rPr lang="ru-RU" dirty="0"/>
              <a:t>/</a:t>
            </a:r>
            <a:r>
              <a:rPr lang="ru-RU" dirty="0" err="1"/>
              <a:t>mouseleave</a:t>
            </a:r>
            <a:r>
              <a:rPr lang="ru-RU" dirty="0"/>
              <a:t> не </a:t>
            </a:r>
            <a:r>
              <a:rPr lang="ru-RU" dirty="0" smtClean="0"/>
              <a:t>всплывают, поэтому их нельзя делегировать.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28592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Drag'n'Drop</a:t>
            </a:r>
            <a:r>
              <a:rPr lang="ru-RU" dirty="0" smtClean="0"/>
              <a:t> </a:t>
            </a:r>
            <a:r>
              <a:rPr lang="ru-RU" dirty="0"/>
              <a:t>с событиями 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920301"/>
            <a:ext cx="104004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Основной алгоритм </a:t>
            </a:r>
            <a:r>
              <a:rPr lang="ru-RU" dirty="0" err="1"/>
              <a:t>Drag’n’Drop</a:t>
            </a:r>
            <a:r>
              <a:rPr lang="ru-RU" dirty="0"/>
              <a:t> выглядит так:</a:t>
            </a:r>
          </a:p>
          <a:p>
            <a:r>
              <a:rPr lang="ru-RU" dirty="0" smtClean="0"/>
              <a:t>1. Отслеживаем </a:t>
            </a:r>
            <a:r>
              <a:rPr lang="ru-RU" dirty="0"/>
              <a:t>событие </a:t>
            </a:r>
            <a:r>
              <a:rPr lang="ru-RU" dirty="0" err="1"/>
              <a:t>mousedown</a:t>
            </a:r>
            <a:r>
              <a:rPr lang="ru-RU" dirty="0"/>
              <a:t> на переносимом элементе.</a:t>
            </a:r>
          </a:p>
          <a:p>
            <a:r>
              <a:rPr lang="ru-RU" dirty="0"/>
              <a:t>2</a:t>
            </a:r>
            <a:r>
              <a:rPr lang="ru-RU" dirty="0" smtClean="0"/>
              <a:t>. При </a:t>
            </a:r>
            <a:r>
              <a:rPr lang="ru-RU" dirty="0"/>
              <a:t>нажатии – готовим элемент к перемещению (например, создаём его копию).</a:t>
            </a:r>
          </a:p>
          <a:p>
            <a:r>
              <a:rPr lang="ru-RU" dirty="0"/>
              <a:t>3</a:t>
            </a:r>
            <a:r>
              <a:rPr lang="ru-RU" dirty="0" smtClean="0"/>
              <a:t>. При </a:t>
            </a:r>
            <a:r>
              <a:rPr lang="ru-RU" dirty="0"/>
              <a:t>наступлении </a:t>
            </a:r>
            <a:r>
              <a:rPr lang="ru-RU" dirty="0" err="1"/>
              <a:t>mousemove</a:t>
            </a:r>
            <a:r>
              <a:rPr lang="ru-RU" dirty="0"/>
              <a:t> передвигаем элемент на новые координаты путём смены </a:t>
            </a:r>
            <a:r>
              <a:rPr lang="ru-RU" dirty="0" err="1"/>
              <a:t>left</a:t>
            </a:r>
            <a:r>
              <a:rPr lang="ru-RU" dirty="0"/>
              <a:t>/</a:t>
            </a:r>
            <a:r>
              <a:rPr lang="ru-RU" dirty="0" err="1"/>
              <a:t>top</a:t>
            </a:r>
            <a:r>
              <a:rPr lang="ru-RU" dirty="0"/>
              <a:t> и </a:t>
            </a:r>
            <a:r>
              <a:rPr lang="ru-RU" dirty="0" err="1"/>
              <a:t>position:absolute</a:t>
            </a:r>
            <a:r>
              <a:rPr lang="ru-RU" dirty="0"/>
              <a:t>.</a:t>
            </a:r>
          </a:p>
          <a:p>
            <a:r>
              <a:rPr lang="ru-RU" dirty="0"/>
              <a:t>4</a:t>
            </a:r>
            <a:r>
              <a:rPr lang="ru-RU" dirty="0" smtClean="0"/>
              <a:t>. На </a:t>
            </a:r>
            <a:r>
              <a:rPr lang="ru-RU" dirty="0" err="1"/>
              <a:t>mouseup</a:t>
            </a:r>
            <a:r>
              <a:rPr lang="ru-RU" dirty="0"/>
              <a:t> (при отпускании кнопки мыши) – остановить перенос элемента и произвести все действия, связанные с окончанием </a:t>
            </a:r>
            <a:r>
              <a:rPr lang="ru-RU" dirty="0" err="1" smtClean="0"/>
              <a:t>Drag’n’Drop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19315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Drag'n'Drop</a:t>
            </a:r>
            <a:r>
              <a:rPr lang="ru-RU" dirty="0" smtClean="0"/>
              <a:t> </a:t>
            </a:r>
            <a:r>
              <a:rPr lang="ru-RU" dirty="0"/>
              <a:t>с событиями 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772820"/>
            <a:ext cx="7244250" cy="587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581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Drag'n'Drop</a:t>
            </a:r>
            <a:r>
              <a:rPr lang="ru-RU" dirty="0" smtClean="0"/>
              <a:t> </a:t>
            </a:r>
            <a:r>
              <a:rPr lang="ru-RU" dirty="0"/>
              <a:t>с событиями 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9214950" y="1077853"/>
            <a:ext cx="2451024" cy="2124221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66" y="2062447"/>
            <a:ext cx="8896069" cy="931526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118087" y="1031840"/>
            <a:ext cx="72589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Когда </a:t>
            </a:r>
            <a:r>
              <a:rPr lang="ru-RU" dirty="0"/>
              <a:t>человек нажимает на мячик (</a:t>
            </a:r>
            <a:r>
              <a:rPr lang="ru-RU" dirty="0" err="1"/>
              <a:t>mousedown</a:t>
            </a:r>
            <a:r>
              <a:rPr lang="ru-RU" dirty="0"/>
              <a:t>) – мы можем зафиксировать расстояние от курсора до левого верхнего угла шара в переменных </a:t>
            </a:r>
            <a:r>
              <a:rPr lang="ru-RU" dirty="0" err="1"/>
              <a:t>shiftX</a:t>
            </a:r>
            <a:r>
              <a:rPr lang="ru-RU" dirty="0"/>
              <a:t>/</a:t>
            </a:r>
            <a:r>
              <a:rPr lang="ru-RU" dirty="0" err="1"/>
              <a:t>shiftY</a:t>
            </a:r>
            <a:r>
              <a:rPr lang="ru-RU" dirty="0"/>
              <a:t>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3655401"/>
            <a:ext cx="10944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При переносе </a:t>
            </a:r>
            <a:r>
              <a:rPr lang="ru-RU" dirty="0"/>
              <a:t>мяча мы позиционируем его с тем же сдвигом относительно указателя </a:t>
            </a:r>
            <a:r>
              <a:rPr lang="ru-RU" dirty="0" smtClean="0"/>
              <a:t>мыши: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085" y="4453455"/>
            <a:ext cx="7060396" cy="126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622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Drag'n'Drop</a:t>
            </a:r>
            <a:r>
              <a:rPr lang="ru-RU" dirty="0" smtClean="0"/>
              <a:t> </a:t>
            </a:r>
            <a:r>
              <a:rPr lang="ru-RU" dirty="0"/>
              <a:t>с событиями 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2"/>
          <a:srcRect b="12755"/>
          <a:stretch/>
        </p:blipFill>
        <p:spPr>
          <a:xfrm>
            <a:off x="1004635" y="686413"/>
            <a:ext cx="7416694" cy="606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019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Drag'n'Drop</a:t>
            </a:r>
            <a:r>
              <a:rPr lang="ru-RU" dirty="0" smtClean="0"/>
              <a:t> </a:t>
            </a:r>
            <a:r>
              <a:rPr lang="ru-RU" dirty="0"/>
              <a:t>с событиями 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49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478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Метод </a:t>
            </a:r>
            <a:r>
              <a:rPr lang="ru-RU" b="1" dirty="0" err="1"/>
              <a:t>document.elementFromPoint</a:t>
            </a:r>
            <a:r>
              <a:rPr lang="ru-RU" b="1" dirty="0"/>
              <a:t>(</a:t>
            </a:r>
            <a:r>
              <a:rPr lang="ru-RU" b="1" dirty="0" err="1"/>
              <a:t>clientX</a:t>
            </a:r>
            <a:r>
              <a:rPr lang="ru-RU" b="1" dirty="0"/>
              <a:t>, </a:t>
            </a:r>
            <a:r>
              <a:rPr lang="ru-RU" b="1" dirty="0" err="1"/>
              <a:t>clientY</a:t>
            </a:r>
            <a:r>
              <a:rPr lang="ru-RU" b="1" dirty="0" smtClean="0"/>
              <a:t>) </a:t>
            </a:r>
            <a:r>
              <a:rPr lang="ru-RU" dirty="0" smtClean="0"/>
              <a:t>возвращает </a:t>
            </a:r>
            <a:r>
              <a:rPr lang="ru-RU" dirty="0"/>
              <a:t>наиболее глубоко вложенный элемент по заданным координатам окна (или </a:t>
            </a:r>
            <a:r>
              <a:rPr lang="ru-RU" dirty="0" err="1"/>
              <a:t>null</a:t>
            </a:r>
            <a:r>
              <a:rPr lang="ru-RU" dirty="0"/>
              <a:t>, если указанные координаты находятся за пределами окна).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646" y="1995750"/>
            <a:ext cx="10277811" cy="90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358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err="1" smtClean="0"/>
              <a:t>Drag'n'Drop</a:t>
            </a:r>
            <a:r>
              <a:rPr lang="ru-RU" dirty="0" smtClean="0"/>
              <a:t> </a:t>
            </a:r>
            <a:r>
              <a:rPr lang="ru-RU" dirty="0"/>
              <a:t>с событиями мыши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8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675572"/>
            <a:ext cx="10547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Расширенный код </a:t>
            </a:r>
            <a:r>
              <a:rPr lang="ru-RU" dirty="0" err="1"/>
              <a:t>onMouseMove</a:t>
            </a:r>
            <a:r>
              <a:rPr lang="ru-RU" dirty="0"/>
              <a:t> с поиском потенциальных целей переноса: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044904"/>
            <a:ext cx="8188146" cy="565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6187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Прокрутка</a:t>
            </a:r>
            <a:r>
              <a:rPr lang="ru-RU" dirty="0"/>
              <a:t>: событие </a:t>
            </a:r>
            <a:r>
              <a:rPr lang="en-US" dirty="0"/>
              <a:t>scroll. 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-45017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/>
              <a:t>9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42338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Отображение текущей </a:t>
            </a:r>
            <a:r>
              <a:rPr lang="ru-RU" dirty="0"/>
              <a:t>прокрутки: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523520"/>
            <a:ext cx="9645608" cy="90996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5" y="2808925"/>
            <a:ext cx="100464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Можно предотвратить </a:t>
            </a:r>
            <a:r>
              <a:rPr lang="ru-RU" dirty="0"/>
              <a:t>прокрутку, используя </a:t>
            </a:r>
            <a:r>
              <a:rPr lang="ru-RU" dirty="0" err="1"/>
              <a:t>event.preventDefault</a:t>
            </a:r>
            <a:r>
              <a:rPr lang="ru-RU" dirty="0"/>
              <a:t>() на событии, которое вызывает прокрутку.</a:t>
            </a:r>
          </a:p>
        </p:txBody>
      </p:sp>
    </p:spTree>
    <p:extLst>
      <p:ext uri="{BB962C8B-B14F-4D97-AF65-F5344CB8AC3E}">
        <p14:creationId xmlns:p14="http://schemas.microsoft.com/office/powerpoint/2010/main" val="1833036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Клавиатура</a:t>
            </a:r>
            <a:r>
              <a:rPr lang="ru-RU" dirty="0"/>
              <a:t>: </a:t>
            </a:r>
            <a:r>
              <a:rPr lang="en-US" dirty="0" err="1"/>
              <a:t>keyup</a:t>
            </a:r>
            <a:r>
              <a:rPr lang="en-US" dirty="0"/>
              <a:t>, </a:t>
            </a:r>
            <a:r>
              <a:rPr lang="en-US" dirty="0" err="1"/>
              <a:t>keydown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10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47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Событие </a:t>
            </a:r>
            <a:r>
              <a:rPr lang="ru-RU" b="1" dirty="0" err="1"/>
              <a:t>keydown</a:t>
            </a:r>
            <a:r>
              <a:rPr lang="ru-RU" dirty="0"/>
              <a:t> происходит при нажатии клавиши, а </a:t>
            </a:r>
            <a:r>
              <a:rPr lang="ru-RU" b="1" dirty="0" err="1"/>
              <a:t>keyup</a:t>
            </a:r>
            <a:r>
              <a:rPr lang="ru-RU" dirty="0"/>
              <a:t> – при отпускании.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1523521"/>
            <a:ext cx="10547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объекта события есть свойство </a:t>
            </a:r>
            <a:r>
              <a:rPr lang="ru-RU" b="1" dirty="0" err="1"/>
              <a:t>key</a:t>
            </a:r>
            <a:r>
              <a:rPr lang="ru-RU" dirty="0"/>
              <a:t>, чьё значение – символ, и свойство </a:t>
            </a:r>
            <a:r>
              <a:rPr lang="ru-RU" b="1" dirty="0" err="1"/>
              <a:t>code</a:t>
            </a:r>
            <a:r>
              <a:rPr lang="ru-RU" dirty="0"/>
              <a:t> – «физический код клавиши».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155060"/>
              </p:ext>
            </p:extLst>
          </p:nvPr>
        </p:nvGraphicFramePr>
        <p:xfrm>
          <a:off x="1231132" y="2362112"/>
          <a:ext cx="7145952" cy="9705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84016">
                  <a:extLst>
                    <a:ext uri="{9D8B030D-6E8A-4147-A177-3AD203B41FA5}">
                      <a16:colId xmlns:a16="http://schemas.microsoft.com/office/drawing/2014/main" val="4271950812"/>
                    </a:ext>
                  </a:extLst>
                </a:gridCol>
                <a:gridCol w="2846439">
                  <a:extLst>
                    <a:ext uri="{9D8B030D-6E8A-4147-A177-3AD203B41FA5}">
                      <a16:colId xmlns:a16="http://schemas.microsoft.com/office/drawing/2014/main" val="1741152911"/>
                    </a:ext>
                  </a:extLst>
                </a:gridCol>
                <a:gridCol w="2315497">
                  <a:extLst>
                    <a:ext uri="{9D8B030D-6E8A-4147-A177-3AD203B41FA5}">
                      <a16:colId xmlns:a16="http://schemas.microsoft.com/office/drawing/2014/main" val="3055257202"/>
                    </a:ext>
                  </a:extLst>
                </a:gridCol>
              </a:tblGrid>
              <a:tr h="2999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Клавиша</a:t>
                      </a:r>
                    </a:p>
                  </a:txBody>
                  <a:tcPr marL="66149" marR="211678" marT="26460" marB="2646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event.key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149" marR="211678" marT="26460" marB="2646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event.code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149" marR="211678" marT="26460" marB="26460" anchor="b"/>
                </a:tc>
                <a:extLst>
                  <a:ext uri="{0D108BD9-81ED-4DB2-BD59-A6C34878D82A}">
                    <a16:rowId xmlns:a16="http://schemas.microsoft.com/office/drawing/2014/main" val="2153137800"/>
                  </a:ext>
                </a:extLst>
              </a:tr>
              <a:tr h="2999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</a:t>
                      </a:r>
                    </a:p>
                  </a:txBody>
                  <a:tcPr marL="66149" marR="211678" marT="26460" marB="264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 (нижний регистр)</a:t>
                      </a:r>
                    </a:p>
                  </a:txBody>
                  <a:tcPr marL="66149" marR="211678" marT="26460" marB="264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KeyZ</a:t>
                      </a:r>
                      <a:endParaRPr lang="ru-RU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149" marR="211678" marT="26460" marB="26460" anchor="ctr"/>
                </a:tc>
                <a:extLst>
                  <a:ext uri="{0D108BD9-81ED-4DB2-BD59-A6C34878D82A}">
                    <a16:rowId xmlns:a16="http://schemas.microsoft.com/office/drawing/2014/main" val="1263164880"/>
                  </a:ext>
                </a:extLst>
              </a:tr>
              <a:tr h="2999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Shift+Z</a:t>
                      </a:r>
                    </a:p>
                  </a:txBody>
                  <a:tcPr marL="66149" marR="211678" marT="26460" marB="264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 (Верхний регистр)</a:t>
                      </a:r>
                    </a:p>
                  </a:txBody>
                  <a:tcPr marL="66149" marR="211678" marT="26460" marB="264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KeyZ</a:t>
                      </a:r>
                      <a:endParaRPr lang="ru-RU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149" marR="211678" marT="26460" marB="26460" anchor="ctr"/>
                </a:tc>
                <a:extLst>
                  <a:ext uri="{0D108BD9-81ED-4DB2-BD59-A6C34878D82A}">
                    <a16:rowId xmlns:a16="http://schemas.microsoft.com/office/drawing/2014/main" val="3572780955"/>
                  </a:ext>
                </a:extLst>
              </a:tr>
            </a:tbl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1231132" y="3651525"/>
            <a:ext cx="1043484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У каждой клавиши есть код, который зависит от её расположения на </a:t>
            </a:r>
            <a:r>
              <a:rPr lang="ru-RU" dirty="0" smtClean="0"/>
              <a:t>клавиатуре</a:t>
            </a:r>
            <a:r>
              <a:rPr lang="en-US" dirty="0"/>
              <a:t>: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231132" y="4046074"/>
            <a:ext cx="109608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•</a:t>
            </a:r>
            <a:r>
              <a:rPr lang="en-US" dirty="0" smtClean="0"/>
              <a:t> </a:t>
            </a:r>
            <a:r>
              <a:rPr lang="ru-RU" dirty="0" smtClean="0"/>
              <a:t>Буквенные </a:t>
            </a:r>
            <a:r>
              <a:rPr lang="ru-RU" dirty="0"/>
              <a:t>клавиши имеют коды по типу "</a:t>
            </a:r>
            <a:r>
              <a:rPr lang="en-US" dirty="0"/>
              <a:t>Key&lt;</a:t>
            </a:r>
            <a:r>
              <a:rPr lang="ru-RU" dirty="0"/>
              <a:t>буква&gt;": "</a:t>
            </a:r>
            <a:r>
              <a:rPr lang="en-US" dirty="0" err="1"/>
              <a:t>KeyA</a:t>
            </a:r>
            <a:r>
              <a:rPr lang="en-US" dirty="0"/>
              <a:t>", "</a:t>
            </a:r>
            <a:r>
              <a:rPr lang="en-US" dirty="0" err="1"/>
              <a:t>KeyB</a:t>
            </a:r>
            <a:r>
              <a:rPr lang="en-US" dirty="0"/>
              <a:t>" </a:t>
            </a:r>
            <a:r>
              <a:rPr lang="ru-RU" dirty="0"/>
              <a:t>и т.д</a:t>
            </a:r>
            <a:r>
              <a:rPr lang="ru-RU" dirty="0" smtClean="0"/>
              <a:t>.</a:t>
            </a:r>
            <a:r>
              <a:rPr lang="en-US" dirty="0" smtClean="0"/>
              <a:t> </a:t>
            </a:r>
            <a:r>
              <a:rPr lang="ru-RU" dirty="0"/>
              <a:t>Регистр </a:t>
            </a:r>
            <a:r>
              <a:rPr lang="ru-RU" dirty="0" smtClean="0"/>
              <a:t>важен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 smtClean="0"/>
              <a:t>•</a:t>
            </a:r>
            <a:r>
              <a:rPr lang="en-US" dirty="0" smtClean="0"/>
              <a:t> </a:t>
            </a:r>
            <a:r>
              <a:rPr lang="ru-RU" dirty="0" smtClean="0"/>
              <a:t>Коды </a:t>
            </a:r>
            <a:r>
              <a:rPr lang="ru-RU" dirty="0"/>
              <a:t>числовых клавиш строятся по принципу: "</a:t>
            </a:r>
            <a:r>
              <a:rPr lang="en-US" dirty="0"/>
              <a:t>Digit&lt;</a:t>
            </a:r>
            <a:r>
              <a:rPr lang="ru-RU" dirty="0"/>
              <a:t>число&gt;": "</a:t>
            </a:r>
            <a:r>
              <a:rPr lang="en-US" dirty="0"/>
              <a:t>Digit0", "Digit1" </a:t>
            </a:r>
            <a:r>
              <a:rPr lang="ru-RU" dirty="0"/>
              <a:t>и т.д.</a:t>
            </a:r>
          </a:p>
          <a:p>
            <a:r>
              <a:rPr lang="ru-RU" dirty="0" smtClean="0"/>
              <a:t>•</a:t>
            </a:r>
            <a:r>
              <a:rPr lang="en-US" dirty="0" smtClean="0"/>
              <a:t> </a:t>
            </a:r>
            <a:r>
              <a:rPr lang="ru-RU" dirty="0" smtClean="0"/>
              <a:t>Код </a:t>
            </a:r>
            <a:r>
              <a:rPr lang="ru-RU" dirty="0"/>
              <a:t>специальных клавиш – это их имя: "</a:t>
            </a:r>
            <a:r>
              <a:rPr lang="en-US" dirty="0"/>
              <a:t>Enter", "Backspace", "Tab" </a:t>
            </a:r>
            <a:r>
              <a:rPr lang="ru-RU" dirty="0"/>
              <a:t>и т.д.</a:t>
            </a:r>
          </a:p>
        </p:txBody>
      </p:sp>
    </p:spTree>
    <p:extLst>
      <p:ext uri="{BB962C8B-B14F-4D97-AF65-F5344CB8AC3E}">
        <p14:creationId xmlns:p14="http://schemas.microsoft.com/office/powerpoint/2010/main" val="23149255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Клавиатура</a:t>
            </a:r>
            <a:r>
              <a:rPr lang="ru-RU" dirty="0"/>
              <a:t>: </a:t>
            </a:r>
            <a:r>
              <a:rPr lang="en-US" dirty="0" err="1"/>
              <a:t>keyup</a:t>
            </a:r>
            <a:r>
              <a:rPr lang="en-US" dirty="0"/>
              <a:t>, </a:t>
            </a:r>
            <a:r>
              <a:rPr lang="en-US" dirty="0" err="1"/>
              <a:t>keydown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10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88665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</a:t>
            </a:r>
            <a:r>
              <a:rPr lang="ru-RU" dirty="0" err="1" smtClean="0"/>
              <a:t>пециальные</a:t>
            </a:r>
            <a:r>
              <a:rPr lang="ru-RU" dirty="0" smtClean="0"/>
              <a:t> клавиши:  </a:t>
            </a:r>
            <a:endParaRPr lang="ru-RU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16315"/>
              </p:ext>
            </p:extLst>
          </p:nvPr>
        </p:nvGraphicFramePr>
        <p:xfrm>
          <a:off x="1118086" y="1523521"/>
          <a:ext cx="8188148" cy="135408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377284">
                  <a:extLst>
                    <a:ext uri="{9D8B030D-6E8A-4147-A177-3AD203B41FA5}">
                      <a16:colId xmlns:a16="http://schemas.microsoft.com/office/drawing/2014/main" val="3160271011"/>
                    </a:ext>
                  </a:extLst>
                </a:gridCol>
                <a:gridCol w="2610464">
                  <a:extLst>
                    <a:ext uri="{9D8B030D-6E8A-4147-A177-3AD203B41FA5}">
                      <a16:colId xmlns:a16="http://schemas.microsoft.com/office/drawing/2014/main" val="254824974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23684557"/>
                    </a:ext>
                  </a:extLst>
                </a:gridCol>
              </a:tblGrid>
              <a:tr h="2885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Клавиша</a:t>
                      </a:r>
                    </a:p>
                  </a:txBody>
                  <a:tcPr marL="63623" marR="203595" marT="25449" marB="2544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event.key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623" marR="203595" marT="25449" marB="25449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event.code</a:t>
                      </a:r>
                      <a:endParaRPr lang="ru-RU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623" marR="203595" marT="25449" marB="25449" anchor="b"/>
                </a:tc>
                <a:extLst>
                  <a:ext uri="{0D108BD9-81ED-4DB2-BD59-A6C34878D82A}">
                    <a16:rowId xmlns:a16="http://schemas.microsoft.com/office/drawing/2014/main" val="3172361408"/>
                  </a:ext>
                </a:extLst>
              </a:tr>
              <a:tr h="2575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F1</a:t>
                      </a:r>
                    </a:p>
                  </a:txBody>
                  <a:tcPr marL="63623" marR="203595" marT="25449" marB="254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F1</a:t>
                      </a:r>
                    </a:p>
                  </a:txBody>
                  <a:tcPr marL="63623" marR="203595" marT="25449" marB="254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F1</a:t>
                      </a:r>
                    </a:p>
                  </a:txBody>
                  <a:tcPr marL="63623" marR="203595" marT="25449" marB="25449" anchor="ctr"/>
                </a:tc>
                <a:extLst>
                  <a:ext uri="{0D108BD9-81ED-4DB2-BD59-A6C34878D82A}">
                    <a16:rowId xmlns:a16="http://schemas.microsoft.com/office/drawing/2014/main" val="1977362509"/>
                  </a:ext>
                </a:extLst>
              </a:tr>
              <a:tr h="2575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Backspace</a:t>
                      </a:r>
                    </a:p>
                  </a:txBody>
                  <a:tcPr marL="63623" marR="203595" marT="25449" marB="254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Backspace</a:t>
                      </a:r>
                    </a:p>
                  </a:txBody>
                  <a:tcPr marL="63623" marR="203595" marT="25449" marB="254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Backspace</a:t>
                      </a:r>
                      <a:endParaRPr lang="ru-RU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623" marR="203595" marT="25449" marB="25449" anchor="ctr"/>
                </a:tc>
                <a:extLst>
                  <a:ext uri="{0D108BD9-81ED-4DB2-BD59-A6C34878D82A}">
                    <a16:rowId xmlns:a16="http://schemas.microsoft.com/office/drawing/2014/main" val="2634402411"/>
                  </a:ext>
                </a:extLst>
              </a:tr>
              <a:tr h="2833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Shift</a:t>
                      </a:r>
                    </a:p>
                  </a:txBody>
                  <a:tcPr marL="63623" marR="203595" marT="25449" marB="254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Shift</a:t>
                      </a:r>
                    </a:p>
                  </a:txBody>
                  <a:tcPr marL="63623" marR="203595" marT="25449" marB="25449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ShiftRight</a:t>
                      </a: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lang="ru-RU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ShiftLeft</a:t>
                      </a:r>
                      <a:endParaRPr lang="ru-RU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623" marR="203595" marT="25449" marB="25449" anchor="ctr"/>
                </a:tc>
                <a:extLst>
                  <a:ext uri="{0D108BD9-81ED-4DB2-BD59-A6C34878D82A}">
                    <a16:rowId xmlns:a16="http://schemas.microsoft.com/office/drawing/2014/main" val="3078062686"/>
                  </a:ext>
                </a:extLst>
              </a:tr>
            </a:tbl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1118085" y="3125644"/>
            <a:ext cx="106511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Чтобы отслеживать </a:t>
            </a:r>
            <a:r>
              <a:rPr lang="ru-RU" dirty="0"/>
              <a:t>символы, зависящие от раскладки</a:t>
            </a:r>
            <a:r>
              <a:rPr lang="ru-RU" dirty="0" smtClean="0"/>
              <a:t>, используйте </a:t>
            </a:r>
            <a:r>
              <a:rPr lang="ru-RU" dirty="0" err="1" smtClean="0"/>
              <a:t>event.key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1118084" y="3743014"/>
            <a:ext cx="111968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Для событий, вызванных автоповтором, у объекта события свойство </a:t>
            </a:r>
            <a:r>
              <a:rPr lang="ru-RU" b="1" dirty="0" err="1"/>
              <a:t>event.repeat</a:t>
            </a:r>
            <a:r>
              <a:rPr lang="ru-RU" dirty="0"/>
              <a:t> равно </a:t>
            </a:r>
            <a:r>
              <a:rPr lang="ru-RU" dirty="0" err="1"/>
              <a:t>true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92754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Клавиатура</a:t>
            </a:r>
            <a:r>
              <a:rPr lang="ru-RU" dirty="0"/>
              <a:t>: </a:t>
            </a:r>
            <a:r>
              <a:rPr lang="en-US" dirty="0" err="1"/>
              <a:t>keyup</a:t>
            </a:r>
            <a:r>
              <a:rPr lang="en-US" dirty="0"/>
              <a:t>, </a:t>
            </a:r>
            <a:r>
              <a:rPr lang="en-US" dirty="0" err="1"/>
              <a:t>keydown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13975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10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652633"/>
            <a:ext cx="7776488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Действия по </a:t>
            </a:r>
            <a:r>
              <a:rPr lang="ru-RU" dirty="0" smtClean="0"/>
              <a:t>умолчанию:</a:t>
            </a:r>
          </a:p>
          <a:p>
            <a:r>
              <a:rPr lang="ru-RU" dirty="0" smtClean="0"/>
              <a:t>• Появление </a:t>
            </a:r>
            <a:r>
              <a:rPr lang="ru-RU" dirty="0"/>
              <a:t>символа (самое очевидное).</a:t>
            </a:r>
          </a:p>
          <a:p>
            <a:r>
              <a:rPr lang="ru-RU" dirty="0" smtClean="0"/>
              <a:t>• Удаление </a:t>
            </a:r>
            <a:r>
              <a:rPr lang="ru-RU" dirty="0"/>
              <a:t>символа (клавиша </a:t>
            </a:r>
            <a:r>
              <a:rPr lang="ru-RU" dirty="0" err="1"/>
              <a:t>Delete</a:t>
            </a:r>
            <a:r>
              <a:rPr lang="ru-RU" dirty="0"/>
              <a:t>).</a:t>
            </a:r>
          </a:p>
          <a:p>
            <a:r>
              <a:rPr lang="ru-RU" dirty="0" smtClean="0"/>
              <a:t>• Прокрутка </a:t>
            </a:r>
            <a:r>
              <a:rPr lang="ru-RU" dirty="0"/>
              <a:t>страницы (клавиша </a:t>
            </a:r>
            <a:r>
              <a:rPr lang="ru-RU" dirty="0" err="1"/>
              <a:t>PageDown</a:t>
            </a:r>
            <a:r>
              <a:rPr lang="ru-RU" dirty="0"/>
              <a:t>).</a:t>
            </a:r>
          </a:p>
          <a:p>
            <a:r>
              <a:rPr lang="ru-RU" dirty="0" smtClean="0"/>
              <a:t>• Открытие </a:t>
            </a:r>
            <a:r>
              <a:rPr lang="ru-RU" dirty="0"/>
              <a:t>диалогового окна браузера «Сохранить» (</a:t>
            </a:r>
            <a:r>
              <a:rPr lang="ru-RU" dirty="0" err="1"/>
              <a:t>Ctrl+S</a:t>
            </a:r>
            <a:r>
              <a:rPr lang="ru-RU" dirty="0" smtClean="0"/>
              <a:t>) и др.</a:t>
            </a:r>
            <a:endParaRPr lang="ru-RU" dirty="0"/>
          </a:p>
          <a:p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118085" y="2220395"/>
            <a:ext cx="109441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Предотвращение стандартного действия с помощью </a:t>
            </a:r>
            <a:r>
              <a:rPr lang="ru-RU" dirty="0" err="1"/>
              <a:t>event.preventDefault</a:t>
            </a:r>
            <a:r>
              <a:rPr lang="ru-RU" dirty="0" smtClean="0"/>
              <a:t>() не </a:t>
            </a:r>
            <a:r>
              <a:rPr lang="ru-RU" dirty="0"/>
              <a:t>работает </a:t>
            </a:r>
            <a:r>
              <a:rPr lang="ru-RU" dirty="0" smtClean="0"/>
              <a:t>на </a:t>
            </a:r>
            <a:r>
              <a:rPr lang="ru-RU" dirty="0"/>
              <a:t>уровне операционной системы. Например, комбинация Alt+F4 инициирует закрытие браузера в </a:t>
            </a:r>
            <a:r>
              <a:rPr lang="ru-RU" dirty="0" err="1"/>
              <a:t>Windows</a:t>
            </a:r>
            <a:r>
              <a:rPr lang="ru-RU" dirty="0"/>
              <a:t>, что бы мы ни делали в </a:t>
            </a:r>
            <a:r>
              <a:rPr lang="ru-RU" dirty="0" err="1"/>
              <a:t>JavaScript</a:t>
            </a:r>
            <a:r>
              <a:rPr lang="ru-RU" dirty="0"/>
              <a:t>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5" y="3252896"/>
            <a:ext cx="10429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Например, &lt;</a:t>
            </a:r>
            <a:r>
              <a:rPr lang="ru-RU" dirty="0" err="1"/>
              <a:t>input</a:t>
            </a:r>
            <a:r>
              <a:rPr lang="ru-RU" dirty="0"/>
              <a:t>&gt; </a:t>
            </a:r>
            <a:r>
              <a:rPr lang="ru-RU" dirty="0" smtClean="0"/>
              <a:t>ожидает </a:t>
            </a:r>
            <a:r>
              <a:rPr lang="ru-RU" dirty="0"/>
              <a:t>телефонный номер, </a:t>
            </a:r>
            <a:r>
              <a:rPr lang="ru-RU" dirty="0" smtClean="0"/>
              <a:t>т.е. числа, </a:t>
            </a:r>
            <a:r>
              <a:rPr lang="ru-RU" dirty="0"/>
              <a:t>+, () или </a:t>
            </a:r>
            <a:r>
              <a:rPr lang="ru-RU" dirty="0" smtClean="0"/>
              <a:t>- :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3728537"/>
            <a:ext cx="7776489" cy="2256234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1120809" y="6208757"/>
            <a:ext cx="10621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Устарели </a:t>
            </a:r>
            <a:r>
              <a:rPr lang="ru-RU" dirty="0"/>
              <a:t>событие </a:t>
            </a:r>
            <a:r>
              <a:rPr lang="ru-RU" dirty="0" err="1" smtClean="0"/>
              <a:t>keypress</a:t>
            </a:r>
            <a:r>
              <a:rPr lang="ru-RU" dirty="0" smtClean="0"/>
              <a:t> и свойства </a:t>
            </a:r>
            <a:r>
              <a:rPr lang="ru-RU" dirty="0" err="1"/>
              <a:t>keyCode</a:t>
            </a:r>
            <a:r>
              <a:rPr lang="ru-RU" dirty="0"/>
              <a:t>, </a:t>
            </a:r>
            <a:r>
              <a:rPr lang="ru-RU" dirty="0" err="1"/>
              <a:t>charCode</a:t>
            </a:r>
            <a:r>
              <a:rPr lang="ru-RU" dirty="0"/>
              <a:t>, </a:t>
            </a:r>
            <a:r>
              <a:rPr lang="ru-RU" dirty="0" err="1"/>
              <a:t>which</a:t>
            </a:r>
            <a:r>
              <a:rPr lang="ru-RU" dirty="0"/>
              <a:t> у объекта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26763654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документа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11</a:t>
            </a:r>
            <a:endParaRPr lang="ru-RU" sz="3600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118085" y="920301"/>
            <a:ext cx="107986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События жизненного </a:t>
            </a:r>
            <a:r>
              <a:rPr lang="ru-RU" dirty="0"/>
              <a:t>цикла </a:t>
            </a:r>
            <a:r>
              <a:rPr lang="ru-RU" dirty="0" smtClean="0"/>
              <a:t>HTML-страницы:</a:t>
            </a:r>
            <a:endParaRPr lang="ru-RU" dirty="0"/>
          </a:p>
          <a:p>
            <a:r>
              <a:rPr lang="ru-RU" dirty="0" smtClean="0"/>
              <a:t>• </a:t>
            </a:r>
            <a:r>
              <a:rPr lang="ru-RU" b="1" dirty="0" err="1" smtClean="0"/>
              <a:t>DOMContentLoaded</a:t>
            </a:r>
            <a:r>
              <a:rPr lang="ru-RU" dirty="0" smtClean="0"/>
              <a:t> </a:t>
            </a:r>
            <a:r>
              <a:rPr lang="ru-RU" dirty="0"/>
              <a:t>– браузер полностью загрузил HTML, было построено DOM-дерево, но внешние ресурсы, такие как картинки &lt;</a:t>
            </a:r>
            <a:r>
              <a:rPr lang="ru-RU" dirty="0" err="1"/>
              <a:t>img</a:t>
            </a:r>
            <a:r>
              <a:rPr lang="ru-RU" dirty="0"/>
              <a:t>&gt; и стили, могут быть ещё не загружены.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load</a:t>
            </a:r>
            <a:r>
              <a:rPr lang="ru-RU" dirty="0" smtClean="0"/>
              <a:t> </a:t>
            </a:r>
            <a:r>
              <a:rPr lang="ru-RU" dirty="0"/>
              <a:t>– браузер загрузил HTML и внешние ресурсы (картинки, стили и т.д.).</a:t>
            </a:r>
          </a:p>
          <a:p>
            <a:r>
              <a:rPr lang="ru-RU" dirty="0" smtClean="0"/>
              <a:t>• </a:t>
            </a:r>
            <a:r>
              <a:rPr lang="ru-RU" b="1" dirty="0" err="1" smtClean="0"/>
              <a:t>beforeunload</a:t>
            </a:r>
            <a:r>
              <a:rPr lang="ru-RU" b="1" dirty="0" smtClean="0"/>
              <a:t>/</a:t>
            </a:r>
            <a:r>
              <a:rPr lang="ru-RU" b="1" dirty="0" err="1" smtClean="0"/>
              <a:t>unload</a:t>
            </a:r>
            <a:r>
              <a:rPr lang="ru-RU" dirty="0" smtClean="0"/>
              <a:t> </a:t>
            </a:r>
            <a:r>
              <a:rPr lang="ru-RU" dirty="0"/>
              <a:t>– пользователь покидает страницу.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118084" y="2631517"/>
            <a:ext cx="98399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Событие </a:t>
            </a:r>
            <a:r>
              <a:rPr lang="ru-RU" dirty="0" err="1"/>
              <a:t>DOMContentLoaded</a:t>
            </a:r>
            <a:r>
              <a:rPr lang="ru-RU" dirty="0"/>
              <a:t> срабатывает на объекте </a:t>
            </a:r>
            <a:r>
              <a:rPr lang="ru-RU" dirty="0" err="1" smtClean="0"/>
              <a:t>document</a:t>
            </a:r>
            <a:r>
              <a:rPr lang="ru-RU" dirty="0" smtClean="0"/>
              <a:t>. Необходимо использовать </a:t>
            </a:r>
            <a:r>
              <a:rPr lang="ru-RU" dirty="0" err="1"/>
              <a:t>addEventListener</a:t>
            </a:r>
            <a:r>
              <a:rPr lang="ru-RU" dirty="0"/>
              <a:t>, чтобы поймать его: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3" y="3449017"/>
            <a:ext cx="10125275" cy="264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140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документа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11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47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Когда браузер обрабатывает HTML-документ и встречает тег &lt;</a:t>
            </a:r>
            <a:r>
              <a:rPr lang="ru-RU" dirty="0" err="1"/>
              <a:t>script</a:t>
            </a:r>
            <a:r>
              <a:rPr lang="ru-RU" dirty="0"/>
              <a:t>&gt;, он должен выполнить его перед тем, как продолжить строить DOM. 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885756"/>
            <a:ext cx="9014056" cy="306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556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документа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11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10739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Скрипты, которые не блокируют </a:t>
            </a:r>
            <a:r>
              <a:rPr lang="ru-RU" dirty="0" err="1" smtClean="0"/>
              <a:t>DOMContentLoaded</a:t>
            </a:r>
            <a:r>
              <a:rPr lang="ru-RU" dirty="0" smtClean="0"/>
              <a:t>:</a:t>
            </a:r>
          </a:p>
          <a:p>
            <a:r>
              <a:rPr lang="ru-RU" dirty="0" smtClean="0"/>
              <a:t>1. Скрипты </a:t>
            </a:r>
            <a:r>
              <a:rPr lang="ru-RU" dirty="0"/>
              <a:t>с атрибутом </a:t>
            </a:r>
            <a:r>
              <a:rPr lang="ru-RU" dirty="0" err="1" smtClean="0"/>
              <a:t>async</a:t>
            </a:r>
            <a:r>
              <a:rPr lang="ru-RU" dirty="0" smtClean="0"/>
              <a:t> </a:t>
            </a:r>
            <a:r>
              <a:rPr lang="ru-RU" dirty="0"/>
              <a:t>не блокируют </a:t>
            </a:r>
            <a:r>
              <a:rPr lang="ru-RU" dirty="0" err="1"/>
              <a:t>DOMContentLoaded</a:t>
            </a:r>
            <a:r>
              <a:rPr lang="ru-RU" dirty="0"/>
              <a:t>.</a:t>
            </a:r>
          </a:p>
          <a:p>
            <a:r>
              <a:rPr lang="ru-RU" dirty="0"/>
              <a:t>2</a:t>
            </a:r>
            <a:r>
              <a:rPr lang="ru-RU" dirty="0" smtClean="0"/>
              <a:t>. Скрипты</a:t>
            </a:r>
            <a:r>
              <a:rPr lang="ru-RU" dirty="0"/>
              <a:t>, сгенерированные динамически при помощи </a:t>
            </a:r>
            <a:r>
              <a:rPr lang="ru-RU" dirty="0" err="1"/>
              <a:t>document.createElement</a:t>
            </a:r>
            <a:r>
              <a:rPr lang="ru-RU" dirty="0"/>
              <a:t>('</a:t>
            </a:r>
            <a:r>
              <a:rPr lang="ru-RU" dirty="0" err="1"/>
              <a:t>script</a:t>
            </a:r>
            <a:r>
              <a:rPr lang="ru-RU" dirty="0"/>
              <a:t>') и затем добавленные на страницу, также не блокируют это событие.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5" y="2354518"/>
            <a:ext cx="101644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Внешние таблицы стилей не затрагивают DOM, поэтому </a:t>
            </a:r>
            <a:r>
              <a:rPr lang="ru-RU" dirty="0" err="1"/>
              <a:t>DOMContentLoaded</a:t>
            </a:r>
            <a:r>
              <a:rPr lang="ru-RU" dirty="0"/>
              <a:t> их не </a:t>
            </a:r>
            <a:r>
              <a:rPr lang="ru-RU" dirty="0" smtClean="0"/>
              <a:t>ждёт. Но если </a:t>
            </a:r>
            <a:r>
              <a:rPr lang="ru-RU" dirty="0"/>
              <a:t>после стилей </a:t>
            </a:r>
            <a:r>
              <a:rPr lang="ru-RU" dirty="0" smtClean="0"/>
              <a:t>есть </a:t>
            </a:r>
            <a:r>
              <a:rPr lang="ru-RU" dirty="0"/>
              <a:t>скрипт, то этот скрипт должен дождаться, пока загрузятся стили: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3511736"/>
            <a:ext cx="8040664" cy="119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292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документа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11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7838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Событие </a:t>
            </a:r>
            <a:r>
              <a:rPr lang="ru-RU" dirty="0" err="1"/>
              <a:t>load</a:t>
            </a:r>
            <a:r>
              <a:rPr lang="ru-RU" dirty="0"/>
              <a:t> на объекте </a:t>
            </a:r>
            <a:r>
              <a:rPr lang="ru-RU" dirty="0" err="1"/>
              <a:t>window</a:t>
            </a:r>
            <a:r>
              <a:rPr lang="ru-RU" dirty="0"/>
              <a:t> наступает, когда загрузилась вся страница, включая стили, картинки и другие ресурсы.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745794"/>
            <a:ext cx="9677733" cy="227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9761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документа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59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11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7396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Когда посетитель покидает страницу, на объекте </a:t>
            </a:r>
            <a:r>
              <a:rPr lang="ru-RU" b="1" dirty="0" err="1"/>
              <a:t>window</a:t>
            </a:r>
            <a:r>
              <a:rPr lang="ru-RU" dirty="0"/>
              <a:t> генерируется событие </a:t>
            </a:r>
            <a:r>
              <a:rPr lang="ru-RU" b="1" dirty="0" err="1"/>
              <a:t>unload</a:t>
            </a:r>
            <a:r>
              <a:rPr lang="ru-RU" dirty="0"/>
              <a:t>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118085" y="1523521"/>
            <a:ext cx="3634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Обычно </a:t>
            </a:r>
            <a:r>
              <a:rPr lang="ru-RU" dirty="0" smtClean="0"/>
              <a:t>отсылают статистику: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326" y="2003630"/>
            <a:ext cx="9556494" cy="153279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32832" y="3788755"/>
            <a:ext cx="109441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Если посетитель собирается уйти со страницы или закрыть окно, обработчик </a:t>
            </a:r>
            <a:r>
              <a:rPr lang="ru-RU" dirty="0" err="1"/>
              <a:t>beforeunload</a:t>
            </a:r>
            <a:r>
              <a:rPr lang="ru-RU" dirty="0"/>
              <a:t> попросит дополнительное подтверждение.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132832" y="4687418"/>
            <a:ext cx="5024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Отменяем переход </a:t>
            </a:r>
            <a:r>
              <a:rPr lang="ru-RU" dirty="0"/>
              <a:t>на другую </a:t>
            </a:r>
            <a:r>
              <a:rPr lang="ru-RU" dirty="0" smtClean="0"/>
              <a:t>страницу:</a:t>
            </a:r>
            <a:endParaRPr lang="ru-RU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326" y="5146575"/>
            <a:ext cx="5493877" cy="94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440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документа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58219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11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478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Свойство </a:t>
            </a:r>
            <a:r>
              <a:rPr lang="ru-RU" b="1" dirty="0" err="1"/>
              <a:t>document.readyState</a:t>
            </a:r>
            <a:r>
              <a:rPr lang="ru-RU" dirty="0"/>
              <a:t> показывает </a:t>
            </a:r>
            <a:r>
              <a:rPr lang="ru-RU" dirty="0" smtClean="0"/>
              <a:t>текущее </a:t>
            </a:r>
            <a:r>
              <a:rPr lang="ru-RU" dirty="0"/>
              <a:t>состояние </a:t>
            </a:r>
            <a:r>
              <a:rPr lang="ru-RU" dirty="0" smtClean="0"/>
              <a:t>загрузки:</a:t>
            </a:r>
            <a:endParaRPr lang="ru-RU" dirty="0"/>
          </a:p>
          <a:p>
            <a:r>
              <a:rPr lang="ru-RU" dirty="0" smtClean="0"/>
              <a:t>• "</a:t>
            </a:r>
            <a:r>
              <a:rPr lang="ru-RU" dirty="0" err="1"/>
              <a:t>loading</a:t>
            </a:r>
            <a:r>
              <a:rPr lang="ru-RU" dirty="0"/>
              <a:t>" – документ загружается.</a:t>
            </a:r>
          </a:p>
          <a:p>
            <a:r>
              <a:rPr lang="ru-RU" dirty="0" smtClean="0"/>
              <a:t>• "</a:t>
            </a:r>
            <a:r>
              <a:rPr lang="ru-RU" dirty="0" err="1"/>
              <a:t>interactive</a:t>
            </a:r>
            <a:r>
              <a:rPr lang="ru-RU" dirty="0"/>
              <a:t>" – документ был полностью прочитан.</a:t>
            </a:r>
          </a:p>
          <a:p>
            <a:r>
              <a:rPr lang="ru-RU" dirty="0" smtClean="0"/>
              <a:t>• "</a:t>
            </a:r>
            <a:r>
              <a:rPr lang="ru-RU" dirty="0" err="1"/>
              <a:t>complete</a:t>
            </a:r>
            <a:r>
              <a:rPr lang="ru-RU" dirty="0"/>
              <a:t>" – документ был полностью прочитан и все ресурсы (такие как изображения) были тоже загружены.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68477" y="2631517"/>
            <a:ext cx="108744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Можно проверить </a:t>
            </a:r>
            <a:r>
              <a:rPr lang="ru-RU" dirty="0" err="1"/>
              <a:t>document.readyState</a:t>
            </a:r>
            <a:r>
              <a:rPr lang="ru-RU" dirty="0"/>
              <a:t> и</a:t>
            </a:r>
            <a:r>
              <a:rPr lang="ru-RU" dirty="0" smtClean="0"/>
              <a:t>, в зависимости от готовности документа, </a:t>
            </a:r>
            <a:r>
              <a:rPr lang="ru-RU" dirty="0"/>
              <a:t>либо установить обработчик, </a:t>
            </a:r>
            <a:r>
              <a:rPr lang="ru-RU" dirty="0" smtClean="0"/>
              <a:t>либо выполнить </a:t>
            </a:r>
            <a:r>
              <a:rPr lang="ru-RU" dirty="0"/>
              <a:t>код сразу же.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476" y="3511736"/>
            <a:ext cx="7423355" cy="251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7599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скриптов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12</a:t>
            </a:r>
            <a:endParaRPr lang="ru-RU" sz="3600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68361" y="920301"/>
            <a:ext cx="93209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Когда браузер загружает HTML и доходит до тега &lt;</a:t>
            </a:r>
            <a:r>
              <a:rPr lang="ru-RU" dirty="0" err="1"/>
              <a:t>script</a:t>
            </a:r>
            <a:r>
              <a:rPr lang="ru-RU" dirty="0"/>
              <a:t>&gt;...&lt;/</a:t>
            </a:r>
            <a:r>
              <a:rPr lang="ru-RU" dirty="0" err="1" smtClean="0"/>
              <a:t>script</a:t>
            </a:r>
            <a:r>
              <a:rPr lang="ru-RU" dirty="0" smtClean="0"/>
              <a:t>&gt; должен </a:t>
            </a:r>
            <a:r>
              <a:rPr lang="ru-RU" dirty="0"/>
              <a:t>сначала </a:t>
            </a:r>
            <a:r>
              <a:rPr lang="ru-RU" dirty="0" smtClean="0"/>
              <a:t>выполнить (или подождать пока он загрузится, затем выполнить) скрипт, </a:t>
            </a:r>
            <a:r>
              <a:rPr lang="ru-RU" dirty="0"/>
              <a:t>и только затем обработать остальную страницу</a:t>
            </a:r>
            <a:r>
              <a:rPr lang="ru-RU" dirty="0" smtClean="0"/>
              <a:t>.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Это ведёт к двум важным проблемам:</a:t>
            </a:r>
          </a:p>
          <a:p>
            <a:pPr>
              <a:lnSpc>
                <a:spcPct val="120000"/>
              </a:lnSpc>
            </a:pPr>
            <a:r>
              <a:rPr lang="ru-RU" dirty="0" smtClean="0"/>
              <a:t>1. Скрипты </a:t>
            </a:r>
            <a:r>
              <a:rPr lang="ru-RU" dirty="0"/>
              <a:t>не видят DOM-элементы ниже себя, поэтому к ним нельзя добавить обработчики и т.д.</a:t>
            </a:r>
          </a:p>
          <a:p>
            <a:pPr>
              <a:lnSpc>
                <a:spcPct val="120000"/>
              </a:lnSpc>
            </a:pPr>
            <a:r>
              <a:rPr lang="ru-RU" dirty="0"/>
              <a:t>2</a:t>
            </a:r>
            <a:r>
              <a:rPr lang="ru-RU" dirty="0" smtClean="0"/>
              <a:t>. Если </a:t>
            </a:r>
            <a:r>
              <a:rPr lang="ru-RU" dirty="0"/>
              <a:t>вверху страницы объёмный скрипт, он «блокирует» </a:t>
            </a:r>
            <a:r>
              <a:rPr lang="ru-RU" dirty="0" smtClean="0"/>
              <a:t>страницу: пользователи </a:t>
            </a:r>
            <a:r>
              <a:rPr lang="ru-RU" dirty="0"/>
              <a:t>не видят содержимое страницы, пока он не загрузится и не </a:t>
            </a:r>
            <a:r>
              <a:rPr lang="ru-RU" dirty="0" smtClean="0"/>
              <a:t>запустится.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92903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скриптов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62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12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1644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Атрибут </a:t>
            </a:r>
            <a:r>
              <a:rPr lang="ru-RU" b="1" dirty="0" err="1"/>
              <a:t>defer</a:t>
            </a:r>
            <a:r>
              <a:rPr lang="ru-RU" dirty="0"/>
              <a:t> сообщает браузеру, что он должен продолжать обрабатывать страницу и загружать скрипт в фоновом режиме, а затем запустить этот скрипт, когда он загрузится.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2077519"/>
            <a:ext cx="9937321" cy="172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456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скриптов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63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12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6806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• Скрипты </a:t>
            </a:r>
            <a:r>
              <a:rPr lang="ru-RU" dirty="0"/>
              <a:t>с </a:t>
            </a:r>
            <a:r>
              <a:rPr lang="ru-RU" dirty="0" err="1"/>
              <a:t>defer</a:t>
            </a:r>
            <a:r>
              <a:rPr lang="ru-RU" dirty="0"/>
              <a:t> никогда не блокируют страницу.</a:t>
            </a:r>
          </a:p>
          <a:p>
            <a:r>
              <a:rPr lang="ru-RU" dirty="0" smtClean="0"/>
              <a:t>• Скрипты </a:t>
            </a:r>
            <a:r>
              <a:rPr lang="ru-RU" dirty="0"/>
              <a:t>с </a:t>
            </a:r>
            <a:r>
              <a:rPr lang="ru-RU" dirty="0" err="1"/>
              <a:t>defer</a:t>
            </a:r>
            <a:r>
              <a:rPr lang="ru-RU" dirty="0"/>
              <a:t> всегда выполняются, когда дерево DOM готово, но до события </a:t>
            </a:r>
            <a:r>
              <a:rPr lang="ru-RU" dirty="0" err="1"/>
              <a:t>DOMContentLoaded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077519"/>
            <a:ext cx="9892409" cy="2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878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скриптов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64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12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547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Если сначала </a:t>
            </a:r>
            <a:r>
              <a:rPr lang="ru-RU" dirty="0"/>
              <a:t>загружается большой скрипт, а затем меньшего размера, то последний будет ждать.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800520"/>
            <a:ext cx="9072311" cy="588719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118086" y="2623127"/>
            <a:ext cx="9795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Атрибут </a:t>
            </a:r>
            <a:r>
              <a:rPr lang="ru-RU" dirty="0" err="1"/>
              <a:t>defer</a:t>
            </a:r>
            <a:r>
              <a:rPr lang="ru-RU" dirty="0"/>
              <a:t> будет проигнорирован, если в теге &lt;</a:t>
            </a:r>
            <a:r>
              <a:rPr lang="ru-RU" dirty="0" err="1"/>
              <a:t>script</a:t>
            </a:r>
            <a:r>
              <a:rPr lang="ru-RU" dirty="0"/>
              <a:t>&gt; нет </a:t>
            </a:r>
            <a:r>
              <a:rPr lang="ru-RU" dirty="0" err="1"/>
              <a:t>src</a:t>
            </a:r>
            <a:r>
              <a:rPr lang="ru-RU" dirty="0"/>
              <a:t>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118086" y="3269129"/>
            <a:ext cx="107248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Атрибут </a:t>
            </a:r>
            <a:r>
              <a:rPr lang="ru-RU" b="1" dirty="0" err="1"/>
              <a:t>async</a:t>
            </a:r>
            <a:r>
              <a:rPr lang="ru-RU" dirty="0"/>
              <a:t> означает, что скрипт абсолютно независим:</a:t>
            </a:r>
          </a:p>
          <a:p>
            <a:r>
              <a:rPr lang="ru-RU" dirty="0" smtClean="0"/>
              <a:t>• Страница </a:t>
            </a:r>
            <a:r>
              <a:rPr lang="ru-RU" dirty="0"/>
              <a:t>не ждёт асинхронных скриптов, содержимое обрабатывается и отображается.</a:t>
            </a:r>
          </a:p>
          <a:p>
            <a:r>
              <a:rPr lang="ru-RU" dirty="0" smtClean="0"/>
              <a:t>• Событие </a:t>
            </a:r>
            <a:r>
              <a:rPr lang="ru-RU" dirty="0" err="1"/>
              <a:t>DOMContentLoaded</a:t>
            </a:r>
            <a:r>
              <a:rPr lang="ru-RU" dirty="0"/>
              <a:t> и асинхронные скрипты не ждут друг </a:t>
            </a:r>
            <a:r>
              <a:rPr lang="ru-RU" dirty="0" smtClean="0"/>
              <a:t>друга.</a:t>
            </a:r>
            <a:endParaRPr lang="ru-RU" dirty="0"/>
          </a:p>
          <a:p>
            <a:r>
              <a:rPr lang="ru-RU" dirty="0" smtClean="0"/>
              <a:t>• Остальные </a:t>
            </a:r>
            <a:r>
              <a:rPr lang="ru-RU" dirty="0"/>
              <a:t>скрипты не ждут </a:t>
            </a:r>
            <a:r>
              <a:rPr lang="ru-RU" dirty="0" err="1"/>
              <a:t>async</a:t>
            </a:r>
            <a:r>
              <a:rPr lang="ru-RU" dirty="0"/>
              <a:t>, и скрипты </a:t>
            </a:r>
            <a:r>
              <a:rPr lang="ru-RU" dirty="0" smtClean="0"/>
              <a:t>c </a:t>
            </a:r>
            <a:r>
              <a:rPr lang="ru-RU" dirty="0" err="1" smtClean="0"/>
              <a:t>async</a:t>
            </a:r>
            <a:r>
              <a:rPr lang="ru-RU" dirty="0" smtClean="0"/>
              <a:t> </a:t>
            </a:r>
            <a:r>
              <a:rPr lang="ru-RU" dirty="0"/>
              <a:t>не ждут другие скрипты.</a:t>
            </a:r>
          </a:p>
        </p:txBody>
      </p:sp>
    </p:spTree>
    <p:extLst>
      <p:ext uri="{BB962C8B-B14F-4D97-AF65-F5344CB8AC3E}">
        <p14:creationId xmlns:p14="http://schemas.microsoft.com/office/powerpoint/2010/main" val="36788196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скриптов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65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12</a:t>
            </a:r>
            <a:endParaRPr lang="ru-RU" sz="36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0"/>
            <a:ext cx="10220578" cy="281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55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скриптов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66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12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5" y="920301"/>
            <a:ext cx="10665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Можно также </a:t>
            </a:r>
            <a:r>
              <a:rPr lang="ru-RU" dirty="0"/>
              <a:t>добавить скрипт </a:t>
            </a:r>
            <a:r>
              <a:rPr lang="ru-RU" dirty="0" smtClean="0"/>
              <a:t>динамически, </a:t>
            </a:r>
            <a:r>
              <a:rPr lang="ru-RU" dirty="0"/>
              <a:t>с помощью </a:t>
            </a:r>
            <a:r>
              <a:rPr lang="ru-RU" dirty="0" err="1"/>
              <a:t>JavaScript</a:t>
            </a:r>
            <a:r>
              <a:rPr lang="ru-RU" dirty="0"/>
              <a:t>: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4" y="1523521"/>
            <a:ext cx="7076479" cy="850969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118083" y="2678570"/>
            <a:ext cx="101644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Динамически загружаемые скрипты по умолчанию ведут себя как «</a:t>
            </a:r>
            <a:r>
              <a:rPr lang="ru-RU" dirty="0" err="1"/>
              <a:t>async</a:t>
            </a:r>
            <a:r>
              <a:rPr lang="ru-RU" dirty="0"/>
              <a:t>».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118082" y="3281790"/>
            <a:ext cx="105478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Установка свойства </a:t>
            </a:r>
            <a:r>
              <a:rPr lang="ru-RU" dirty="0" err="1"/>
              <a:t>async</a:t>
            </a:r>
            <a:r>
              <a:rPr lang="ru-RU" dirty="0"/>
              <a:t> в </a:t>
            </a:r>
            <a:r>
              <a:rPr lang="ru-RU" dirty="0" err="1"/>
              <a:t>false</a:t>
            </a:r>
            <a:r>
              <a:rPr lang="ru-RU" dirty="0"/>
              <a:t> </a:t>
            </a:r>
            <a:r>
              <a:rPr lang="ru-RU" dirty="0" smtClean="0"/>
              <a:t>задает порядок выполнения скриптов на тот, </a:t>
            </a:r>
            <a:r>
              <a:rPr lang="ru-RU" dirty="0"/>
              <a:t>в котором они идут в документе (как в обычных скриптах</a:t>
            </a:r>
            <a:r>
              <a:rPr lang="ru-RU" dirty="0" smtClean="0"/>
              <a:t>):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82" y="4162009"/>
            <a:ext cx="6989398" cy="164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91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скриптов</a:t>
            </a:r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67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12</a:t>
            </a:r>
            <a:endParaRPr lang="ru-RU" sz="3600" b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920301"/>
            <a:ext cx="7185256" cy="277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3111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ресурсов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68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13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7101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Браузер позволяет отслеживать загрузку сторонних ресурсов: скриптов, </a:t>
            </a:r>
            <a:r>
              <a:rPr lang="ru-RU" dirty="0" err="1"/>
              <a:t>ифреймов</a:t>
            </a:r>
            <a:r>
              <a:rPr lang="ru-RU" dirty="0"/>
              <a:t>, изображений и др</a:t>
            </a:r>
            <a:r>
              <a:rPr lang="ru-RU" dirty="0" smtClean="0"/>
              <a:t>., благодаря двум событиям:</a:t>
            </a:r>
            <a:endParaRPr lang="ru-RU" dirty="0"/>
          </a:p>
          <a:p>
            <a:r>
              <a:rPr lang="ru-RU" dirty="0" smtClean="0"/>
              <a:t>•</a:t>
            </a:r>
            <a:r>
              <a:rPr lang="ru-RU" dirty="0"/>
              <a:t>	</a:t>
            </a:r>
            <a:r>
              <a:rPr lang="ru-RU" dirty="0" err="1"/>
              <a:t>load</a:t>
            </a:r>
            <a:r>
              <a:rPr lang="ru-RU" dirty="0"/>
              <a:t> – успешная загрузка,</a:t>
            </a:r>
          </a:p>
          <a:p>
            <a:r>
              <a:rPr lang="ru-RU" dirty="0"/>
              <a:t>•	</a:t>
            </a:r>
            <a:r>
              <a:rPr lang="ru-RU" dirty="0" err="1"/>
              <a:t>error</a:t>
            </a:r>
            <a:r>
              <a:rPr lang="ru-RU" dirty="0"/>
              <a:t> – во время загрузки произошла ошибка.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1118086" y="2362369"/>
            <a:ext cx="4373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Динамически загруженный скрипт: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2973440"/>
            <a:ext cx="6601379" cy="114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37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ресурсов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69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13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6" y="920301"/>
            <a:ext cx="107838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Событие </a:t>
            </a:r>
            <a:r>
              <a:rPr lang="ru-RU" b="1" dirty="0" err="1" smtClean="0"/>
              <a:t>load</a:t>
            </a:r>
            <a:r>
              <a:rPr lang="ru-RU" dirty="0" smtClean="0"/>
              <a:t> срабатывает </a:t>
            </a:r>
            <a:r>
              <a:rPr lang="ru-RU" dirty="0"/>
              <a:t>после того, как скрипт был загружен и выполнен.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6" y="1523520"/>
            <a:ext cx="7893716" cy="220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900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ресурсов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70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13</a:t>
            </a:r>
            <a:endParaRPr lang="ru-RU" sz="3600" b="1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118086" y="920301"/>
            <a:ext cx="108281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Ошибки, которые возникают во время загрузки скрипта, могут быть отслежены с помощью события </a:t>
            </a:r>
            <a:r>
              <a:rPr lang="ru-RU" b="1" dirty="0" err="1"/>
              <a:t>error</a:t>
            </a:r>
            <a:r>
              <a:rPr lang="ru-RU" dirty="0"/>
              <a:t>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155" y="1760925"/>
            <a:ext cx="6801464" cy="206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2789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118086" y="56910"/>
            <a:ext cx="10547888" cy="62950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Загрузка </a:t>
            </a:r>
            <a:r>
              <a:rPr lang="ru-RU" dirty="0"/>
              <a:t>ресурсов</a:t>
            </a:r>
            <a:endParaRPr lang="ru-RU" dirty="0"/>
          </a:p>
        </p:txBody>
      </p:sp>
      <p:sp>
        <p:nvSpPr>
          <p:cNvPr id="6" name="Пятиугольник 5"/>
          <p:cNvSpPr/>
          <p:nvPr/>
        </p:nvSpPr>
        <p:spPr>
          <a:xfrm flipH="1">
            <a:off x="11282511" y="6091081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ятиугольник 12"/>
          <p:cNvSpPr/>
          <p:nvPr/>
        </p:nvSpPr>
        <p:spPr>
          <a:xfrm rot="16200000" flipH="1">
            <a:off x="19659" y="157808"/>
            <a:ext cx="920301" cy="60468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11282511" y="6211207"/>
            <a:ext cx="779767" cy="365125"/>
          </a:xfrm>
        </p:spPr>
        <p:txBody>
          <a:bodyPr/>
          <a:lstStyle/>
          <a:p>
            <a:fld id="{AD20FAF1-665F-4E88-AC1E-56CA99DCD683}" type="slidenum">
              <a:rPr lang="ru-RU" sz="2400" b="1" smtClean="0"/>
              <a:t>71</a:t>
            </a:fld>
            <a:endParaRPr lang="ru-RU" sz="2400" b="1" dirty="0"/>
          </a:p>
        </p:txBody>
      </p:sp>
      <p:sp>
        <p:nvSpPr>
          <p:cNvPr id="7" name="Номер слайда 5"/>
          <p:cNvSpPr txBox="1">
            <a:spLocks/>
          </p:cNvSpPr>
          <p:nvPr/>
        </p:nvSpPr>
        <p:spPr bwMode="gray">
          <a:xfrm>
            <a:off x="28723" y="145398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2000" kern="1200">
                <a:solidFill>
                  <a:srgbClr val="FE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600" b="1" dirty="0" smtClean="0"/>
              <a:t>13</a:t>
            </a:r>
            <a:endParaRPr lang="ru-RU" sz="36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18085" y="920301"/>
            <a:ext cx="108133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События </a:t>
            </a:r>
            <a:r>
              <a:rPr lang="ru-RU" dirty="0" err="1"/>
              <a:t>load</a:t>
            </a:r>
            <a:r>
              <a:rPr lang="ru-RU" dirty="0"/>
              <a:t> и </a:t>
            </a:r>
            <a:r>
              <a:rPr lang="ru-RU" dirty="0" err="1"/>
              <a:t>error</a:t>
            </a:r>
            <a:r>
              <a:rPr lang="ru-RU" dirty="0"/>
              <a:t> также срабатывают и для других ресурсов, </a:t>
            </a:r>
            <a:r>
              <a:rPr lang="ru-RU" dirty="0" smtClean="0"/>
              <a:t>у </a:t>
            </a:r>
            <a:r>
              <a:rPr lang="ru-RU" dirty="0"/>
              <a:t>которых есть внешний </a:t>
            </a:r>
            <a:r>
              <a:rPr lang="ru-RU" dirty="0" err="1"/>
              <a:t>src</a:t>
            </a:r>
            <a:r>
              <a:rPr lang="ru-RU" dirty="0"/>
              <a:t>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85" y="1523521"/>
            <a:ext cx="10106635" cy="300423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118086" y="4923149"/>
            <a:ext cx="105478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Скрипты с </a:t>
            </a:r>
            <a:r>
              <a:rPr lang="ru-RU" dirty="0"/>
              <a:t>одного сайта не могут получить доступ к содержимому другого сайта. 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1118086" y="5526369"/>
            <a:ext cx="10547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Чтобы разрешить кросс-доменный доступ, нам нужно поставить тегу &lt;</a:t>
            </a:r>
            <a:r>
              <a:rPr lang="ru-RU" dirty="0" err="1"/>
              <a:t>script</a:t>
            </a:r>
            <a:r>
              <a:rPr lang="ru-RU" dirty="0"/>
              <a:t>&gt; атрибут </a:t>
            </a:r>
            <a:r>
              <a:rPr lang="ru-RU" b="1" dirty="0" err="1"/>
              <a:t>crossorigin</a:t>
            </a:r>
            <a:r>
              <a:rPr lang="ru-RU" dirty="0"/>
              <a:t>, и, кроме того, удалённый сервер должен поставить специальные заголовки.</a:t>
            </a:r>
          </a:p>
        </p:txBody>
      </p:sp>
    </p:spTree>
    <p:extLst>
      <p:ext uri="{BB962C8B-B14F-4D97-AF65-F5344CB8AC3E}">
        <p14:creationId xmlns:p14="http://schemas.microsoft.com/office/powerpoint/2010/main" val="2069687172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745</TotalTime>
  <Words>2959</Words>
  <Application>Microsoft Office PowerPoint</Application>
  <PresentationFormat>Широкоэкранный</PresentationFormat>
  <Paragraphs>460</Paragraphs>
  <Slides>71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71</vt:i4>
      </vt:variant>
    </vt:vector>
  </HeadingPairs>
  <TitlesOfParts>
    <vt:vector size="76" baseType="lpstr">
      <vt:lpstr>Arial</vt:lpstr>
      <vt:lpstr>Calibri</vt:lpstr>
      <vt:lpstr>Century Gothic</vt:lpstr>
      <vt:lpstr>Wingdings 3</vt:lpstr>
      <vt:lpstr>Легкий дым</vt:lpstr>
      <vt:lpstr>Тема 7  События</vt:lpstr>
      <vt:lpstr>Вопросы: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Браузерные события</vt:lpstr>
      <vt:lpstr>Всплытие и погружение</vt:lpstr>
      <vt:lpstr>Всплытие и погружение</vt:lpstr>
      <vt:lpstr>Всплытие и погружение</vt:lpstr>
      <vt:lpstr>Всплытие и погружение</vt:lpstr>
      <vt:lpstr>Всплытие и погружение</vt:lpstr>
      <vt:lpstr>Всплытие и погружение</vt:lpstr>
      <vt:lpstr>Делегирование событий</vt:lpstr>
      <vt:lpstr>Делегирование событий</vt:lpstr>
      <vt:lpstr>Делегирование событий</vt:lpstr>
      <vt:lpstr>Делегирование событий</vt:lpstr>
      <vt:lpstr>Действия браузера по умолчанию</vt:lpstr>
      <vt:lpstr>Действия браузера по умолчанию</vt:lpstr>
      <vt:lpstr>Действия браузера по умолчанию</vt:lpstr>
      <vt:lpstr>Действия браузера по умолчанию</vt:lpstr>
      <vt:lpstr>Генерация событий</vt:lpstr>
      <vt:lpstr>Генерация событий</vt:lpstr>
      <vt:lpstr>Генерация событий</vt:lpstr>
      <vt:lpstr>Генерация событий</vt:lpstr>
      <vt:lpstr>Генерация событий</vt:lpstr>
      <vt:lpstr>Генерация событий</vt:lpstr>
      <vt:lpstr>События мыши</vt:lpstr>
      <vt:lpstr>События мыши</vt:lpstr>
      <vt:lpstr>События мыши</vt:lpstr>
      <vt:lpstr>События мыши</vt:lpstr>
      <vt:lpstr>Мышь: mouseover/out, mouseenter/leave</vt:lpstr>
      <vt:lpstr>Мышь: mouseover/out, mouseenter/leave</vt:lpstr>
      <vt:lpstr>Мышь: mouseover/out, mouseenter/leave</vt:lpstr>
      <vt:lpstr>Мышь: mouseover/out, mouseenter/leave</vt:lpstr>
      <vt:lpstr>Мышь: mouseover/out, mouseenter/leave</vt:lpstr>
      <vt:lpstr>Drag'n'Drop с событиями мыши</vt:lpstr>
      <vt:lpstr>Drag'n'Drop с событиями мыши</vt:lpstr>
      <vt:lpstr>Drag'n'Drop с событиями мыши</vt:lpstr>
      <vt:lpstr>Drag'n'Drop с событиями мыши</vt:lpstr>
      <vt:lpstr>Drag'n'Drop с событиями мыши</vt:lpstr>
      <vt:lpstr>Drag'n'Drop с событиями мыши</vt:lpstr>
      <vt:lpstr>Прокрутка: событие scroll. </vt:lpstr>
      <vt:lpstr>Клавиатура: keyup, keydown</vt:lpstr>
      <vt:lpstr>Клавиатура: keyup, keydown</vt:lpstr>
      <vt:lpstr>Клавиатура: keyup, keydown</vt:lpstr>
      <vt:lpstr>Загрузка документа</vt:lpstr>
      <vt:lpstr>Загрузка документа</vt:lpstr>
      <vt:lpstr>Загрузка документа</vt:lpstr>
      <vt:lpstr>Загрузка документа</vt:lpstr>
      <vt:lpstr>Загрузка документа</vt:lpstr>
      <vt:lpstr>Загрузка документа</vt:lpstr>
      <vt:lpstr>Загрузка скриптов</vt:lpstr>
      <vt:lpstr>Загрузка скриптов</vt:lpstr>
      <vt:lpstr>Загрузка скриптов</vt:lpstr>
      <vt:lpstr>Загрузка скриптов</vt:lpstr>
      <vt:lpstr>Загрузка скриптов</vt:lpstr>
      <vt:lpstr>Загрузка скриптов</vt:lpstr>
      <vt:lpstr>Загрузка скриптов</vt:lpstr>
      <vt:lpstr>Загрузка ресурсов</vt:lpstr>
      <vt:lpstr>Загрузка ресурсов</vt:lpstr>
      <vt:lpstr>Загрузка ресурсов</vt:lpstr>
      <vt:lpstr>Загрузка ресурсов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  Основы JavaScript</dc:title>
  <dc:creator>Marina</dc:creator>
  <cp:lastModifiedBy>Marina</cp:lastModifiedBy>
  <cp:revision>176</cp:revision>
  <dcterms:created xsi:type="dcterms:W3CDTF">2019-08-27T10:51:56Z</dcterms:created>
  <dcterms:modified xsi:type="dcterms:W3CDTF">2019-10-22T20:36:32Z</dcterms:modified>
</cp:coreProperties>
</file>