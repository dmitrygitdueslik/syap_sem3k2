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814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BCA8-9609-48FB-A57C-8E4114581D3F}" type="datetimeFigureOut">
              <a:rPr lang="ru-RU" smtClean="0"/>
              <a:t>28.09.2023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D08-5A85-4EC1-9946-EF0EC000D9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2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8354-2AEC-407C-892D-4CC4E97FF2F9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70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BA85-E22D-4185-966F-897334710B0B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91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8926-D772-474E-A9C2-09038EBAF6E6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21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F255-A88D-4F36-A012-2562321C7166}" type="datetime1">
              <a:rPr lang="ru-RU" smtClean="0"/>
              <a:t>28.09.2023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897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01B-A206-4541-BE7E-3C62D08E63F7}" type="datetime1">
              <a:rPr lang="ru-RU" smtClean="0"/>
              <a:t>28.09.2023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493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5D306-E1D0-45BB-8675-D1C6E29D8416}" type="datetime1">
              <a:rPr lang="ru-RU" smtClean="0"/>
              <a:t>28.09.2023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5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C369-94CB-471C-98AD-11B8FD1EF56F}" type="datetime1">
              <a:rPr lang="ru-RU" smtClean="0"/>
              <a:t>28.09.2023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55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B4B52CB-2BFD-42E6-946B-FC9BB9688A05}" type="datetime1">
              <a:rPr lang="ru-RU" smtClean="0"/>
              <a:t>28.09.2023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635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B6E6-77FC-4419-81B9-B1F57FA0389E}" type="datetime1">
              <a:rPr lang="ru-RU" smtClean="0"/>
              <a:t>28.09.2023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25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06DA-CB2E-4815-94B7-3E256E026906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42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B45-4AE3-4BCA-91EA-B3A8E720DE60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3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5AA82E-8907-4CCF-BB04-ADAC7456905B}" type="datetime1">
              <a:rPr lang="ru-RU" smtClean="0"/>
              <a:t>28.09.2023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14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7014" y="766915"/>
            <a:ext cx="10100754" cy="346587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Тема 4 </a:t>
            </a:r>
            <a:br>
              <a:rPr lang="ru-RU" b="1" dirty="0"/>
            </a:br>
            <a:br>
              <a:rPr lang="ru-RU" b="1" dirty="0"/>
            </a:br>
            <a:r>
              <a:rPr lang="ru-RU" b="1" dirty="0"/>
              <a:t>Методы объектов и контекст вызова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1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Вопросы: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03169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1.	Методы объектов, </a:t>
            </a:r>
            <a:r>
              <a:rPr lang="ru-RU" sz="2000" dirty="0" err="1"/>
              <a:t>this</a:t>
            </a:r>
            <a:r>
              <a:rPr lang="ru-RU" sz="2000" dirty="0"/>
              <a:t>. </a:t>
            </a:r>
          </a:p>
          <a:p>
            <a:r>
              <a:rPr lang="ru-RU" sz="2000" dirty="0"/>
              <a:t>2.	Итерируемые объекты. </a:t>
            </a:r>
          </a:p>
          <a:p>
            <a:r>
              <a:rPr lang="ru-RU" sz="2000" dirty="0"/>
              <a:t>3.	Преобразование объектов. </a:t>
            </a:r>
          </a:p>
          <a:p>
            <a:r>
              <a:rPr lang="ru-RU" sz="2000" dirty="0"/>
              <a:t>4.	Создание объектов через "</a:t>
            </a:r>
            <a:r>
              <a:rPr lang="ru-RU" sz="2000" dirty="0" err="1"/>
              <a:t>new</a:t>
            </a:r>
            <a:r>
              <a:rPr lang="ru-RU" sz="2000" dirty="0"/>
              <a:t>". </a:t>
            </a:r>
          </a:p>
          <a:p>
            <a:r>
              <a:rPr lang="ru-RU" sz="2000" dirty="0"/>
              <a:t>5.	Флаги и дескрипторы свойств.</a:t>
            </a:r>
          </a:p>
          <a:p>
            <a:r>
              <a:rPr lang="ru-RU" sz="2000" dirty="0"/>
              <a:t>6.	Геттеры и сеттеры.</a:t>
            </a:r>
          </a:p>
          <a:p>
            <a:r>
              <a:rPr lang="ru-RU" sz="2000" dirty="0"/>
              <a:t>7.	Декораторы и переадресация вызова. </a:t>
            </a:r>
          </a:p>
          <a:p>
            <a:r>
              <a:rPr lang="ru-RU" sz="2000" dirty="0"/>
              <a:t>8.	Привязка контекста. </a:t>
            </a:r>
          </a:p>
          <a:p>
            <a:r>
              <a:rPr lang="ru-RU" sz="2000" dirty="0"/>
              <a:t>9.	</a:t>
            </a:r>
            <a:r>
              <a:rPr lang="ru-RU" sz="2000" dirty="0" err="1"/>
              <a:t>setTimeout</a:t>
            </a:r>
            <a:r>
              <a:rPr lang="ru-RU" sz="2000" dirty="0"/>
              <a:t> и </a:t>
            </a:r>
            <a:r>
              <a:rPr lang="ru-RU" sz="2000" dirty="0" err="1"/>
              <a:t>setInterval</a:t>
            </a:r>
            <a:r>
              <a:rPr lang="ru-RU" sz="2000" dirty="0"/>
              <a:t>.</a:t>
            </a:r>
          </a:p>
          <a:p>
            <a:r>
              <a:rPr lang="ru-RU" sz="2000" dirty="0"/>
              <a:t>10.	Асинхронные итераторы и генераторы.</a:t>
            </a:r>
          </a:p>
        </p:txBody>
      </p:sp>
    </p:spTree>
    <p:extLst>
      <p:ext uri="{BB962C8B-B14F-4D97-AF65-F5344CB8AC3E}">
        <p14:creationId xmlns:p14="http://schemas.microsoft.com/office/powerpoint/2010/main" val="7221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объектов,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352777" y="6272933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638304"/>
            <a:ext cx="6352558" cy="434524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8086" y="1125173"/>
            <a:ext cx="2568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Метод  объекта </a:t>
            </a:r>
            <a:r>
              <a:rPr lang="en-US" dirty="0"/>
              <a:t>user: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5161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объектов,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3743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Сокращённая запись метода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435032"/>
            <a:ext cx="6547611" cy="48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942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объектов,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82153" y="959922"/>
            <a:ext cx="110165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доступа к информации внутри объекта метод может использовать ключевое слово </a:t>
            </a:r>
            <a:r>
              <a:rPr lang="ru-RU" dirty="0" err="1"/>
              <a:t>this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82153" y="1514274"/>
            <a:ext cx="5689668" cy="488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98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объектов,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97662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Нельзя ссылаться на объект через внешнюю переменную, которая хранит ссылку на этот объект: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454279"/>
            <a:ext cx="5167304" cy="501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59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объектов,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82152" y="920301"/>
            <a:ext cx="112801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Значение </a:t>
            </a:r>
            <a:r>
              <a:rPr lang="ru-RU" dirty="0" err="1"/>
              <a:t>this</a:t>
            </a:r>
            <a:r>
              <a:rPr lang="ru-RU" dirty="0"/>
              <a:t> вычисляется во время выполнения кода и зависит от контекста.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20258" y="1332295"/>
            <a:ext cx="6435144" cy="536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81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объектов,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20258" y="1084707"/>
            <a:ext cx="9036301" cy="294813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59566" y="715375"/>
            <a:ext cx="2908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Потеряно значение </a:t>
            </a:r>
            <a:r>
              <a:rPr lang="en-US" dirty="0"/>
              <a:t>this</a:t>
            </a:r>
            <a:r>
              <a:rPr lang="ru-RU" dirty="0"/>
              <a:t>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720258" y="4197250"/>
            <a:ext cx="5458600" cy="243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52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объектов,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341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arrow</a:t>
            </a:r>
            <a:r>
              <a:rPr lang="ru-RU" dirty="0"/>
              <a:t>() использует значение </a:t>
            </a:r>
            <a:r>
              <a:rPr lang="ru-RU" dirty="0" err="1"/>
              <a:t>this</a:t>
            </a:r>
            <a:r>
              <a:rPr lang="ru-RU" dirty="0"/>
              <a:t> из внешнего метода </a:t>
            </a:r>
            <a:r>
              <a:rPr lang="ru-RU" dirty="0" err="1"/>
              <a:t>user.sayHi</a:t>
            </a:r>
            <a:r>
              <a:rPr lang="ru-RU" dirty="0"/>
              <a:t>():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229800" y="1565899"/>
            <a:ext cx="9943377" cy="399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0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Итерируемые объекты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12723" y="920301"/>
            <a:ext cx="109039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Чтобы сделать </a:t>
            </a:r>
            <a:r>
              <a:rPr lang="ru-RU" dirty="0" err="1"/>
              <a:t>range</a:t>
            </a:r>
            <a:r>
              <a:rPr lang="ru-RU" dirty="0"/>
              <a:t> итерируемым необходимо добавить в объект метод с именем </a:t>
            </a:r>
            <a:r>
              <a:rPr lang="ru-RU" dirty="0" err="1"/>
              <a:t>Symbol.iterator</a:t>
            </a:r>
            <a:r>
              <a:rPr lang="ru-RU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789350"/>
            <a:ext cx="9583113" cy="308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3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Итерируемые объекты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93799" y="644249"/>
            <a:ext cx="6875540" cy="595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22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Итерируемые объекты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944192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900"/>
              </a:spcAft>
            </a:pPr>
            <a:r>
              <a:rPr lang="ru-RU" dirty="0">
                <a:solidFill>
                  <a:srgbClr val="333333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Можно использовать функцию-генератор для итерации, указав её в </a:t>
            </a:r>
            <a:r>
              <a:rPr lang="ru-RU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Symbol.iterator</a:t>
            </a:r>
            <a:r>
              <a:rPr lang="ru-RU" dirty="0">
                <a:solidFill>
                  <a:srgbClr val="333333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21862" y="1485080"/>
            <a:ext cx="11214878" cy="377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81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Итерируемые объекты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817065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Явный вызов итератора: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272804"/>
            <a:ext cx="5925128" cy="237005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8086" y="3920828"/>
            <a:ext cx="110847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Пример объекта, который является </a:t>
            </a:r>
            <a:r>
              <a:rPr lang="ru-RU" dirty="0" err="1"/>
              <a:t>псевдомассивом</a:t>
            </a:r>
            <a:r>
              <a:rPr lang="ru-RU" dirty="0"/>
              <a:t>, но его нельзя итерировать: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6" y="4375160"/>
            <a:ext cx="4766520" cy="224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53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Итерируемые объекты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606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Array.from</a:t>
            </a:r>
            <a:r>
              <a:rPr lang="ru-RU" dirty="0"/>
              <a:t> принимает итерируемый объект или </a:t>
            </a:r>
            <a:r>
              <a:rPr lang="ru-RU" dirty="0" err="1"/>
              <a:t>псевдомассив</a:t>
            </a:r>
            <a:r>
              <a:rPr lang="ru-RU" dirty="0"/>
              <a:t> и преобразует его в массив: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40532" y="1380806"/>
            <a:ext cx="5877518" cy="277029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8085" y="4312164"/>
            <a:ext cx="3706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Полный синтаксис </a:t>
            </a:r>
            <a:r>
              <a:rPr lang="en-US" dirty="0" err="1"/>
              <a:t>Array.from</a:t>
            </a:r>
            <a:r>
              <a:rPr lang="ru-RU" dirty="0"/>
              <a:t>: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18085" y="4889233"/>
            <a:ext cx="3826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Array.from</a:t>
            </a:r>
            <a:r>
              <a:rPr lang="en-US" dirty="0"/>
              <a:t>(</a:t>
            </a:r>
            <a:r>
              <a:rPr lang="en-US" dirty="0" err="1"/>
              <a:t>obj</a:t>
            </a:r>
            <a:r>
              <a:rPr lang="en-US" dirty="0"/>
              <a:t>[, </a:t>
            </a:r>
            <a:r>
              <a:rPr lang="en-US" dirty="0" err="1"/>
              <a:t>mapFn</a:t>
            </a:r>
            <a:r>
              <a:rPr lang="en-US" dirty="0"/>
              <a:t>, </a:t>
            </a:r>
            <a:r>
              <a:rPr lang="en-US" dirty="0" err="1"/>
              <a:t>thisArg</a:t>
            </a:r>
            <a:r>
              <a:rPr lang="en-US" dirty="0"/>
              <a:t>])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9811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Итерируемые объекты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920301"/>
            <a:ext cx="10418586" cy="409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66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Преобразование объектов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8579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Существуют три варианта («три </a:t>
            </a:r>
            <a:r>
              <a:rPr lang="ru-RU" dirty="0" err="1"/>
              <a:t>хинта</a:t>
            </a:r>
            <a:r>
              <a:rPr lang="ru-RU" dirty="0"/>
              <a:t>») преобразования к примитивам: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1435033"/>
            <a:ext cx="102676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"</a:t>
            </a:r>
            <a:r>
              <a:rPr lang="ru-RU" b="1" dirty="0" err="1"/>
              <a:t>string</a:t>
            </a:r>
            <a:r>
              <a:rPr lang="ru-RU" b="1" dirty="0"/>
              <a:t>" </a:t>
            </a:r>
            <a:r>
              <a:rPr lang="ru-RU" dirty="0"/>
              <a:t> -- для преобразования объекта к строке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258221" y="1825939"/>
            <a:ext cx="3145647" cy="51763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5" y="246449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"</a:t>
            </a:r>
            <a:r>
              <a:rPr lang="ru-RU" b="1" dirty="0" err="1"/>
              <a:t>number</a:t>
            </a:r>
            <a:r>
              <a:rPr lang="ru-RU" b="1" dirty="0"/>
              <a:t>" </a:t>
            </a:r>
            <a:r>
              <a:rPr lang="ru-RU" dirty="0"/>
              <a:t>-- для преобразования объекта к числу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258222" y="2885730"/>
            <a:ext cx="4982780" cy="2028079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18085" y="4987227"/>
            <a:ext cx="10444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"</a:t>
            </a:r>
            <a:r>
              <a:rPr lang="ru-RU" b="1" dirty="0" err="1"/>
              <a:t>default</a:t>
            </a:r>
            <a:r>
              <a:rPr lang="ru-RU" b="1" dirty="0"/>
              <a:t>" </a:t>
            </a:r>
            <a:r>
              <a:rPr lang="ru-RU" dirty="0"/>
              <a:t>-- происходит редко, когда неизвестно, какой тип ожидать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1258221" y="5477478"/>
            <a:ext cx="5311028" cy="123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88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Преобразование объектов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118085" y="920301"/>
            <a:ext cx="10562637" cy="3779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В процессе преобразования, движок </a:t>
            </a:r>
            <a:r>
              <a:rPr lang="ru-RU" dirty="0" err="1"/>
              <a:t>JavaScript</a:t>
            </a:r>
            <a:r>
              <a:rPr lang="ru-RU" dirty="0"/>
              <a:t> пытается найти и вызвать три следующих метода объекта:</a:t>
            </a:r>
          </a:p>
          <a:p>
            <a:pPr>
              <a:lnSpc>
                <a:spcPct val="150000"/>
              </a:lnSpc>
            </a:pPr>
            <a:r>
              <a:rPr lang="ru-RU" dirty="0"/>
              <a:t>1.	Вызывает </a:t>
            </a:r>
            <a:r>
              <a:rPr lang="ru-RU" dirty="0" err="1"/>
              <a:t>obj</a:t>
            </a:r>
            <a:r>
              <a:rPr lang="ru-RU" dirty="0"/>
              <a:t>[</a:t>
            </a:r>
            <a:r>
              <a:rPr lang="ru-RU" dirty="0" err="1"/>
              <a:t>Symbol.toPrimitive</a:t>
            </a:r>
            <a:r>
              <a:rPr lang="ru-RU" dirty="0"/>
              <a:t>](</a:t>
            </a:r>
            <a:r>
              <a:rPr lang="ru-RU" dirty="0" err="1"/>
              <a:t>hint</a:t>
            </a:r>
            <a:r>
              <a:rPr lang="ru-RU" dirty="0"/>
              <a:t>) – метод с символьным ключом </a:t>
            </a:r>
            <a:r>
              <a:rPr lang="ru-RU" dirty="0" err="1"/>
              <a:t>Symbol.toPrimitive</a:t>
            </a:r>
            <a:r>
              <a:rPr lang="ru-RU" dirty="0"/>
              <a:t> (системный символ), если такой метод существует, и передаёт ему </a:t>
            </a:r>
            <a:r>
              <a:rPr lang="ru-RU" dirty="0" err="1"/>
              <a:t>хинт</a:t>
            </a:r>
            <a:r>
              <a:rPr lang="ru-RU" dirty="0"/>
              <a:t>.</a:t>
            </a:r>
          </a:p>
          <a:p>
            <a:pPr>
              <a:lnSpc>
                <a:spcPct val="150000"/>
              </a:lnSpc>
            </a:pPr>
            <a:r>
              <a:rPr lang="ru-RU" dirty="0"/>
              <a:t>2.	Иначе, если </a:t>
            </a:r>
            <a:r>
              <a:rPr lang="ru-RU" dirty="0" err="1"/>
              <a:t>хинт</a:t>
            </a:r>
            <a:r>
              <a:rPr lang="ru-RU" dirty="0"/>
              <a:t> равен "</a:t>
            </a:r>
            <a:r>
              <a:rPr lang="ru-RU" dirty="0" err="1"/>
              <a:t>string</a:t>
            </a:r>
            <a:r>
              <a:rPr lang="ru-RU" dirty="0"/>
              <a:t>", то пытается вызвать </a:t>
            </a:r>
            <a:r>
              <a:rPr lang="ru-RU" dirty="0" err="1"/>
              <a:t>obj.toString</a:t>
            </a:r>
            <a:r>
              <a:rPr lang="ru-RU" dirty="0"/>
              <a:t>(), а если его нет, то </a:t>
            </a:r>
            <a:r>
              <a:rPr lang="ru-RU" dirty="0" err="1"/>
              <a:t>obj.valueOf</a:t>
            </a:r>
            <a:r>
              <a:rPr lang="ru-RU" dirty="0"/>
              <a:t>(), если он существует.</a:t>
            </a:r>
          </a:p>
          <a:p>
            <a:pPr>
              <a:lnSpc>
                <a:spcPct val="150000"/>
              </a:lnSpc>
            </a:pPr>
            <a:r>
              <a:rPr lang="ru-RU" dirty="0"/>
              <a:t>3.	В случае, если </a:t>
            </a:r>
            <a:r>
              <a:rPr lang="ru-RU" dirty="0" err="1"/>
              <a:t>хинт</a:t>
            </a:r>
            <a:r>
              <a:rPr lang="ru-RU" dirty="0"/>
              <a:t> равен "</a:t>
            </a:r>
            <a:r>
              <a:rPr lang="ru-RU" dirty="0" err="1"/>
              <a:t>number</a:t>
            </a:r>
            <a:r>
              <a:rPr lang="ru-RU" dirty="0"/>
              <a:t>" или "</a:t>
            </a:r>
            <a:r>
              <a:rPr lang="ru-RU" dirty="0" err="1"/>
              <a:t>default</a:t>
            </a:r>
            <a:r>
              <a:rPr lang="ru-RU" dirty="0"/>
              <a:t>", то пытается вызвать </a:t>
            </a:r>
            <a:r>
              <a:rPr lang="ru-RU" dirty="0" err="1"/>
              <a:t>obj.valueOf</a:t>
            </a:r>
            <a:r>
              <a:rPr lang="ru-RU" dirty="0"/>
              <a:t>(), а если его нет, то </a:t>
            </a:r>
            <a:r>
              <a:rPr lang="ru-RU" dirty="0" err="1"/>
              <a:t>obj.toString</a:t>
            </a:r>
            <a:r>
              <a:rPr lang="ru-RU" dirty="0"/>
              <a:t>(), если он существует.</a:t>
            </a:r>
          </a:p>
        </p:txBody>
      </p:sp>
    </p:spTree>
    <p:extLst>
      <p:ext uri="{BB962C8B-B14F-4D97-AF65-F5344CB8AC3E}">
        <p14:creationId xmlns:p14="http://schemas.microsoft.com/office/powerpoint/2010/main" val="2792383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Преобразование объектов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7356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/>
              <a:t>Symbol.toPrimitive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127407"/>
            <a:ext cx="8401107" cy="158138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5" y="2851506"/>
            <a:ext cx="9877971" cy="386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1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Преобразование объектов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728573"/>
            <a:ext cx="101644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нет метода </a:t>
            </a:r>
            <a:r>
              <a:rPr lang="en-US" dirty="0" err="1"/>
              <a:t>Symbol.toPrimitive</a:t>
            </a:r>
            <a:r>
              <a:rPr lang="en-US" dirty="0"/>
              <a:t>, </a:t>
            </a:r>
            <a:r>
              <a:rPr lang="ru-RU" dirty="0"/>
              <a:t>движок </a:t>
            </a:r>
            <a:r>
              <a:rPr lang="en-US" dirty="0"/>
              <a:t>JavaScript </a:t>
            </a:r>
            <a:r>
              <a:rPr lang="ru-RU" dirty="0"/>
              <a:t>пытается найти эти методы и вызвать следующим образом:</a:t>
            </a:r>
          </a:p>
          <a:p>
            <a:r>
              <a:rPr lang="ru-RU" dirty="0"/>
              <a:t>•	</a:t>
            </a:r>
            <a:r>
              <a:rPr lang="en-US" dirty="0" err="1"/>
              <a:t>toString</a:t>
            </a:r>
            <a:r>
              <a:rPr lang="en-US" dirty="0"/>
              <a:t> - </a:t>
            </a:r>
            <a:r>
              <a:rPr lang="ru-RU" dirty="0"/>
              <a:t>для </a:t>
            </a:r>
            <a:r>
              <a:rPr lang="ru-RU" dirty="0" err="1"/>
              <a:t>хинта</a:t>
            </a:r>
            <a:r>
              <a:rPr lang="ru-RU" dirty="0"/>
              <a:t> со значением «</a:t>
            </a:r>
            <a:r>
              <a:rPr lang="en-US" dirty="0"/>
              <a:t>string».</a:t>
            </a:r>
          </a:p>
          <a:p>
            <a:r>
              <a:rPr lang="en-US" dirty="0"/>
              <a:t>•	</a:t>
            </a:r>
            <a:r>
              <a:rPr lang="en-US" dirty="0" err="1"/>
              <a:t>valueOf</a:t>
            </a:r>
            <a:r>
              <a:rPr lang="en-US" dirty="0"/>
              <a:t> - </a:t>
            </a:r>
            <a:r>
              <a:rPr lang="ru-RU" dirty="0"/>
              <a:t>в ином случае.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928901"/>
            <a:ext cx="5948540" cy="487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86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объектов через "</a:t>
            </a:r>
            <a:r>
              <a:rPr lang="ru-RU" dirty="0" err="1"/>
              <a:t>new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95744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Функции-конструкторы являются обычными функциями: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53559" y="1288909"/>
            <a:ext cx="5158464" cy="288669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8083" y="4239538"/>
            <a:ext cx="89116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Результат вызова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User</a:t>
            </a:r>
            <a:r>
              <a:rPr lang="ru-RU" dirty="0"/>
              <a:t>("Вася") – это тот же объект, что и: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3" y="4754269"/>
            <a:ext cx="4321570" cy="160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93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объектов через "</a:t>
            </a:r>
            <a:r>
              <a:rPr lang="ru-RU" dirty="0" err="1"/>
              <a:t>new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5" y="920301"/>
            <a:ext cx="10488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return</a:t>
            </a:r>
            <a:r>
              <a:rPr lang="ru-RU" dirty="0"/>
              <a:t> с объектом возвращает объект, в любом другом случае конструктор вернёт </a:t>
            </a:r>
            <a:r>
              <a:rPr lang="ru-RU" dirty="0" err="1"/>
              <a:t>this</a:t>
            </a:r>
            <a:r>
              <a:rPr lang="ru-RU" dirty="0"/>
              <a:t>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3" y="1360798"/>
            <a:ext cx="6161605" cy="208546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3" y="3803240"/>
            <a:ext cx="6913953" cy="234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8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объектов через "</a:t>
            </a:r>
            <a:r>
              <a:rPr lang="ru-RU" dirty="0" err="1"/>
              <a:t>new</a:t>
            </a:r>
            <a:r>
              <a:rPr lang="ru-RU" dirty="0"/>
              <a:t>"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3414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передавать конструктору параметры, определяющие, как создавать объект, и что в него записывать.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2449735" y="1243466"/>
            <a:ext cx="6443998" cy="546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04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Флаги и дескрипторы свойств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56263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Помимо значения </a:t>
            </a:r>
            <a:r>
              <a:rPr lang="ru-RU" dirty="0" err="1"/>
              <a:t>value</a:t>
            </a:r>
            <a:r>
              <a:rPr lang="ru-RU" dirty="0"/>
              <a:t>, свойства объекта имеют три специальных атрибута («флаги»).</a:t>
            </a:r>
          </a:p>
          <a:p>
            <a:endParaRPr lang="ru-RU" dirty="0"/>
          </a:p>
          <a:p>
            <a:r>
              <a:rPr lang="ru-RU" dirty="0"/>
              <a:t>•	</a:t>
            </a:r>
            <a:r>
              <a:rPr lang="ru-RU" b="1" dirty="0" err="1"/>
              <a:t>writable</a:t>
            </a:r>
            <a:r>
              <a:rPr lang="ru-RU" dirty="0"/>
              <a:t> – если </a:t>
            </a:r>
            <a:r>
              <a:rPr lang="ru-RU" dirty="0" err="1"/>
              <a:t>true</a:t>
            </a:r>
            <a:r>
              <a:rPr lang="ru-RU" dirty="0"/>
              <a:t>, свойство можно изменить, иначе оно только для чтения.</a:t>
            </a:r>
          </a:p>
          <a:p>
            <a:endParaRPr lang="ru-RU" dirty="0"/>
          </a:p>
          <a:p>
            <a:r>
              <a:rPr lang="ru-RU" dirty="0"/>
              <a:t>•	</a:t>
            </a:r>
            <a:r>
              <a:rPr lang="ru-RU" b="1" dirty="0" err="1"/>
              <a:t>enumerable</a:t>
            </a:r>
            <a:r>
              <a:rPr lang="ru-RU" dirty="0"/>
              <a:t> – если </a:t>
            </a:r>
            <a:r>
              <a:rPr lang="ru-RU" dirty="0" err="1"/>
              <a:t>true</a:t>
            </a:r>
            <a:r>
              <a:rPr lang="ru-RU" dirty="0"/>
              <a:t>, свойство перечисляется в циклах, в противном случае циклы его игнорируют.</a:t>
            </a:r>
          </a:p>
          <a:p>
            <a:endParaRPr lang="ru-RU" dirty="0"/>
          </a:p>
          <a:p>
            <a:r>
              <a:rPr lang="ru-RU" dirty="0"/>
              <a:t>•	</a:t>
            </a:r>
            <a:r>
              <a:rPr lang="ru-RU" b="1" dirty="0" err="1"/>
              <a:t>configurable</a:t>
            </a:r>
            <a:r>
              <a:rPr lang="ru-RU" dirty="0"/>
              <a:t> – если </a:t>
            </a:r>
            <a:r>
              <a:rPr lang="ru-RU" dirty="0" err="1"/>
              <a:t>true</a:t>
            </a:r>
            <a:r>
              <a:rPr lang="ru-RU" dirty="0"/>
              <a:t>, свойство можно удалить, а эти атрибуты можно изменять, иначе этого делать нельзя.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4" y="3975486"/>
            <a:ext cx="105626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b="1" dirty="0" err="1"/>
              <a:t>Object.getOwnPropertyDescriptor</a:t>
            </a:r>
            <a:r>
              <a:rPr lang="ru-RU" dirty="0"/>
              <a:t> позволяет получить полную информацию о свойстве.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18084" y="4767217"/>
            <a:ext cx="10754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let descriptor = </a:t>
            </a:r>
            <a:r>
              <a:rPr lang="en-US" dirty="0" err="1"/>
              <a:t>Object.getOwnPropertyDescriptor</a:t>
            </a:r>
            <a:r>
              <a:rPr lang="en-US" dirty="0"/>
              <a:t>(</a:t>
            </a:r>
            <a:r>
              <a:rPr lang="en-US" dirty="0" err="1"/>
              <a:t>obj</a:t>
            </a:r>
            <a:r>
              <a:rPr lang="en-US" dirty="0"/>
              <a:t>, </a:t>
            </a:r>
            <a:r>
              <a:rPr lang="en-US" dirty="0" err="1"/>
              <a:t>propertyName</a:t>
            </a:r>
            <a:r>
              <a:rPr lang="en-US" dirty="0"/>
              <a:t>);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obj</a:t>
            </a:r>
            <a:r>
              <a:rPr lang="ru-RU" dirty="0"/>
              <a:t> </a:t>
            </a:r>
            <a:r>
              <a:rPr lang="en-US" dirty="0"/>
              <a:t>-- </a:t>
            </a:r>
            <a:r>
              <a:rPr lang="ru-RU" dirty="0"/>
              <a:t>объект, из которого мы получаем информацию.</a:t>
            </a:r>
          </a:p>
          <a:p>
            <a:r>
              <a:rPr lang="en-US" b="1" dirty="0" err="1"/>
              <a:t>propertyName</a:t>
            </a:r>
            <a:r>
              <a:rPr lang="ru-RU" dirty="0"/>
              <a:t> -- имя свойства.</a:t>
            </a:r>
          </a:p>
        </p:txBody>
      </p:sp>
    </p:spTree>
    <p:extLst>
      <p:ext uri="{BB962C8B-B14F-4D97-AF65-F5344CB8AC3E}">
        <p14:creationId xmlns:p14="http://schemas.microsoft.com/office/powerpoint/2010/main" val="2503385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Флаги и дескрипторы свойств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547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Объект «дескриптор свойства»  содержит значение свойства и все его флаги.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435033"/>
            <a:ext cx="10437508" cy="477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61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Флаги и дескрипторы свойств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729478"/>
            <a:ext cx="1041515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en-US" b="1" dirty="0" err="1"/>
              <a:t>Object.defineProperty</a:t>
            </a:r>
            <a:r>
              <a:rPr lang="ru-RU" dirty="0"/>
              <a:t> изменяет флаги:</a:t>
            </a:r>
          </a:p>
          <a:p>
            <a:endParaRPr lang="en-US" dirty="0"/>
          </a:p>
          <a:p>
            <a:r>
              <a:rPr lang="en-US" dirty="0" err="1"/>
              <a:t>Object.defineProperty</a:t>
            </a:r>
            <a:r>
              <a:rPr lang="en-US" dirty="0"/>
              <a:t>(</a:t>
            </a:r>
            <a:r>
              <a:rPr lang="en-US" dirty="0" err="1"/>
              <a:t>obj</a:t>
            </a:r>
            <a:r>
              <a:rPr lang="en-US" dirty="0"/>
              <a:t>, </a:t>
            </a:r>
            <a:r>
              <a:rPr lang="en-US" dirty="0" err="1"/>
              <a:t>propertyName</a:t>
            </a:r>
            <a:r>
              <a:rPr lang="en-US" dirty="0"/>
              <a:t>, descriptor)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obj</a:t>
            </a:r>
            <a:r>
              <a:rPr lang="en-US" b="1" dirty="0"/>
              <a:t>, </a:t>
            </a:r>
            <a:r>
              <a:rPr lang="en-US" b="1" dirty="0" err="1"/>
              <a:t>propertyName</a:t>
            </a:r>
            <a:r>
              <a:rPr lang="ru-RU" dirty="0"/>
              <a:t> -- объект и его свойство, для которого нужно применить дескриптор.</a:t>
            </a:r>
          </a:p>
          <a:p>
            <a:r>
              <a:rPr lang="en-US" b="1" dirty="0"/>
              <a:t>descriptor</a:t>
            </a:r>
            <a:r>
              <a:rPr lang="ru-RU" dirty="0"/>
              <a:t> -- применяемый дескриптор.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66355" y="2483804"/>
            <a:ext cx="8911687" cy="420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4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Флаги и дескрипторы свойств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5750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Свойство user.name доступно только для чтения: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435032"/>
            <a:ext cx="7623867" cy="35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90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Флаги и дескрипторы свойств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48696" y="920301"/>
            <a:ext cx="94143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нового свойства необходимо явно указывать все флаги, для которых значение </a:t>
            </a:r>
            <a:r>
              <a:rPr lang="ru-RU" dirty="0" err="1"/>
              <a:t>true</a:t>
            </a:r>
            <a:r>
              <a:rPr lang="ru-RU" dirty="0"/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262484" y="1751525"/>
            <a:ext cx="7593160" cy="385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00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Флаги и дескрипторы свойств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5478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en-US" b="1" dirty="0" err="1"/>
              <a:t>Object.defineProperties</a:t>
            </a:r>
            <a:r>
              <a:rPr lang="en-US" b="1" dirty="0"/>
              <a:t>(</a:t>
            </a:r>
            <a:r>
              <a:rPr lang="en-US" b="1" dirty="0" err="1"/>
              <a:t>obj</a:t>
            </a:r>
            <a:r>
              <a:rPr lang="en-US" b="1" dirty="0"/>
              <a:t>, descriptors)</a:t>
            </a:r>
            <a:r>
              <a:rPr lang="en-US" dirty="0"/>
              <a:t> </a:t>
            </a:r>
            <a:r>
              <a:rPr lang="ru-RU" dirty="0"/>
              <a:t>позволяет определять множество свойств сразу.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381966"/>
            <a:ext cx="6070065" cy="191057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6" y="3565456"/>
            <a:ext cx="9094094" cy="201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5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Флаги и дескрипторы свойств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99727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b="1" dirty="0" err="1"/>
              <a:t>Object.getOwnPropertyDescriptors</a:t>
            </a:r>
            <a:r>
              <a:rPr lang="ru-RU" b="1" dirty="0"/>
              <a:t>(</a:t>
            </a:r>
            <a:r>
              <a:rPr lang="ru-RU" b="1" dirty="0" err="1"/>
              <a:t>obj</a:t>
            </a:r>
            <a:r>
              <a:rPr lang="ru-RU" b="1" dirty="0"/>
              <a:t>)</a:t>
            </a:r>
            <a:r>
              <a:rPr lang="ru-RU" dirty="0"/>
              <a:t> позволяет получить все дескрипторы свойств сразу.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1831710"/>
            <a:ext cx="101644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Вместе с </a:t>
            </a:r>
            <a:r>
              <a:rPr lang="ru-RU" dirty="0" err="1"/>
              <a:t>Object.defineProperties</a:t>
            </a:r>
            <a:r>
              <a:rPr lang="ru-RU" dirty="0"/>
              <a:t> этот метод можно использовать для клонирования объекта вместе с его флагами: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262679" y="2669378"/>
            <a:ext cx="11799599" cy="43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3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Флаги и дескрипторы свойств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774901"/>
            <a:ext cx="10164425" cy="4381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Методы, которые ограничивают доступ ко всему объекту:</a:t>
            </a:r>
          </a:p>
          <a:p>
            <a:pPr>
              <a:lnSpc>
                <a:spcPct val="120000"/>
              </a:lnSpc>
            </a:pPr>
            <a:r>
              <a:rPr lang="ru-RU" b="1" dirty="0" err="1"/>
              <a:t>Object.preventExtensions</a:t>
            </a:r>
            <a:r>
              <a:rPr lang="ru-RU" b="1" dirty="0"/>
              <a:t>(</a:t>
            </a:r>
            <a:r>
              <a:rPr lang="ru-RU" b="1" dirty="0" err="1"/>
              <a:t>obj</a:t>
            </a:r>
            <a:r>
              <a:rPr lang="ru-RU" b="1" dirty="0"/>
              <a:t>) </a:t>
            </a:r>
            <a:r>
              <a:rPr lang="ru-RU" dirty="0"/>
              <a:t>-- запрещает добавлять новые свойства в объект.</a:t>
            </a:r>
          </a:p>
          <a:p>
            <a:pPr>
              <a:lnSpc>
                <a:spcPct val="120000"/>
              </a:lnSpc>
            </a:pPr>
            <a:r>
              <a:rPr lang="ru-RU" b="1" dirty="0" err="1"/>
              <a:t>Object.seal</a:t>
            </a:r>
            <a:r>
              <a:rPr lang="ru-RU" b="1" dirty="0"/>
              <a:t>(</a:t>
            </a:r>
            <a:r>
              <a:rPr lang="ru-RU" b="1" dirty="0" err="1"/>
              <a:t>obj</a:t>
            </a:r>
            <a:r>
              <a:rPr lang="ru-RU" b="1" dirty="0"/>
              <a:t>)</a:t>
            </a:r>
            <a:r>
              <a:rPr lang="ru-RU" dirty="0"/>
              <a:t> -- запрещает добавлять/удалять свойства. Устанавливает </a:t>
            </a:r>
            <a:r>
              <a:rPr lang="ru-RU" dirty="0" err="1"/>
              <a:t>configurable</a:t>
            </a:r>
            <a:r>
              <a:rPr lang="ru-RU" dirty="0"/>
              <a:t>: </a:t>
            </a:r>
            <a:r>
              <a:rPr lang="ru-RU" dirty="0" err="1"/>
              <a:t>false</a:t>
            </a:r>
            <a:r>
              <a:rPr lang="ru-RU" dirty="0"/>
              <a:t> для всех существующих свойств.</a:t>
            </a:r>
          </a:p>
          <a:p>
            <a:pPr>
              <a:lnSpc>
                <a:spcPct val="120000"/>
              </a:lnSpc>
            </a:pPr>
            <a:r>
              <a:rPr lang="ru-RU" b="1" dirty="0" err="1"/>
              <a:t>Object.freeze</a:t>
            </a:r>
            <a:r>
              <a:rPr lang="ru-RU" b="1" dirty="0"/>
              <a:t>(</a:t>
            </a:r>
            <a:r>
              <a:rPr lang="ru-RU" b="1" dirty="0" err="1"/>
              <a:t>obj</a:t>
            </a:r>
            <a:r>
              <a:rPr lang="ru-RU" b="1" dirty="0"/>
              <a:t>) </a:t>
            </a:r>
            <a:r>
              <a:rPr lang="ru-RU" dirty="0"/>
              <a:t>-- запрещает добавлять/удалять/изменять свойства. Устанавливает </a:t>
            </a:r>
            <a:r>
              <a:rPr lang="ru-RU" dirty="0" err="1"/>
              <a:t>configurable</a:t>
            </a:r>
            <a:r>
              <a:rPr lang="ru-RU" dirty="0"/>
              <a:t>: </a:t>
            </a:r>
            <a:r>
              <a:rPr lang="ru-RU" dirty="0" err="1"/>
              <a:t>false</a:t>
            </a:r>
            <a:r>
              <a:rPr lang="ru-RU" dirty="0"/>
              <a:t>, </a:t>
            </a:r>
            <a:r>
              <a:rPr lang="ru-RU" dirty="0" err="1"/>
              <a:t>writable</a:t>
            </a:r>
            <a:r>
              <a:rPr lang="ru-RU" dirty="0"/>
              <a:t>: </a:t>
            </a:r>
            <a:r>
              <a:rPr lang="ru-RU" dirty="0" err="1"/>
              <a:t>false</a:t>
            </a:r>
            <a:r>
              <a:rPr lang="ru-RU" dirty="0"/>
              <a:t> для всех существующих свойств. </a:t>
            </a:r>
          </a:p>
          <a:p>
            <a:pPr>
              <a:lnSpc>
                <a:spcPct val="120000"/>
              </a:lnSpc>
            </a:pPr>
            <a:r>
              <a:rPr lang="ru-RU" b="1" dirty="0" err="1"/>
              <a:t>Object.isExtensible</a:t>
            </a:r>
            <a:r>
              <a:rPr lang="ru-RU" b="1" dirty="0"/>
              <a:t>(</a:t>
            </a:r>
            <a:r>
              <a:rPr lang="ru-RU" b="1" dirty="0" err="1"/>
              <a:t>obj</a:t>
            </a:r>
            <a:r>
              <a:rPr lang="ru-RU" b="1" dirty="0"/>
              <a:t>)</a:t>
            </a:r>
            <a:r>
              <a:rPr lang="ru-RU" dirty="0"/>
              <a:t> -- возвращает </a:t>
            </a:r>
            <a:r>
              <a:rPr lang="ru-RU" dirty="0" err="1"/>
              <a:t>false</a:t>
            </a:r>
            <a:r>
              <a:rPr lang="ru-RU" dirty="0"/>
              <a:t>, если добавление свойств запрещено, иначе </a:t>
            </a:r>
            <a:r>
              <a:rPr lang="ru-RU" dirty="0" err="1"/>
              <a:t>true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b="1" dirty="0" err="1"/>
              <a:t>Object.isSealed</a:t>
            </a:r>
            <a:r>
              <a:rPr lang="ru-RU" b="1" dirty="0"/>
              <a:t>(</a:t>
            </a:r>
            <a:r>
              <a:rPr lang="ru-RU" b="1" dirty="0" err="1"/>
              <a:t>obj</a:t>
            </a:r>
            <a:r>
              <a:rPr lang="ru-RU" b="1" dirty="0"/>
              <a:t>)</a:t>
            </a:r>
            <a:r>
              <a:rPr lang="ru-RU" dirty="0"/>
              <a:t> -- возвращает </a:t>
            </a:r>
            <a:r>
              <a:rPr lang="ru-RU" dirty="0" err="1"/>
              <a:t>true</a:t>
            </a:r>
            <a:r>
              <a:rPr lang="ru-RU" dirty="0"/>
              <a:t>, если добавление/удаление свойств запрещено и для всех существующих свойств установлено </a:t>
            </a:r>
            <a:r>
              <a:rPr lang="ru-RU" dirty="0" err="1"/>
              <a:t>configurable</a:t>
            </a:r>
            <a:r>
              <a:rPr lang="ru-RU" dirty="0"/>
              <a:t>: 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b="1" dirty="0" err="1"/>
              <a:t>Object.isFrozen</a:t>
            </a:r>
            <a:r>
              <a:rPr lang="ru-RU" b="1" dirty="0"/>
              <a:t>(</a:t>
            </a:r>
            <a:r>
              <a:rPr lang="ru-RU" b="1" dirty="0" err="1"/>
              <a:t>obj</a:t>
            </a:r>
            <a:r>
              <a:rPr lang="ru-RU" b="1" dirty="0"/>
              <a:t>)</a:t>
            </a:r>
            <a:r>
              <a:rPr lang="ru-RU" dirty="0"/>
              <a:t> -- возвращает </a:t>
            </a:r>
            <a:r>
              <a:rPr lang="ru-RU" dirty="0" err="1"/>
              <a:t>true</a:t>
            </a:r>
            <a:r>
              <a:rPr lang="ru-RU" dirty="0"/>
              <a:t>, если добавление/удаление/изменение свойств запрещено, и для всех текущих свойств установлено </a:t>
            </a:r>
            <a:r>
              <a:rPr lang="ru-RU" dirty="0" err="1"/>
              <a:t>configurable</a:t>
            </a:r>
            <a:r>
              <a:rPr lang="ru-RU" dirty="0"/>
              <a:t>: </a:t>
            </a:r>
            <a:r>
              <a:rPr lang="ru-RU" dirty="0" err="1"/>
              <a:t>false</a:t>
            </a:r>
            <a:r>
              <a:rPr lang="ru-RU" dirty="0"/>
              <a:t>, </a:t>
            </a:r>
            <a:r>
              <a:rPr lang="ru-RU" dirty="0" err="1"/>
              <a:t>writable</a:t>
            </a:r>
            <a:r>
              <a:rPr lang="ru-RU" dirty="0"/>
              <a:t>: 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612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Геттеры и сеттеры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944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Свойства-</a:t>
            </a:r>
            <a:r>
              <a:rPr lang="ru-RU" dirty="0" err="1"/>
              <a:t>аксессоры</a:t>
            </a:r>
            <a:r>
              <a:rPr lang="ru-RU" dirty="0"/>
              <a:t> представлены методами: «геттер» – для чтения и «сеттер» – для записи.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252537" y="1435033"/>
            <a:ext cx="10093827" cy="310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51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Геттеры и сеттеры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029309" y="774901"/>
            <a:ext cx="8529940" cy="572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739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Геттеры и сеттеры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1371766"/>
            <a:ext cx="10665875" cy="2116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Дескриптор </a:t>
            </a:r>
            <a:r>
              <a:rPr lang="ru-RU" dirty="0" err="1"/>
              <a:t>аксессора</a:t>
            </a:r>
            <a:r>
              <a:rPr lang="ru-RU" dirty="0"/>
              <a:t> может иметь:</a:t>
            </a:r>
          </a:p>
          <a:p>
            <a:pPr>
              <a:lnSpc>
                <a:spcPct val="150000"/>
              </a:lnSpc>
            </a:pPr>
            <a:r>
              <a:rPr lang="ru-RU" dirty="0"/>
              <a:t>• </a:t>
            </a:r>
            <a:r>
              <a:rPr lang="ru-RU" b="1" dirty="0" err="1"/>
              <a:t>get</a:t>
            </a:r>
            <a:r>
              <a:rPr lang="ru-RU" dirty="0"/>
              <a:t> – функция без аргументов, которая сработает при чтении свойства,</a:t>
            </a:r>
          </a:p>
          <a:p>
            <a:pPr>
              <a:lnSpc>
                <a:spcPct val="150000"/>
              </a:lnSpc>
            </a:pPr>
            <a:r>
              <a:rPr lang="ru-RU" dirty="0"/>
              <a:t>• </a:t>
            </a:r>
            <a:r>
              <a:rPr lang="ru-RU" b="1" dirty="0" err="1"/>
              <a:t>set</a:t>
            </a:r>
            <a:r>
              <a:rPr lang="ru-RU" dirty="0"/>
              <a:t> – функция, принимающая один аргумент, вызываемая при присвоении свойства,</a:t>
            </a:r>
          </a:p>
          <a:p>
            <a:pPr>
              <a:lnSpc>
                <a:spcPct val="150000"/>
              </a:lnSpc>
            </a:pPr>
            <a:r>
              <a:rPr lang="ru-RU" dirty="0"/>
              <a:t>• </a:t>
            </a:r>
            <a:r>
              <a:rPr lang="ru-RU" b="1" dirty="0" err="1"/>
              <a:t>enumerable</a:t>
            </a:r>
            <a:r>
              <a:rPr lang="ru-RU" dirty="0"/>
              <a:t>,</a:t>
            </a:r>
          </a:p>
          <a:p>
            <a:pPr>
              <a:lnSpc>
                <a:spcPct val="150000"/>
              </a:lnSpc>
            </a:pPr>
            <a:r>
              <a:rPr lang="ru-RU" dirty="0"/>
              <a:t>• </a:t>
            </a:r>
            <a:r>
              <a:rPr lang="ru-RU" b="1" dirty="0" err="1"/>
              <a:t>configurable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8270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Геттеры и сеттеры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43968" y="735635"/>
            <a:ext cx="101644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Создание </a:t>
            </a:r>
            <a:r>
              <a:rPr lang="ru-RU" dirty="0" err="1"/>
              <a:t>аксессора</a:t>
            </a:r>
            <a:r>
              <a:rPr lang="ru-RU" dirty="0"/>
              <a:t> </a:t>
            </a:r>
            <a:r>
              <a:rPr lang="ru-RU" dirty="0" err="1"/>
              <a:t>fullName</a:t>
            </a:r>
            <a:r>
              <a:rPr lang="ru-RU" dirty="0"/>
              <a:t> при помощи </a:t>
            </a:r>
            <a:r>
              <a:rPr lang="ru-RU" dirty="0" err="1"/>
              <a:t>defineProperty</a:t>
            </a:r>
            <a:r>
              <a:rPr lang="ru-RU" dirty="0"/>
              <a:t>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43968" y="1104966"/>
            <a:ext cx="7860854" cy="560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47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Геттеры и сеттеры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97973" y="1085306"/>
            <a:ext cx="10284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попытке указать и </a:t>
            </a:r>
            <a:r>
              <a:rPr lang="ru-RU" dirty="0" err="1"/>
              <a:t>get</a:t>
            </a:r>
            <a:r>
              <a:rPr lang="ru-RU" dirty="0"/>
              <a:t> и </a:t>
            </a:r>
            <a:r>
              <a:rPr lang="ru-RU" dirty="0" err="1"/>
              <a:t>value</a:t>
            </a:r>
            <a:r>
              <a:rPr lang="ru-RU" dirty="0"/>
              <a:t> в одном дескрипторе будет ошибка: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97972" y="1614903"/>
            <a:ext cx="8558313" cy="341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732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Геттеры и сеттеры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644249"/>
            <a:ext cx="10944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Геттеры/сеттеры можно использовать как обёртки над «реальными» значениями свойств: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013580"/>
            <a:ext cx="10257917" cy="55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350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Геттеры и сеттеры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Аксессоры</a:t>
            </a:r>
            <a:r>
              <a:rPr lang="ru-RU" dirty="0"/>
              <a:t> позволяют в любой момент изменить поведение «обычного» свойство, поменяв на геттер и сеттер: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4" y="1712031"/>
            <a:ext cx="6999595" cy="325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6907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Геттеры и сеттеры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020431" y="774901"/>
            <a:ext cx="9247325" cy="543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74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Декораторы и переадресация вызова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18086" y="817065"/>
            <a:ext cx="4483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кеширующего декоратора: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479808" y="1177284"/>
            <a:ext cx="5379453" cy="557389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6096000" y="1177284"/>
            <a:ext cx="5902452" cy="264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04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Декораторы и переадресация вызова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743325"/>
            <a:ext cx="107986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Упомянутый выше кеширующий декоратор не подходит для работы с методами объектов.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220414" y="1242175"/>
            <a:ext cx="5441359" cy="266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5803037" y="1242175"/>
            <a:ext cx="6113659" cy="482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83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Декораторы и переадресация вызова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3414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функции </a:t>
            </a:r>
            <a:r>
              <a:rPr lang="en-US" b="1" dirty="0" err="1"/>
              <a:t>func.call</a:t>
            </a:r>
            <a:r>
              <a:rPr lang="en-US" b="1" dirty="0"/>
              <a:t>(context, …</a:t>
            </a:r>
            <a:r>
              <a:rPr lang="en-US" b="1" dirty="0" err="1"/>
              <a:t>args</a:t>
            </a:r>
            <a:r>
              <a:rPr lang="en-US" b="1" dirty="0"/>
              <a:t>)</a:t>
            </a:r>
            <a:r>
              <a:rPr lang="en-US" dirty="0"/>
              <a:t>, </a:t>
            </a:r>
            <a:r>
              <a:rPr lang="ru-RU" dirty="0"/>
              <a:t>который позволяет вызывать функцию, явно устанавливая </a:t>
            </a:r>
            <a:r>
              <a:rPr lang="en-US" dirty="0"/>
              <a:t>this.</a:t>
            </a:r>
          </a:p>
          <a:p>
            <a:endParaRPr lang="ru-RU" dirty="0"/>
          </a:p>
          <a:p>
            <a:r>
              <a:rPr lang="en-US" dirty="0" err="1"/>
              <a:t>func.call</a:t>
            </a:r>
            <a:r>
              <a:rPr lang="en-US" dirty="0"/>
              <a:t>(context, arg1, arg2, ...)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513401" y="2266030"/>
            <a:ext cx="5056888" cy="237971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5930233" y="2294256"/>
            <a:ext cx="5978600" cy="198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80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Декораторы и переадресация вызова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r="22518" b="58970"/>
          <a:stretch/>
        </p:blipFill>
        <p:spPr bwMode="invGray">
          <a:xfrm>
            <a:off x="279112" y="1039849"/>
            <a:ext cx="4939098" cy="303070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t="40044"/>
          <a:stretch/>
        </p:blipFill>
        <p:spPr bwMode="invGray">
          <a:xfrm>
            <a:off x="5573929" y="1039849"/>
            <a:ext cx="6251619" cy="43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298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Декораторы и переадресация вызова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724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Необходимо кешировать метод с несколькими аргументами </a:t>
            </a:r>
            <a:r>
              <a:rPr lang="ru-RU" dirty="0" err="1"/>
              <a:t>worker.slow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4" y="1435032"/>
            <a:ext cx="9376015" cy="293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186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Декораторы и переадресация вызова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12723" y="920301"/>
            <a:ext cx="102697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Необходимо заменить </a:t>
            </a:r>
            <a:r>
              <a:rPr lang="ru-RU" dirty="0" err="1"/>
              <a:t>func.call</a:t>
            </a:r>
            <a:r>
              <a:rPr lang="ru-RU" dirty="0"/>
              <a:t>(</a:t>
            </a:r>
            <a:r>
              <a:rPr lang="ru-RU" dirty="0" err="1"/>
              <a:t>this</a:t>
            </a:r>
            <a:r>
              <a:rPr lang="ru-RU" dirty="0"/>
              <a:t>, x) на </a:t>
            </a:r>
            <a:r>
              <a:rPr lang="ru-RU" dirty="0" err="1"/>
              <a:t>func.call</a:t>
            </a:r>
            <a:r>
              <a:rPr lang="ru-RU" dirty="0"/>
              <a:t>(</a:t>
            </a:r>
            <a:r>
              <a:rPr lang="ru-RU" dirty="0" err="1"/>
              <a:t>this</a:t>
            </a:r>
            <a:r>
              <a:rPr lang="ru-RU" dirty="0"/>
              <a:t>, ...</a:t>
            </a:r>
            <a:r>
              <a:rPr lang="ru-RU" dirty="0" err="1"/>
              <a:t>arguments</a:t>
            </a:r>
            <a:r>
              <a:rPr lang="ru-RU" dirty="0"/>
              <a:t>), чтобы передавать все аргументы обёрнутой функции, а не только первый.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r="4483" b="29656"/>
          <a:stretch/>
        </p:blipFill>
        <p:spPr bwMode="invGray">
          <a:xfrm>
            <a:off x="229089" y="1685924"/>
            <a:ext cx="5698832" cy="489040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69774"/>
          <a:stretch/>
        </p:blipFill>
        <p:spPr bwMode="invGray">
          <a:xfrm>
            <a:off x="6029938" y="1685925"/>
            <a:ext cx="6100536" cy="21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136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Декораторы и переадресация вызова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12722" y="920301"/>
            <a:ext cx="104762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Вызов </a:t>
            </a:r>
            <a:r>
              <a:rPr lang="en-US" dirty="0" err="1"/>
              <a:t>func.call</a:t>
            </a:r>
            <a:r>
              <a:rPr lang="en-US" dirty="0"/>
              <a:t>(this, ...arguments) </a:t>
            </a:r>
            <a:r>
              <a:rPr lang="ru-RU" dirty="0"/>
              <a:t>идентичен </a:t>
            </a:r>
            <a:r>
              <a:rPr lang="en-US" b="1" dirty="0" err="1"/>
              <a:t>func.apply</a:t>
            </a:r>
            <a:r>
              <a:rPr lang="en-US" b="1" dirty="0"/>
              <a:t>(this, arguments).</a:t>
            </a:r>
            <a:endParaRPr lang="ru-RU" b="1" dirty="0"/>
          </a:p>
          <a:p>
            <a:endParaRPr lang="en-US" dirty="0"/>
          </a:p>
          <a:p>
            <a:r>
              <a:rPr lang="ru-RU" dirty="0"/>
              <a:t>Синтаксис встроенного метода </a:t>
            </a:r>
            <a:r>
              <a:rPr lang="en-US" dirty="0" err="1"/>
              <a:t>func.apply</a:t>
            </a:r>
            <a:r>
              <a:rPr lang="en-US" dirty="0"/>
              <a:t>:</a:t>
            </a:r>
          </a:p>
          <a:p>
            <a:r>
              <a:rPr lang="en-US" dirty="0" err="1"/>
              <a:t>func.apply</a:t>
            </a:r>
            <a:r>
              <a:rPr lang="en-US" dirty="0"/>
              <a:t>(context, </a:t>
            </a:r>
            <a:r>
              <a:rPr lang="en-US" dirty="0" err="1"/>
              <a:t>args</a:t>
            </a:r>
            <a:r>
              <a:rPr lang="en-US" dirty="0"/>
              <a:t>)</a:t>
            </a:r>
            <a:r>
              <a:rPr lang="ru-RU" dirty="0"/>
              <a:t> -- он выполняет </a:t>
            </a:r>
            <a:r>
              <a:rPr lang="en-US" dirty="0" err="1"/>
              <a:t>func</a:t>
            </a:r>
            <a:r>
              <a:rPr lang="en-US" dirty="0"/>
              <a:t>, </a:t>
            </a:r>
            <a:r>
              <a:rPr lang="ru-RU" dirty="0"/>
              <a:t>устанавливая </a:t>
            </a:r>
            <a:r>
              <a:rPr lang="en-US" b="1" dirty="0"/>
              <a:t>this=context</a:t>
            </a:r>
            <a:r>
              <a:rPr lang="en-US" dirty="0"/>
              <a:t> </a:t>
            </a:r>
            <a:r>
              <a:rPr lang="ru-RU" dirty="0"/>
              <a:t>и принимая в качестве списка аргументов </a:t>
            </a:r>
            <a:r>
              <a:rPr lang="ru-RU" dirty="0" err="1"/>
              <a:t>псевдомассив</a:t>
            </a:r>
            <a:r>
              <a:rPr lang="ru-RU" dirty="0"/>
              <a:t> </a:t>
            </a:r>
            <a:r>
              <a:rPr lang="en-US" b="1" dirty="0" err="1"/>
              <a:t>args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/>
              <a:t>call</a:t>
            </a:r>
            <a:r>
              <a:rPr lang="en-US" dirty="0"/>
              <a:t> </a:t>
            </a:r>
            <a:r>
              <a:rPr lang="ru-RU" dirty="0"/>
              <a:t>ожидает </a:t>
            </a:r>
            <a:r>
              <a:rPr lang="ru-RU" b="1" dirty="0"/>
              <a:t>список аргументов</a:t>
            </a:r>
            <a:r>
              <a:rPr lang="ru-RU" dirty="0"/>
              <a:t>, </a:t>
            </a:r>
            <a:r>
              <a:rPr lang="en-US" b="1" dirty="0"/>
              <a:t>apply</a:t>
            </a:r>
            <a:r>
              <a:rPr lang="en-US" dirty="0"/>
              <a:t> </a:t>
            </a:r>
            <a:r>
              <a:rPr lang="ru-RU" dirty="0"/>
              <a:t>принимает </a:t>
            </a:r>
            <a:r>
              <a:rPr lang="ru-RU" b="1" dirty="0" err="1"/>
              <a:t>псевдомассив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012722" y="3360174"/>
            <a:ext cx="7539360" cy="131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953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Декораторы и переадресация вызова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4050775"/>
            <a:ext cx="3031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Заимствование метода: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4428954"/>
            <a:ext cx="6727782" cy="182251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785" y="1137042"/>
            <a:ext cx="4862810" cy="92331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785" y="2581398"/>
            <a:ext cx="3446963" cy="91109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39785" y="1126475"/>
            <a:ext cx="5756158" cy="109294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1139785" y="2570831"/>
            <a:ext cx="4648999" cy="122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926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Привязка контекста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670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Потеря «</a:t>
            </a:r>
            <a:r>
              <a:rPr lang="en-US" dirty="0"/>
              <a:t>this»</a:t>
            </a:r>
            <a:r>
              <a:rPr lang="ru-RU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435032"/>
            <a:ext cx="9657115" cy="296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609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Привязка контекста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48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274199" y="1550115"/>
            <a:ext cx="9689756" cy="51838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274200" y="92030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bind</a:t>
            </a:r>
            <a:r>
              <a:rPr lang="ru-RU" dirty="0"/>
              <a:t> позволяет зафиксировать </a:t>
            </a:r>
            <a:r>
              <a:rPr lang="ru-RU" dirty="0" err="1"/>
              <a:t>this</a:t>
            </a:r>
            <a:r>
              <a:rPr lang="ru-RU" dirty="0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274199" y="2415663"/>
            <a:ext cx="5788878" cy="352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962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Привязка контекста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49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92057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Все аргументы передаются исходному методу </a:t>
            </a:r>
            <a:r>
              <a:rPr lang="ru-RU" dirty="0" err="1"/>
              <a:t>func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5" y="1408399"/>
            <a:ext cx="8720591" cy="452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667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Привязка контекста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50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386446"/>
            <a:ext cx="8871060" cy="489894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6" y="909324"/>
            <a:ext cx="6138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user.sayHi</a:t>
            </a:r>
            <a:r>
              <a:rPr lang="ru-RU" dirty="0"/>
              <a:t> привязываем к </a:t>
            </a:r>
            <a:r>
              <a:rPr lang="ru-RU" dirty="0" err="1"/>
              <a:t>user</a:t>
            </a:r>
            <a:r>
              <a:rPr lang="en-US" dirty="0"/>
              <a:t> </a:t>
            </a:r>
            <a:r>
              <a:rPr lang="ru-RU" dirty="0"/>
              <a:t>методом </a:t>
            </a:r>
            <a:r>
              <a:rPr lang="en-US" dirty="0"/>
              <a:t>bind: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23887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Привязка контекста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51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606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Частичное применение подразумевает создание новой функции, при этом фиксируя некоторые из существующих параметров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712032"/>
            <a:ext cx="9800491" cy="422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55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Привязка контекста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52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4714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Частичное применение без контекста: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055942" y="1289632"/>
            <a:ext cx="9126032" cy="54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769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setTimeout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setInterval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53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944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setTimeout</a:t>
            </a:r>
            <a:r>
              <a:rPr lang="ru-RU" dirty="0"/>
              <a:t> позволяет вызвать функцию один раз через определённый интервал времени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540591"/>
            <a:ext cx="9227355" cy="43569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8086" y="2388927"/>
            <a:ext cx="4198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Вызов </a:t>
            </a:r>
            <a:r>
              <a:rPr lang="ru-RU" dirty="0" err="1"/>
              <a:t>sayHi</a:t>
            </a:r>
            <a:r>
              <a:rPr lang="ru-RU" dirty="0"/>
              <a:t>() спустя одну секунду: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5" y="2816970"/>
            <a:ext cx="3944067" cy="153380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5252551" y="2816970"/>
            <a:ext cx="6104844" cy="153380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18085" y="4634659"/>
            <a:ext cx="97219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первый аргумент является строкой, то </a:t>
            </a:r>
            <a:r>
              <a:rPr lang="ru-RU" dirty="0" err="1"/>
              <a:t>JavaScript</a:t>
            </a:r>
            <a:r>
              <a:rPr lang="ru-RU" dirty="0"/>
              <a:t> создаст из неё функцию: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invGray">
          <a:xfrm>
            <a:off x="1118085" y="5164050"/>
            <a:ext cx="5546327" cy="410839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invGray">
          <a:xfrm>
            <a:off x="1118084" y="5904348"/>
            <a:ext cx="5546327" cy="37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124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setTimeout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setInterval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54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7" y="920301"/>
            <a:ext cx="9900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setTimeout</a:t>
            </a:r>
            <a:r>
              <a:rPr lang="ru-RU" dirty="0"/>
              <a:t> возвращает «идентификатор таймера» </a:t>
            </a:r>
            <a:r>
              <a:rPr lang="ru-RU" dirty="0" err="1"/>
              <a:t>timerId</a:t>
            </a:r>
            <a:r>
              <a:rPr lang="ru-RU" dirty="0"/>
              <a:t>, который можно использовать для отмены дальнейшего выполнения с помощью </a:t>
            </a:r>
            <a:r>
              <a:rPr lang="en-US" b="1" dirty="0" err="1"/>
              <a:t>clearTimeout</a:t>
            </a:r>
            <a:r>
              <a:rPr lang="ru-RU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712031"/>
            <a:ext cx="9315499" cy="145887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6" y="3461701"/>
            <a:ext cx="10505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setInterval</a:t>
            </a:r>
            <a:r>
              <a:rPr lang="ru-RU" dirty="0"/>
              <a:t> позволяет вызывать функцию регулярно, повторяя вызов через определённый интервал времени.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1118086" y="4275006"/>
            <a:ext cx="9058301" cy="39318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1118086" y="5026465"/>
            <a:ext cx="9900436" cy="104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2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setTimeout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setInterval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55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3031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Рекурсивный </a:t>
            </a:r>
            <a:r>
              <a:rPr lang="en-US" dirty="0" err="1"/>
              <a:t>setTimeout</a:t>
            </a:r>
            <a:r>
              <a:rPr lang="ru-RU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479809" y="1334434"/>
            <a:ext cx="7850953" cy="156627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01684" y="3006422"/>
            <a:ext cx="104757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Рекурсивный </a:t>
            </a:r>
            <a:r>
              <a:rPr lang="ru-RU" dirty="0" err="1"/>
              <a:t>setTimeout</a:t>
            </a:r>
            <a:r>
              <a:rPr lang="ru-RU" dirty="0"/>
              <a:t> позволяет задать задержку между выполнениями более точно, чем </a:t>
            </a:r>
            <a:r>
              <a:rPr lang="ru-RU" dirty="0" err="1"/>
              <a:t>setInterval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500487" y="3803267"/>
            <a:ext cx="4996217" cy="156627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5654075" y="3803267"/>
            <a:ext cx="5628436" cy="201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700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setTimeout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setInterval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56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1118086" y="1070640"/>
            <a:ext cx="7627708" cy="2652542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3"/>
          <a:stretch>
            <a:fillRect/>
          </a:stretch>
        </p:blipFill>
        <p:spPr>
          <a:xfrm>
            <a:off x="1118086" y="3723182"/>
            <a:ext cx="7966920" cy="277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335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setTimeout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setInterval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57</a:t>
            </a:fld>
            <a:endParaRPr lang="ru-RU" sz="2400" b="1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79112" y="-2082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4020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setTimeout</a:t>
            </a:r>
            <a:r>
              <a:rPr lang="en-US" dirty="0"/>
              <a:t> </a:t>
            </a:r>
            <a:r>
              <a:rPr lang="ru-RU" dirty="0"/>
              <a:t>с нулевой задержкой: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118086" y="1435034"/>
            <a:ext cx="8911961" cy="180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2157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Другая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901</TotalTime>
  <Words>1536</Words>
  <Application>Microsoft Office PowerPoint</Application>
  <PresentationFormat>Широкоэкранный</PresentationFormat>
  <Paragraphs>277</Paragraphs>
  <Slides>57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57</vt:i4>
      </vt:variant>
    </vt:vector>
  </HeadingPairs>
  <TitlesOfParts>
    <vt:vector size="62" baseType="lpstr">
      <vt:lpstr>Calibri</vt:lpstr>
      <vt:lpstr>Calibri Light</vt:lpstr>
      <vt:lpstr>Consolas</vt:lpstr>
      <vt:lpstr>Segoe UI</vt:lpstr>
      <vt:lpstr>Ретро</vt:lpstr>
      <vt:lpstr>Тема 4   Методы объектов и контекст вызова</vt:lpstr>
      <vt:lpstr>Вопросы:</vt:lpstr>
      <vt:lpstr>Методы объектов, this</vt:lpstr>
      <vt:lpstr>Методы объектов, this</vt:lpstr>
      <vt:lpstr>Методы объектов, this</vt:lpstr>
      <vt:lpstr>Методы объектов, this</vt:lpstr>
      <vt:lpstr>Методы объектов, this</vt:lpstr>
      <vt:lpstr>Методы объектов, this</vt:lpstr>
      <vt:lpstr>Методы объектов, this</vt:lpstr>
      <vt:lpstr>Итерируемые объекты</vt:lpstr>
      <vt:lpstr>Итерируемые объекты</vt:lpstr>
      <vt:lpstr>Итерируемые объекты</vt:lpstr>
      <vt:lpstr>Итерируемые объекты</vt:lpstr>
      <vt:lpstr>Итерируемые объекты</vt:lpstr>
      <vt:lpstr>Итерируемые объекты</vt:lpstr>
      <vt:lpstr>Преобразование объектов</vt:lpstr>
      <vt:lpstr>Преобразование объектов</vt:lpstr>
      <vt:lpstr>Преобразование объектов</vt:lpstr>
      <vt:lpstr>Преобразование объектов</vt:lpstr>
      <vt:lpstr>Создание объектов через "new"</vt:lpstr>
      <vt:lpstr>Создание объектов через "new"</vt:lpstr>
      <vt:lpstr>Создание объектов через "new"</vt:lpstr>
      <vt:lpstr>Флаги и дескрипторы свойств</vt:lpstr>
      <vt:lpstr>Флаги и дескрипторы свойств</vt:lpstr>
      <vt:lpstr>Флаги и дескрипторы свойств</vt:lpstr>
      <vt:lpstr>Флаги и дескрипторы свойств</vt:lpstr>
      <vt:lpstr>Флаги и дескрипторы свойств</vt:lpstr>
      <vt:lpstr>Флаги и дескрипторы свойств</vt:lpstr>
      <vt:lpstr>Флаги и дескрипторы свойств</vt:lpstr>
      <vt:lpstr>Флаги и дескрипторы свойств</vt:lpstr>
      <vt:lpstr>Геттеры и сеттеры</vt:lpstr>
      <vt:lpstr>Геттеры и сеттеры</vt:lpstr>
      <vt:lpstr>Геттеры и сеттеры</vt:lpstr>
      <vt:lpstr>Геттеры и сеттеры</vt:lpstr>
      <vt:lpstr>Геттеры и сеттеры</vt:lpstr>
      <vt:lpstr>Геттеры и сеттеры</vt:lpstr>
      <vt:lpstr>Геттеры и сеттеры</vt:lpstr>
      <vt:lpstr>Геттеры и сеттеры</vt:lpstr>
      <vt:lpstr>Декораторы и переадресация вызова</vt:lpstr>
      <vt:lpstr>Декораторы и переадресация вызова</vt:lpstr>
      <vt:lpstr>Декораторы и переадресация вызова</vt:lpstr>
      <vt:lpstr>Декораторы и переадресация вызова</vt:lpstr>
      <vt:lpstr>Декораторы и переадресация вызова</vt:lpstr>
      <vt:lpstr>Декораторы и переадресация вызова</vt:lpstr>
      <vt:lpstr>Декораторы и переадресация вызова</vt:lpstr>
      <vt:lpstr>Декораторы и переадресация вызова</vt:lpstr>
      <vt:lpstr>Привязка контекста</vt:lpstr>
      <vt:lpstr>Привязка контекста</vt:lpstr>
      <vt:lpstr>Привязка контекста</vt:lpstr>
      <vt:lpstr>Привязка контекста</vt:lpstr>
      <vt:lpstr>Привязка контекста</vt:lpstr>
      <vt:lpstr>Привязка контекста</vt:lpstr>
      <vt:lpstr>setTimeout и setInterval</vt:lpstr>
      <vt:lpstr>setTimeout и setInterval</vt:lpstr>
      <vt:lpstr>setTimeout и setInterval</vt:lpstr>
      <vt:lpstr>setTimeout и setInterval</vt:lpstr>
      <vt:lpstr>setTimeout и setInterval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 Основы JavaScript</dc:title>
  <dc:creator>Marina</dc:creator>
  <cp:lastModifiedBy>MF</cp:lastModifiedBy>
  <cp:revision>176</cp:revision>
  <dcterms:created xsi:type="dcterms:W3CDTF">2019-08-27T10:51:56Z</dcterms:created>
  <dcterms:modified xsi:type="dcterms:W3CDTF">2023-09-28T10:22:35Z</dcterms:modified>
</cp:coreProperties>
</file>